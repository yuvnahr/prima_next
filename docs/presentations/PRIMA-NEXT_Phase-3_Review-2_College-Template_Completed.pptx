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151d85ee4145ee" /><Relationship Type="http://schemas.openxmlformats.org/officeDocument/2006/relationships/extended-properties" Target="/docProps/app.xml" Id="Rae7235e55bd24568" /><Relationship Type="http://schemas.openxmlformats.org/officeDocument/2006/relationships/officeDocument" Target="/ppt/presentation.xml" Id="R5a4eb231b17845ab" /></Relationships>
</file>

<file path=ppt/presentation.xml><?xml version="1.0" encoding="utf-8"?>
<p:presentation xmlns:p="http://schemas.openxmlformats.org/presentationml/2006/main">
  <p:sldMasterIdLst>
    <p:sldMasterId xmlns:r="http://schemas.openxmlformats.org/officeDocument/2006/relationships" id="2147483648" r:id="R4032ee56b0fb43ec"/>
  </p:sldMasterIdLst>
  <p:notesMasterIdLst>
    <p:notesMasterId xmlns:r="http://schemas.openxmlformats.org/officeDocument/2006/relationships" r:id="R7feb1e762e8a4c77"/>
  </p:notesMasterIdLst>
  <p:sldIdLst>
    <p:sldId xmlns:r="http://schemas.openxmlformats.org/officeDocument/2006/relationships" id="256" r:id="Rba64fcb6152f4a10"/>
    <p:sldId xmlns:r="http://schemas.openxmlformats.org/officeDocument/2006/relationships" id="257" r:id="Rac1bfe620b5b4e80"/>
    <p:sldId xmlns:r="http://schemas.openxmlformats.org/officeDocument/2006/relationships" id="258" r:id="Rd33ed657fe46444c"/>
    <p:sldId xmlns:r="http://schemas.openxmlformats.org/officeDocument/2006/relationships" id="259" r:id="Reeef2d5f20bf4b19"/>
    <p:sldId xmlns:r="http://schemas.openxmlformats.org/officeDocument/2006/relationships" id="260" r:id="Rb0e0c70e68524393"/>
    <p:sldId xmlns:r="http://schemas.openxmlformats.org/officeDocument/2006/relationships" id="261" r:id="R8a72cbde408c449e"/>
    <p:sldId xmlns:r="http://schemas.openxmlformats.org/officeDocument/2006/relationships" id="262" r:id="Rc5bbeb4f7fb54d59"/>
    <p:sldId xmlns:r="http://schemas.openxmlformats.org/officeDocument/2006/relationships" id="263" r:id="R1d7ad38d21904b9e"/>
    <p:sldId xmlns:r="http://schemas.openxmlformats.org/officeDocument/2006/relationships" id="264" r:id="Rb085dcf982f740de"/>
    <p:sldId xmlns:r="http://schemas.openxmlformats.org/officeDocument/2006/relationships" id="265" r:id="Rc05ce40bad964ebf"/>
    <p:sldId xmlns:r="http://schemas.openxmlformats.org/officeDocument/2006/relationships" id="266" r:id="R96674c583f994a37"/>
    <p:sldId xmlns:r="http://schemas.openxmlformats.org/officeDocument/2006/relationships" id="267" r:id="R33c12a67856140d3"/>
    <p:sldId xmlns:r="http://schemas.openxmlformats.org/officeDocument/2006/relationships" id="268" r:id="Raa151d542b6f4879"/>
    <p:sldId xmlns:r="http://schemas.openxmlformats.org/officeDocument/2006/relationships" id="269" r:id="R473030784ed9411e"/>
    <p:sldId xmlns:r="http://schemas.openxmlformats.org/officeDocument/2006/relationships" id="270" r:id="R07cee8beba394820"/>
    <p:sldId xmlns:r="http://schemas.openxmlformats.org/officeDocument/2006/relationships" id="271" r:id="R206452e4db594e56"/>
    <p:sldId xmlns:r="http://schemas.openxmlformats.org/officeDocument/2006/relationships" id="272" r:id="R135f1f47968e48c7"/>
    <p:sldId xmlns:r="http://schemas.openxmlformats.org/officeDocument/2006/relationships" id="273" r:id="Rb2007a5408674c37"/>
    <p:sldId xmlns:r="http://schemas.openxmlformats.org/officeDocument/2006/relationships" id="274" r:id="R6501c504c46e407f"/>
    <p:sldId xmlns:r="http://schemas.openxmlformats.org/officeDocument/2006/relationships" id="275" r:id="Rba2124f2b2304a37"/>
    <p:sldId xmlns:r="http://schemas.openxmlformats.org/officeDocument/2006/relationships" id="276" r:id="R29e7d1a2f1794884"/>
    <p:sldId xmlns:r="http://schemas.openxmlformats.org/officeDocument/2006/relationships" id="277" r:id="R2e5d0e35375641ef"/>
    <p:sldId xmlns:r="http://schemas.openxmlformats.org/officeDocument/2006/relationships" id="278" r:id="Rbd5d7174e0f14491"/>
    <p:sldId xmlns:r="http://schemas.openxmlformats.org/officeDocument/2006/relationships" id="279" r:id="R0a3465ca64d547cb"/>
    <p:sldId xmlns:r="http://schemas.openxmlformats.org/officeDocument/2006/relationships" id="280" r:id="R7dc21c04b74b4952"/>
    <p:sldId xmlns:r="http://schemas.openxmlformats.org/officeDocument/2006/relationships" id="281" r:id="R3b4caa70efa94aa3"/>
    <p:sldId xmlns:r="http://schemas.openxmlformats.org/officeDocument/2006/relationships" id="282" r:id="Rcf31f7785f3a4410"/>
    <p:sldId xmlns:r="http://schemas.openxmlformats.org/officeDocument/2006/relationships" id="283" r:id="R22b0dbcc2895465c"/>
    <p:sldId xmlns:r="http://schemas.openxmlformats.org/officeDocument/2006/relationships" id="284" r:id="R430854510e034c30"/>
    <p:sldId xmlns:r="http://schemas.openxmlformats.org/officeDocument/2006/relationships" id="285" r:id="Rd2c9c6a978e64234"/>
    <p:sldId xmlns:r="http://schemas.openxmlformats.org/officeDocument/2006/relationships" id="286" r:id="R8f2221775466454c"/>
    <p:sldId xmlns:r="http://schemas.openxmlformats.org/officeDocument/2006/relationships" id="287" r:id="R5c10321c8f754d9e"/>
    <p:sldId xmlns:r="http://schemas.openxmlformats.org/officeDocument/2006/relationships" id="288" r:id="R0036fcd89fff4203"/>
    <p:sldId xmlns:r="http://schemas.openxmlformats.org/officeDocument/2006/relationships" id="289" r:id="Rc14df0bad96b48d5"/>
    <p:sldId xmlns:r="http://schemas.openxmlformats.org/officeDocument/2006/relationships" id="290" r:id="Rd9ab1cc2c08c4d1a"/>
    <p:sldId xmlns:r="http://schemas.openxmlformats.org/officeDocument/2006/relationships" id="291" r:id="Reb78d50364e24eb6"/>
    <p:sldId xmlns:r="http://schemas.openxmlformats.org/officeDocument/2006/relationships" id="292" r:id="R2447028b517343a7"/>
    <p:sldId xmlns:r="http://schemas.openxmlformats.org/officeDocument/2006/relationships" id="293" r:id="Ra99c9e7dbab445db"/>
    <p:sldId xmlns:r="http://schemas.openxmlformats.org/officeDocument/2006/relationships" id="294" r:id="R5bd959a6650b4c65"/>
    <p:sldId xmlns:r="http://schemas.openxmlformats.org/officeDocument/2006/relationships" id="295" r:id="R030ff3e63ee84011"/>
    <p:sldId xmlns:r="http://schemas.openxmlformats.org/officeDocument/2006/relationships" id="296" r:id="R7b944490b030481e"/>
    <p:sldId xmlns:r="http://schemas.openxmlformats.org/officeDocument/2006/relationships" id="297" r:id="R8a1f6c1f07fa490c"/>
    <p:sldId xmlns:r="http://schemas.openxmlformats.org/officeDocument/2006/relationships" id="298" r:id="Rf71d13f2dbf94eb1"/>
    <p:sldId xmlns:r="http://schemas.openxmlformats.org/officeDocument/2006/relationships" id="299" r:id="Rb4321400ec1041ce"/>
    <p:sldId xmlns:r="http://schemas.openxmlformats.org/officeDocument/2006/relationships" id="300" r:id="R769d6012030c418a"/>
    <p:sldId xmlns:r="http://schemas.openxmlformats.org/officeDocument/2006/relationships" id="301" r:id="R1b405f2f9b9e4790"/>
    <p:sldId xmlns:r="http://schemas.openxmlformats.org/officeDocument/2006/relationships" id="302" r:id="Re33956a71fd44c50"/>
    <p:sldId xmlns:r="http://schemas.openxmlformats.org/officeDocument/2006/relationships" id="303" r:id="Ra2f5f3c96eca4bb6"/>
    <p:sldId xmlns:r="http://schemas.openxmlformats.org/officeDocument/2006/relationships" id="304" r:id="R4f58d12b01104f54"/>
    <p:sldId xmlns:r="http://schemas.openxmlformats.org/officeDocument/2006/relationships" id="305" r:id="Rc819d1456e1b4e24"/>
    <p:sldId xmlns:r="http://schemas.openxmlformats.org/officeDocument/2006/relationships" id="306" r:id="Raf845aec7de44cc0"/>
    <p:sldId xmlns:r="http://schemas.openxmlformats.org/officeDocument/2006/relationships" id="307" r:id="R5761678923af4e04"/>
    <p:sldId xmlns:r="http://schemas.openxmlformats.org/officeDocument/2006/relationships" id="308" r:id="Rb6e23e1d15014010"/>
    <p:sldId xmlns:r="http://schemas.openxmlformats.org/officeDocument/2006/relationships" id="309" r:id="Rc392b01626ce401c"/>
    <p:sldId xmlns:r="http://schemas.openxmlformats.org/officeDocument/2006/relationships" id="310" r:id="R174674430916428e"/>
    <p:sldId xmlns:r="http://schemas.openxmlformats.org/officeDocument/2006/relationships" id="311" r:id="Ra4fd341ded494f2f"/>
    <p:sldId xmlns:r="http://schemas.openxmlformats.org/officeDocument/2006/relationships" id="312" r:id="R808eb2c1688f4ead"/>
    <p:sldId xmlns:r="http://schemas.openxmlformats.org/officeDocument/2006/relationships" id="313" r:id="R8e48f3307c00454e"/>
    <p:sldId xmlns:r="http://schemas.openxmlformats.org/officeDocument/2006/relationships" id="314" r:id="Rf2893db7dcc74a21"/>
    <p:sldId xmlns:r="http://schemas.openxmlformats.org/officeDocument/2006/relationships" id="315" r:id="R4afc967aada54a3e"/>
    <p:sldId xmlns:r="http://schemas.openxmlformats.org/officeDocument/2006/relationships" id="316" r:id="R363e3c5b88ca4d5c"/>
    <p:sldId xmlns:r="http://schemas.openxmlformats.org/officeDocument/2006/relationships" id="317" r:id="R747b4eb89f9342f0"/>
    <p:sldId xmlns:r="http://schemas.openxmlformats.org/officeDocument/2006/relationships" id="318" r:id="Rbb4ec801f70b4d1a"/>
    <p:sldId xmlns:r="http://schemas.openxmlformats.org/officeDocument/2006/relationships" id="319" r:id="R1836a9d99c4842b1"/>
    <p:sldId xmlns:r="http://schemas.openxmlformats.org/officeDocument/2006/relationships" id="320" r:id="R9efa4f8e01a548ab"/>
    <p:sldId xmlns:r="http://schemas.openxmlformats.org/officeDocument/2006/relationships" id="321" r:id="Rcbbcf75d8e114dc4"/>
    <p:sldId xmlns:r="http://schemas.openxmlformats.org/officeDocument/2006/relationships" id="322" r:id="Rb33848e856a74614"/>
    <p:sldId xmlns:r="http://schemas.openxmlformats.org/officeDocument/2006/relationships" id="323" r:id="Rb86a3c3173a249f8"/>
    <p:sldId xmlns:r="http://schemas.openxmlformats.org/officeDocument/2006/relationships" id="324" r:id="R88cc99550bc245de"/>
    <p:sldId xmlns:r="http://schemas.openxmlformats.org/officeDocument/2006/relationships" id="325" r:id="Ra481ffb1f9854e27"/>
    <p:sldId xmlns:r="http://schemas.openxmlformats.org/officeDocument/2006/relationships" id="326" r:id="R43fdce501336443e"/>
    <p:sldId xmlns:r="http://schemas.openxmlformats.org/officeDocument/2006/relationships" id="327" r:id="Rf567ae07aca4404f"/>
    <p:sldId xmlns:r="http://schemas.openxmlformats.org/officeDocument/2006/relationships" id="328" r:id="R81ad2c0ffabd4599"/>
    <p:sldId xmlns:r="http://schemas.openxmlformats.org/officeDocument/2006/relationships" id="329" r:id="Re4ef1ba23ff945fb"/>
    <p:sldId xmlns:r="http://schemas.openxmlformats.org/officeDocument/2006/relationships" id="330" r:id="Rb0141fed74274625"/>
    <p:sldId xmlns:r="http://schemas.openxmlformats.org/officeDocument/2006/relationships" id="331" r:id="R5be0891a81e44e96"/>
    <p:sldId xmlns:r="http://schemas.openxmlformats.org/officeDocument/2006/relationships" id="332" r:id="R5e94f3dda4794dd7"/>
    <p:sldId xmlns:r="http://schemas.openxmlformats.org/officeDocument/2006/relationships" id="333" r:id="R208ab3d542844c98"/>
    <p:sldId xmlns:r="http://schemas.openxmlformats.org/officeDocument/2006/relationships" id="334" r:id="Ra58da8166d9f4148"/>
    <p:sldId xmlns:r="http://schemas.openxmlformats.org/officeDocument/2006/relationships" id="335" r:id="R3482fab87dc44e04"/>
    <p:sldId xmlns:r="http://schemas.openxmlformats.org/officeDocument/2006/relationships" id="336" r:id="Rf0432eaf0243479e"/>
    <p:sldId xmlns:r="http://schemas.openxmlformats.org/officeDocument/2006/relationships" id="337" r:id="R0b13004862d84813"/>
    <p:sldId xmlns:r="http://schemas.openxmlformats.org/officeDocument/2006/relationships" id="338" r:id="Rf079e116e8874ea4"/>
    <p:sldId xmlns:r="http://schemas.openxmlformats.org/officeDocument/2006/relationships" id="339" r:id="R0ced62c3c242421b"/>
    <p:sldId xmlns:r="http://schemas.openxmlformats.org/officeDocument/2006/relationships" id="340" r:id="R90c30327fbef4eb3"/>
    <p:sldId xmlns:r="http://schemas.openxmlformats.org/officeDocument/2006/relationships" id="341" r:id="R011436d27ae44877"/>
    <p:sldId xmlns:r="http://schemas.openxmlformats.org/officeDocument/2006/relationships" id="342" r:id="R3b5f718f7ca7414a"/>
    <p:sldId xmlns:r="http://schemas.openxmlformats.org/officeDocument/2006/relationships" id="343" r:id="Ra16702cd2ddf4abb"/>
    <p:sldId xmlns:r="http://schemas.openxmlformats.org/officeDocument/2006/relationships" id="344" r:id="R461f363a13aa434d"/>
    <p:sldId xmlns:r="http://schemas.openxmlformats.org/officeDocument/2006/relationships" id="345" r:id="R96260ce5d54d4356"/>
    <p:sldId xmlns:r="http://schemas.openxmlformats.org/officeDocument/2006/relationships" id="346" r:id="R89b4a971e0904222"/>
    <p:sldId xmlns:r="http://schemas.openxmlformats.org/officeDocument/2006/relationships" id="347" r:id="R496f65859d314af5"/>
    <p:sldId xmlns:r="http://schemas.openxmlformats.org/officeDocument/2006/relationships" id="348" r:id="Rb147edaf690c4646"/>
    <p:sldId xmlns:r="http://schemas.openxmlformats.org/officeDocument/2006/relationships" id="349" r:id="Rbbb6088602dd4711"/>
    <p:sldId xmlns:r="http://schemas.openxmlformats.org/officeDocument/2006/relationships" id="350" r:id="Rc33ef9e16ac34ff2"/>
  </p:sldIdLst>
  <p:sldSz cx="12192000" cy="685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86b5d881f734928" /><Relationship Type="http://schemas.openxmlformats.org/officeDocument/2006/relationships/slideMaster" Target="/ppt/slideMasters/slideMaster1.xml" Id="R4032ee56b0fb43ec" /><Relationship Type="http://schemas.openxmlformats.org/officeDocument/2006/relationships/notesMaster" Target="/ppt/notesMasters/notesMaster1.xml" Id="R7feb1e762e8a4c77" /><Relationship Type="http://schemas.openxmlformats.org/officeDocument/2006/relationships/presProps" Target="/ppt/presProps.xml" Id="R0e33edea84c24bc8" /><Relationship Type="http://schemas.openxmlformats.org/officeDocument/2006/relationships/viewProps" Target="/ppt/viewProps.xml" Id="Ra64d0190816b448d" /><Relationship Type="http://schemas.openxmlformats.org/officeDocument/2006/relationships/tableStyles" Target="/ppt/tableStyles.xml" Id="Rfd9357889f104896" /><Relationship Type="http://schemas.openxmlformats.org/officeDocument/2006/relationships/slide" Target="/ppt/slides/slide1.xml" Id="Rba64fcb6152f4a10" /><Relationship Type="http://schemas.openxmlformats.org/officeDocument/2006/relationships/slide" Target="/ppt/slides/slide2.xml" Id="Rac1bfe620b5b4e80" /><Relationship Type="http://schemas.openxmlformats.org/officeDocument/2006/relationships/slide" Target="/ppt/slides/slide3.xml" Id="Rd33ed657fe46444c" /><Relationship Type="http://schemas.openxmlformats.org/officeDocument/2006/relationships/slide" Target="/ppt/slides/slide4.xml" Id="Reeef2d5f20bf4b19" /><Relationship Type="http://schemas.openxmlformats.org/officeDocument/2006/relationships/slide" Target="/ppt/slides/slide5.xml" Id="Rb0e0c70e68524393" /><Relationship Type="http://schemas.openxmlformats.org/officeDocument/2006/relationships/slide" Target="/ppt/slides/slide6.xml" Id="R8a72cbde408c449e" /><Relationship Type="http://schemas.openxmlformats.org/officeDocument/2006/relationships/slide" Target="/ppt/slides/slide7.xml" Id="Rc5bbeb4f7fb54d59" /><Relationship Type="http://schemas.openxmlformats.org/officeDocument/2006/relationships/slide" Target="/ppt/slides/slide8.xml" Id="R1d7ad38d21904b9e" /><Relationship Type="http://schemas.openxmlformats.org/officeDocument/2006/relationships/slide" Target="/ppt/slides/slide9.xml" Id="Rb085dcf982f740de" /><Relationship Type="http://schemas.openxmlformats.org/officeDocument/2006/relationships/slide" Target="/ppt/slides/slide10.xml" Id="Rc05ce40bad964ebf" /><Relationship Type="http://schemas.openxmlformats.org/officeDocument/2006/relationships/slide" Target="/ppt/slides/slide11.xml" Id="R96674c583f994a37" /><Relationship Type="http://schemas.openxmlformats.org/officeDocument/2006/relationships/slide" Target="/ppt/slides/slide12.xml" Id="R33c12a67856140d3" /><Relationship Type="http://schemas.openxmlformats.org/officeDocument/2006/relationships/slide" Target="/ppt/slides/slide13.xml" Id="Raa151d542b6f4879" /><Relationship Type="http://schemas.openxmlformats.org/officeDocument/2006/relationships/slide" Target="/ppt/slides/slide14.xml" Id="R473030784ed9411e" /><Relationship Type="http://schemas.openxmlformats.org/officeDocument/2006/relationships/slide" Target="/ppt/slides/slide15.xml" Id="R07cee8beba394820" /><Relationship Type="http://schemas.openxmlformats.org/officeDocument/2006/relationships/slide" Target="/ppt/slides/slide16.xml" Id="R206452e4db594e56" /><Relationship Type="http://schemas.openxmlformats.org/officeDocument/2006/relationships/slide" Target="/ppt/slides/slide17.xml" Id="R135f1f47968e48c7" /><Relationship Type="http://schemas.openxmlformats.org/officeDocument/2006/relationships/slide" Target="/ppt/slides/slide18.xml" Id="Rb2007a5408674c37" /><Relationship Type="http://schemas.openxmlformats.org/officeDocument/2006/relationships/slide" Target="/ppt/slides/slide19.xml" Id="R6501c504c46e407f" /><Relationship Type="http://schemas.openxmlformats.org/officeDocument/2006/relationships/slide" Target="/ppt/slides/slide20.xml" Id="Rba2124f2b2304a37" /><Relationship Type="http://schemas.openxmlformats.org/officeDocument/2006/relationships/slide" Target="/ppt/slides/slide21.xml" Id="R29e7d1a2f1794884" /><Relationship Type="http://schemas.openxmlformats.org/officeDocument/2006/relationships/slide" Target="/ppt/slides/slide22.xml" Id="R2e5d0e35375641ef" /><Relationship Type="http://schemas.openxmlformats.org/officeDocument/2006/relationships/slide" Target="/ppt/slides/slide23.xml" Id="Rbd5d7174e0f14491" /><Relationship Type="http://schemas.openxmlformats.org/officeDocument/2006/relationships/slide" Target="/ppt/slides/slide24.xml" Id="R0a3465ca64d547cb" /><Relationship Type="http://schemas.openxmlformats.org/officeDocument/2006/relationships/slide" Target="/ppt/slides/slide25.xml" Id="R7dc21c04b74b4952" /><Relationship Type="http://schemas.openxmlformats.org/officeDocument/2006/relationships/slide" Target="/ppt/slides/slide26.xml" Id="R3b4caa70efa94aa3" /><Relationship Type="http://schemas.openxmlformats.org/officeDocument/2006/relationships/slide" Target="/ppt/slides/slide27.xml" Id="Rcf31f7785f3a4410" /><Relationship Type="http://schemas.openxmlformats.org/officeDocument/2006/relationships/slide" Target="/ppt/slides/slide28.xml" Id="R22b0dbcc2895465c" /><Relationship Type="http://schemas.openxmlformats.org/officeDocument/2006/relationships/slide" Target="/ppt/slides/slide29.xml" Id="R430854510e034c30" /><Relationship Type="http://schemas.openxmlformats.org/officeDocument/2006/relationships/slide" Target="/ppt/slides/slide30.xml" Id="Rd2c9c6a978e64234" /><Relationship Type="http://schemas.openxmlformats.org/officeDocument/2006/relationships/slide" Target="/ppt/slides/slide31.xml" Id="R8f2221775466454c" /><Relationship Type="http://schemas.openxmlformats.org/officeDocument/2006/relationships/slide" Target="/ppt/slides/slide32.xml" Id="R5c10321c8f754d9e" /><Relationship Type="http://schemas.openxmlformats.org/officeDocument/2006/relationships/slide" Target="/ppt/slides/slide33.xml" Id="R0036fcd89fff4203" /><Relationship Type="http://schemas.openxmlformats.org/officeDocument/2006/relationships/slide" Target="/ppt/slides/slide34.xml" Id="Rc14df0bad96b48d5" /><Relationship Type="http://schemas.openxmlformats.org/officeDocument/2006/relationships/slide" Target="/ppt/slides/slide35.xml" Id="Rd9ab1cc2c08c4d1a" /><Relationship Type="http://schemas.openxmlformats.org/officeDocument/2006/relationships/slide" Target="/ppt/slides/slide36.xml" Id="Reb78d50364e24eb6" /><Relationship Type="http://schemas.openxmlformats.org/officeDocument/2006/relationships/slide" Target="/ppt/slides/slide37.xml" Id="R2447028b517343a7" /><Relationship Type="http://schemas.openxmlformats.org/officeDocument/2006/relationships/slide" Target="/ppt/slides/slide38.xml" Id="Ra99c9e7dbab445db" /><Relationship Type="http://schemas.openxmlformats.org/officeDocument/2006/relationships/slide" Target="/ppt/slides/slide39.xml" Id="R5bd959a6650b4c65" /><Relationship Type="http://schemas.openxmlformats.org/officeDocument/2006/relationships/slide" Target="/ppt/slides/slide40.xml" Id="R030ff3e63ee84011" /><Relationship Type="http://schemas.openxmlformats.org/officeDocument/2006/relationships/slide" Target="/ppt/slides/slide41.xml" Id="R7b944490b030481e" /><Relationship Type="http://schemas.openxmlformats.org/officeDocument/2006/relationships/slide" Target="/ppt/slides/slide42.xml" Id="R8a1f6c1f07fa490c" /><Relationship Type="http://schemas.openxmlformats.org/officeDocument/2006/relationships/slide" Target="/ppt/slides/slide43.xml" Id="Rf71d13f2dbf94eb1" /><Relationship Type="http://schemas.openxmlformats.org/officeDocument/2006/relationships/slide" Target="/ppt/slides/slide44.xml" Id="Rb4321400ec1041ce" /><Relationship Type="http://schemas.openxmlformats.org/officeDocument/2006/relationships/slide" Target="/ppt/slides/slide45.xml" Id="R769d6012030c418a" /><Relationship Type="http://schemas.openxmlformats.org/officeDocument/2006/relationships/slide" Target="/ppt/slides/slide46.xml" Id="R1b405f2f9b9e4790" /><Relationship Type="http://schemas.openxmlformats.org/officeDocument/2006/relationships/slide" Target="/ppt/slides/slide47.xml" Id="Re33956a71fd44c50" /><Relationship Type="http://schemas.openxmlformats.org/officeDocument/2006/relationships/slide" Target="/ppt/slides/slide48.xml" Id="Ra2f5f3c96eca4bb6" /><Relationship Type="http://schemas.openxmlformats.org/officeDocument/2006/relationships/slide" Target="/ppt/slides/slide49.xml" Id="R4f58d12b01104f54" /><Relationship Type="http://schemas.openxmlformats.org/officeDocument/2006/relationships/slide" Target="/ppt/slides/slide50.xml" Id="Rc819d1456e1b4e24" /><Relationship Type="http://schemas.openxmlformats.org/officeDocument/2006/relationships/slide" Target="/ppt/slides/slide51.xml" Id="Raf845aec7de44cc0" /><Relationship Type="http://schemas.openxmlformats.org/officeDocument/2006/relationships/slide" Target="/ppt/slides/slide52.xml" Id="R5761678923af4e04" /><Relationship Type="http://schemas.openxmlformats.org/officeDocument/2006/relationships/slide" Target="/ppt/slides/slide53.xml" Id="Rb6e23e1d15014010" /><Relationship Type="http://schemas.openxmlformats.org/officeDocument/2006/relationships/slide" Target="/ppt/slides/slide54.xml" Id="Rc392b01626ce401c" /><Relationship Type="http://schemas.openxmlformats.org/officeDocument/2006/relationships/slide" Target="/ppt/slides/slide55.xml" Id="R174674430916428e" /><Relationship Type="http://schemas.openxmlformats.org/officeDocument/2006/relationships/slide" Target="/ppt/slides/slide56.xml" Id="Ra4fd341ded494f2f" /><Relationship Type="http://schemas.openxmlformats.org/officeDocument/2006/relationships/slide" Target="/ppt/slides/slide57.xml" Id="R808eb2c1688f4ead" /><Relationship Type="http://schemas.openxmlformats.org/officeDocument/2006/relationships/slide" Target="/ppt/slides/slide58.xml" Id="R8e48f3307c00454e" /><Relationship Type="http://schemas.openxmlformats.org/officeDocument/2006/relationships/slide" Target="/ppt/slides/slide59.xml" Id="Rf2893db7dcc74a21" /><Relationship Type="http://schemas.openxmlformats.org/officeDocument/2006/relationships/slide" Target="/ppt/slides/slide60.xml" Id="R4afc967aada54a3e" /><Relationship Type="http://schemas.openxmlformats.org/officeDocument/2006/relationships/slide" Target="/ppt/slides/slide61.xml" Id="R363e3c5b88ca4d5c" /><Relationship Type="http://schemas.openxmlformats.org/officeDocument/2006/relationships/slide" Target="/ppt/slides/slide62.xml" Id="R747b4eb89f9342f0" /><Relationship Type="http://schemas.openxmlformats.org/officeDocument/2006/relationships/slide" Target="/ppt/slides/slide63.xml" Id="Rbb4ec801f70b4d1a" /><Relationship Type="http://schemas.openxmlformats.org/officeDocument/2006/relationships/slide" Target="/ppt/slides/slide64.xml" Id="R1836a9d99c4842b1" /><Relationship Type="http://schemas.openxmlformats.org/officeDocument/2006/relationships/slide" Target="/ppt/slides/slide65.xml" Id="R9efa4f8e01a548ab" /><Relationship Type="http://schemas.openxmlformats.org/officeDocument/2006/relationships/slide" Target="/ppt/slides/slide66.xml" Id="Rcbbcf75d8e114dc4" /><Relationship Type="http://schemas.openxmlformats.org/officeDocument/2006/relationships/slide" Target="/ppt/slides/slide67.xml" Id="Rb33848e856a74614" /><Relationship Type="http://schemas.openxmlformats.org/officeDocument/2006/relationships/slide" Target="/ppt/slides/slide68.xml" Id="Rb86a3c3173a249f8" /><Relationship Type="http://schemas.openxmlformats.org/officeDocument/2006/relationships/slide" Target="/ppt/slides/slide69.xml" Id="R88cc99550bc245de" /><Relationship Type="http://schemas.openxmlformats.org/officeDocument/2006/relationships/slide" Target="/ppt/slides/slide70.xml" Id="Ra481ffb1f9854e27" /><Relationship Type="http://schemas.openxmlformats.org/officeDocument/2006/relationships/slide" Target="/ppt/slides/slide71.xml" Id="R43fdce501336443e" /><Relationship Type="http://schemas.openxmlformats.org/officeDocument/2006/relationships/slide" Target="/ppt/slides/slide72.xml" Id="Rf567ae07aca4404f" /><Relationship Type="http://schemas.openxmlformats.org/officeDocument/2006/relationships/slide" Target="/ppt/slides/slide73.xml" Id="R81ad2c0ffabd4599" /><Relationship Type="http://schemas.openxmlformats.org/officeDocument/2006/relationships/slide" Target="/ppt/slides/slide74.xml" Id="Re4ef1ba23ff945fb" /><Relationship Type="http://schemas.openxmlformats.org/officeDocument/2006/relationships/slide" Target="/ppt/slides/slide75.xml" Id="Rb0141fed74274625" /><Relationship Type="http://schemas.openxmlformats.org/officeDocument/2006/relationships/slide" Target="/ppt/slides/slide76.xml" Id="R5be0891a81e44e96" /><Relationship Type="http://schemas.openxmlformats.org/officeDocument/2006/relationships/slide" Target="/ppt/slides/slide77.xml" Id="R5e94f3dda4794dd7" /><Relationship Type="http://schemas.openxmlformats.org/officeDocument/2006/relationships/slide" Target="/ppt/slides/slide78.xml" Id="R208ab3d542844c98" /><Relationship Type="http://schemas.openxmlformats.org/officeDocument/2006/relationships/slide" Target="/ppt/slides/slide79.xml" Id="Ra58da8166d9f4148" /><Relationship Type="http://schemas.openxmlformats.org/officeDocument/2006/relationships/slide" Target="/ppt/slides/slide80.xml" Id="R3482fab87dc44e04" /><Relationship Type="http://schemas.openxmlformats.org/officeDocument/2006/relationships/slide" Target="/ppt/slides/slide81.xml" Id="Rf0432eaf0243479e" /><Relationship Type="http://schemas.openxmlformats.org/officeDocument/2006/relationships/slide" Target="/ppt/slides/slide82.xml" Id="R0b13004862d84813" /><Relationship Type="http://schemas.openxmlformats.org/officeDocument/2006/relationships/slide" Target="/ppt/slides/slide83.xml" Id="Rf079e116e8874ea4" /><Relationship Type="http://schemas.openxmlformats.org/officeDocument/2006/relationships/slide" Target="/ppt/slides/slide84.xml" Id="R0ced62c3c242421b" /><Relationship Type="http://schemas.openxmlformats.org/officeDocument/2006/relationships/slide" Target="/ppt/slides/slide85.xml" Id="R90c30327fbef4eb3" /><Relationship Type="http://schemas.openxmlformats.org/officeDocument/2006/relationships/slide" Target="/ppt/slides/slide86.xml" Id="R011436d27ae44877" /><Relationship Type="http://schemas.openxmlformats.org/officeDocument/2006/relationships/slide" Target="/ppt/slides/slide87.xml" Id="R3b5f718f7ca7414a" /><Relationship Type="http://schemas.openxmlformats.org/officeDocument/2006/relationships/slide" Target="/ppt/slides/slide88.xml" Id="Ra16702cd2ddf4abb" /><Relationship Type="http://schemas.openxmlformats.org/officeDocument/2006/relationships/slide" Target="/ppt/slides/slide89.xml" Id="R461f363a13aa434d" /><Relationship Type="http://schemas.openxmlformats.org/officeDocument/2006/relationships/slide" Target="/ppt/slides/slide90.xml" Id="R96260ce5d54d4356" /><Relationship Type="http://schemas.openxmlformats.org/officeDocument/2006/relationships/slide" Target="/ppt/slides/slide91.xml" Id="R89b4a971e0904222" /><Relationship Type="http://schemas.openxmlformats.org/officeDocument/2006/relationships/slide" Target="/ppt/slides/slide92.xml" Id="R496f65859d314af5" /><Relationship Type="http://schemas.openxmlformats.org/officeDocument/2006/relationships/slide" Target="/ppt/slides/slide93.xml" Id="Rb147edaf690c4646" /><Relationship Type="http://schemas.openxmlformats.org/officeDocument/2006/relationships/slide" Target="/ppt/slides/slide94.xml" Id="Rbbb6088602dd4711" /><Relationship Type="http://schemas.openxmlformats.org/officeDocument/2006/relationships/slide" Target="/ppt/slides/slide95.xml" Id="Rc33ef9e16ac34f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18dc235ed649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ee87690429462e" /><Relationship Type="http://schemas.openxmlformats.org/officeDocument/2006/relationships/notesMaster" Target="/ppt/notesMasters/notesMaster1.xml" Id="R41994ad5deaf45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d478eb67454e4a" /><Relationship Type="http://schemas.openxmlformats.org/officeDocument/2006/relationships/notesMaster" Target="/ppt/notesMasters/notesMaster1.xml" Id="R4200dc5aad9040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598ca3bbdb4915" /><Relationship Type="http://schemas.openxmlformats.org/officeDocument/2006/relationships/notesMaster" Target="/ppt/notesMasters/notesMaster1.xml" Id="Ra26b3528dca74b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13ec60b35b456a" /><Relationship Type="http://schemas.openxmlformats.org/officeDocument/2006/relationships/notesMaster" Target="/ppt/notesMasters/notesMaster1.xml" Id="R2807006ec91b47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62c88168094914" /><Relationship Type="http://schemas.openxmlformats.org/officeDocument/2006/relationships/notesMaster" Target="/ppt/notesMasters/notesMaster1.xml" Id="Rf77666f0dc554d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14c485334f4d58" /><Relationship Type="http://schemas.openxmlformats.org/officeDocument/2006/relationships/notesMaster" Target="/ppt/notesMasters/notesMaster1.xml" Id="R2eefaf03b8f148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cb3965b9f04882" /><Relationship Type="http://schemas.openxmlformats.org/officeDocument/2006/relationships/notesMaster" Target="/ppt/notesMasters/notesMaster1.xml" Id="R10265b4379344e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421e4603f04605" /><Relationship Type="http://schemas.openxmlformats.org/officeDocument/2006/relationships/notesMaster" Target="/ppt/notesMasters/notesMaster1.xml" Id="Ref4415838be443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f042a0df0a4d10" /><Relationship Type="http://schemas.openxmlformats.org/officeDocument/2006/relationships/notesMaster" Target="/ppt/notesMasters/notesMaster1.xml" Id="Re1328ab62b9147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a1613020964d88" /><Relationship Type="http://schemas.openxmlformats.org/officeDocument/2006/relationships/notesMaster" Target="/ppt/notesMasters/notesMaster1.xml" Id="Rbf3abef95c454d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0a8eaab01441ee" /><Relationship Type="http://schemas.openxmlformats.org/officeDocument/2006/relationships/notesMaster" Target="/ppt/notesMasters/notesMaster1.xml" Id="R445e704843914e0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b7f55914a5f4223" /><Relationship Type="http://schemas.openxmlformats.org/officeDocument/2006/relationships/notesMaster" Target="/ppt/notesMasters/notesMaster1.xml" Id="R463b3e3f00764ec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09e6d903b24658" /><Relationship Type="http://schemas.openxmlformats.org/officeDocument/2006/relationships/notesMaster" Target="/ppt/notesMasters/notesMaster1.xml" Id="R0f3c0f7ff439470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aa59e81796546d8" /><Relationship Type="http://schemas.openxmlformats.org/officeDocument/2006/relationships/notesMaster" Target="/ppt/notesMasters/notesMaster1.xml" Id="Rdadb22d42e784d6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97d583d04a14ec7" /><Relationship Type="http://schemas.openxmlformats.org/officeDocument/2006/relationships/notesMaster" Target="/ppt/notesMasters/notesMaster1.xml" Id="Rbb1a67c3f5ac4c3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7c70d646e84409a" /><Relationship Type="http://schemas.openxmlformats.org/officeDocument/2006/relationships/notesMaster" Target="/ppt/notesMasters/notesMaster1.xml" Id="Rffe6596ef4ee466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15aea1e95d34e1d" /><Relationship Type="http://schemas.openxmlformats.org/officeDocument/2006/relationships/notesMaster" Target="/ppt/notesMasters/notesMaster1.xml" Id="R565b74483871421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52fbc378c17445b" /><Relationship Type="http://schemas.openxmlformats.org/officeDocument/2006/relationships/notesMaster" Target="/ppt/notesMasters/notesMaster1.xml" Id="Rbe0ba0ccbc2648c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68b321b5f13418f" /><Relationship Type="http://schemas.openxmlformats.org/officeDocument/2006/relationships/notesMaster" Target="/ppt/notesMasters/notesMaster1.xml" Id="R292cfd249725477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e861694a4db42a3" /><Relationship Type="http://schemas.openxmlformats.org/officeDocument/2006/relationships/notesMaster" Target="/ppt/notesMasters/notesMaster1.xml" Id="Ra6b2c3c473214dc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402ac6b173d4e8d" /><Relationship Type="http://schemas.openxmlformats.org/officeDocument/2006/relationships/notesMaster" Target="/ppt/notesMasters/notesMaster1.xml" Id="R0cedc444a237467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41554ca389b4f4e" /><Relationship Type="http://schemas.openxmlformats.org/officeDocument/2006/relationships/notesMaster" Target="/ppt/notesMasters/notesMaster1.xml" Id="R227958c0ad26456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994b805a346455e" /><Relationship Type="http://schemas.openxmlformats.org/officeDocument/2006/relationships/notesMaster" Target="/ppt/notesMasters/notesMaster1.xml" Id="Rcbbf6d85be104c4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a9cd65f1e1549b1" /><Relationship Type="http://schemas.openxmlformats.org/officeDocument/2006/relationships/notesMaster" Target="/ppt/notesMasters/notesMaster1.xml" Id="Rc3243cc67e8f455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2580ad88b334cfc" /><Relationship Type="http://schemas.openxmlformats.org/officeDocument/2006/relationships/notesMaster" Target="/ppt/notesMasters/notesMaster1.xml" Id="R4cef510e9b904aa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fe352ca176a463d" /><Relationship Type="http://schemas.openxmlformats.org/officeDocument/2006/relationships/notesMaster" Target="/ppt/notesMasters/notesMaster1.xml" Id="R621cdd77048c473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6543db683ef4096" /><Relationship Type="http://schemas.openxmlformats.org/officeDocument/2006/relationships/notesMaster" Target="/ppt/notesMasters/notesMaster1.xml" Id="Rf47f0a44e9a3490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30ebc8a4a564777" /><Relationship Type="http://schemas.openxmlformats.org/officeDocument/2006/relationships/notesMaster" Target="/ppt/notesMasters/notesMaster1.xml" Id="R481fe46fbedb410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989979c59104fe4" /><Relationship Type="http://schemas.openxmlformats.org/officeDocument/2006/relationships/notesMaster" Target="/ppt/notesMasters/notesMaster1.xml" Id="R03abb8cfb54948c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99f2e18ea604357" /><Relationship Type="http://schemas.openxmlformats.org/officeDocument/2006/relationships/notesMaster" Target="/ppt/notesMasters/notesMaster1.xml" Id="R141e9986a2e94ca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5997004831e44b7" /><Relationship Type="http://schemas.openxmlformats.org/officeDocument/2006/relationships/notesMaster" Target="/ppt/notesMasters/notesMaster1.xml" Id="Rd5b64384dfd9494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5f879f5a7544f60" /><Relationship Type="http://schemas.openxmlformats.org/officeDocument/2006/relationships/notesMaster" Target="/ppt/notesMasters/notesMaster1.xml" Id="R0d2545d7024a483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857cd75c2fd4a0a" /><Relationship Type="http://schemas.openxmlformats.org/officeDocument/2006/relationships/notesMaster" Target="/ppt/notesMasters/notesMaster1.xml" Id="R86cae12818104a8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b6508d1184644c0" /><Relationship Type="http://schemas.openxmlformats.org/officeDocument/2006/relationships/notesMaster" Target="/ppt/notesMasters/notesMaster1.xml" Id="R0f62c93e10874e9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f311598619b46b6" /><Relationship Type="http://schemas.openxmlformats.org/officeDocument/2006/relationships/notesMaster" Target="/ppt/notesMasters/notesMaster1.xml" Id="Rbb35a06f96194cc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cf72b9bac414477" /><Relationship Type="http://schemas.openxmlformats.org/officeDocument/2006/relationships/notesMaster" Target="/ppt/notesMasters/notesMaster1.xml" Id="Rc8efe92592334a2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ad1ffc73ed149ad" /><Relationship Type="http://schemas.openxmlformats.org/officeDocument/2006/relationships/notesMaster" Target="/ppt/notesMasters/notesMaster1.xml" Id="R495393fc7bd74e5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69be23a9c3642e6" /><Relationship Type="http://schemas.openxmlformats.org/officeDocument/2006/relationships/notesMaster" Target="/ppt/notesMasters/notesMaster1.xml" Id="Rd3ab476988b24f7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2126102035e449e" /><Relationship Type="http://schemas.openxmlformats.org/officeDocument/2006/relationships/notesMaster" Target="/ppt/notesMasters/notesMaster1.xml" Id="Rf53e6ab85b5d483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b6de753cabe427c" /><Relationship Type="http://schemas.openxmlformats.org/officeDocument/2006/relationships/notesMaster" Target="/ppt/notesMasters/notesMaster1.xml" Id="R9a17f4d7508442a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8d9b763780e4cdf" /><Relationship Type="http://schemas.openxmlformats.org/officeDocument/2006/relationships/notesMaster" Target="/ppt/notesMasters/notesMaster1.xml" Id="R5cb53e990003432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4a87acb01a74b63" /><Relationship Type="http://schemas.openxmlformats.org/officeDocument/2006/relationships/notesMaster" Target="/ppt/notesMasters/notesMaster1.xml" Id="R43da9df5602943c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0226ec01cac4917" /><Relationship Type="http://schemas.openxmlformats.org/officeDocument/2006/relationships/notesMaster" Target="/ppt/notesMasters/notesMaster1.xml" Id="Rdf89e0f450fa400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fbb8fea25534456" /><Relationship Type="http://schemas.openxmlformats.org/officeDocument/2006/relationships/notesMaster" Target="/ppt/notesMasters/notesMaster1.xml" Id="R15683a1c7e3f45f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aa4ff94af674752" /><Relationship Type="http://schemas.openxmlformats.org/officeDocument/2006/relationships/notesMaster" Target="/ppt/notesMasters/notesMaster1.xml" Id="R397180ba2e9241c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8a5351a71d644d3" /><Relationship Type="http://schemas.openxmlformats.org/officeDocument/2006/relationships/notesMaster" Target="/ppt/notesMasters/notesMaster1.xml" Id="Rc2f304e720c4435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761a6f188634b56" /><Relationship Type="http://schemas.openxmlformats.org/officeDocument/2006/relationships/notesMaster" Target="/ppt/notesMasters/notesMaster1.xml" Id="R4e3332f39c3b422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5c691105e584451" /><Relationship Type="http://schemas.openxmlformats.org/officeDocument/2006/relationships/notesMaster" Target="/ppt/notesMasters/notesMaster1.xml" Id="R6ce9f6884adf4fa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e07c471e2fa74fba" /><Relationship Type="http://schemas.openxmlformats.org/officeDocument/2006/relationships/notesMaster" Target="/ppt/notesMasters/notesMaster1.xml" Id="R4dac40d89aaf404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ae2e62e594f43a2" /><Relationship Type="http://schemas.openxmlformats.org/officeDocument/2006/relationships/notesMaster" Target="/ppt/notesMasters/notesMaster1.xml" Id="Ra5e69741b1c34cc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883437c22c53409f" /><Relationship Type="http://schemas.openxmlformats.org/officeDocument/2006/relationships/notesMaster" Target="/ppt/notesMasters/notesMaster1.xml" Id="Rc9df1343b9db441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39501c62f00421e" /><Relationship Type="http://schemas.openxmlformats.org/officeDocument/2006/relationships/notesMaster" Target="/ppt/notesMasters/notesMaster1.xml" Id="R85b1f42eb07b4f3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b3f32312d244781" /><Relationship Type="http://schemas.openxmlformats.org/officeDocument/2006/relationships/notesMaster" Target="/ppt/notesMasters/notesMaster1.xml" Id="R0aa0bea923554b3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a04c664efbe4303" /><Relationship Type="http://schemas.openxmlformats.org/officeDocument/2006/relationships/notesMaster" Target="/ppt/notesMasters/notesMaster1.xml" Id="Rc4cf794f331d47d6"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33ee89243ed4098" /><Relationship Type="http://schemas.openxmlformats.org/officeDocument/2006/relationships/notesMaster" Target="/ppt/notesMasters/notesMaster1.xml" Id="R851e8aaa8f9e4b2d"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7eb2ebd967e746e6" /><Relationship Type="http://schemas.openxmlformats.org/officeDocument/2006/relationships/notesMaster" Target="/ppt/notesMasters/notesMaster1.xml" Id="R2b0586509ae9493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8f7fc8bc07ab450c" /><Relationship Type="http://schemas.openxmlformats.org/officeDocument/2006/relationships/notesMaster" Target="/ppt/notesMasters/notesMaster1.xml" Id="Rd37d9969e58845f9"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288465550bcd44b6" /><Relationship Type="http://schemas.openxmlformats.org/officeDocument/2006/relationships/notesMaster" Target="/ppt/notesMasters/notesMaster1.xml" Id="R78d5ff0fcb624078"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4477ca1587a4086" /><Relationship Type="http://schemas.openxmlformats.org/officeDocument/2006/relationships/notesMaster" Target="/ppt/notesMasters/notesMaster1.xml" Id="R7d1df95f1b9b4611"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065c3789bd346e9" /><Relationship Type="http://schemas.openxmlformats.org/officeDocument/2006/relationships/notesMaster" Target="/ppt/notesMasters/notesMaster1.xml" Id="R0e0cd612f404482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c7237044598f4a4e" /><Relationship Type="http://schemas.openxmlformats.org/officeDocument/2006/relationships/notesMaster" Target="/ppt/notesMasters/notesMaster1.xml" Id="R3f2be2fed768435b"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13b8e9f2c5f64975" /><Relationship Type="http://schemas.openxmlformats.org/officeDocument/2006/relationships/notesMaster" Target="/ppt/notesMasters/notesMaster1.xml" Id="Rbcc57a4d33e5407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8103e883d38e4309" /><Relationship Type="http://schemas.openxmlformats.org/officeDocument/2006/relationships/notesMaster" Target="/ppt/notesMasters/notesMaster1.xml" Id="R58dd0a8bfc244870"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2671868f070d4d17" /><Relationship Type="http://schemas.openxmlformats.org/officeDocument/2006/relationships/notesMaster" Target="/ppt/notesMasters/notesMaster1.xml" Id="R370a97b8c0c646db"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86bec9d525924fa8" /><Relationship Type="http://schemas.openxmlformats.org/officeDocument/2006/relationships/notesMaster" Target="/ppt/notesMasters/notesMaster1.xml" Id="Rc1a0599440ae4c1e"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e2b7ee7c399042b0" /><Relationship Type="http://schemas.openxmlformats.org/officeDocument/2006/relationships/notesMaster" Target="/ppt/notesMasters/notesMaster1.xml" Id="R1be52faafe7144ae"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10b404b1a23e42a6" /><Relationship Type="http://schemas.openxmlformats.org/officeDocument/2006/relationships/notesMaster" Target="/ppt/notesMasters/notesMaster1.xml" Id="R00631a8a6fae4996"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d32fbdc330ed4523" /><Relationship Type="http://schemas.openxmlformats.org/officeDocument/2006/relationships/notesMaster" Target="/ppt/notesMasters/notesMaster1.xml" Id="Rd59249e2768142df"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b2a3c37b1f644713" /><Relationship Type="http://schemas.openxmlformats.org/officeDocument/2006/relationships/notesMaster" Target="/ppt/notesMasters/notesMaster1.xml" Id="R7a26ad5d6f484d9c"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e431db5b93c5492b" /><Relationship Type="http://schemas.openxmlformats.org/officeDocument/2006/relationships/notesMaster" Target="/ppt/notesMasters/notesMaster1.xml" Id="R29a0993f75df4ece"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6f6f40ab27e34b3c" /><Relationship Type="http://schemas.openxmlformats.org/officeDocument/2006/relationships/notesMaster" Target="/ppt/notesMasters/notesMaster1.xml" Id="Rdbfb3de7d65743df"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08dee131b6bd4074" /><Relationship Type="http://schemas.openxmlformats.org/officeDocument/2006/relationships/notesMaster" Target="/ppt/notesMasters/notesMaster1.xml" Id="Rd313e3fc2af94516"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48ca7d8cc7c24045" /><Relationship Type="http://schemas.openxmlformats.org/officeDocument/2006/relationships/notesMaster" Target="/ppt/notesMasters/notesMaster1.xml" Id="R5a1bb089536c43ae"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bf72a684c4244bf7" /><Relationship Type="http://schemas.openxmlformats.org/officeDocument/2006/relationships/notesMaster" Target="/ppt/notesMasters/notesMaster1.xml" Id="R6caee81338ca4f19"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e01c96812460442a" /><Relationship Type="http://schemas.openxmlformats.org/officeDocument/2006/relationships/notesMaster" Target="/ppt/notesMasters/notesMaster1.xml" Id="R8215ca52e9fc4476"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4fe8d6995bd74f92" /><Relationship Type="http://schemas.openxmlformats.org/officeDocument/2006/relationships/notesMaster" Target="/ppt/notesMasters/notesMaster1.xml" Id="R732a921532604b12"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bf4f637403394ba6" /><Relationship Type="http://schemas.openxmlformats.org/officeDocument/2006/relationships/notesMaster" Target="/ppt/notesMasters/notesMaster1.xml" Id="R4a3b2989b0054620"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3fd94f2f7d6f4146" /><Relationship Type="http://schemas.openxmlformats.org/officeDocument/2006/relationships/notesMaster" Target="/ppt/notesMasters/notesMaster1.xml" Id="Rd798871d11a544df"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df01abfec4f14cab" /><Relationship Type="http://schemas.openxmlformats.org/officeDocument/2006/relationships/notesMaster" Target="/ppt/notesMasters/notesMaster1.xml" Id="R77673a2a2cad4986"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9a425ae6b05b4432" /><Relationship Type="http://schemas.openxmlformats.org/officeDocument/2006/relationships/notesMaster" Target="/ppt/notesMasters/notesMaster1.xml" Id="R05d508cacc734907"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48611e8c6d7f4bdf" /><Relationship Type="http://schemas.openxmlformats.org/officeDocument/2006/relationships/notesMaster" Target="/ppt/notesMasters/notesMaster1.xml" Id="R4fdeaf8304d54651"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8b7256b217f74dc6" /><Relationship Type="http://schemas.openxmlformats.org/officeDocument/2006/relationships/notesMaster" Target="/ppt/notesMasters/notesMaster1.xml" Id="Reed78dd4dc034c63"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c8390cd5f6274fd7" /><Relationship Type="http://schemas.openxmlformats.org/officeDocument/2006/relationships/notesMaster" Target="/ppt/notesMasters/notesMaster1.xml" Id="R48e85dda9d9f4f9f"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07507791e24245fd" /><Relationship Type="http://schemas.openxmlformats.org/officeDocument/2006/relationships/notesMaster" Target="/ppt/notesMasters/notesMaster1.xml" Id="R60d955f1fd114047"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8e2a6406f44e4d23" /><Relationship Type="http://schemas.openxmlformats.org/officeDocument/2006/relationships/notesMaster" Target="/ppt/notesMasters/notesMaster1.xml" Id="R4d25bc6777524388"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9553b02344de4697" /><Relationship Type="http://schemas.openxmlformats.org/officeDocument/2006/relationships/notesMaster" Target="/ppt/notesMasters/notesMaster1.xml" Id="Rcab09f0ca5e04b90"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c0b2796ad5cc47ee" /><Relationship Type="http://schemas.openxmlformats.org/officeDocument/2006/relationships/notesMaster" Target="/ppt/notesMasters/notesMaster1.xml" Id="R20ad955d41664f0e"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bca12a593fe54113" /><Relationship Type="http://schemas.openxmlformats.org/officeDocument/2006/relationships/notesMaster" Target="/ppt/notesMasters/notesMaster1.xml" Id="R027c570ca8bb4e26"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f620742769d04ff9" /><Relationship Type="http://schemas.openxmlformats.org/officeDocument/2006/relationships/notesMaster" Target="/ppt/notesMasters/notesMaster1.xml" Id="Rc827bfbecbff4d2d"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4436c458e2774468" /><Relationship Type="http://schemas.openxmlformats.org/officeDocument/2006/relationships/notesMaster" Target="/ppt/notesMasters/notesMaster1.xml" Id="R4fd5656e08f24b97"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1963781e7b8b4bbe" /><Relationship Type="http://schemas.openxmlformats.org/officeDocument/2006/relationships/notesMaster" Target="/ppt/notesMasters/notesMaster1.xml" Id="R4bf0e9c6cb874b6f"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016ea223ba3a4033" /><Relationship Type="http://schemas.openxmlformats.org/officeDocument/2006/relationships/notesMaster" Target="/ppt/notesMasters/notesMaster1.xml" Id="R4eb704d4da6247df"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66a44f29845f4cac" /><Relationship Type="http://schemas.openxmlformats.org/officeDocument/2006/relationships/notesMaster" Target="/ppt/notesMasters/notesMaster1.xml" Id="R181f46e0496b40f7"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141a7e5add644d64" /><Relationship Type="http://schemas.openxmlformats.org/officeDocument/2006/relationships/notesMaster" Target="/ppt/notesMasters/notesMaster1.xml" Id="Re98356cd157f4709"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4b02efcfda5249e9" /><Relationship Type="http://schemas.openxmlformats.org/officeDocument/2006/relationships/notesMaster" Target="/ppt/notesMasters/notesMaster1.xml" Id="Ra4b9d34775e449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PRIMA-NEXT. Project Progress Review #2. Personal project ID, guide, official team names and expanded title can be added by the team. Evidence date: 10 October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Outline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2. Slide 2: outline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this review order: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Previous review suggestion and our response.</a:t>
            </a:r>
            <a:endParaRPr/>
          </a:p>
          <a:p xmlns:a="http://schemas.openxmlformats.org/drawingml/2006/main">
            <a:pPr marL="0" lvl="0" indent="0" algn="l">
              <a:lnSpc>
                <a:spcPct val="100000"/>
              </a:lnSpc>
              <a:spcBef>
                <a:spcPts val="0"/>
              </a:spcBef>
              <a:spcAft>
                <a:spcPts val="0"/>
              </a:spcAft>
              <a:buSzPts val="1400"/>
              <a:buNone/>
            </a:pPr>
            <a:r>
              <a:t>2. Problem, current methodology, and measured results.</a:t>
            </a:r>
            <a:endParaRPr/>
          </a:p>
          <a:p xmlns:a="http://schemas.openxmlformats.org/drawingml/2006/main">
            <a:pPr marL="0" lvl="0" indent="0" algn="l">
              <a:lnSpc>
                <a:spcPct val="100000"/>
              </a:lnSpc>
              <a:spcBef>
                <a:spcPts val="0"/>
              </a:spcBef>
              <a:spcAft>
                <a:spcPts val="0"/>
              </a:spcAft>
              <a:buSzPts val="1400"/>
              <a:buNone/>
            </a:pPr>
            <a:r>
              <a:t>3. Runtime workflow, algorithms, and design alternatives.</a:t>
            </a:r>
            <a:endParaRPr/>
          </a:p>
          <a:p xmlns:a="http://schemas.openxmlformats.org/drawingml/2006/main">
            <a:pPr marL="0" lvl="0" indent="0" algn="l">
              <a:lnSpc>
                <a:spcPct val="100000"/>
              </a:lnSpc>
              <a:spcBef>
                <a:spcPts val="0"/>
              </a:spcBef>
              <a:spcAft>
                <a:spcPts val="0"/>
              </a:spcAft>
              <a:buSzPts val="1400"/>
              <a:buNone/>
            </a:pPr>
            <a:r>
              <a:t>4. One coherent demo scenario and baseline comparison.</a:t>
            </a:r>
            <a:endParaRPr/>
          </a:p>
          <a:p xmlns:a="http://schemas.openxmlformats.org/drawingml/2006/main">
            <a:pPr marL="0" lvl="0" indent="0" algn="l">
              <a:lnSpc>
                <a:spcPct val="100000"/>
              </a:lnSpc>
              <a:spcBef>
                <a:spcPts val="0"/>
              </a:spcBef>
              <a:spcAft>
                <a:spcPts val="0"/>
              </a:spcAft>
              <a:buSzPts val="1400"/>
              <a:buNone/>
            </a:pPr>
            <a:r>
              <a:t>5. Completed modules, test evidence, and remaining limits.</a:t>
            </a:r>
            <a:endParaRPr/>
          </a:p>
          <a:p xmlns:a="http://schemas.openxmlformats.org/drawingml/2006/main">
            <a:pPr marL="0" lvl="0" indent="0" algn="l">
              <a:lnSpc>
                <a:spcPct val="100000"/>
              </a:lnSpc>
              <a:spcBef>
                <a:spcPts val="0"/>
              </a:spcBef>
              <a:spcAft>
                <a:spcPts val="0"/>
              </a:spcAft>
              <a:buSzPts val="1400"/>
              <a:buNone/>
            </a:pPr>
            <a:r>
              <a:t>6. Applicability to other domains.</a:t>
            </a:r>
            <a:endParaRPr/>
          </a:p>
          <a:p xmlns:a="http://schemas.openxmlformats.org/drawingml/2006/main">
            <a:pPr marL="0" lvl="0" indent="0" algn="l">
              <a:lnSpc>
                <a:spcPct val="100000"/>
              </a:lnSpc>
              <a:spcBef>
                <a:spcPts val="0"/>
              </a:spcBef>
              <a:spcAft>
                <a:spcPts val="0"/>
              </a:spcAft>
              <a:buSzPts val="1400"/>
              <a:buNone/>
            </a:pPr>
            <a:r>
              <a:t>7. Paper/patent status and supporting artifacts.</a:t>
            </a:r>
            <a:endParaRPr/>
          </a:p>
          <a:p xmlns:a="http://schemas.openxmlformats.org/drawingml/2006/main">
            <a:pPr marL="0" lvl="0" indent="0" algn="l">
              <a:lnSpc>
                <a:spcPct val="100000"/>
              </a:lnSpc>
              <a:spcBef>
                <a:spcPts val="0"/>
              </a:spcBef>
              <a:spcAft>
                <a:spcPts val="0"/>
              </a:spcAft>
              <a:buSzPts val="1400"/>
              <a:buNone/>
            </a:pPr>
            <a:r>
              <a:t>8. Pending-task timeline, conclusion, and references.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publication/patent section is an addition requested by the team. The template does not contain a dedicated slide for it. Place it before the timeline or use an additional slide under the methodology expansion allowance.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Suggestions from Review 1</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3. Slide 3: suggestions from Review 1</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3.1 Verified suggestion and feasibility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previous panel requested a demo script showing every module working for one sample, with a comparison. No other panel remarks were supplied.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Suggestion | Feasibility | Current progress | Remaining evidence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Demonstrate modules on one sample | Feasible as one scenario using several typed requests. QA, ingestion, affect classification, and tools intentionally use different routes. | Canonical routes, detailed diagnostics, integration tests, and controlled tools exist. [E02/E03] | A rehearsed executable scenario with exported traces, actual outputs, and maintenance completion. |</a:t>
            </a:r>
            <a:endParaRPr/>
          </a:p>
          <a:p xmlns:a="http://schemas.openxmlformats.org/drawingml/2006/main">
            <a:pPr marL="0" lvl="0" indent="0" algn="l">
              <a:lnSpc>
                <a:spcPct val="100000"/>
              </a:lnSpc>
              <a:spcBef>
                <a:spcPts val="0"/>
              </a:spcBef>
              <a:spcAft>
                <a:spcPts val="0"/>
              </a:spcAft>
              <a:buSzPts val="1400"/>
              <a:buNone/>
            </a:pPr>
            <a:r>
              <a:t>| Include a comparison | Feasible using existing model_only, simple_rag, and prima_full profiles. | Profiles and paired benchmark infrastructure exist. [E02/E05] | Matched real-provider outputs, identical source opportunity/settings, native scoring, cost measurements. |</a:t>
            </a:r>
            <a:endParaRPr/>
          </a:p>
          <a:p xmlns:a="http://schemas.openxmlformats.org/drawingml/2006/main">
            <a:pPr marL="0" lvl="0" indent="0" algn="l">
              <a:lnSpc>
                <a:spcPct val="100000"/>
              </a:lnSpc>
              <a:spcBef>
                <a:spcPts val="0"/>
              </a:spcBef>
              <a:spcAft>
                <a:spcPts val="0"/>
              </a:spcAft>
              <a:buSzPts val="1400"/>
              <a:buNone/>
            </a:pPr>
            <a:r>
              <a:t>| Show testing of completed modules | Feasible through existing tests and fault injection. | Fresh 25-test subset passes. Broader async run did not complete. See Section 8. | Fresh wider-suite evidence in a functioning environment.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3.2 What to say about the demo's progress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We have the runtime routes and test scaffolding needed for the panel's suggestion. We now have a single-scenario demonstration specification. The unified runnable demo, saved real-provider comparison, and rehearsal are pending. We will demonstrate each module through its appropriate route and show when a component was actually executed.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main.py is an affect demo. It does not establish that the full PRIMA workflow works. [E01/E04]</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"Every module" should mean every claimed runtime responsibility, not every source file, training utility, benchmark adapter, or legacy helper. Reflection is conditional, and background maintenance needs an explicit completion barrier. One successful answer cannot honestly prove all of those paths ran.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Review feedback and progress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3. Slide 3: suggestions from Review 1</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3.1 Verified suggestion and feasibility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previous panel requested a demo script showing every module working for one sample, with a comparison. No other panel remarks were supplied.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Suggestion | Feasibility | Current progress | Remaining evidence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Demonstrate modules on one sample | Feasible as one scenario using several typed requests. QA, ingestion, affect classification, and tools intentionally use different routes. | Canonical routes, detailed diagnostics, integration tests, and controlled tools exist. [E02/E03] | A rehearsed executable scenario with exported traces, actual outputs, and maintenance completion. |</a:t>
            </a:r>
            <a:endParaRPr/>
          </a:p>
          <a:p xmlns:a="http://schemas.openxmlformats.org/drawingml/2006/main">
            <a:pPr marL="0" lvl="0" indent="0" algn="l">
              <a:lnSpc>
                <a:spcPct val="100000"/>
              </a:lnSpc>
              <a:spcBef>
                <a:spcPts val="0"/>
              </a:spcBef>
              <a:spcAft>
                <a:spcPts val="0"/>
              </a:spcAft>
              <a:buSzPts val="1400"/>
              <a:buNone/>
            </a:pPr>
            <a:r>
              <a:t>| Include a comparison | Feasible using existing model_only, simple_rag, and prima_full profiles. | Profiles and paired benchmark infrastructure exist. [E02/E05] | Matched real-provider outputs, identical source opportunity/settings, native scoring, cost measurements. |</a:t>
            </a:r>
            <a:endParaRPr/>
          </a:p>
          <a:p xmlns:a="http://schemas.openxmlformats.org/drawingml/2006/main">
            <a:pPr marL="0" lvl="0" indent="0" algn="l">
              <a:lnSpc>
                <a:spcPct val="100000"/>
              </a:lnSpc>
              <a:spcBef>
                <a:spcPts val="0"/>
              </a:spcBef>
              <a:spcAft>
                <a:spcPts val="0"/>
              </a:spcAft>
              <a:buSzPts val="1400"/>
              <a:buNone/>
            </a:pPr>
            <a:r>
              <a:t>| Show testing of completed modules | Feasible through existing tests and fault injection. | Fresh 25-test subset passes. Broader async run did not complete. See Section 8. | Fresh wider-suite evidence in a functioning environment.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3.2 What to say about the demo's progress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We have the runtime routes and test scaffolding needed for the panel's suggestion. We now have a single-scenario demonstration specification. The unified runnable demo, saved real-provider comparison, and rehearsal are pending. We will demonstrate each module through its appropriate route and show when a component was actually executed.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main.py is an affect demo. It does not establish that the full PRIMA workflow works. [E01/E04]</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"Every module" should mean every claimed runtime responsibility, not every source file, training utility, benchmark adapter, or legacy helper. Reflection is conditional, and background maintenance needs an explicit completion barrier. One successful answer cannot honestly prove all of those paths ran.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Project problem and objectives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 Slide 1: project identity and motivation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1.1 Administrative fields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Template field | Value to put on the slide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Course/review | UE23CS441A, Capstone Project Phase 3, Project Progress Review #2. |</a:t>
            </a:r>
            <a:endParaRPr/>
          </a:p>
          <a:p xmlns:a="http://schemas.openxmlformats.org/drawingml/2006/main">
            <a:pPr marL="0" lvl="0" indent="0" algn="l">
              <a:lnSpc>
                <a:spcPct val="100000"/>
              </a:lnSpc>
              <a:spcBef>
                <a:spcPts val="0"/>
              </a:spcBef>
              <a:spcAft>
                <a:spcPts val="0"/>
              </a:spcAft>
              <a:buSzPts val="1400"/>
              <a:buNone/>
            </a:pPr>
            <a:r>
              <a:t>| Project title | PRIMA-NEXT is the repository name. Confirm the official expanded academic title. |</a:t>
            </a:r>
            <a:endParaRPr/>
          </a:p>
          <a:p xmlns:a="http://schemas.openxmlformats.org/drawingml/2006/main">
            <a:pPr marL="0" lvl="0" indent="0" algn="l">
              <a:lnSpc>
                <a:spcPct val="100000"/>
              </a:lnSpc>
              <a:spcBef>
                <a:spcPts val="0"/>
              </a:spcBef>
              <a:spcAft>
                <a:spcPts val="0"/>
              </a:spcAft>
              <a:buSzPts val="1400"/>
              <a:buNone/>
            </a:pPr>
            <a:r>
              <a:t>| Project ID | [To be added] |</a:t>
            </a:r>
            <a:endParaRPr/>
          </a:p>
          <a:p xmlns:a="http://schemas.openxmlformats.org/drawingml/2006/main">
            <a:pPr marL="0" lvl="0" indent="0" algn="l">
              <a:lnSpc>
                <a:spcPct val="100000"/>
              </a:lnSpc>
              <a:spcBef>
                <a:spcPts val="0"/>
              </a:spcBef>
              <a:spcAft>
                <a:spcPts val="0"/>
              </a:spcAft>
              <a:buSzPts val="1400"/>
              <a:buNone/>
            </a:pPr>
            <a:r>
              <a:t>| Project guide | [To be added] |</a:t>
            </a:r>
            <a:endParaRPr/>
          </a:p>
          <a:p xmlns:a="http://schemas.openxmlformats.org/drawingml/2006/main">
            <a:pPr marL="0" lvl="0" indent="0" algn="l">
              <a:lnSpc>
                <a:spcPct val="100000"/>
              </a:lnSpc>
              <a:spcBef>
                <a:spcPts val="0"/>
              </a:spcBef>
              <a:spcAft>
                <a:spcPts val="0"/>
              </a:spcAft>
              <a:buSzPts val="1400"/>
              <a:buNone/>
            </a:pPr>
            <a:r>
              <a:t>| Project team | Git contributors: Yuv Nahar, K Rajeev, K Abhiram, ZeroDeaths7. Confirm legal/full names, student IDs, and academic membership before using these as the official roster. [E11] |</a:t>
            </a:r>
            <a:endParaRPr/>
          </a:p>
          <a:p xmlns:a="http://schemas.openxmlformats.org/drawingml/2006/main">
            <a:pPr marL="0" lvl="0" indent="0" algn="l">
              <a:lnSpc>
                <a:spcPct val="100000"/>
              </a:lnSpc>
              <a:spcBef>
                <a:spcPts val="0"/>
              </a:spcBef>
              <a:spcAft>
                <a:spcPts val="0"/>
              </a:spcAft>
              <a:buSzPts val="1400"/>
              <a:buNone/>
            </a:pPr>
            <a:r>
              <a:t>| Review date | [To be added]. This document's preparation date is not the review date.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1.2 Problem statement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 language model's response depends on its supplied context and learned parameters. A continuing agent must also decide what historical information to retain, which evidence to retrieve now, how much work to spend on missing evidence, whether to abstain, and what operations it may perform. PRIMA's engineering problem is to give these decisions explicit owners and observable outcomes.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research question is whether the additional memory and cognitive mechanisms improve useful behavior enough to justify their latency, model calls, and storage cost relative to the same model alone and simple RAG. A large number of modules is an implementation fact, not an answer to that research question. [E01 -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1.3 Objectives and acceptance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Objective | Evidence that would establish 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Retain and recover relevant historical facts | Admitted source records, provenance, held-out retrieval recall, memory-assisted QA outcomes. |</a:t>
            </a:r>
            <a:endParaRPr/>
          </a:p>
          <a:p xmlns:a="http://schemas.openxmlformats.org/drawingml/2006/main">
            <a:pPr marL="0" lvl="0" indent="0" algn="l">
              <a:lnSpc>
                <a:spcPct val="100000"/>
              </a:lnSpc>
              <a:spcBef>
                <a:spcPts val="0"/>
              </a:spcBef>
              <a:spcAft>
                <a:spcPts val="0"/>
              </a:spcAft>
              <a:buSzPts val="1400"/>
              <a:buNone/>
            </a:pPr>
            <a:r>
              <a:t>| Use task-appropriate processing | Route tests and diagnostics showing required execution and short-route exclusions. |</a:t>
            </a:r>
            <a:endParaRPr/>
          </a:p>
          <a:p xmlns:a="http://schemas.openxmlformats.org/drawingml/2006/main">
            <a:pPr marL="0" lvl="0" indent="0" algn="l">
              <a:lnSpc>
                <a:spcPct val="100000"/>
              </a:lnSpc>
              <a:spcBef>
                <a:spcPts val="0"/>
              </a:spcBef>
              <a:spcAft>
                <a:spcPts val="0"/>
              </a:spcAft>
              <a:buSzPts val="1400"/>
              <a:buNone/>
            </a:pPr>
            <a:r>
              <a:t>| Bound uncertainty and correction work | Recorded decisions, correction budgets, stopping reasons, helped/harmed outcome counts. |</a:t>
            </a:r>
            <a:endParaRPr/>
          </a:p>
          <a:p xmlns:a="http://schemas.openxmlformats.org/drawingml/2006/main">
            <a:pPr marL="0" lvl="0" indent="0" algn="l">
              <a:lnSpc>
                <a:spcPct val="100000"/>
              </a:lnSpc>
              <a:spcBef>
                <a:spcPts val="0"/>
              </a:spcBef>
              <a:spcAft>
                <a:spcPts val="0"/>
              </a:spcAft>
              <a:buSzPts val="1400"/>
              <a:buNone/>
            </a:pPr>
            <a:r>
              <a:t>| Execute controlled tools | Validated arguments, policy decisions, handler results, blocked-action evidence. |</a:t>
            </a:r>
            <a:endParaRPr/>
          </a:p>
          <a:p xmlns:a="http://schemas.openxmlformats.org/drawingml/2006/main">
            <a:pPr marL="0" lvl="0" indent="0" algn="l">
              <a:lnSpc>
                <a:spcPct val="100000"/>
              </a:lnSpc>
              <a:spcBef>
                <a:spcPts val="0"/>
              </a:spcBef>
              <a:spcAft>
                <a:spcPts val="0"/>
              </a:spcAft>
              <a:buSzPts val="1400"/>
              <a:buNone/>
            </a:pPr>
            <a:r>
              <a:t>| Evaluate reproducibly | Frozen IDs/settings, native scoring, failure accounting, complete validated artifacts. |</a:t>
            </a:r>
            <a:endParaRPr/>
          </a:p>
          <a:p xmlns:a="http://schemas.openxmlformats.org/drawingml/2006/main">
            <a:pPr marL="0" lvl="0" indent="0" algn="l">
              <a:lnSpc>
                <a:spcPct val="100000"/>
              </a:lnSpc>
              <a:spcBef>
                <a:spcPts val="0"/>
              </a:spcBef>
              <a:spcAft>
                <a:spcPts val="0"/>
              </a:spcAft>
              <a:buSzPts val="1400"/>
              <a:buNone/>
            </a:pPr>
            <a:r>
              <a:t>| Communicate publication progress honestly | Manuscript version, submission receipt, acceptance notice or patent filing receipt, as applicable.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Speaker explanation: "We implement the agent's surrounding control system. We use existing language models and configurable embedding/classification models. We do not claim to have trained a new foundation model."</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Objectives and acceptance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 Slide 1: project identity and motivation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1.1 Administrative fields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Template field | Value to put on the slide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Course/review | UE23CS441A, Capstone Project Phase 3, Project Progress Review #2. |</a:t>
            </a:r>
            <a:endParaRPr/>
          </a:p>
          <a:p xmlns:a="http://schemas.openxmlformats.org/drawingml/2006/main">
            <a:pPr marL="0" lvl="0" indent="0" algn="l">
              <a:lnSpc>
                <a:spcPct val="100000"/>
              </a:lnSpc>
              <a:spcBef>
                <a:spcPts val="0"/>
              </a:spcBef>
              <a:spcAft>
                <a:spcPts val="0"/>
              </a:spcAft>
              <a:buSzPts val="1400"/>
              <a:buNone/>
            </a:pPr>
            <a:r>
              <a:t>| Project title | PRIMA-NEXT is the repository name. Confirm the official expanded academic title. |</a:t>
            </a:r>
            <a:endParaRPr/>
          </a:p>
          <a:p xmlns:a="http://schemas.openxmlformats.org/drawingml/2006/main">
            <a:pPr marL="0" lvl="0" indent="0" algn="l">
              <a:lnSpc>
                <a:spcPct val="100000"/>
              </a:lnSpc>
              <a:spcBef>
                <a:spcPts val="0"/>
              </a:spcBef>
              <a:spcAft>
                <a:spcPts val="0"/>
              </a:spcAft>
              <a:buSzPts val="1400"/>
              <a:buNone/>
            </a:pPr>
            <a:r>
              <a:t>| Project ID | [To be added] |</a:t>
            </a:r>
            <a:endParaRPr/>
          </a:p>
          <a:p xmlns:a="http://schemas.openxmlformats.org/drawingml/2006/main">
            <a:pPr marL="0" lvl="0" indent="0" algn="l">
              <a:lnSpc>
                <a:spcPct val="100000"/>
              </a:lnSpc>
              <a:spcBef>
                <a:spcPts val="0"/>
              </a:spcBef>
              <a:spcAft>
                <a:spcPts val="0"/>
              </a:spcAft>
              <a:buSzPts val="1400"/>
              <a:buNone/>
            </a:pPr>
            <a:r>
              <a:t>| Project guide | [To be added] |</a:t>
            </a:r>
            <a:endParaRPr/>
          </a:p>
          <a:p xmlns:a="http://schemas.openxmlformats.org/drawingml/2006/main">
            <a:pPr marL="0" lvl="0" indent="0" algn="l">
              <a:lnSpc>
                <a:spcPct val="100000"/>
              </a:lnSpc>
              <a:spcBef>
                <a:spcPts val="0"/>
              </a:spcBef>
              <a:spcAft>
                <a:spcPts val="0"/>
              </a:spcAft>
              <a:buSzPts val="1400"/>
              <a:buNone/>
            </a:pPr>
            <a:r>
              <a:t>| Project team | Git contributors: Yuv Nahar, K Rajeev, K Abhiram, ZeroDeaths7. Confirm legal/full names, student IDs, and academic membership before using these as the official roster. [E11] |</a:t>
            </a:r>
            <a:endParaRPr/>
          </a:p>
          <a:p xmlns:a="http://schemas.openxmlformats.org/drawingml/2006/main">
            <a:pPr marL="0" lvl="0" indent="0" algn="l">
              <a:lnSpc>
                <a:spcPct val="100000"/>
              </a:lnSpc>
              <a:spcBef>
                <a:spcPts val="0"/>
              </a:spcBef>
              <a:spcAft>
                <a:spcPts val="0"/>
              </a:spcAft>
              <a:buSzPts val="1400"/>
              <a:buNone/>
            </a:pPr>
            <a:r>
              <a:t>| Review date | [To be added]. This document's preparation date is not the review date.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1.2 Problem statement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 language model's response depends on its supplied context and learned parameters. A continuing agent must also decide what historical information to retain, which evidence to retrieve now, how much work to spend on missing evidence, whether to abstain, and what operations it may perform. PRIMA's engineering problem is to give these decisions explicit owners and observable outcomes.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research question is whether the additional memory and cognitive mechanisms improve useful behavior enough to justify their latency, model calls, and storage cost relative to the same model alone and simple RAG. A large number of modules is an implementation fact, not an answer to that research question. [E01 -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1.3 Objectives and acceptance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Objective | Evidence that would establish 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Retain and recover relevant historical facts | Admitted source records, provenance, held-out retrieval recall, memory-assisted QA outcomes. |</a:t>
            </a:r>
            <a:endParaRPr/>
          </a:p>
          <a:p xmlns:a="http://schemas.openxmlformats.org/drawingml/2006/main">
            <a:pPr marL="0" lvl="0" indent="0" algn="l">
              <a:lnSpc>
                <a:spcPct val="100000"/>
              </a:lnSpc>
              <a:spcBef>
                <a:spcPts val="0"/>
              </a:spcBef>
              <a:spcAft>
                <a:spcPts val="0"/>
              </a:spcAft>
              <a:buSzPts val="1400"/>
              <a:buNone/>
            </a:pPr>
            <a:r>
              <a:t>| Use task-appropriate processing | Route tests and diagnostics showing required execution and short-route exclusions. |</a:t>
            </a:r>
            <a:endParaRPr/>
          </a:p>
          <a:p xmlns:a="http://schemas.openxmlformats.org/drawingml/2006/main">
            <a:pPr marL="0" lvl="0" indent="0" algn="l">
              <a:lnSpc>
                <a:spcPct val="100000"/>
              </a:lnSpc>
              <a:spcBef>
                <a:spcPts val="0"/>
              </a:spcBef>
              <a:spcAft>
                <a:spcPts val="0"/>
              </a:spcAft>
              <a:buSzPts val="1400"/>
              <a:buNone/>
            </a:pPr>
            <a:r>
              <a:t>| Bound uncertainty and correction work | Recorded decisions, correction budgets, stopping reasons, helped/harmed outcome counts. |</a:t>
            </a:r>
            <a:endParaRPr/>
          </a:p>
          <a:p xmlns:a="http://schemas.openxmlformats.org/drawingml/2006/main">
            <a:pPr marL="0" lvl="0" indent="0" algn="l">
              <a:lnSpc>
                <a:spcPct val="100000"/>
              </a:lnSpc>
              <a:spcBef>
                <a:spcPts val="0"/>
              </a:spcBef>
              <a:spcAft>
                <a:spcPts val="0"/>
              </a:spcAft>
              <a:buSzPts val="1400"/>
              <a:buNone/>
            </a:pPr>
            <a:r>
              <a:t>| Execute controlled tools | Validated arguments, policy decisions, handler results, blocked-action evidence. |</a:t>
            </a:r>
            <a:endParaRPr/>
          </a:p>
          <a:p xmlns:a="http://schemas.openxmlformats.org/drawingml/2006/main">
            <a:pPr marL="0" lvl="0" indent="0" algn="l">
              <a:lnSpc>
                <a:spcPct val="100000"/>
              </a:lnSpc>
              <a:spcBef>
                <a:spcPts val="0"/>
              </a:spcBef>
              <a:spcAft>
                <a:spcPts val="0"/>
              </a:spcAft>
              <a:buSzPts val="1400"/>
              <a:buNone/>
            </a:pPr>
            <a:r>
              <a:t>| Evaluate reproducibly | Frozen IDs/settings, native scoring, failure accounting, complete validated artifacts. |</a:t>
            </a:r>
            <a:endParaRPr/>
          </a:p>
          <a:p xmlns:a="http://schemas.openxmlformats.org/drawingml/2006/main">
            <a:pPr marL="0" lvl="0" indent="0" algn="l">
              <a:lnSpc>
                <a:spcPct val="100000"/>
              </a:lnSpc>
              <a:spcBef>
                <a:spcPts val="0"/>
              </a:spcBef>
              <a:spcAft>
                <a:spcPts val="0"/>
              </a:spcAft>
              <a:buSzPts val="1400"/>
              <a:buNone/>
            </a:pPr>
            <a:r>
              <a:t>| Communicate publication progress honestly | Manuscript version, submission receipt, acceptance notice or patent filing receipt, as applicable.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Speaker explanation: "We implement the agent's surrounding control system. We use existing language models and configurable embedding/classification models. We do not claim to have trained a new foundation model."</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Runtime workflow</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Task and profile routes (1/2)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Task and profile routes (2/2)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Runtime contracts and diagnostics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Input, state and affect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Memory representation and query analysis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Retrieval, fusion and reranking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Evidence reasoning and compression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Planning, world and uncertainty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Reflection, tools and generation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Validation, commit and maintenance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Five logical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Saved retrieval experiment scope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Embedding backend comparison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Memory representation comparison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Interpretation of subset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Reported LoCoMo operational pilot (1/2)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Reported LoCoMo operational pilot (2/2)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Pilot quality and methodology changes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 Slide 4: proposed approach / methodology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4.1 Basic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public entry is PrimaRuntime.execute(PrimaRequest(...)). A request declares its task and profile. Immutable, extra-forbidding Pydantic contracts validate the input. Reserved metadata keys cannot override execution controls. The runtime selects a valid route, constructs an execution context, delegates to the workflow, and returns a typed response with evidence, errors, state changes, and diagnostics. [E02/E03]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flowchart TD</a:t>
            </a:r>
            <a:endParaRPr/>
          </a:p>
          <a:p xmlns:a="http://schemas.openxmlformats.org/drawingml/2006/main">
            <a:pPr marL="0" lvl="0" indent="0" algn="l">
              <a:lnSpc>
                <a:spcPct val="100000"/>
              </a:lnSpc>
              <a:spcBef>
                <a:spcPts val="0"/>
              </a:spcBef>
              <a:spcAft>
                <a:spcPts val="0"/>
              </a:spcAft>
              <a:buSzPts val="1400"/>
              <a:buNone/>
            </a:pPr>
            <a:r>
              <a:t>    A[Typed request] --&gt; B[Validation and route selection]</a:t>
            </a:r>
            <a:endParaRPr/>
          </a:p>
          <a:p xmlns:a="http://schemas.openxmlformats.org/drawingml/2006/main">
            <a:pPr marL="0" lvl="0" indent="0" algn="l">
              <a:lnSpc>
                <a:spcPct val="100000"/>
              </a:lnSpc>
              <a:spcBef>
                <a:spcPts val="0"/>
              </a:spcBef>
              <a:spcAft>
                <a:spcPts val="0"/>
              </a:spcAft>
              <a:buSzPts val="1400"/>
              <a:buNone/>
            </a:pPr>
            <a:r>
              <a:t>    B --&gt; C[Load versioned session state]</a:t>
            </a:r>
            <a:endParaRPr/>
          </a:p>
          <a:p xmlns:a="http://schemas.openxmlformats.org/drawingml/2006/main">
            <a:pPr marL="0" lvl="0" indent="0" algn="l">
              <a:lnSpc>
                <a:spcPct val="100000"/>
              </a:lnSpc>
              <a:spcBef>
                <a:spcPts val="0"/>
              </a:spcBef>
              <a:spcAft>
                <a:spcPts val="0"/>
              </a:spcAft>
              <a:buSzPts val="1400"/>
              <a:buNone/>
            </a:pPr>
            <a:r>
              <a:t>    C --&gt; D[Selected controllers]</a:t>
            </a:r>
            <a:endParaRPr/>
          </a:p>
          <a:p xmlns:a="http://schemas.openxmlformats.org/drawingml/2006/main">
            <a:pPr marL="0" lvl="0" indent="0" algn="l">
              <a:lnSpc>
                <a:spcPct val="100000"/>
              </a:lnSpc>
              <a:spcBef>
                <a:spcPts val="0"/>
              </a:spcBef>
              <a:spcAft>
                <a:spcPts val="0"/>
              </a:spcAft>
              <a:buSzPts val="1400"/>
              <a:buNone/>
            </a:pPr>
            <a:r>
              <a:t>    D --&gt; E[Generate, classify, ingest, or act]</a:t>
            </a:r>
            <a:endParaRPr/>
          </a:p>
          <a:p xmlns:a="http://schemas.openxmlformats.org/drawingml/2006/main">
            <a:pPr marL="0" lvl="0" indent="0" algn="l">
              <a:lnSpc>
                <a:spcPct val="100000"/>
              </a:lnSpc>
              <a:spcBef>
                <a:spcPts val="0"/>
              </a:spcBef>
              <a:spcAft>
                <a:spcPts val="0"/>
              </a:spcAft>
              <a:buSzPts val="1400"/>
              <a:buNone/>
            </a:pPr>
            <a:r>
              <a:t>    E --&gt; F[Validate and shape typed result]</a:t>
            </a:r>
            <a:endParaRPr/>
          </a:p>
          <a:p xmlns:a="http://schemas.openxmlformats.org/drawingml/2006/main">
            <a:pPr marL="0" lvl="0" indent="0" algn="l">
              <a:lnSpc>
                <a:spcPct val="100000"/>
              </a:lnSpc>
              <a:spcBef>
                <a:spcPts val="0"/>
              </a:spcBef>
              <a:spcAft>
                <a:spcPts val="0"/>
              </a:spcAft>
              <a:buSzPts val="1400"/>
              <a:buNone/>
            </a:pPr>
            <a:r>
              <a:t>    F --&gt; G[Task appropriate commits]</a:t>
            </a:r>
            <a:endParaRPr/>
          </a:p>
          <a:p xmlns:a="http://schemas.openxmlformats.org/drawingml/2006/main">
            <a:pPr marL="0" lvl="0" indent="0" algn="l">
              <a:lnSpc>
                <a:spcPct val="100000"/>
              </a:lnSpc>
              <a:spcBef>
                <a:spcPts val="0"/>
              </a:spcBef>
              <a:spcAft>
                <a:spcPts val="0"/>
              </a:spcAft>
              <a:buSzPts val="1400"/>
              <a:buNone/>
            </a:pPr>
            <a:r>
              <a:t>    G --&gt; H[Return response and diagnostics]</a:t>
            </a:r>
            <a:endParaRPr/>
          </a:p>
          <a:p xmlns:a="http://schemas.openxmlformats.org/drawingml/2006/main">
            <a:pPr marL="0" lvl="0" indent="0" algn="l">
              <a:lnSpc>
                <a:spcPct val="100000"/>
              </a:lnSpc>
              <a:spcBef>
                <a:spcPts val="0"/>
              </a:spcBef>
              <a:spcAft>
                <a:spcPts val="0"/>
              </a:spcAft>
              <a:buSzPts val="1400"/>
              <a:buNone/>
            </a:pPr>
            <a:r>
              <a:t>    G --&gt; I[Enqueue admitted memory work]</a:t>
            </a:r>
            <a:endParaRPr/>
          </a:p>
          <a:p xmlns:a="http://schemas.openxmlformats.org/drawingml/2006/main">
            <a:pPr marL="0" lvl="0" indent="0" algn="l">
              <a:lnSpc>
                <a:spcPct val="100000"/>
              </a:lnSpc>
              <a:spcBef>
                <a:spcPts val="0"/>
              </a:spcBef>
              <a:spcAft>
                <a:spcPts val="0"/>
              </a:spcAft>
              <a:buSzPts val="1400"/>
              <a:buNone/>
            </a:pPr>
            <a:r>
              <a:t>    I --&gt; J[Background maintenance and explicit barrier]</a:t>
            </a:r>
            <a:endParaRPr/>
          </a:p>
          <a:p xmlns:a="http://schemas.openxmlformats.org/drawingml/2006/main">
            <a:pPr marL="0" lvl="0" indent="0" algn="l">
              <a:lnSpc>
                <a:spcPct val="100000"/>
              </a:lnSpc>
              <a:spcBef>
                <a:spcPts val="0"/>
              </a:spcBef>
              <a:spcAft>
                <a:spcPts val="0"/>
              </a:spcAft>
              <a:buSzPts val="1400"/>
              <a:buNone/>
            </a:pPr>
            <a:r>
              <a:t>    D --&gt; K[Bounded correction decision]</a:t>
            </a:r>
            <a:endParaRPr/>
          </a:p>
          <a:p xmlns:a="http://schemas.openxmlformats.org/drawingml/2006/main">
            <a:pPr marL="0" lvl="0" indent="0" algn="l">
              <a:lnSpc>
                <a:spcPct val="100000"/>
              </a:lnSpc>
              <a:spcBef>
                <a:spcPts val="0"/>
              </a:spcBef>
              <a:spcAft>
                <a:spcPts val="0"/>
              </a:spcAft>
              <a:buSzPts val="1400"/>
              <a:buNone/>
            </a:pPr>
            <a:r>
              <a:t>    K --&gt; 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an explanatory flow, not a claim that every box executes on every request. Use the actual route and trace as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4.2 Task/profile routes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Supported profiles | Behavior and excluded work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Conversation | model_only, simple_rag, prima_full | Generate a reply. Memory admission and state handling depend on the route/policy. |</a:t>
            </a:r>
            <a:endParaRPr/>
          </a:p>
          <a:p xmlns:a="http://schemas.openxmlformats.org/drawingml/2006/main">
            <a:pPr marL="0" lvl="0" indent="0" algn="l">
              <a:lnSpc>
                <a:spcPct val="100000"/>
              </a:lnSpc>
              <a:spcBef>
                <a:spcPts val="0"/>
              </a:spcBef>
              <a:spcAft>
                <a:spcPts val="0"/>
              </a:spcAft>
              <a:buSzPts val="1400"/>
              <a:buNone/>
            </a:pPr>
            <a:r>
              <a:t>| Factual QA | model_only, simple_rag, prima_full | Generate structured factual output or abstain. Factual routes omit conversation memory_commit. |</a:t>
            </a:r>
            <a:endParaRPr/>
          </a:p>
          <a:p xmlns:a="http://schemas.openxmlformats.org/drawingml/2006/main">
            <a:pPr marL="0" lvl="0" indent="0" algn="l">
              <a:lnSpc>
                <a:spcPct val="100000"/>
              </a:lnSpc>
              <a:spcBef>
                <a:spcPts val="0"/>
              </a:spcBef>
              <a:spcAft>
                <a:spcPts val="0"/>
              </a:spcAft>
              <a:buSzPts val="1400"/>
              <a:buNone/>
            </a:pPr>
            <a:r>
              <a:t>| Historical replay | prima_full | Process past turns through affect/state/admission without generating new assistant replies. |</a:t>
            </a:r>
            <a:endParaRPr/>
          </a:p>
          <a:p xmlns:a="http://schemas.openxmlformats.org/drawingml/2006/main">
            <a:pPr marL="0" lvl="0" indent="0" algn="l">
              <a:lnSpc>
                <a:spcPct val="100000"/>
              </a:lnSpc>
              <a:spcBef>
                <a:spcPts val="0"/>
              </a:spcBef>
              <a:spcAft>
                <a:spcPts val="0"/>
              </a:spcAft>
              <a:buSzPts val="1400"/>
              <a:buNone/>
            </a:pPr>
            <a:r>
              <a:t>| Document ingestion | ingestion_only | Encode/store the document through the workflow, without answer generation. |</a:t>
            </a:r>
            <a:endParaRPr/>
          </a:p>
          <a:p xmlns:a="http://schemas.openxmlformats.org/drawingml/2006/main">
            <a:pPr marL="0" lvl="0" indent="0" algn="l">
              <a:lnSpc>
                <a:spcPct val="100000"/>
              </a:lnSpc>
              <a:spcBef>
                <a:spcPts val="0"/>
              </a:spcBef>
              <a:spcAft>
                <a:spcPts val="0"/>
              </a:spcAft>
              <a:buSzPts val="1400"/>
              <a:buNone/>
            </a:pPr>
            <a:r>
              <a:t>| Emotion classification | affect_only | Classify/update affect, excluding QA retrieval, planning, world simulation, and tools. |</a:t>
            </a:r>
            <a:endParaRPr/>
          </a:p>
          <a:p xmlns:a="http://schemas.openxmlformats.org/drawingml/2006/main">
            <a:pPr marL="0" lvl="0" indent="0" algn="l">
              <a:lnSpc>
                <a:spcPct val="100000"/>
              </a:lnSpc>
              <a:spcBef>
                <a:spcPts val="0"/>
              </a:spcBef>
              <a:spcAft>
                <a:spcPts val="0"/>
              </a:spcAft>
              <a:buSzPts val="1400"/>
              <a:buNone/>
            </a:pPr>
            <a:r>
              <a:t>| Tool request | prima_full | Plan/gate an action, excluding answer generation.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Ten supported pairs out of thirty possible combinations. Unsupported pairs are rejected. model_only skips retrieval. simple_rag selects dense/sparse retrieval. Capable prima_full routes add temporal/graph retrieval and cognitive decisions. [E02]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4.3 Complete technical stage explanation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Stage | Input and operation | Output / purpose | Implementation proof and limit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Input boundary | Text, task/profile, session, generation settings, options. Validate nonblank content and reject undeclared/reserved fields. | Trusted execution controls and rejected invalid requests. | Contracts, principal hardening tests. "Principal" in this test name does not prove complete multiuser isolation. |</a:t>
            </a:r>
            <a:endParaRPr/>
          </a:p>
          <a:p xmlns:a="http://schemas.openxmlformats.org/drawingml/2006/main">
            <a:pPr marL="0" lvl="0" indent="0" algn="l">
              <a:lnSpc>
                <a:spcPct val="100000"/>
              </a:lnSpc>
              <a:spcBef>
                <a:spcPts val="0"/>
              </a:spcBef>
              <a:spcAft>
                <a:spcPts val="0"/>
              </a:spcAft>
              <a:buSzPts val="1400"/>
              <a:buNone/>
            </a:pPr>
            <a:r>
              <a:t>| State load | Session identity and versioned state manager. | A consistent cognitive/emotional state snapshot. | State manager, ownership tests. JSON locks are process-local. |</a:t>
            </a:r>
            <a:endParaRPr/>
          </a:p>
          <a:p xmlns:a="http://schemas.openxmlformats.org/drawingml/2006/main">
            <a:pPr marL="0" lvl="0" indent="0" algn="l">
              <a:lnSpc>
                <a:spcPct val="100000"/>
              </a:lnSpc>
              <a:spcBef>
                <a:spcPts val="0"/>
              </a:spcBef>
              <a:spcAft>
                <a:spcPts val="0"/>
              </a:spcAft>
              <a:buSzPts val="1400"/>
              <a:buNone/>
            </a:pPr>
            <a:r>
              <a:t>| Affect | Classify text, derive emotion profile/PAD, update temporal history and momentum. | Affect/state signals for downstream salience, retrieval priors, and reflection triggers. | Affect engine, classifier factory. Legacy default and learned backends must be identified. No clinical interpretation is established. |</a:t>
            </a:r>
            <a:endParaRPr/>
          </a:p>
          <a:p xmlns:a="http://schemas.openxmlformats.org/drawingml/2006/main">
            <a:pPr marL="0" lvl="0" indent="0" algn="l">
              <a:lnSpc>
                <a:spcPct val="100000"/>
              </a:lnSpc>
              <a:spcBef>
                <a:spcPts val="0"/>
              </a:spcBef>
              <a:spcAft>
                <a:spcPts val="0"/>
              </a:spcAft>
              <a:buSzPts val="1400"/>
              <a:buNone/>
            </a:pPr>
            <a:r>
              <a:t>| Memory representation | Store a typed MemoryNote with text, embedding, metadata, time/provenance. | Recoverable source evidence and derived graph references. | Memory note, index, repository selection. In-memory test storage differs from persistent production storage. |</a:t>
            </a:r>
            <a:endParaRPr/>
          </a:p>
          <a:p xmlns:a="http://schemas.openxmlformats.org/drawingml/2006/main">
            <a:pPr marL="0" lvl="0" indent="0" algn="l">
              <a:lnSpc>
                <a:spcPct val="100000"/>
              </a:lnSpc>
              <a:spcBef>
                <a:spcPts val="0"/>
              </a:spcBef>
              <a:spcAft>
                <a:spcPts val="0"/>
              </a:spcAft>
              <a:buSzPts val="1400"/>
              <a:buNone/>
            </a:pPr>
            <a:r>
              <a:t>| Query analysis/rewrite | Extract lexical/entity/time cues and deterministic expansions. | Traceable retrieval query. | Query analysis. This is engineered rewriting, not a learned universal intent parser. |</a:t>
            </a:r>
            <a:endParaRPr/>
          </a:p>
          <a:p xmlns:a="http://schemas.openxmlformats.org/drawingml/2006/main">
            <a:pPr marL="0" lvl="0" indent="0" algn="l">
              <a:lnSpc>
                <a:spcPct val="100000"/>
              </a:lnSpc>
              <a:spcBef>
                <a:spcPts val="0"/>
              </a:spcBef>
              <a:spcAft>
                <a:spcPts val="0"/>
              </a:spcAft>
              <a:buSzPts val="1400"/>
              <a:buNone/>
            </a:pPr>
            <a:r>
              <a:t>| Candidate retrieval | Dense vectors, sparse lexical matches, temporal conditions, graph traversal where selected. | Candidate memory IDs, scores, and strategy contributions. | Retrieval controller, router. A hash embedding is a deterministic baseline, not a learned semantic model. |</a:t>
            </a:r>
            <a:endParaRPr/>
          </a:p>
          <a:p xmlns:a="http://schemas.openxmlformats.org/drawingml/2006/main">
            <a:pPr marL="0" lvl="0" indent="0" algn="l">
              <a:lnSpc>
                <a:spcPct val="100000"/>
              </a:lnSpc>
              <a:spcBef>
                <a:spcPts val="0"/>
              </a:spcBef>
              <a:spcAft>
                <a:spcPts val="0"/>
              </a:spcAft>
              <a:buSzPts val="1400"/>
              <a:buNone/>
            </a:pPr>
            <a:r>
              <a:t>| Fusion and reranking | Normalize/merge candidates by memory ID, weight available strategies, rerank. | Ordered evidence candidates and backend identity. | Fusion, reranker. Lexical and cross-encoder backends have different costs/capabilities. |</a:t>
            </a:r>
            <a:endParaRPr/>
          </a:p>
          <a:p xmlns:a="http://schemas.openxmlformats.org/drawingml/2006/main">
            <a:pPr marL="0" lvl="0" indent="0" algn="l">
              <a:lnSpc>
                <a:spcPct val="100000"/>
              </a:lnSpc>
              <a:spcBef>
                <a:spcPts val="0"/>
              </a:spcBef>
              <a:spcAft>
                <a:spcPts val="0"/>
              </a:spcAft>
              <a:buSzPts val="1400"/>
              <a:buNone/>
            </a:pPr>
            <a:r>
              <a:t>| Evidence reasoning | Integrate evidence, check sufficiency, request follow-up information within budgets. | Selected evidence, stop reason, or abstention. | Reasoning controller, sufficiency verifier. Current word coverage does not establish semantic entailment. |</a:t>
            </a:r>
            <a:endParaRPr/>
          </a:p>
          <a:p xmlns:a="http://schemas.openxmlformats.org/drawingml/2006/main">
            <a:pPr marL="0" lvl="0" indent="0" algn="l">
              <a:lnSpc>
                <a:spcPct val="100000"/>
              </a:lnSpc>
              <a:spcBef>
                <a:spcPts val="0"/>
              </a:spcBef>
              <a:spcAft>
                <a:spcPts val="0"/>
              </a:spcAft>
              <a:buSzPts val="1400"/>
              <a:buNone/>
            </a:pPr>
            <a:r>
              <a:t>| Context compression | Fit selected evidence to the request budget and preserve source mappings. | A bounded model context with recorded drops/loss. | Compressor. Approximate tokens can differ from provider tokenizer counts. |</a:t>
            </a:r>
            <a:endParaRPr/>
          </a:p>
          <a:p xmlns:a="http://schemas.openxmlformats.org/drawingml/2006/main">
            <a:pPr marL="0" lvl="0" indent="0" algn="l">
              <a:lnSpc>
                <a:spcPct val="100000"/>
              </a:lnSpc>
              <a:spcBef>
                <a:spcPts val="0"/>
              </a:spcBef>
              <a:spcAft>
                <a:spcPts val="0"/>
              </a:spcAft>
              <a:buSzPts val="1400"/>
              <a:buNone/>
            </a:pPr>
            <a:r>
              <a:t>| Planning | Select goals/actions/constraints and evaluate a plan. | Explicit intended execution and risk/replan signals. | Task planner, plan evaluator. Deterministic planning is not a general learned planner. |</a:t>
            </a:r>
            <a:endParaRPr/>
          </a:p>
          <a:p xmlns:a="http://schemas.openxmlformats.org/drawingml/2006/main">
            <a:pPr marL="0" lvl="0" indent="0" algn="l">
              <a:lnSpc>
                <a:spcPct val="100000"/>
              </a:lnSpc>
              <a:spcBef>
                <a:spcPts val="0"/>
              </a:spcBef>
              <a:spcAft>
                <a:spcPts val="0"/>
              </a:spcAft>
              <a:buSzPts val="1400"/>
              <a:buNone/>
            </a:pPr>
            <a:r>
              <a:t>| World simulation | Apply symbolic rules and predict action/state transitions. | Constraint/risk predictions supplied to decisions. | Predictive model, simulator. No learned physical world model is claimed. |</a:t>
            </a:r>
            <a:endParaRPr/>
          </a:p>
          <a:p xmlns:a="http://schemas.openxmlformats.org/drawingml/2006/main">
            <a:pPr marL="0" lvl="0" indent="0" algn="l">
              <a:lnSpc>
                <a:spcPct val="100000"/>
              </a:lnSpc>
              <a:spcBef>
                <a:spcPts val="0"/>
              </a:spcBef>
              <a:spcAft>
                <a:spcPts val="0"/>
              </a:spcAft>
              <a:buSzPts val="1400"/>
              <a:buNone/>
            </a:pPr>
            <a:r>
              <a:t>| Uncertainty | Aggregate retrieval/planning/affect/state/policy/reflection signals and disagreement. | Confidence, uncertainty, decision recommendations. | Estimator, aggregator. These scores require empirical calibration before probabilistic accuracy claims. |</a:t>
            </a:r>
            <a:endParaRPr/>
          </a:p>
          <a:p xmlns:a="http://schemas.openxmlformats.org/drawingml/2006/main">
            <a:pPr marL="0" lvl="0" indent="0" algn="l">
              <a:lnSpc>
                <a:spcPct val="100000"/>
              </a:lnSpc>
              <a:spcBef>
                <a:spcPts val="0"/>
              </a:spcBef>
              <a:spcAft>
                <a:spcPts val="0"/>
              </a:spcAft>
              <a:buSzPts val="1400"/>
              <a:buNone/>
            </a:pPr>
            <a:r>
              <a:t>| Reflection/correction | Produce typed advice. Workflow validates it, checks budgets, applies bounded retrieval/replan/retry/regeneration. | Recorded proposal, acceptance, before/after snapshots. | Reflection adapter, correction loop. Evaluator-only truth-aware helpers must stay outside inference. |</a:t>
            </a:r>
            <a:endParaRPr/>
          </a:p>
          <a:p xmlns:a="http://schemas.openxmlformats.org/drawingml/2006/main">
            <a:pPr marL="0" lvl="0" indent="0" algn="l">
              <a:lnSpc>
                <a:spcPct val="100000"/>
              </a:lnSpc>
              <a:spcBef>
                <a:spcPts val="0"/>
              </a:spcBef>
              <a:spcAft>
                <a:spcPts val="0"/>
              </a:spcAft>
              <a:buSzPts val="1400"/>
              <a:buNone/>
            </a:pPr>
            <a:r>
              <a:t>| Action/tools | Check policy/allowlist/schema, route registered handler, record result/audit. | Successful, blocked, invalid, missing, timed-out, or failed action. | Execution policy, executor. Application tags do not create OS isolation. |</a:t>
            </a:r>
            <a:endParaRPr/>
          </a:p>
          <a:p xmlns:a="http://schemas.openxmlformats.org/drawingml/2006/main">
            <a:pPr marL="0" lvl="0" indent="0" algn="l">
              <a:lnSpc>
                <a:spcPct val="100000"/>
              </a:lnSpc>
              <a:spcBef>
                <a:spcPts val="0"/>
              </a:spcBef>
              <a:spcAft>
                <a:spcPts val="0"/>
              </a:spcAft>
              <a:buSzPts val="1400"/>
              <a:buNone/>
            </a:pPr>
            <a:r>
              <a:t>| Model generation | Build trusted policy plus untrusted evidence context. Call configured provider and parse structured output/citations. | Generated answer tied to evidence labels. | Answer generation, prompt builder, response parser. Valid citations alone do not prove claim support. |</a:t>
            </a:r>
            <a:endParaRPr/>
          </a:p>
          <a:p xmlns:a="http://schemas.openxmlformats.org/drawingml/2006/main">
            <a:pPr marL="0" lvl="0" indent="0" algn="l">
              <a:lnSpc>
                <a:spcPct val="100000"/>
              </a:lnSpc>
              <a:spcBef>
                <a:spcPts val="0"/>
              </a:spcBef>
              <a:spcAft>
                <a:spcPts val="0"/>
              </a:spcAft>
              <a:buSzPts val="1400"/>
              <a:buNone/>
            </a:pPr>
            <a:r>
              <a:t>| Output validation/shaping | Check typed result, structure, selected citations, and errors. | Explicit answered/abstained/failed/ingested/classified/actioned result. | Output validation, workflow output controller [E03]. No input echo fallback should substitute for failed generation. |</a:t>
            </a:r>
            <a:endParaRPr/>
          </a:p>
          <a:p xmlns:a="http://schemas.openxmlformats.org/drawingml/2006/main">
            <a:pPr marL="0" lvl="0" indent="0" algn="l">
              <a:lnSpc>
                <a:spcPct val="100000"/>
              </a:lnSpc>
              <a:spcBef>
                <a:spcPts val="0"/>
              </a:spcBef>
              <a:spcAft>
                <a:spcPts val="0"/>
              </a:spcAft>
              <a:buSzPts val="1400"/>
              <a:buNone/>
            </a:pPr>
            <a:r>
              <a:t>| Commit/admission | Commit versioned state and apply task-appropriate memory policy. | State delta and admitted/rejected memory with reason. | Memory importance, admission tests. State/content/index/queue operations are separate, not a demonstrated all-or-nothing transaction. |</a:t>
            </a:r>
            <a:endParaRPr/>
          </a:p>
          <a:p xmlns:a="http://schemas.openxmlformats.org/drawingml/2006/main">
            <a:pPr marL="0" lvl="0" indent="0" algn="l">
              <a:lnSpc>
                <a:spcPct val="100000"/>
              </a:lnSpc>
              <a:spcBef>
                <a:spcPts val="0"/>
              </a:spcBef>
              <a:spcAft>
                <a:spcPts val="0"/>
              </a:spcAft>
              <a:buSzPts val="1400"/>
              <a:buNone/>
            </a:pPr>
            <a:r>
              <a:t>| Maintenance | Bounded background work: scoring, consolidation, abstraction/evolution, graph refresh, decay/soft forgetting. | Completion/failure accounting and updated derived memory. | Maintenance tests, event tests. Process-local queues need durability work for crash recovery. |</a:t>
            </a:r>
            <a:endParaRPr/>
          </a:p>
          <a:p xmlns:a="http://schemas.openxmlformats.org/drawingml/2006/main">
            <a:pPr marL="0" lvl="0" indent="0" algn="l">
              <a:lnSpc>
                <a:spcPct val="100000"/>
              </a:lnSpc>
              <a:spcBef>
                <a:spcPts val="0"/>
              </a:spcBef>
              <a:spcAft>
                <a:spcPts val="0"/>
              </a:spcAft>
              <a:buSzPts val="1400"/>
              <a:buNone/>
            </a:pPr>
            <a:r>
              <a:t>| Research evaluation | Evaluator scores predictions after inference using protected gold data. | Native metrics, failures, paired differences, reproducible artifacts. | Campaign comparison, aggregation, E05. Gold answers must not enter prompts or retrieval decisions.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4.4 Memory taxonomy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five logical types are working, episodic, semantic, emotional, procedural. Working memory supports immediate context. Episodic memory records experiences/turns. Semantic memory stores generalized information. Emotional memory represents affect-related records. Procedural memory stores verified successful tool procedures or explicit imports. These types share repository/index machinery rather than requiring five separately deployed databases. Graph nodes/edges reference memory IDs and retain derived metadata. E04, [memory types]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4.5 Results obtained: saved retrieval experiments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Scope: E07/E08 record one LoCoMo conversation, 197 queries, seed 13, candidate top_k=30, identity normalization enabled, subset_validation=true, Python 3.10.11, and a GTX 1650 environment. The table reports metric Recall@5, which differs from the candidate-generation top-k setting. These are saved component results, not current full-dataset QA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Embedding backend, semantic representation | Recall@5 | MRR | nDCG@5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Stable hash | 1.0152% | 0.010081 | 0.007262 | 7.1066% | 5.740125 |</a:t>
            </a:r>
            <a:endParaRPr/>
          </a:p>
          <a:p xmlns:a="http://schemas.openxmlformats.org/drawingml/2006/main">
            <a:pPr marL="0" lvl="0" indent="0" algn="l">
              <a:lnSpc>
                <a:spcPct val="100000"/>
              </a:lnSpc>
              <a:spcBef>
                <a:spcPts val="0"/>
              </a:spcBef>
              <a:spcAft>
                <a:spcPts val="0"/>
              </a:spcAft>
              <a:buSzPts val="1400"/>
              <a:buNone/>
            </a:pPr>
            <a:r>
              <a:t>| MiniLM | 15.7783% | 0.110655 | 0.101168 | 44.6701% | 22.439328 |</a:t>
            </a:r>
            <a:endParaRPr/>
          </a:p>
          <a:p xmlns:a="http://schemas.openxmlformats.org/drawingml/2006/main">
            <a:pPr marL="0" lvl="0" indent="0" algn="l">
              <a:lnSpc>
                <a:spcPct val="100000"/>
              </a:lnSpc>
              <a:spcBef>
                <a:spcPts val="0"/>
              </a:spcBef>
              <a:spcAft>
                <a:spcPts val="0"/>
              </a:spcAft>
              <a:buSzPts val="1400"/>
              <a:buNone/>
            </a:pPr>
            <a:r>
              <a:t>| BGE small | 15.7360% | 0.138600 | 0.122296 | 41.6244% | 15.200265 |</a:t>
            </a:r>
            <a:endParaRPr/>
          </a:p>
          <a:p xmlns:a="http://schemas.openxmlformats.org/drawingml/2006/main">
            <a:pPr marL="0" lvl="0" indent="0" algn="l">
              <a:lnSpc>
                <a:spcPct val="100000"/>
              </a:lnSpc>
              <a:spcBef>
                <a:spcPts val="0"/>
              </a:spcBef>
              <a:spcAft>
                <a:spcPts val="0"/>
              </a:spcAft>
              <a:buSzPts val="1400"/>
              <a:buNone/>
            </a:pPr>
            <a:r>
              <a:t>| Nomic | 32.9103% | 0.254356 | 0.246090 | 69.5431% | 30.752234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Nomic exceeds the hash backend by 31.8951 percentage points of Recall@5 in this saved subset. Execution time also increases. Do not call this a full PRIMA accuracy improvement or deployment latency measurement. [E07]</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Nomic representation | Recall@5 | MRR | Candidate success | Total recorded execution, 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Raw | 40.3130% | 0.323311 | 71.5736% | 26.766301 |</a:t>
            </a:r>
            <a:endParaRPr/>
          </a:p>
          <a:p xmlns:a="http://schemas.openxmlformats.org/drawingml/2006/main">
            <a:pPr marL="0" lvl="0" indent="0" algn="l">
              <a:lnSpc>
                <a:spcPct val="100000"/>
              </a:lnSpc>
              <a:spcBef>
                <a:spcPts val="0"/>
              </a:spcBef>
              <a:spcAft>
                <a:spcPts val="0"/>
              </a:spcAft>
              <a:buSzPts val="1400"/>
              <a:buNone/>
            </a:pPr>
            <a:r>
              <a:t>| Semantic | 32.9103% | 0.254356 | 69.5431% | 46.441355 |</a:t>
            </a:r>
            <a:endParaRPr/>
          </a:p>
          <a:p xmlns:a="http://schemas.openxmlformats.org/drawingml/2006/main">
            <a:pPr marL="0" lvl="0" indent="0" algn="l">
              <a:lnSpc>
                <a:spcPct val="100000"/>
              </a:lnSpc>
              <a:spcBef>
                <a:spcPts val="0"/>
              </a:spcBef>
              <a:spcAft>
                <a:spcPts val="0"/>
              </a:spcAft>
              <a:buSzPts val="1400"/>
              <a:buNone/>
            </a:pPr>
            <a:r>
              <a:t>| Event | 35.5753% | 0.268545 | 65.4822% | 31.707180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Raw exceeds semantic by 7.4027 percentage points and event by 4.7377 points on Recall@5. This supports investigating the simplest representation first, rather than assuming more structure always helps. Timings come from different recorded runs, so do not combine them into a common wall-time breakdown. Fingerprint/provenance discrepancies need resolution before publication. [E08]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4.6 Results obtained: reported operational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E06 reports that session 20261006T044633Z-3d208184, commit 8f54b16`, used the repository-recorded pinned Qwen3.8 27B identity, 8192 context, and two T4 GPUs. Sequential/concurrent representative pilots each completed the same 30 questions with zero execution failures and complete maintenance. All 30 predictions/evidence/evaluation decisions passed the equality check. Two active requests were observed.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reported admitted estimate was 9.2202 campaign hours and 10.1859 total session hours, with a 20% margin and artifact reserve. These are projections that admitted a full run, not observations of full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a separate shared 15-case comparison, reported F1 was 14.10% versus 15.18% previously, a decrease of 1.08 percentage points. Final evidence recall remained 23.17%. This comparison concerns pilot versions, not model-only versus PRIMA. No quality gain is established. HotpotQA and GoEmotions remained unmeasured on this hardware in that note. The original archive was not revalidated here.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4.7 Is there a need to change the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Retain the canonical runtime and controlled evaluation approach. Refine retrieval choices and execution reliability using measured evidence. Current evidence does not justify adding more cognitive modules merely to enlarge the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refinements are a learned embedding backend with raw text, stage-by-stage retrieval diagnosis, semantic sufficiency evaluation, and focused ablations of optional components. Benefits could include better evidence coverage, clearer contribution attribution, and lower unnecessary overhead. Drawbacks include model loading cost, extra GPU/RAM use, new calibration work, and migration/reindexing when representations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October operational repair addressed dropped maintenance work using bounded producer backpressure and owning-runtime embedding context. Concurrency is admissible only when each benchmark's fresh pilot establishes equality, real overlap, resource safety, and time feasibility. Previous failed or passing timings cannot substitute for a new measured gate.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C:/PRIMA_next/state/state_manager.py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C:/PRIMA_next/affect/affect_engine.py</a:t>
            </a:r>
            <a:endParaRPr/>
          </a:p>
          <a:p xmlns:a="http://schemas.openxmlformats.org/drawingml/2006/main">
            <a:pPr marL="0" lvl="0" indent="0" algn="l">
              <a:lnSpc>
                <a:spcPct val="100000"/>
              </a:lnSpc>
              <a:spcBef>
                <a:spcPts val="0"/>
              </a:spcBef>
              <a:spcAft>
                <a:spcPts val="0"/>
              </a:spcAft>
              <a:buSzPts val="1400"/>
              <a:buNone/>
            </a:pPr>
            <a:r>
              <a:t>C:/PRIMA_next/affect/classifier_factory.py</a:t>
            </a:r>
            <a:endParaRPr/>
          </a:p>
          <a:p xmlns:a="http://schemas.openxmlformats.org/drawingml/2006/main">
            <a:pPr marL="0" lvl="0" indent="0" algn="l">
              <a:lnSpc>
                <a:spcPct val="100000"/>
              </a:lnSpc>
              <a:spcBef>
                <a:spcPts val="0"/>
              </a:spcBef>
              <a:spcAft>
                <a:spcPts val="0"/>
              </a:spcAft>
              <a:buSzPts val="1400"/>
              <a:buNone/>
            </a:pPr>
            <a:r>
              <a:t>C:/PRIMA_next/memory/memory_note.py</a:t>
            </a:r>
            <a:endParaRPr/>
          </a:p>
          <a:p xmlns:a="http://schemas.openxmlformats.org/drawingml/2006/main">
            <a:pPr marL="0" lvl="0" indent="0" algn="l">
              <a:lnSpc>
                <a:spcPct val="100000"/>
              </a:lnSpc>
              <a:spcBef>
                <a:spcPts val="0"/>
              </a:spcBef>
              <a:spcAft>
                <a:spcPts val="0"/>
              </a:spcAft>
              <a:buSzPts val="1400"/>
              <a:buNone/>
            </a:pPr>
            <a:r>
              <a:t>C:/PRIMA_next/memory/memory_index.py</a:t>
            </a:r>
            <a:endParaRPr/>
          </a:p>
          <a:p xmlns:a="http://schemas.openxmlformats.org/drawingml/2006/main">
            <a:pPr marL="0" lvl="0" indent="0" algn="l">
              <a:lnSpc>
                <a:spcPct val="100000"/>
              </a:lnSpc>
              <a:spcBef>
                <a:spcPts val="0"/>
              </a:spcBef>
              <a:spcAft>
                <a:spcPts val="0"/>
              </a:spcAft>
              <a:buSzPts val="1400"/>
              <a:buNone/>
            </a:pPr>
            <a:r>
              <a:t>C:/PRIMA_next/memory/repository_factory.py</a:t>
            </a:r>
            <a:endParaRPr/>
          </a:p>
          <a:p xmlns:a="http://schemas.openxmlformats.org/drawingml/2006/main">
            <a:pPr marL="0" lvl="0" indent="0" algn="l">
              <a:lnSpc>
                <a:spcPct val="100000"/>
              </a:lnSpc>
              <a:spcBef>
                <a:spcPts val="0"/>
              </a:spcBef>
              <a:spcAft>
                <a:spcPts val="0"/>
              </a:spcAft>
              <a:buSzPts val="1400"/>
              <a:buNone/>
            </a:pPr>
            <a:r>
              <a:t>C:/PRIMA_next/memory/retrieval/query_analysis.py</a:t>
            </a:r>
            <a:endParaRPr/>
          </a:p>
          <a:p xmlns:a="http://schemas.openxmlformats.org/drawingml/2006/main">
            <a:pPr marL="0" lvl="0" indent="0" algn="l">
              <a:lnSpc>
                <a:spcPct val="100000"/>
              </a:lnSpc>
              <a:spcBef>
                <a:spcPts val="0"/>
              </a:spcBef>
              <a:spcAft>
                <a:spcPts val="0"/>
              </a:spcAft>
              <a:buSzPts val="1400"/>
              <a:buNone/>
            </a:pPr>
            <a:r>
              <a:t>C:/PRIMA_next/memory/retrieval/retrieval_controller.py</a:t>
            </a:r>
            <a:endParaRPr/>
          </a:p>
          <a:p xmlns:a="http://schemas.openxmlformats.org/drawingml/2006/main">
            <a:pPr marL="0" lvl="0" indent="0" algn="l">
              <a:lnSpc>
                <a:spcPct val="100000"/>
              </a:lnSpc>
              <a:spcBef>
                <a:spcPts val="0"/>
              </a:spcBef>
              <a:spcAft>
                <a:spcPts val="0"/>
              </a:spcAft>
              <a:buSzPts val="1400"/>
              <a:buNone/>
            </a:pPr>
            <a:r>
              <a:t>C:/PRIMA_next/memory/retrieval/retrieval_router.py</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C:/PRIMA_next/memory/retrieval/reranker.py</a:t>
            </a:r>
            <a:endParaRPr/>
          </a:p>
          <a:p xmlns:a="http://schemas.openxmlformats.org/drawingml/2006/main">
            <a:pPr marL="0" lvl="0" indent="0" algn="l">
              <a:lnSpc>
                <a:spcPct val="100000"/>
              </a:lnSpc>
              <a:spcBef>
                <a:spcPts val="0"/>
              </a:spcBef>
              <a:spcAft>
                <a:spcPts val="0"/>
              </a:spcAft>
              <a:buSzPts val="1400"/>
              <a:buNone/>
            </a:pPr>
            <a:r>
              <a:t>C:/PRIMA_next/reasoning/controller.py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C:/PRIMA_next/memory/retrieval/context_compressor.py</a:t>
            </a:r>
            <a:endParaRPr/>
          </a:p>
          <a:p xmlns:a="http://schemas.openxmlformats.org/drawingml/2006/main">
            <a:pPr marL="0" lvl="0" indent="0" algn="l">
              <a:lnSpc>
                <a:spcPct val="100000"/>
              </a:lnSpc>
              <a:spcBef>
                <a:spcPts val="0"/>
              </a:spcBef>
              <a:spcAft>
                <a:spcPts val="0"/>
              </a:spcAft>
              <a:buSzPts val="1400"/>
              <a:buNone/>
            </a:pPr>
            <a:r>
              <a:t>C:/PRIMA_next/planning/task_planner.py</a:t>
            </a:r>
            <a:endParaRPr/>
          </a:p>
          <a:p xmlns:a="http://schemas.openxmlformats.org/drawingml/2006/main">
            <a:pPr marL="0" lvl="0" indent="0" algn="l">
              <a:lnSpc>
                <a:spcPct val="100000"/>
              </a:lnSpc>
              <a:spcBef>
                <a:spcPts val="0"/>
              </a:spcBef>
              <a:spcAft>
                <a:spcPts val="0"/>
              </a:spcAft>
              <a:buSzPts val="1400"/>
              <a:buNone/>
            </a:pPr>
            <a:r>
              <a:t>C:/PRIMA_next/planning/plan_evaluator.py</a:t>
            </a:r>
            <a:endParaRPr/>
          </a:p>
          <a:p xmlns:a="http://schemas.openxmlformats.org/drawingml/2006/main">
            <a:pPr marL="0" lvl="0" indent="0" algn="l">
              <a:lnSpc>
                <a:spcPct val="100000"/>
              </a:lnSpc>
              <a:spcBef>
                <a:spcPts val="0"/>
              </a:spcBef>
              <a:spcAft>
                <a:spcPts val="0"/>
              </a:spcAft>
              <a:buSzPts val="1400"/>
              <a:buNone/>
            </a:pPr>
            <a:r>
              <a:t>C:/PRIMA_next/world/predictive_model.py</a:t>
            </a:r>
            <a:endParaRPr/>
          </a:p>
          <a:p xmlns:a="http://schemas.openxmlformats.org/drawingml/2006/main">
            <a:pPr marL="0" lvl="0" indent="0" algn="l">
              <a:lnSpc>
                <a:spcPct val="100000"/>
              </a:lnSpc>
              <a:spcBef>
                <a:spcPts val="0"/>
              </a:spcBef>
              <a:spcAft>
                <a:spcPts val="0"/>
              </a:spcAft>
              <a:buSzPts val="1400"/>
              <a:buNone/>
            </a:pPr>
            <a:r>
              <a:t>C:/PRIMA_next/world/state_simulator.py</a:t>
            </a:r>
            <a:endParaRPr/>
          </a:p>
          <a:p xmlns:a="http://schemas.openxmlformats.org/drawingml/2006/main">
            <a:pPr marL="0" lvl="0" indent="0" algn="l">
              <a:lnSpc>
                <a:spcPct val="100000"/>
              </a:lnSpc>
              <a:spcBef>
                <a:spcPts val="0"/>
              </a:spcBef>
              <a:spcAft>
                <a:spcPts val="0"/>
              </a:spcAft>
              <a:buSzPts val="1400"/>
              <a:buNone/>
            </a:pPr>
            <a:r>
              <a:t>C:/PRIMA_next/uncertainty/uncertainty_estimator.py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C:/PRIMA_next/reflection/reasoning_reflection_adapter.py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C:/PRIMA_next/workflow/answer_generation.py</a:t>
            </a:r>
            <a:endParaRPr/>
          </a:p>
          <a:p xmlns:a="http://schemas.openxmlformats.org/drawingml/2006/main">
            <a:pPr marL="0" lvl="0" indent="0" algn="l">
              <a:lnSpc>
                <a:spcPct val="100000"/>
              </a:lnSpc>
              <a:spcBef>
                <a:spcPts val="0"/>
              </a:spcBef>
              <a:spcAft>
                <a:spcPts val="0"/>
              </a:spcAft>
              <a:buSzPts val="1400"/>
              <a:buNone/>
            </a:pPr>
            <a:r>
              <a:t>C:/PRIMA_next/llm/prompt_builder.py</a:t>
            </a:r>
            <a:endParaRPr/>
          </a:p>
          <a:p xmlns:a="http://schemas.openxmlformats.org/drawingml/2006/main">
            <a:pPr marL="0" lvl="0" indent="0" algn="l">
              <a:lnSpc>
                <a:spcPct val="100000"/>
              </a:lnSpc>
              <a:spcBef>
                <a:spcPts val="0"/>
              </a:spcBef>
              <a:spcAft>
                <a:spcPts val="0"/>
              </a:spcAft>
              <a:buSzPts val="1400"/>
              <a:buNone/>
            </a:pPr>
            <a:r>
              <a:t>C:/PRIMA_next/llm/response_parser.py</a:t>
            </a:r>
            <a:endParaRPr/>
          </a:p>
          <a:p xmlns:a="http://schemas.openxmlformats.org/drawingml/2006/main">
            <a:pPr marL="0" lvl="0" indent="0" algn="l">
              <a:lnSpc>
                <a:spcPct val="100000"/>
              </a:lnSpc>
              <a:spcBef>
                <a:spcPts val="0"/>
              </a:spcBef>
              <a:spcAft>
                <a:spcPts val="0"/>
              </a:spcAft>
              <a:buSzPts val="1400"/>
              <a:buNone/>
            </a:pPr>
            <a:r>
              <a:t>C:/PRIMA_next/workflow/output_validation.py</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C:/PRIMA_next/benchmarks/campaign/comparison.py</a:t>
            </a:r>
            <a:endParaRPr/>
          </a:p>
          <a:p xmlns:a="http://schemas.openxmlformats.org/drawingml/2006/main">
            <a:pPr marL="0" lvl="0" indent="0" algn="l">
              <a:lnSpc>
                <a:spcPct val="100000"/>
              </a:lnSpc>
              <a:spcBef>
                <a:spcPts val="0"/>
              </a:spcBef>
              <a:spcAft>
                <a:spcPts val="0"/>
              </a:spcAft>
              <a:buSzPts val="1400"/>
              <a:buNone/>
            </a:pPr>
            <a:r>
              <a:t>C:/PRIMA_next/benchmarks/campaign/aggregation.py</a:t>
            </a:r>
            <a:endParaRPr/>
          </a:p>
          <a:p xmlns:a="http://schemas.openxmlformats.org/drawingml/2006/main">
            <a:pPr marL="0" lvl="0" indent="0" algn="l">
              <a:lnSpc>
                <a:spcPct val="100000"/>
              </a:lnSpc>
              <a:spcBef>
                <a:spcPts val="0"/>
              </a:spcBef>
              <a:spcAft>
                <a:spcPts val="0"/>
              </a:spcAft>
              <a:buSzPts val="1400"/>
              <a:buNone/>
            </a:pPr>
            <a:r>
              <a:t>C:/PRIMA_next/memory/memory_types.py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Algorithm &amp;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 Slide 5: algorithms and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5.1 Canonical workflow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explanatory pseudocode aligned with E02/E03, not a replacement executable API or a guarantee that all phases run.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EXECUTE(request):</a:t>
            </a:r>
            <a:endParaRPr/>
          </a:p>
          <a:p xmlns:a="http://schemas.openxmlformats.org/drawingml/2006/main">
            <a:pPr marL="0" lvl="0" indent="0" algn="l">
              <a:lnSpc>
                <a:spcPct val="100000"/>
              </a:lnSpc>
              <a:spcBef>
                <a:spcPts val="0"/>
              </a:spcBef>
              <a:spcAft>
                <a:spcPts val="0"/>
              </a:spcAft>
              <a:buSzPts val="1400"/>
              <a:buNone/>
            </a:pPr>
            <a:r>
              <a:t>    validate typed request and reserved metadata</a:t>
            </a:r>
            <a:endParaRPr/>
          </a:p>
          <a:p xmlns:a="http://schemas.openxmlformats.org/drawingml/2006/main">
            <a:pPr marL="0" lvl="0" indent="0" algn="l">
              <a:lnSpc>
                <a:spcPct val="100000"/>
              </a:lnSpc>
              <a:spcBef>
                <a:spcPts val="0"/>
              </a:spcBef>
              <a:spcAft>
                <a:spcPts val="0"/>
              </a:spcAft>
              <a:buSzPts val="1400"/>
              <a:buNone/>
            </a:pPr>
            <a:r>
              <a:t>    select supported task/profile route; reject invalid pairs</a:t>
            </a:r>
            <a:endParaRPr/>
          </a:p>
          <a:p xmlns:a="http://schemas.openxmlformats.org/drawingml/2006/main">
            <a:pPr marL="0" lvl="0" indent="0" algn="l">
              <a:lnSpc>
                <a:spcPct val="100000"/>
              </a:lnSpc>
              <a:spcBef>
                <a:spcPts val="0"/>
              </a:spcBef>
              <a:spcAft>
                <a:spcPts val="0"/>
              </a:spcAft>
              <a:buSzPts val="1400"/>
              <a:buNone/>
            </a:pPr>
            <a:r>
              <a:t>    build trusted execution context and effective budgets</a:t>
            </a:r>
            <a:endParaRPr/>
          </a:p>
          <a:p xmlns:a="http://schemas.openxmlformats.org/drawingml/2006/main">
            <a:pPr marL="0" lvl="0" indent="0" algn="l">
              <a:lnSpc>
                <a:spcPct val="100000"/>
              </a:lnSpc>
              <a:spcBef>
                <a:spcPts val="0"/>
              </a:spcBef>
              <a:spcAft>
                <a:spcPts val="0"/>
              </a:spcAft>
              <a:buSzPts val="1400"/>
              <a:buNone/>
            </a:pPr>
            <a:r>
              <a:t>    load versioned session state</a:t>
            </a:r>
            <a:endParaRPr/>
          </a:p>
          <a:p xmlns:a="http://schemas.openxmlformats.org/drawingml/2006/main">
            <a:pPr marL="0" lvl="0" indent="0" algn="l">
              <a:lnSpc>
                <a:spcPct val="100000"/>
              </a:lnSpc>
              <a:spcBef>
                <a:spcPts val="0"/>
              </a:spcBef>
              <a:spcAft>
                <a:spcPts val="0"/>
              </a:spcAft>
              <a:buSzPts val="1400"/>
              <a:buNone/>
            </a:pPr>
            <a:r>
              <a:t>    for each phase selected by the route:</a:t>
            </a:r>
            <a:endParaRPr/>
          </a:p>
          <a:p xmlns:a="http://schemas.openxmlformats.org/drawingml/2006/main">
            <a:pPr marL="0" lvl="0" indent="0" algn="l">
              <a:lnSpc>
                <a:spcPct val="100000"/>
              </a:lnSpc>
              <a:spcBef>
                <a:spcPts val="0"/>
              </a:spcBef>
              <a:spcAft>
                <a:spcPts val="0"/>
              </a:spcAft>
              <a:buSzPts val="1400"/>
              <a:buNone/>
            </a:pPr>
            <a:r>
              <a:t>        run its controller; record start/result/error</a:t>
            </a:r>
            <a:endParaRPr/>
          </a:p>
          <a:p xmlns:a="http://schemas.openxmlformats.org/drawingml/2006/main">
            <a:pPr marL="0" lvl="0" indent="0" algn="l">
              <a:lnSpc>
                <a:spcPct val="100000"/>
              </a:lnSpc>
              <a:spcBef>
                <a:spcPts val="0"/>
              </a:spcBef>
              <a:spcAft>
                <a:spcPts val="0"/>
              </a:spcAft>
              <a:buSzPts val="1400"/>
              <a:buNone/>
            </a:pPr>
            <a:r>
              <a:t>        if a decision requires correction:</a:t>
            </a:r>
            <a:endParaRPr/>
          </a:p>
          <a:p xmlns:a="http://schemas.openxmlformats.org/drawingml/2006/main">
            <a:pPr marL="0" lvl="0" indent="0" algn="l">
              <a:lnSpc>
                <a:spcPct val="100000"/>
              </a:lnSpc>
              <a:spcBef>
                <a:spcPts val="0"/>
              </a:spcBef>
              <a:spcAft>
                <a:spcPts val="0"/>
              </a:spcAft>
              <a:buSzPts val="1400"/>
              <a:buNone/>
            </a:pPr>
            <a:r>
              <a:t>            validate typed advice and remaining budget</a:t>
            </a:r>
            <a:endParaRPr/>
          </a:p>
          <a:p xmlns:a="http://schemas.openxmlformats.org/drawingml/2006/main">
            <a:pPr marL="0" lvl="0" indent="0" algn="l">
              <a:lnSpc>
                <a:spcPct val="100000"/>
              </a:lnSpc>
              <a:spcBef>
                <a:spcPts val="0"/>
              </a:spcBef>
              <a:spcAft>
                <a:spcPts val="0"/>
              </a:spcAft>
              <a:buSzPts val="1400"/>
              <a:buNone/>
            </a:pPr>
            <a:r>
              <a:t>            apply only the permitted bounded correction</a:t>
            </a:r>
            <a:endParaRPr/>
          </a:p>
          <a:p xmlns:a="http://schemas.openxmlformats.org/drawingml/2006/main">
            <a:pPr marL="0" lvl="0" indent="0" algn="l">
              <a:lnSpc>
                <a:spcPct val="100000"/>
              </a:lnSpc>
              <a:spcBef>
                <a:spcPts val="0"/>
              </a:spcBef>
              <a:spcAft>
                <a:spcPts val="0"/>
              </a:spcAft>
              <a:buSzPts val="1400"/>
              <a:buNone/>
            </a:pPr>
            <a:r>
              <a:t>            record actual before/after state and stop reason</a:t>
            </a:r>
            <a:endParaRPr/>
          </a:p>
          <a:p xmlns:a="http://schemas.openxmlformats.org/drawingml/2006/main">
            <a:pPr marL="0" lvl="0" indent="0" algn="l">
              <a:lnSpc>
                <a:spcPct val="100000"/>
              </a:lnSpc>
              <a:spcBef>
                <a:spcPts val="0"/>
              </a:spcBef>
              <a:spcAft>
                <a:spcPts val="0"/>
              </a:spcAft>
              <a:buSzPts val="1400"/>
              <a:buNone/>
            </a:pPr>
            <a:r>
              <a:t>        if cancellation/failure occurs:</a:t>
            </a:r>
            <a:endParaRPr/>
          </a:p>
          <a:p xmlns:a="http://schemas.openxmlformats.org/drawingml/2006/main">
            <a:pPr marL="0" lvl="0" indent="0" algn="l">
              <a:lnSpc>
                <a:spcPct val="100000"/>
              </a:lnSpc>
              <a:spcBef>
                <a:spcPts val="0"/>
              </a:spcBef>
              <a:spcAft>
                <a:spcPts val="0"/>
              </a:spcAft>
              <a:buSzPts val="1400"/>
              <a:buNone/>
            </a:pPr>
            <a:r>
              <a:t>            return explicit typed outcome with diagnostics</a:t>
            </a:r>
            <a:endParaRPr/>
          </a:p>
          <a:p xmlns:a="http://schemas.openxmlformats.org/drawingml/2006/main">
            <a:pPr marL="0" lvl="0" indent="0" algn="l">
              <a:lnSpc>
                <a:spcPct val="100000"/>
              </a:lnSpc>
              <a:spcBef>
                <a:spcPts val="0"/>
              </a:spcBef>
              <a:spcAft>
                <a:spcPts val="0"/>
              </a:spcAft>
              <a:buSzPts val="1400"/>
              <a:buNone/>
            </a:pPr>
            <a:r>
              <a:t>    shape existing generation/classification/ingestion/action result</a:t>
            </a:r>
            <a:endParaRPr/>
          </a:p>
          <a:p xmlns:a="http://schemas.openxmlformats.org/drawingml/2006/main">
            <a:pPr marL="0" lvl="0" indent="0" algn="l">
              <a:lnSpc>
                <a:spcPct val="100000"/>
              </a:lnSpc>
              <a:spcBef>
                <a:spcPts val="0"/>
              </a:spcBef>
              <a:spcAft>
                <a:spcPts val="0"/>
              </a:spcAft>
              <a:buSzPts val="1400"/>
              <a:buNone/>
            </a:pPr>
            <a:r>
              <a:t>    commit only the effects permitted by that task and policy</a:t>
            </a:r>
            <a:endParaRPr/>
          </a:p>
          <a:p xmlns:a="http://schemas.openxmlformats.org/drawingml/2006/main">
            <a:pPr marL="0" lvl="0" indent="0" algn="l">
              <a:lnSpc>
                <a:spcPct val="100000"/>
              </a:lnSpc>
              <a:spcBef>
                <a:spcPts val="0"/>
              </a:spcBef>
              <a:spcAft>
                <a:spcPts val="0"/>
              </a:spcAft>
              <a:buSzPts val="1400"/>
              <a:buNone/>
            </a:pPr>
            <a:r>
              <a:t>    enqueue admitted maintenance with bounded backpressure</a:t>
            </a:r>
            <a:endParaRPr/>
          </a:p>
          <a:p xmlns:a="http://schemas.openxmlformats.org/drawingml/2006/main">
            <a:pPr marL="0" lvl="0" indent="0" algn="l">
              <a:lnSpc>
                <a:spcPct val="100000"/>
              </a:lnSpc>
              <a:spcBef>
                <a:spcPts val="0"/>
              </a:spcBef>
              <a:spcAft>
                <a:spcPts val="0"/>
              </a:spcAft>
              <a:buSzPts val="1400"/>
              <a:buNone/>
            </a:pPr>
            <a:r>
              <a:t>    return typed response, evidence, state delta, and diagnostics</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5.2 Hybrid retrieval algorithm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Dense, sparse, temporal, and graph strategies return scored candidates. Fusion uses each memory ID once and retains the maximum score for that ID within a strategy. For a nonconstant strategy score range, it applies min-max normalization. Equal-score lists retain their original scores. Missing contributions count as zero. Active strategy weights renormalize using their total weight. E02, [fusion source]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FUSED_SCORE(memory) =</a:t>
            </a:r>
            <a:endParaRPr/>
          </a:p>
          <a:p xmlns:a="http://schemas.openxmlformats.org/drawingml/2006/main">
            <a:pPr marL="0" lvl="0" indent="0" algn="l">
              <a:lnSpc>
                <a:spcPct val="100000"/>
              </a:lnSpc>
              <a:spcBef>
                <a:spcPts val="0"/>
              </a:spcBef>
              <a:spcAft>
                <a:spcPts val="0"/>
              </a:spcAft>
              <a:buSzPts val="1400"/>
              <a:buNone/>
            </a:pPr>
            <a:r>
              <a:t>    sum(weight[strategy]  normalized_score[strategy, memory])</a:t>
            </a:r>
            <a:endParaRPr/>
          </a:p>
          <a:p xmlns:a="http://schemas.openxmlformats.org/drawingml/2006/main">
            <a:pPr marL="0" lvl="0" indent="0" algn="l">
              <a:lnSpc>
                <a:spcPct val="100000"/>
              </a:lnSpc>
              <a:spcBef>
                <a:spcPts val="0"/>
              </a:spcBef>
              <a:spcAft>
                <a:spcPts val="0"/>
              </a:spcAft>
              <a:buSzPts val="1400"/>
              <a:buNone/>
            </a:pPr>
            <a:r>
              <a:t>    / sum(weight[strategy] for selected strategies)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Default full-profile weights:</a:t>
            </a:r>
            <a:endParaRPr/>
          </a:p>
          <a:p xmlns:a="http://schemas.openxmlformats.org/drawingml/2006/main">
            <a:pPr marL="0" lvl="0" indent="0" algn="l">
              <a:lnSpc>
                <a:spcPct val="100000"/>
              </a:lnSpc>
              <a:spcBef>
                <a:spcPts val="0"/>
              </a:spcBef>
              <a:spcAft>
                <a:spcPts val="0"/>
              </a:spcAft>
              <a:buSzPts val="1400"/>
              <a:buNone/>
            </a:pPr>
            <a:r>
              <a:t>    dense 0.40, sparse 0.30, temporal 0.15, graph 0.15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RETRIEVE(query):</a:t>
            </a:r>
            <a:endParaRPr/>
          </a:p>
          <a:p xmlns:a="http://schemas.openxmlformats.org/drawingml/2006/main">
            <a:pPr marL="0" lvl="0" indent="0" algn="l">
              <a:lnSpc>
                <a:spcPct val="100000"/>
              </a:lnSpc>
              <a:spcBef>
                <a:spcPts val="0"/>
              </a:spcBef>
              <a:spcAft>
                <a:spcPts val="0"/>
              </a:spcAft>
              <a:buSzPts val="1400"/>
              <a:buNone/>
            </a:pPr>
            <a:r>
              <a:t>    analyze and rewrite query</a:t>
            </a:r>
            <a:endParaRPr/>
          </a:p>
          <a:p xmlns:a="http://schemas.openxmlformats.org/drawingml/2006/main">
            <a:pPr marL="0" lvl="0" indent="0" algn="l">
              <a:lnSpc>
                <a:spcPct val="100000"/>
              </a:lnSpc>
              <a:spcBef>
                <a:spcPts val="0"/>
              </a:spcBef>
              <a:spcAft>
                <a:spcPts val="0"/>
              </a:spcAft>
              <a:buSzPts val="1400"/>
              <a:buNone/>
            </a:pPr>
            <a:r>
              <a:t>    run strategies supported by route/capabilities</a:t>
            </a:r>
            <a:endParaRPr/>
          </a:p>
          <a:p xmlns:a="http://schemas.openxmlformats.org/drawingml/2006/main">
            <a:pPr marL="0" lvl="0" indent="0" algn="l">
              <a:lnSpc>
                <a:spcPct val="100000"/>
              </a:lnSpc>
              <a:spcBef>
                <a:spcPts val="0"/>
              </a:spcBef>
              <a:spcAft>
                <a:spcPts val="0"/>
              </a:spcAft>
              <a:buSzPts val="1400"/>
              <a:buNone/>
            </a:pPr>
            <a:r>
              <a:t>    merge and weight candidates by memory ID</a:t>
            </a:r>
            <a:endParaRPr/>
          </a:p>
          <a:p xmlns:a="http://schemas.openxmlformats.org/drawingml/2006/main">
            <a:pPr marL="0" lvl="0" indent="0" algn="l">
              <a:lnSpc>
                <a:spcPct val="100000"/>
              </a:lnSpc>
              <a:spcBef>
                <a:spcPts val="0"/>
              </a:spcBef>
              <a:spcAft>
                <a:spcPts val="0"/>
              </a:spcAft>
              <a:buSzPts val="1400"/>
              <a:buNone/>
            </a:pPr>
            <a:r>
              <a:t>    select top candidates and apply configured reranker</a:t>
            </a:r>
            <a:endParaRPr/>
          </a:p>
          <a:p xmlns:a="http://schemas.openxmlformats.org/drawingml/2006/main">
            <a:pPr marL="0" lvl="0" indent="0" algn="l">
              <a:lnSpc>
                <a:spcPct val="100000"/>
              </a:lnSpc>
              <a:spcBef>
                <a:spcPts val="0"/>
              </a:spcBef>
              <a:spcAft>
                <a:spcPts val="0"/>
              </a:spcAft>
              <a:buSzPts val="1400"/>
              <a:buNone/>
            </a:pPr>
            <a:r>
              <a:t>    integrate evidence and preserve source mapping</a:t>
            </a:r>
            <a:endParaRPr/>
          </a:p>
          <a:p xmlns:a="http://schemas.openxmlformats.org/drawingml/2006/main">
            <a:pPr marL="0" lvl="0" indent="0" algn="l">
              <a:lnSpc>
                <a:spcPct val="100000"/>
              </a:lnSpc>
              <a:spcBef>
                <a:spcPts val="0"/>
              </a:spcBef>
              <a:spcAft>
                <a:spcPts val="0"/>
              </a:spcAft>
              <a:buSzPts val="1400"/>
              <a:buNone/>
            </a:pPr>
            <a:r>
              <a:t>    check sufficiency; follow up only within budgets</a:t>
            </a:r>
            <a:endParaRPr/>
          </a:p>
          <a:p xmlns:a="http://schemas.openxmlformats.org/drawingml/2006/main">
            <a:pPr marL="0" lvl="0" indent="0" algn="l">
              <a:lnSpc>
                <a:spcPct val="100000"/>
              </a:lnSpc>
              <a:spcBef>
                <a:spcPts val="0"/>
              </a:spcBef>
              <a:spcAft>
                <a:spcPts val="0"/>
              </a:spcAft>
              <a:buSzPts val="1400"/>
              <a:buNone/>
            </a:pPr>
            <a:r>
              <a:t>    compress context and record dropped evidence</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algorithm is weighted score fusion, not automatically reciprocal rank fusion. Default values in retrieval YAML must be distinguished from request/campaign overrides.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5.3 Memory importance and admission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default normalized importance function is: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I = 0.35  novelty</a:t>
            </a:r>
            <a:endParaRPr/>
          </a:p>
          <a:p xmlns:a="http://schemas.openxmlformats.org/drawingml/2006/main">
            <a:pPr marL="0" lvl="0" indent="0" algn="l">
              <a:lnSpc>
                <a:spcPct val="100000"/>
              </a:lnSpc>
              <a:spcBef>
                <a:spcPts val="0"/>
              </a:spcBef>
              <a:spcAft>
                <a:spcPts val="0"/>
              </a:spcAft>
              <a:buSzPts val="1400"/>
              <a:buNone/>
            </a:pPr>
            <a:r>
              <a:t>  + 0.25  emotional_salience</a:t>
            </a:r>
            <a:endParaRPr/>
          </a:p>
          <a:p xmlns:a="http://schemas.openxmlformats.org/drawingml/2006/main">
            <a:pPr marL="0" lvl="0" indent="0" algn="l">
              <a:lnSpc>
                <a:spcPct val="100000"/>
              </a:lnSpc>
              <a:spcBef>
                <a:spcPts val="0"/>
              </a:spcBef>
              <a:spcAft>
                <a:spcPts val="0"/>
              </a:spcAft>
              <a:buSzPts val="1400"/>
              <a:buNone/>
            </a:pPr>
            <a:r>
              <a:t>  + 0.15  user_relevance</a:t>
            </a:r>
            <a:endParaRPr/>
          </a:p>
          <a:p xmlns:a="http://schemas.openxmlformats.org/drawingml/2006/main">
            <a:pPr marL="0" lvl="0" indent="0" algn="l">
              <a:lnSpc>
                <a:spcPct val="100000"/>
              </a:lnSpc>
              <a:spcBef>
                <a:spcPts val="0"/>
              </a:spcBef>
              <a:spcAft>
                <a:spcPts val="0"/>
              </a:spcAft>
              <a:buSzPts val="1400"/>
              <a:buNone/>
            </a:pPr>
            <a:r>
              <a:t>  + 0.15  recurrence</a:t>
            </a:r>
            <a:endParaRPr/>
          </a:p>
          <a:p xmlns:a="http://schemas.openxmlformats.org/drawingml/2006/main">
            <a:pPr marL="0" lvl="0" indent="0" algn="l">
              <a:lnSpc>
                <a:spcPct val="100000"/>
              </a:lnSpc>
              <a:spcBef>
                <a:spcPts val="0"/>
              </a:spcBef>
              <a:spcAft>
                <a:spcPts val="0"/>
              </a:spcAft>
              <a:buSzPts val="1400"/>
              <a:buNone/>
            </a:pPr>
            <a:r>
              <a:t>  + 0.10  reflection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admit when I &gt;= 0.55</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Novelty queries episodic candidates, then uses 1 - maximum token Jaccard overlap. User relevance uses explicit lexical/personal-interest cues. The scoring components are bounded to [0,1]. This is an interpretable heuristic, not a learned proof of long-term usefulness. Admission is distinct from explicit document ingestion, state persistence, and maintenance completion. Memory importance, types/defaults, configuration.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5.4 Affect evolution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update_momentum decays prior scores with default factor 0.82, drops very small values, and adds current dominant-emotion confidence. PAD represents pleasure, arousal, and dominance. Volatility averages recent PAD distances, bounded to 1. Stability combines low volatility and current confidence. Dissonance examines recent history, valence flips, and low confidence. Evolution source, PAD.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Explain this as engineered temporal text-affect tracking. It does not measure a person's true internal emotional state.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5.5 Sufficiency, confidence, and stopping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current sufficiency verifier intersects question/evidence terms and accepts coverage of at least 0.60, unless its narrow contradiction check fires. No evidence produces an unanswerable decision. More evidence can be requested under a bounded budget. This can fail on paraphrases or lexical distractors, so the score should not be described as semantic proof. Verifier.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confidence aggregator calibrates available signals, forms weighted means, adds disagreement to uncertainty, and reduces confidence with disagreement. Default source weights include retrieval 1.25, planning 1.15, affect 0.70, state 0.85, reflection/policy 1.0. These are source-specific weights inside a broader effective-weight mechanism, not standalone accuracies. Aggregator.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Public request defaults are top-k 5, maximum hops 3, retrieval calls 3, and context tokens 1600. Reasoning additionally has configured document/model/time/no-progress limits. Campaigns may override defaults. Read recorded effective budgets when explaining a result. E02, [reasoning configuration]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5.6 Controlled tools and corrections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TOOL(invocation, policy):</a:t>
            </a:r>
            <a:endParaRPr/>
          </a:p>
          <a:p xmlns:a="http://schemas.openxmlformats.org/drawingml/2006/main">
            <a:pPr marL="0" lvl="0" indent="0" algn="l">
              <a:lnSpc>
                <a:spcPct val="100000"/>
              </a:lnSpc>
              <a:spcBef>
                <a:spcPts val="0"/>
              </a:spcBef>
              <a:spcAft>
                <a:spcPts val="0"/>
              </a:spcAft>
              <a:buSzPts val="1400"/>
              <a:buNone/>
            </a:pPr>
            <a:r>
              <a:t>    reject external actions unless explicitly enabled</a:t>
            </a:r>
            <a:endParaRPr/>
          </a:p>
          <a:p xmlns:a="http://schemas.openxmlformats.org/drawingml/2006/main">
            <a:pPr marL="0" lvl="0" indent="0" algn="l">
              <a:lnSpc>
                <a:spcPct val="100000"/>
              </a:lnSpc>
              <a:spcBef>
                <a:spcPts val="0"/>
              </a:spcBef>
              <a:spcAft>
                <a:spcPts val="0"/>
              </a:spcAft>
              <a:buSzPts val="1400"/>
              <a:buNone/>
            </a:pPr>
            <a:r>
              <a:t>    check name, allowlist/blocklist, invocation limit and tags</a:t>
            </a:r>
            <a:endParaRPr/>
          </a:p>
          <a:p xmlns:a="http://schemas.openxmlformats.org/drawingml/2006/main">
            <a:pPr marL="0" lvl="0" indent="0" algn="l">
              <a:lnSpc>
                <a:spcPct val="100000"/>
              </a:lnSpc>
              <a:spcBef>
                <a:spcPts val="0"/>
              </a:spcBef>
              <a:spcAft>
                <a:spcPts val="0"/>
              </a:spcAft>
              <a:buSzPts val="1400"/>
              <a:buNone/>
            </a:pPr>
            <a:r>
              <a:t>    resolve registered tool</a:t>
            </a:r>
            <a:endParaRPr/>
          </a:p>
          <a:p xmlns:a="http://schemas.openxmlformats.org/drawingml/2006/main">
            <a:pPr marL="0" lvl="0" indent="0" algn="l">
              <a:lnSpc>
                <a:spcPct val="100000"/>
              </a:lnSpc>
              <a:spcBef>
                <a:spcPts val="0"/>
              </a:spcBef>
              <a:spcAft>
                <a:spcPts val="0"/>
              </a:spcAft>
              <a:buSzPts val="1400"/>
              <a:buNone/>
            </a:pPr>
            <a:r>
              <a:t>    validate arguments against tool schema</a:t>
            </a:r>
            <a:endParaRPr/>
          </a:p>
          <a:p xmlns:a="http://schemas.openxmlformats.org/drawingml/2006/main">
            <a:pPr marL="0" lvl="0" indent="0" algn="l">
              <a:lnSpc>
                <a:spcPct val="100000"/>
              </a:lnSpc>
              <a:spcBef>
                <a:spcPts val="0"/>
              </a:spcBef>
              <a:spcAft>
                <a:spcPts val="0"/>
              </a:spcAft>
              <a:buSzPts val="1400"/>
              <a:buNone/>
            </a:pPr>
            <a:r>
              <a:t>    execute handler; bound awaitable work with configured timeout</a:t>
            </a:r>
            <a:endParaRPr/>
          </a:p>
          <a:p xmlns:a="http://schemas.openxmlformats.org/drawingml/2006/main">
            <a:pPr marL="0" lvl="0" indent="0" algn="l">
              <a:lnSpc>
                <a:spcPct val="100000"/>
              </a:lnSpc>
              <a:spcBef>
                <a:spcPts val="0"/>
              </a:spcBef>
              <a:spcAft>
                <a:spcPts val="0"/>
              </a:spcAft>
              <a:buSzPts val="1400"/>
              <a:buNone/>
            </a:pPr>
            <a:r>
              <a:t>    require typed tool result; return audit and explicit errors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CORRECT(advice):</a:t>
            </a:r>
            <a:endParaRPr/>
          </a:p>
          <a:p xmlns:a="http://schemas.openxmlformats.org/drawingml/2006/main">
            <a:pPr marL="0" lvl="0" indent="0" algn="l">
              <a:lnSpc>
                <a:spcPct val="100000"/>
              </a:lnSpc>
              <a:spcBef>
                <a:spcPts val="0"/>
              </a:spcBef>
              <a:spcAft>
                <a:spcPts val="0"/>
              </a:spcAft>
              <a:buSzPts val="1400"/>
              <a:buNone/>
            </a:pPr>
            <a:r>
              <a:t>    check supported proposal and confidence/trigger conditions</a:t>
            </a:r>
            <a:endParaRPr/>
          </a:p>
          <a:p xmlns:a="http://schemas.openxmlformats.org/drawingml/2006/main">
            <a:pPr marL="0" lvl="0" indent="0" algn="l">
              <a:lnSpc>
                <a:spcPct val="100000"/>
              </a:lnSpc>
              <a:spcBef>
                <a:spcPts val="0"/>
              </a:spcBef>
              <a:spcAft>
                <a:spcPts val="0"/>
              </a:spcAft>
              <a:buSzPts val="1400"/>
              <a:buNone/>
            </a:pPr>
            <a:r>
              <a:t>    reject advice when its budget is exhausted</a:t>
            </a:r>
            <a:endParaRPr/>
          </a:p>
          <a:p xmlns:a="http://schemas.openxmlformats.org/drawingml/2006/main">
            <a:pPr marL="0" lvl="0" indent="0" algn="l">
              <a:lnSpc>
                <a:spcPct val="100000"/>
              </a:lnSpc>
              <a:spcBef>
                <a:spcPts val="0"/>
              </a:spcBef>
              <a:spcAft>
                <a:spcPts val="0"/>
              </a:spcAft>
              <a:buSzPts val="1400"/>
              <a:buNone/>
            </a:pPr>
            <a:r>
              <a:t>    route to permitted retrieval/replanning/retry/regeneration</a:t>
            </a:r>
            <a:endParaRPr/>
          </a:p>
          <a:p xmlns:a="http://schemas.openxmlformats.org/drawingml/2006/main">
            <a:pPr marL="0" lvl="0" indent="0" algn="l">
              <a:lnSpc>
                <a:spcPct val="100000"/>
              </a:lnSpc>
              <a:spcBef>
                <a:spcPts val="0"/>
              </a:spcBef>
              <a:spcAft>
                <a:spcPts val="0"/>
              </a:spcAft>
              <a:buSzPts val="1400"/>
              <a:buNone/>
            </a:pPr>
            <a:r>
              <a:t>    preserve before/after snapshots and outcome</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Tool defaults allow no external tools, limit invocations to 3, and set awaitable timeout to 5 seconds. A synchronous handler can block before that awaitable timeout applies. Reflection generates advice; workflow owns its application. Gold-aware legacy evaluators cannot supply production advice. Execution policy, tool executor, correction loop.</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C:/PRIMA_next/config/retrieval.yaml</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C:/PRIMA_next/memory/maintenance/importance_types.py</a:t>
            </a:r>
            <a:endParaRPr/>
          </a:p>
          <a:p xmlns:a="http://schemas.openxmlformats.org/drawingml/2006/main">
            <a:pPr marL="0" lvl="0" indent="0" algn="l">
              <a:lnSpc>
                <a:spcPct val="100000"/>
              </a:lnSpc>
              <a:spcBef>
                <a:spcPts val="0"/>
              </a:spcBef>
              <a:spcAft>
                <a:spcPts val="0"/>
              </a:spcAft>
              <a:buSzPts val="1400"/>
              <a:buNone/>
            </a:pPr>
            <a:r>
              <a:t>C:/PRIMA_next/config/memory_importance.yaml</a:t>
            </a:r>
            <a:endParaRPr/>
          </a:p>
          <a:p xmlns:a="http://schemas.openxmlformats.org/drawingml/2006/main">
            <a:pPr marL="0" lvl="0" indent="0" algn="l">
              <a:lnSpc>
                <a:spcPct val="100000"/>
              </a:lnSpc>
              <a:spcBef>
                <a:spcPts val="0"/>
              </a:spcBef>
              <a:spcAft>
                <a:spcPts val="0"/>
              </a:spcAft>
              <a:buSzPts val="1400"/>
              <a:buNone/>
            </a:pPr>
            <a:r>
              <a:t>C:/PRIMA_next/affect/affect_evolution.py</a:t>
            </a:r>
            <a:endParaRPr/>
          </a:p>
          <a:p xmlns:a="http://schemas.openxmlformats.org/drawingml/2006/main">
            <a:pPr marL="0" lvl="0" indent="0" algn="l">
              <a:lnSpc>
                <a:spcPct val="100000"/>
              </a:lnSpc>
              <a:spcBef>
                <a:spcPts val="0"/>
              </a:spcBef>
              <a:spcAft>
                <a:spcPts val="0"/>
              </a:spcAft>
              <a:buSzPts val="1400"/>
              <a:buNone/>
            </a:pPr>
            <a:r>
              <a:t>C:/PRIMA_next/affect/pad_model.py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C:/PRIMA_next/reasoning/config.py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Canonical execution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 Slide 5: algorithms and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5.1 Canonical workflow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explanatory pseudocode aligned with E02/E03, not a replacement executable API or a guarantee that all phases run.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EXECUTE(request):</a:t>
            </a:r>
            <a:endParaRPr/>
          </a:p>
          <a:p xmlns:a="http://schemas.openxmlformats.org/drawingml/2006/main">
            <a:pPr marL="0" lvl="0" indent="0" algn="l">
              <a:lnSpc>
                <a:spcPct val="100000"/>
              </a:lnSpc>
              <a:spcBef>
                <a:spcPts val="0"/>
              </a:spcBef>
              <a:spcAft>
                <a:spcPts val="0"/>
              </a:spcAft>
              <a:buSzPts val="1400"/>
              <a:buNone/>
            </a:pPr>
            <a:r>
              <a:t>    validate typed request and reserved metadata</a:t>
            </a:r>
            <a:endParaRPr/>
          </a:p>
          <a:p xmlns:a="http://schemas.openxmlformats.org/drawingml/2006/main">
            <a:pPr marL="0" lvl="0" indent="0" algn="l">
              <a:lnSpc>
                <a:spcPct val="100000"/>
              </a:lnSpc>
              <a:spcBef>
                <a:spcPts val="0"/>
              </a:spcBef>
              <a:spcAft>
                <a:spcPts val="0"/>
              </a:spcAft>
              <a:buSzPts val="1400"/>
              <a:buNone/>
            </a:pPr>
            <a:r>
              <a:t>    select supported task/profile route; reject invalid pairs</a:t>
            </a:r>
            <a:endParaRPr/>
          </a:p>
          <a:p xmlns:a="http://schemas.openxmlformats.org/drawingml/2006/main">
            <a:pPr marL="0" lvl="0" indent="0" algn="l">
              <a:lnSpc>
                <a:spcPct val="100000"/>
              </a:lnSpc>
              <a:spcBef>
                <a:spcPts val="0"/>
              </a:spcBef>
              <a:spcAft>
                <a:spcPts val="0"/>
              </a:spcAft>
              <a:buSzPts val="1400"/>
              <a:buNone/>
            </a:pPr>
            <a:r>
              <a:t>    build trusted execution context and effective budgets</a:t>
            </a:r>
            <a:endParaRPr/>
          </a:p>
          <a:p xmlns:a="http://schemas.openxmlformats.org/drawingml/2006/main">
            <a:pPr marL="0" lvl="0" indent="0" algn="l">
              <a:lnSpc>
                <a:spcPct val="100000"/>
              </a:lnSpc>
              <a:spcBef>
                <a:spcPts val="0"/>
              </a:spcBef>
              <a:spcAft>
                <a:spcPts val="0"/>
              </a:spcAft>
              <a:buSzPts val="1400"/>
              <a:buNone/>
            </a:pPr>
            <a:r>
              <a:t>    load versioned session state</a:t>
            </a:r>
            <a:endParaRPr/>
          </a:p>
          <a:p xmlns:a="http://schemas.openxmlformats.org/drawingml/2006/main">
            <a:pPr marL="0" lvl="0" indent="0" algn="l">
              <a:lnSpc>
                <a:spcPct val="100000"/>
              </a:lnSpc>
              <a:spcBef>
                <a:spcPts val="0"/>
              </a:spcBef>
              <a:spcAft>
                <a:spcPts val="0"/>
              </a:spcAft>
              <a:buSzPts val="1400"/>
              <a:buNone/>
            </a:pPr>
            <a:r>
              <a:t>    for each phase selected by the route:</a:t>
            </a:r>
            <a:endParaRPr/>
          </a:p>
          <a:p xmlns:a="http://schemas.openxmlformats.org/drawingml/2006/main">
            <a:pPr marL="0" lvl="0" indent="0" algn="l">
              <a:lnSpc>
                <a:spcPct val="100000"/>
              </a:lnSpc>
              <a:spcBef>
                <a:spcPts val="0"/>
              </a:spcBef>
              <a:spcAft>
                <a:spcPts val="0"/>
              </a:spcAft>
              <a:buSzPts val="1400"/>
              <a:buNone/>
            </a:pPr>
            <a:r>
              <a:t>        run its controller; record start/result/error</a:t>
            </a:r>
            <a:endParaRPr/>
          </a:p>
          <a:p xmlns:a="http://schemas.openxmlformats.org/drawingml/2006/main">
            <a:pPr marL="0" lvl="0" indent="0" algn="l">
              <a:lnSpc>
                <a:spcPct val="100000"/>
              </a:lnSpc>
              <a:spcBef>
                <a:spcPts val="0"/>
              </a:spcBef>
              <a:spcAft>
                <a:spcPts val="0"/>
              </a:spcAft>
              <a:buSzPts val="1400"/>
              <a:buNone/>
            </a:pPr>
            <a:r>
              <a:t>        if a decision requires correction:</a:t>
            </a:r>
            <a:endParaRPr/>
          </a:p>
          <a:p xmlns:a="http://schemas.openxmlformats.org/drawingml/2006/main">
            <a:pPr marL="0" lvl="0" indent="0" algn="l">
              <a:lnSpc>
                <a:spcPct val="100000"/>
              </a:lnSpc>
              <a:spcBef>
                <a:spcPts val="0"/>
              </a:spcBef>
              <a:spcAft>
                <a:spcPts val="0"/>
              </a:spcAft>
              <a:buSzPts val="1400"/>
              <a:buNone/>
            </a:pPr>
            <a:r>
              <a:t>            validate typed advice and remaining budget</a:t>
            </a:r>
            <a:endParaRPr/>
          </a:p>
          <a:p xmlns:a="http://schemas.openxmlformats.org/drawingml/2006/main">
            <a:pPr marL="0" lvl="0" indent="0" algn="l">
              <a:lnSpc>
                <a:spcPct val="100000"/>
              </a:lnSpc>
              <a:spcBef>
                <a:spcPts val="0"/>
              </a:spcBef>
              <a:spcAft>
                <a:spcPts val="0"/>
              </a:spcAft>
              <a:buSzPts val="1400"/>
              <a:buNone/>
            </a:pPr>
            <a:r>
              <a:t>            apply only the permitted bounded correction</a:t>
            </a:r>
            <a:endParaRPr/>
          </a:p>
          <a:p xmlns:a="http://schemas.openxmlformats.org/drawingml/2006/main">
            <a:pPr marL="0" lvl="0" indent="0" algn="l">
              <a:lnSpc>
                <a:spcPct val="100000"/>
              </a:lnSpc>
              <a:spcBef>
                <a:spcPts val="0"/>
              </a:spcBef>
              <a:spcAft>
                <a:spcPts val="0"/>
              </a:spcAft>
              <a:buSzPts val="1400"/>
              <a:buNone/>
            </a:pPr>
            <a:r>
              <a:t>            record actual before/after state and stop reason</a:t>
            </a:r>
            <a:endParaRPr/>
          </a:p>
          <a:p xmlns:a="http://schemas.openxmlformats.org/drawingml/2006/main">
            <a:pPr marL="0" lvl="0" indent="0" algn="l">
              <a:lnSpc>
                <a:spcPct val="100000"/>
              </a:lnSpc>
              <a:spcBef>
                <a:spcPts val="0"/>
              </a:spcBef>
              <a:spcAft>
                <a:spcPts val="0"/>
              </a:spcAft>
              <a:buSzPts val="1400"/>
              <a:buNone/>
            </a:pPr>
            <a:r>
              <a:t>        if cancellation/failure occurs:</a:t>
            </a:r>
            <a:endParaRPr/>
          </a:p>
          <a:p xmlns:a="http://schemas.openxmlformats.org/drawingml/2006/main">
            <a:pPr marL="0" lvl="0" indent="0" algn="l">
              <a:lnSpc>
                <a:spcPct val="100000"/>
              </a:lnSpc>
              <a:spcBef>
                <a:spcPts val="0"/>
              </a:spcBef>
              <a:spcAft>
                <a:spcPts val="0"/>
              </a:spcAft>
              <a:buSzPts val="1400"/>
              <a:buNone/>
            </a:pPr>
            <a:r>
              <a:t>            return explicit typed outcome with diagnostics</a:t>
            </a:r>
            <a:endParaRPr/>
          </a:p>
          <a:p xmlns:a="http://schemas.openxmlformats.org/drawingml/2006/main">
            <a:pPr marL="0" lvl="0" indent="0" algn="l">
              <a:lnSpc>
                <a:spcPct val="100000"/>
              </a:lnSpc>
              <a:spcBef>
                <a:spcPts val="0"/>
              </a:spcBef>
              <a:spcAft>
                <a:spcPts val="0"/>
              </a:spcAft>
              <a:buSzPts val="1400"/>
              <a:buNone/>
            </a:pPr>
            <a:r>
              <a:t>    shape existing generation/classification/ingestion/action result</a:t>
            </a:r>
            <a:endParaRPr/>
          </a:p>
          <a:p xmlns:a="http://schemas.openxmlformats.org/drawingml/2006/main">
            <a:pPr marL="0" lvl="0" indent="0" algn="l">
              <a:lnSpc>
                <a:spcPct val="100000"/>
              </a:lnSpc>
              <a:spcBef>
                <a:spcPts val="0"/>
              </a:spcBef>
              <a:spcAft>
                <a:spcPts val="0"/>
              </a:spcAft>
              <a:buSzPts val="1400"/>
              <a:buNone/>
            </a:pPr>
            <a:r>
              <a:t>    commit only the effects permitted by that task and policy</a:t>
            </a:r>
            <a:endParaRPr/>
          </a:p>
          <a:p xmlns:a="http://schemas.openxmlformats.org/drawingml/2006/main">
            <a:pPr marL="0" lvl="0" indent="0" algn="l">
              <a:lnSpc>
                <a:spcPct val="100000"/>
              </a:lnSpc>
              <a:spcBef>
                <a:spcPts val="0"/>
              </a:spcBef>
              <a:spcAft>
                <a:spcPts val="0"/>
              </a:spcAft>
              <a:buSzPts val="1400"/>
              <a:buNone/>
            </a:pPr>
            <a:r>
              <a:t>    enqueue admitted maintenance with bounded backpressure</a:t>
            </a:r>
            <a:endParaRPr/>
          </a:p>
          <a:p xmlns:a="http://schemas.openxmlformats.org/drawingml/2006/main">
            <a:pPr marL="0" lvl="0" indent="0" algn="l">
              <a:lnSpc>
                <a:spcPct val="100000"/>
              </a:lnSpc>
              <a:spcBef>
                <a:spcPts val="0"/>
              </a:spcBef>
              <a:spcAft>
                <a:spcPts val="0"/>
              </a:spcAft>
              <a:buSzPts val="1400"/>
              <a:buNone/>
            </a:pPr>
            <a:r>
              <a:t>    return typed response, evidence, state delta, and diagnostics</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5.2 Hybrid retrieval algorithm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Dense, sparse, temporal, and graph strategies return scored candidates. Fusion uses each memory ID once and retains the maximum score for that ID within a strategy. For a nonconstant strategy score range, it applies min-max normalization. Equal-score lists retain their original scores. Missing contributions count as zero. Active strategy weights renormalize using their total weight. E02, [fusion source]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FUSED_SCORE(memory) =</a:t>
            </a:r>
            <a:endParaRPr/>
          </a:p>
          <a:p xmlns:a="http://schemas.openxmlformats.org/drawingml/2006/main">
            <a:pPr marL="0" lvl="0" indent="0" algn="l">
              <a:lnSpc>
                <a:spcPct val="100000"/>
              </a:lnSpc>
              <a:spcBef>
                <a:spcPts val="0"/>
              </a:spcBef>
              <a:spcAft>
                <a:spcPts val="0"/>
              </a:spcAft>
              <a:buSzPts val="1400"/>
              <a:buNone/>
            </a:pPr>
            <a:r>
              <a:t>    sum(weight[strategy]  normalized_score[strategy, memory])</a:t>
            </a:r>
            <a:endParaRPr/>
          </a:p>
          <a:p xmlns:a="http://schemas.openxmlformats.org/drawingml/2006/main">
            <a:pPr marL="0" lvl="0" indent="0" algn="l">
              <a:lnSpc>
                <a:spcPct val="100000"/>
              </a:lnSpc>
              <a:spcBef>
                <a:spcPts val="0"/>
              </a:spcBef>
              <a:spcAft>
                <a:spcPts val="0"/>
              </a:spcAft>
              <a:buSzPts val="1400"/>
              <a:buNone/>
            </a:pPr>
            <a:r>
              <a:t>    / sum(weight[strategy] for selected strategies)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Default full-profile weights:</a:t>
            </a:r>
            <a:endParaRPr/>
          </a:p>
          <a:p xmlns:a="http://schemas.openxmlformats.org/drawingml/2006/main">
            <a:pPr marL="0" lvl="0" indent="0" algn="l">
              <a:lnSpc>
                <a:spcPct val="100000"/>
              </a:lnSpc>
              <a:spcBef>
                <a:spcPts val="0"/>
              </a:spcBef>
              <a:spcAft>
                <a:spcPts val="0"/>
              </a:spcAft>
              <a:buSzPts val="1400"/>
              <a:buNone/>
            </a:pPr>
            <a:r>
              <a:t>    dense 0.40, sparse 0.30, temporal 0.15, graph 0.15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RETRIEVE(query):</a:t>
            </a:r>
            <a:endParaRPr/>
          </a:p>
          <a:p xmlns:a="http://schemas.openxmlformats.org/drawingml/2006/main">
            <a:pPr marL="0" lvl="0" indent="0" algn="l">
              <a:lnSpc>
                <a:spcPct val="100000"/>
              </a:lnSpc>
              <a:spcBef>
                <a:spcPts val="0"/>
              </a:spcBef>
              <a:spcAft>
                <a:spcPts val="0"/>
              </a:spcAft>
              <a:buSzPts val="1400"/>
              <a:buNone/>
            </a:pPr>
            <a:r>
              <a:t>    analyze and rewrite query</a:t>
            </a:r>
            <a:endParaRPr/>
          </a:p>
          <a:p xmlns:a="http://schemas.openxmlformats.org/drawingml/2006/main">
            <a:pPr marL="0" lvl="0" indent="0" algn="l">
              <a:lnSpc>
                <a:spcPct val="100000"/>
              </a:lnSpc>
              <a:spcBef>
                <a:spcPts val="0"/>
              </a:spcBef>
              <a:spcAft>
                <a:spcPts val="0"/>
              </a:spcAft>
              <a:buSzPts val="1400"/>
              <a:buNone/>
            </a:pPr>
            <a:r>
              <a:t>    run strategies supported by route/capabilities</a:t>
            </a:r>
            <a:endParaRPr/>
          </a:p>
          <a:p xmlns:a="http://schemas.openxmlformats.org/drawingml/2006/main">
            <a:pPr marL="0" lvl="0" indent="0" algn="l">
              <a:lnSpc>
                <a:spcPct val="100000"/>
              </a:lnSpc>
              <a:spcBef>
                <a:spcPts val="0"/>
              </a:spcBef>
              <a:spcAft>
                <a:spcPts val="0"/>
              </a:spcAft>
              <a:buSzPts val="1400"/>
              <a:buNone/>
            </a:pPr>
            <a:r>
              <a:t>    merge and weight candidates by memory ID</a:t>
            </a:r>
            <a:endParaRPr/>
          </a:p>
          <a:p xmlns:a="http://schemas.openxmlformats.org/drawingml/2006/main">
            <a:pPr marL="0" lvl="0" indent="0" algn="l">
              <a:lnSpc>
                <a:spcPct val="100000"/>
              </a:lnSpc>
              <a:spcBef>
                <a:spcPts val="0"/>
              </a:spcBef>
              <a:spcAft>
                <a:spcPts val="0"/>
              </a:spcAft>
              <a:buSzPts val="1400"/>
              <a:buNone/>
            </a:pPr>
            <a:r>
              <a:t>    select top candidates and apply configured reranker</a:t>
            </a:r>
            <a:endParaRPr/>
          </a:p>
          <a:p xmlns:a="http://schemas.openxmlformats.org/drawingml/2006/main">
            <a:pPr marL="0" lvl="0" indent="0" algn="l">
              <a:lnSpc>
                <a:spcPct val="100000"/>
              </a:lnSpc>
              <a:spcBef>
                <a:spcPts val="0"/>
              </a:spcBef>
              <a:spcAft>
                <a:spcPts val="0"/>
              </a:spcAft>
              <a:buSzPts val="1400"/>
              <a:buNone/>
            </a:pPr>
            <a:r>
              <a:t>    integrate evidence and preserve source mapping</a:t>
            </a:r>
            <a:endParaRPr/>
          </a:p>
          <a:p xmlns:a="http://schemas.openxmlformats.org/drawingml/2006/main">
            <a:pPr marL="0" lvl="0" indent="0" algn="l">
              <a:lnSpc>
                <a:spcPct val="100000"/>
              </a:lnSpc>
              <a:spcBef>
                <a:spcPts val="0"/>
              </a:spcBef>
              <a:spcAft>
                <a:spcPts val="0"/>
              </a:spcAft>
              <a:buSzPts val="1400"/>
              <a:buNone/>
            </a:pPr>
            <a:r>
              <a:t>    check sufficiency; follow up only within budgets</a:t>
            </a:r>
            <a:endParaRPr/>
          </a:p>
          <a:p xmlns:a="http://schemas.openxmlformats.org/drawingml/2006/main">
            <a:pPr marL="0" lvl="0" indent="0" algn="l">
              <a:lnSpc>
                <a:spcPct val="100000"/>
              </a:lnSpc>
              <a:spcBef>
                <a:spcPts val="0"/>
              </a:spcBef>
              <a:spcAft>
                <a:spcPts val="0"/>
              </a:spcAft>
              <a:buSzPts val="1400"/>
              <a:buNone/>
            </a:pPr>
            <a:r>
              <a:t>    compress context and record dropped evidence</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algorithm is weighted score fusion, not automatically reciprocal rank fusion. Default values in retrieval YAML must be distinguished from request/campaign overrides.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5.3 Memory importance and admission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default normalized importance function is: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I = 0.35  novelty</a:t>
            </a:r>
            <a:endParaRPr/>
          </a:p>
          <a:p xmlns:a="http://schemas.openxmlformats.org/drawingml/2006/main">
            <a:pPr marL="0" lvl="0" indent="0" algn="l">
              <a:lnSpc>
                <a:spcPct val="100000"/>
              </a:lnSpc>
              <a:spcBef>
                <a:spcPts val="0"/>
              </a:spcBef>
              <a:spcAft>
                <a:spcPts val="0"/>
              </a:spcAft>
              <a:buSzPts val="1400"/>
              <a:buNone/>
            </a:pPr>
            <a:r>
              <a:t>  + 0.25  emotional_salience</a:t>
            </a:r>
            <a:endParaRPr/>
          </a:p>
          <a:p xmlns:a="http://schemas.openxmlformats.org/drawingml/2006/main">
            <a:pPr marL="0" lvl="0" indent="0" algn="l">
              <a:lnSpc>
                <a:spcPct val="100000"/>
              </a:lnSpc>
              <a:spcBef>
                <a:spcPts val="0"/>
              </a:spcBef>
              <a:spcAft>
                <a:spcPts val="0"/>
              </a:spcAft>
              <a:buSzPts val="1400"/>
              <a:buNone/>
            </a:pPr>
            <a:r>
              <a:t>  + 0.15  user_relevance</a:t>
            </a:r>
            <a:endParaRPr/>
          </a:p>
          <a:p xmlns:a="http://schemas.openxmlformats.org/drawingml/2006/main">
            <a:pPr marL="0" lvl="0" indent="0" algn="l">
              <a:lnSpc>
                <a:spcPct val="100000"/>
              </a:lnSpc>
              <a:spcBef>
                <a:spcPts val="0"/>
              </a:spcBef>
              <a:spcAft>
                <a:spcPts val="0"/>
              </a:spcAft>
              <a:buSzPts val="1400"/>
              <a:buNone/>
            </a:pPr>
            <a:r>
              <a:t>  + 0.15  recurrence</a:t>
            </a:r>
            <a:endParaRPr/>
          </a:p>
          <a:p xmlns:a="http://schemas.openxmlformats.org/drawingml/2006/main">
            <a:pPr marL="0" lvl="0" indent="0" algn="l">
              <a:lnSpc>
                <a:spcPct val="100000"/>
              </a:lnSpc>
              <a:spcBef>
                <a:spcPts val="0"/>
              </a:spcBef>
              <a:spcAft>
                <a:spcPts val="0"/>
              </a:spcAft>
              <a:buSzPts val="1400"/>
              <a:buNone/>
            </a:pPr>
            <a:r>
              <a:t>  + 0.10  reflection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admit when I &gt;= 0.55</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Novelty queries episodic candidates, then uses 1 - maximum token Jaccard overlap. User relevance uses explicit lexical/personal-interest cues. The scoring components are bounded to [0,1]. This is an interpretable heuristic, not a learned proof of long-term usefulness. Admission is distinct from explicit document ingestion, state persistence, and maintenance completion. Memory importance, types/defaults, configuration.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5.4 Affect evolution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update_momentum decays prior scores with default factor 0.82, drops very small values, and adds current dominant-emotion confidence. PAD represents pleasure, arousal, and dominance. Volatility averages recent PAD distances, bounded to 1. Stability combines low volatility and current confidence. Dissonance examines recent history, valence flips, and low confidence. Evolution source, PAD.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Explain this as engineered temporal text-affect tracking. It does not measure a person's true internal emotional state.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5.5 Sufficiency, confidence, and stopping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current sufficiency verifier intersects question/evidence terms and accepts coverage of at least 0.60, unless its narrow contradiction check fires. No evidence produces an unanswerable decision. More evidence can be requested under a bounded budget. This can fail on paraphrases or lexical distractors, so the score should not be described as semantic proof. Verifier.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confidence aggregator calibrates available signals, forms weighted means, adds disagreement to uncertainty, and reduces confidence with disagreement. Default source weights include retrieval 1.25, planning 1.15, affect 0.70, state 0.85, reflection/policy 1.0. These are source-specific weights inside a broader effective-weight mechanism, not standalone accuracies. Aggregator.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Public request defaults are top-k 5, maximum hops 3, retrieval calls 3, and context tokens 1600. Reasoning additionally has configured document/model/time/no-progress limits. Campaigns may override defaults. Read recorded effective budgets when explaining a result. E02, [reasoning configuration]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5.6 Controlled tools and corrections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TOOL(invocation, policy):</a:t>
            </a:r>
            <a:endParaRPr/>
          </a:p>
          <a:p xmlns:a="http://schemas.openxmlformats.org/drawingml/2006/main">
            <a:pPr marL="0" lvl="0" indent="0" algn="l">
              <a:lnSpc>
                <a:spcPct val="100000"/>
              </a:lnSpc>
              <a:spcBef>
                <a:spcPts val="0"/>
              </a:spcBef>
              <a:spcAft>
                <a:spcPts val="0"/>
              </a:spcAft>
              <a:buSzPts val="1400"/>
              <a:buNone/>
            </a:pPr>
            <a:r>
              <a:t>    reject external actions unless explicitly enabled</a:t>
            </a:r>
            <a:endParaRPr/>
          </a:p>
          <a:p xmlns:a="http://schemas.openxmlformats.org/drawingml/2006/main">
            <a:pPr marL="0" lvl="0" indent="0" algn="l">
              <a:lnSpc>
                <a:spcPct val="100000"/>
              </a:lnSpc>
              <a:spcBef>
                <a:spcPts val="0"/>
              </a:spcBef>
              <a:spcAft>
                <a:spcPts val="0"/>
              </a:spcAft>
              <a:buSzPts val="1400"/>
              <a:buNone/>
            </a:pPr>
            <a:r>
              <a:t>    check name, allowlist/blocklist, invocation limit and tags</a:t>
            </a:r>
            <a:endParaRPr/>
          </a:p>
          <a:p xmlns:a="http://schemas.openxmlformats.org/drawingml/2006/main">
            <a:pPr marL="0" lvl="0" indent="0" algn="l">
              <a:lnSpc>
                <a:spcPct val="100000"/>
              </a:lnSpc>
              <a:spcBef>
                <a:spcPts val="0"/>
              </a:spcBef>
              <a:spcAft>
                <a:spcPts val="0"/>
              </a:spcAft>
              <a:buSzPts val="1400"/>
              <a:buNone/>
            </a:pPr>
            <a:r>
              <a:t>    resolve registered tool</a:t>
            </a:r>
            <a:endParaRPr/>
          </a:p>
          <a:p xmlns:a="http://schemas.openxmlformats.org/drawingml/2006/main">
            <a:pPr marL="0" lvl="0" indent="0" algn="l">
              <a:lnSpc>
                <a:spcPct val="100000"/>
              </a:lnSpc>
              <a:spcBef>
                <a:spcPts val="0"/>
              </a:spcBef>
              <a:spcAft>
                <a:spcPts val="0"/>
              </a:spcAft>
              <a:buSzPts val="1400"/>
              <a:buNone/>
            </a:pPr>
            <a:r>
              <a:t>    validate arguments against tool schema</a:t>
            </a:r>
            <a:endParaRPr/>
          </a:p>
          <a:p xmlns:a="http://schemas.openxmlformats.org/drawingml/2006/main">
            <a:pPr marL="0" lvl="0" indent="0" algn="l">
              <a:lnSpc>
                <a:spcPct val="100000"/>
              </a:lnSpc>
              <a:spcBef>
                <a:spcPts val="0"/>
              </a:spcBef>
              <a:spcAft>
                <a:spcPts val="0"/>
              </a:spcAft>
              <a:buSzPts val="1400"/>
              <a:buNone/>
            </a:pPr>
            <a:r>
              <a:t>    execute handler; bound awaitable work with configured timeout</a:t>
            </a:r>
            <a:endParaRPr/>
          </a:p>
          <a:p xmlns:a="http://schemas.openxmlformats.org/drawingml/2006/main">
            <a:pPr marL="0" lvl="0" indent="0" algn="l">
              <a:lnSpc>
                <a:spcPct val="100000"/>
              </a:lnSpc>
              <a:spcBef>
                <a:spcPts val="0"/>
              </a:spcBef>
              <a:spcAft>
                <a:spcPts val="0"/>
              </a:spcAft>
              <a:buSzPts val="1400"/>
              <a:buNone/>
            </a:pPr>
            <a:r>
              <a:t>    require typed tool result; return audit and explicit errors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CORRECT(advice):</a:t>
            </a:r>
            <a:endParaRPr/>
          </a:p>
          <a:p xmlns:a="http://schemas.openxmlformats.org/drawingml/2006/main">
            <a:pPr marL="0" lvl="0" indent="0" algn="l">
              <a:lnSpc>
                <a:spcPct val="100000"/>
              </a:lnSpc>
              <a:spcBef>
                <a:spcPts val="0"/>
              </a:spcBef>
              <a:spcAft>
                <a:spcPts val="0"/>
              </a:spcAft>
              <a:buSzPts val="1400"/>
              <a:buNone/>
            </a:pPr>
            <a:r>
              <a:t>    check supported proposal and confidence/trigger conditions</a:t>
            </a:r>
            <a:endParaRPr/>
          </a:p>
          <a:p xmlns:a="http://schemas.openxmlformats.org/drawingml/2006/main">
            <a:pPr marL="0" lvl="0" indent="0" algn="l">
              <a:lnSpc>
                <a:spcPct val="100000"/>
              </a:lnSpc>
              <a:spcBef>
                <a:spcPts val="0"/>
              </a:spcBef>
              <a:spcAft>
                <a:spcPts val="0"/>
              </a:spcAft>
              <a:buSzPts val="1400"/>
              <a:buNone/>
            </a:pPr>
            <a:r>
              <a:t>    reject advice when its budget is exhausted</a:t>
            </a:r>
            <a:endParaRPr/>
          </a:p>
          <a:p xmlns:a="http://schemas.openxmlformats.org/drawingml/2006/main">
            <a:pPr marL="0" lvl="0" indent="0" algn="l">
              <a:lnSpc>
                <a:spcPct val="100000"/>
              </a:lnSpc>
              <a:spcBef>
                <a:spcPts val="0"/>
              </a:spcBef>
              <a:spcAft>
                <a:spcPts val="0"/>
              </a:spcAft>
              <a:buSzPts val="1400"/>
              <a:buNone/>
            </a:pPr>
            <a:r>
              <a:t>    route to permitted retrieval/replanning/retry/regeneration</a:t>
            </a:r>
            <a:endParaRPr/>
          </a:p>
          <a:p xmlns:a="http://schemas.openxmlformats.org/drawingml/2006/main">
            <a:pPr marL="0" lvl="0" indent="0" algn="l">
              <a:lnSpc>
                <a:spcPct val="100000"/>
              </a:lnSpc>
              <a:spcBef>
                <a:spcPts val="0"/>
              </a:spcBef>
              <a:spcAft>
                <a:spcPts val="0"/>
              </a:spcAft>
              <a:buSzPts val="1400"/>
              <a:buNone/>
            </a:pPr>
            <a:r>
              <a:t>    preserve before/after snapshots and outcome</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Tool defaults allow no external tools, limit invocations to 3, and set awaitable timeout to 5 seconds. A synchronous handler can block before that awaitable timeout applies. Reflection generates advice; workflow owns its application. Gold-aware legacy evaluators cannot supply production advice. Execution policy, tool executor, correction loop.</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C:/PRIMA_next/config/retrieval.yaml</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C:/PRIMA_next/memory/maintenance/importance_types.py</a:t>
            </a:r>
            <a:endParaRPr/>
          </a:p>
          <a:p xmlns:a="http://schemas.openxmlformats.org/drawingml/2006/main">
            <a:pPr marL="0" lvl="0" indent="0" algn="l">
              <a:lnSpc>
                <a:spcPct val="100000"/>
              </a:lnSpc>
              <a:spcBef>
                <a:spcPts val="0"/>
              </a:spcBef>
              <a:spcAft>
                <a:spcPts val="0"/>
              </a:spcAft>
              <a:buSzPts val="1400"/>
              <a:buNone/>
            </a:pPr>
            <a:r>
              <a:t>C:/PRIMA_next/config/memory_importance.yaml</a:t>
            </a:r>
            <a:endParaRPr/>
          </a:p>
          <a:p xmlns:a="http://schemas.openxmlformats.org/drawingml/2006/main">
            <a:pPr marL="0" lvl="0" indent="0" algn="l">
              <a:lnSpc>
                <a:spcPct val="100000"/>
              </a:lnSpc>
              <a:spcBef>
                <a:spcPts val="0"/>
              </a:spcBef>
              <a:spcAft>
                <a:spcPts val="0"/>
              </a:spcAft>
              <a:buSzPts val="1400"/>
              <a:buNone/>
            </a:pPr>
            <a:r>
              <a:t>C:/PRIMA_next/affect/affect_evolution.py</a:t>
            </a:r>
            <a:endParaRPr/>
          </a:p>
          <a:p xmlns:a="http://schemas.openxmlformats.org/drawingml/2006/main">
            <a:pPr marL="0" lvl="0" indent="0" algn="l">
              <a:lnSpc>
                <a:spcPct val="100000"/>
              </a:lnSpc>
              <a:spcBef>
                <a:spcPts val="0"/>
              </a:spcBef>
              <a:spcAft>
                <a:spcPts val="0"/>
              </a:spcAft>
              <a:buSzPts val="1400"/>
              <a:buNone/>
            </a:pPr>
            <a:r>
              <a:t>C:/PRIMA_next/affect/pad_model.py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C:/PRIMA_next/reasoning/config.py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Hybrid fusion algorithm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 Slide 5: algorithms and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5.1 Canonical workflow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explanatory pseudocode aligned with E02/E03, not a replacement executable API or a guarantee that all phases run.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EXECUTE(request):</a:t>
            </a:r>
            <a:endParaRPr/>
          </a:p>
          <a:p xmlns:a="http://schemas.openxmlformats.org/drawingml/2006/main">
            <a:pPr marL="0" lvl="0" indent="0" algn="l">
              <a:lnSpc>
                <a:spcPct val="100000"/>
              </a:lnSpc>
              <a:spcBef>
                <a:spcPts val="0"/>
              </a:spcBef>
              <a:spcAft>
                <a:spcPts val="0"/>
              </a:spcAft>
              <a:buSzPts val="1400"/>
              <a:buNone/>
            </a:pPr>
            <a:r>
              <a:t>    validate typed request and reserved metadata</a:t>
            </a:r>
            <a:endParaRPr/>
          </a:p>
          <a:p xmlns:a="http://schemas.openxmlformats.org/drawingml/2006/main">
            <a:pPr marL="0" lvl="0" indent="0" algn="l">
              <a:lnSpc>
                <a:spcPct val="100000"/>
              </a:lnSpc>
              <a:spcBef>
                <a:spcPts val="0"/>
              </a:spcBef>
              <a:spcAft>
                <a:spcPts val="0"/>
              </a:spcAft>
              <a:buSzPts val="1400"/>
              <a:buNone/>
            </a:pPr>
            <a:r>
              <a:t>    select supported task/profile route; reject invalid pairs</a:t>
            </a:r>
            <a:endParaRPr/>
          </a:p>
          <a:p xmlns:a="http://schemas.openxmlformats.org/drawingml/2006/main">
            <a:pPr marL="0" lvl="0" indent="0" algn="l">
              <a:lnSpc>
                <a:spcPct val="100000"/>
              </a:lnSpc>
              <a:spcBef>
                <a:spcPts val="0"/>
              </a:spcBef>
              <a:spcAft>
                <a:spcPts val="0"/>
              </a:spcAft>
              <a:buSzPts val="1400"/>
              <a:buNone/>
            </a:pPr>
            <a:r>
              <a:t>    build trusted execution context and effective budgets</a:t>
            </a:r>
            <a:endParaRPr/>
          </a:p>
          <a:p xmlns:a="http://schemas.openxmlformats.org/drawingml/2006/main">
            <a:pPr marL="0" lvl="0" indent="0" algn="l">
              <a:lnSpc>
                <a:spcPct val="100000"/>
              </a:lnSpc>
              <a:spcBef>
                <a:spcPts val="0"/>
              </a:spcBef>
              <a:spcAft>
                <a:spcPts val="0"/>
              </a:spcAft>
              <a:buSzPts val="1400"/>
              <a:buNone/>
            </a:pPr>
            <a:r>
              <a:t>    load versioned session state</a:t>
            </a:r>
            <a:endParaRPr/>
          </a:p>
          <a:p xmlns:a="http://schemas.openxmlformats.org/drawingml/2006/main">
            <a:pPr marL="0" lvl="0" indent="0" algn="l">
              <a:lnSpc>
                <a:spcPct val="100000"/>
              </a:lnSpc>
              <a:spcBef>
                <a:spcPts val="0"/>
              </a:spcBef>
              <a:spcAft>
                <a:spcPts val="0"/>
              </a:spcAft>
              <a:buSzPts val="1400"/>
              <a:buNone/>
            </a:pPr>
            <a:r>
              <a:t>    for each phase selected by the route:</a:t>
            </a:r>
            <a:endParaRPr/>
          </a:p>
          <a:p xmlns:a="http://schemas.openxmlformats.org/drawingml/2006/main">
            <a:pPr marL="0" lvl="0" indent="0" algn="l">
              <a:lnSpc>
                <a:spcPct val="100000"/>
              </a:lnSpc>
              <a:spcBef>
                <a:spcPts val="0"/>
              </a:spcBef>
              <a:spcAft>
                <a:spcPts val="0"/>
              </a:spcAft>
              <a:buSzPts val="1400"/>
              <a:buNone/>
            </a:pPr>
            <a:r>
              <a:t>        run its controller; record start/result/error</a:t>
            </a:r>
            <a:endParaRPr/>
          </a:p>
          <a:p xmlns:a="http://schemas.openxmlformats.org/drawingml/2006/main">
            <a:pPr marL="0" lvl="0" indent="0" algn="l">
              <a:lnSpc>
                <a:spcPct val="100000"/>
              </a:lnSpc>
              <a:spcBef>
                <a:spcPts val="0"/>
              </a:spcBef>
              <a:spcAft>
                <a:spcPts val="0"/>
              </a:spcAft>
              <a:buSzPts val="1400"/>
              <a:buNone/>
            </a:pPr>
            <a:r>
              <a:t>        if a decision requires correction:</a:t>
            </a:r>
            <a:endParaRPr/>
          </a:p>
          <a:p xmlns:a="http://schemas.openxmlformats.org/drawingml/2006/main">
            <a:pPr marL="0" lvl="0" indent="0" algn="l">
              <a:lnSpc>
                <a:spcPct val="100000"/>
              </a:lnSpc>
              <a:spcBef>
                <a:spcPts val="0"/>
              </a:spcBef>
              <a:spcAft>
                <a:spcPts val="0"/>
              </a:spcAft>
              <a:buSzPts val="1400"/>
              <a:buNone/>
            </a:pPr>
            <a:r>
              <a:t>            validate typed advice and remaining budget</a:t>
            </a:r>
            <a:endParaRPr/>
          </a:p>
          <a:p xmlns:a="http://schemas.openxmlformats.org/drawingml/2006/main">
            <a:pPr marL="0" lvl="0" indent="0" algn="l">
              <a:lnSpc>
                <a:spcPct val="100000"/>
              </a:lnSpc>
              <a:spcBef>
                <a:spcPts val="0"/>
              </a:spcBef>
              <a:spcAft>
                <a:spcPts val="0"/>
              </a:spcAft>
              <a:buSzPts val="1400"/>
              <a:buNone/>
            </a:pPr>
            <a:r>
              <a:t>            apply only the permitted bounded correction</a:t>
            </a:r>
            <a:endParaRPr/>
          </a:p>
          <a:p xmlns:a="http://schemas.openxmlformats.org/drawingml/2006/main">
            <a:pPr marL="0" lvl="0" indent="0" algn="l">
              <a:lnSpc>
                <a:spcPct val="100000"/>
              </a:lnSpc>
              <a:spcBef>
                <a:spcPts val="0"/>
              </a:spcBef>
              <a:spcAft>
                <a:spcPts val="0"/>
              </a:spcAft>
              <a:buSzPts val="1400"/>
              <a:buNone/>
            </a:pPr>
            <a:r>
              <a:t>            record actual before/after state and stop reason</a:t>
            </a:r>
            <a:endParaRPr/>
          </a:p>
          <a:p xmlns:a="http://schemas.openxmlformats.org/drawingml/2006/main">
            <a:pPr marL="0" lvl="0" indent="0" algn="l">
              <a:lnSpc>
                <a:spcPct val="100000"/>
              </a:lnSpc>
              <a:spcBef>
                <a:spcPts val="0"/>
              </a:spcBef>
              <a:spcAft>
                <a:spcPts val="0"/>
              </a:spcAft>
              <a:buSzPts val="1400"/>
              <a:buNone/>
            </a:pPr>
            <a:r>
              <a:t>        if cancellation/failure occurs:</a:t>
            </a:r>
            <a:endParaRPr/>
          </a:p>
          <a:p xmlns:a="http://schemas.openxmlformats.org/drawingml/2006/main">
            <a:pPr marL="0" lvl="0" indent="0" algn="l">
              <a:lnSpc>
                <a:spcPct val="100000"/>
              </a:lnSpc>
              <a:spcBef>
                <a:spcPts val="0"/>
              </a:spcBef>
              <a:spcAft>
                <a:spcPts val="0"/>
              </a:spcAft>
              <a:buSzPts val="1400"/>
              <a:buNone/>
            </a:pPr>
            <a:r>
              <a:t>            return explicit typed outcome with diagnostics</a:t>
            </a:r>
            <a:endParaRPr/>
          </a:p>
          <a:p xmlns:a="http://schemas.openxmlformats.org/drawingml/2006/main">
            <a:pPr marL="0" lvl="0" indent="0" algn="l">
              <a:lnSpc>
                <a:spcPct val="100000"/>
              </a:lnSpc>
              <a:spcBef>
                <a:spcPts val="0"/>
              </a:spcBef>
              <a:spcAft>
                <a:spcPts val="0"/>
              </a:spcAft>
              <a:buSzPts val="1400"/>
              <a:buNone/>
            </a:pPr>
            <a:r>
              <a:t>    shape existing generation/classification/ingestion/action result</a:t>
            </a:r>
            <a:endParaRPr/>
          </a:p>
          <a:p xmlns:a="http://schemas.openxmlformats.org/drawingml/2006/main">
            <a:pPr marL="0" lvl="0" indent="0" algn="l">
              <a:lnSpc>
                <a:spcPct val="100000"/>
              </a:lnSpc>
              <a:spcBef>
                <a:spcPts val="0"/>
              </a:spcBef>
              <a:spcAft>
                <a:spcPts val="0"/>
              </a:spcAft>
              <a:buSzPts val="1400"/>
              <a:buNone/>
            </a:pPr>
            <a:r>
              <a:t>    commit only the effects permitted by that task and policy</a:t>
            </a:r>
            <a:endParaRPr/>
          </a:p>
          <a:p xmlns:a="http://schemas.openxmlformats.org/drawingml/2006/main">
            <a:pPr marL="0" lvl="0" indent="0" algn="l">
              <a:lnSpc>
                <a:spcPct val="100000"/>
              </a:lnSpc>
              <a:spcBef>
                <a:spcPts val="0"/>
              </a:spcBef>
              <a:spcAft>
                <a:spcPts val="0"/>
              </a:spcAft>
              <a:buSzPts val="1400"/>
              <a:buNone/>
            </a:pPr>
            <a:r>
              <a:t>    enqueue admitted maintenance with bounded backpressure</a:t>
            </a:r>
            <a:endParaRPr/>
          </a:p>
          <a:p xmlns:a="http://schemas.openxmlformats.org/drawingml/2006/main">
            <a:pPr marL="0" lvl="0" indent="0" algn="l">
              <a:lnSpc>
                <a:spcPct val="100000"/>
              </a:lnSpc>
              <a:spcBef>
                <a:spcPts val="0"/>
              </a:spcBef>
              <a:spcAft>
                <a:spcPts val="0"/>
              </a:spcAft>
              <a:buSzPts val="1400"/>
              <a:buNone/>
            </a:pPr>
            <a:r>
              <a:t>    return typed response, evidence, state delta, and diagnostics</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5.2 Hybrid retrieval algorithm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Dense, sparse, temporal, and graph strategies return scored candidates. Fusion uses each memory ID once and retains the maximum score for that ID within a strategy. For a nonconstant strategy score range, it applies min-max normalization. Equal-score lists retain their original scores. Missing contributions count as zero. Active strategy weights renormalize using their total weight. E02, [fusion source]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FUSED_SCORE(memory) =</a:t>
            </a:r>
            <a:endParaRPr/>
          </a:p>
          <a:p xmlns:a="http://schemas.openxmlformats.org/drawingml/2006/main">
            <a:pPr marL="0" lvl="0" indent="0" algn="l">
              <a:lnSpc>
                <a:spcPct val="100000"/>
              </a:lnSpc>
              <a:spcBef>
                <a:spcPts val="0"/>
              </a:spcBef>
              <a:spcAft>
                <a:spcPts val="0"/>
              </a:spcAft>
              <a:buSzPts val="1400"/>
              <a:buNone/>
            </a:pPr>
            <a:r>
              <a:t>    sum(weight[strategy]  normalized_score[strategy, memory])</a:t>
            </a:r>
            <a:endParaRPr/>
          </a:p>
          <a:p xmlns:a="http://schemas.openxmlformats.org/drawingml/2006/main">
            <a:pPr marL="0" lvl="0" indent="0" algn="l">
              <a:lnSpc>
                <a:spcPct val="100000"/>
              </a:lnSpc>
              <a:spcBef>
                <a:spcPts val="0"/>
              </a:spcBef>
              <a:spcAft>
                <a:spcPts val="0"/>
              </a:spcAft>
              <a:buSzPts val="1400"/>
              <a:buNone/>
            </a:pPr>
            <a:r>
              <a:t>    / sum(weight[strategy] for selected strategies)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Default full-profile weights:</a:t>
            </a:r>
            <a:endParaRPr/>
          </a:p>
          <a:p xmlns:a="http://schemas.openxmlformats.org/drawingml/2006/main">
            <a:pPr marL="0" lvl="0" indent="0" algn="l">
              <a:lnSpc>
                <a:spcPct val="100000"/>
              </a:lnSpc>
              <a:spcBef>
                <a:spcPts val="0"/>
              </a:spcBef>
              <a:spcAft>
                <a:spcPts val="0"/>
              </a:spcAft>
              <a:buSzPts val="1400"/>
              <a:buNone/>
            </a:pPr>
            <a:r>
              <a:t>    dense 0.40, sparse 0.30, temporal 0.15, graph 0.15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RETRIEVE(query):</a:t>
            </a:r>
            <a:endParaRPr/>
          </a:p>
          <a:p xmlns:a="http://schemas.openxmlformats.org/drawingml/2006/main">
            <a:pPr marL="0" lvl="0" indent="0" algn="l">
              <a:lnSpc>
                <a:spcPct val="100000"/>
              </a:lnSpc>
              <a:spcBef>
                <a:spcPts val="0"/>
              </a:spcBef>
              <a:spcAft>
                <a:spcPts val="0"/>
              </a:spcAft>
              <a:buSzPts val="1400"/>
              <a:buNone/>
            </a:pPr>
            <a:r>
              <a:t>    analyze and rewrite query</a:t>
            </a:r>
            <a:endParaRPr/>
          </a:p>
          <a:p xmlns:a="http://schemas.openxmlformats.org/drawingml/2006/main">
            <a:pPr marL="0" lvl="0" indent="0" algn="l">
              <a:lnSpc>
                <a:spcPct val="100000"/>
              </a:lnSpc>
              <a:spcBef>
                <a:spcPts val="0"/>
              </a:spcBef>
              <a:spcAft>
                <a:spcPts val="0"/>
              </a:spcAft>
              <a:buSzPts val="1400"/>
              <a:buNone/>
            </a:pPr>
            <a:r>
              <a:t>    run strategies supported by route/capabilities</a:t>
            </a:r>
            <a:endParaRPr/>
          </a:p>
          <a:p xmlns:a="http://schemas.openxmlformats.org/drawingml/2006/main">
            <a:pPr marL="0" lvl="0" indent="0" algn="l">
              <a:lnSpc>
                <a:spcPct val="100000"/>
              </a:lnSpc>
              <a:spcBef>
                <a:spcPts val="0"/>
              </a:spcBef>
              <a:spcAft>
                <a:spcPts val="0"/>
              </a:spcAft>
              <a:buSzPts val="1400"/>
              <a:buNone/>
            </a:pPr>
            <a:r>
              <a:t>    merge and weight candidates by memory ID</a:t>
            </a:r>
            <a:endParaRPr/>
          </a:p>
          <a:p xmlns:a="http://schemas.openxmlformats.org/drawingml/2006/main">
            <a:pPr marL="0" lvl="0" indent="0" algn="l">
              <a:lnSpc>
                <a:spcPct val="100000"/>
              </a:lnSpc>
              <a:spcBef>
                <a:spcPts val="0"/>
              </a:spcBef>
              <a:spcAft>
                <a:spcPts val="0"/>
              </a:spcAft>
              <a:buSzPts val="1400"/>
              <a:buNone/>
            </a:pPr>
            <a:r>
              <a:t>    select top candidates and apply configured reranker</a:t>
            </a:r>
            <a:endParaRPr/>
          </a:p>
          <a:p xmlns:a="http://schemas.openxmlformats.org/drawingml/2006/main">
            <a:pPr marL="0" lvl="0" indent="0" algn="l">
              <a:lnSpc>
                <a:spcPct val="100000"/>
              </a:lnSpc>
              <a:spcBef>
                <a:spcPts val="0"/>
              </a:spcBef>
              <a:spcAft>
                <a:spcPts val="0"/>
              </a:spcAft>
              <a:buSzPts val="1400"/>
              <a:buNone/>
            </a:pPr>
            <a:r>
              <a:t>    integrate evidence and preserve source mapping</a:t>
            </a:r>
            <a:endParaRPr/>
          </a:p>
          <a:p xmlns:a="http://schemas.openxmlformats.org/drawingml/2006/main">
            <a:pPr marL="0" lvl="0" indent="0" algn="l">
              <a:lnSpc>
                <a:spcPct val="100000"/>
              </a:lnSpc>
              <a:spcBef>
                <a:spcPts val="0"/>
              </a:spcBef>
              <a:spcAft>
                <a:spcPts val="0"/>
              </a:spcAft>
              <a:buSzPts val="1400"/>
              <a:buNone/>
            </a:pPr>
            <a:r>
              <a:t>    check sufficiency; follow up only within budgets</a:t>
            </a:r>
            <a:endParaRPr/>
          </a:p>
          <a:p xmlns:a="http://schemas.openxmlformats.org/drawingml/2006/main">
            <a:pPr marL="0" lvl="0" indent="0" algn="l">
              <a:lnSpc>
                <a:spcPct val="100000"/>
              </a:lnSpc>
              <a:spcBef>
                <a:spcPts val="0"/>
              </a:spcBef>
              <a:spcAft>
                <a:spcPts val="0"/>
              </a:spcAft>
              <a:buSzPts val="1400"/>
              <a:buNone/>
            </a:pPr>
            <a:r>
              <a:t>    compress context and record dropped evidence</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algorithm is weighted score fusion, not automatically reciprocal rank fusion. Default values in retrieval YAML must be distinguished from request/campaign overrides.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5.3 Memory importance and admission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default normalized importance function is: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I = 0.35  novelty</a:t>
            </a:r>
            <a:endParaRPr/>
          </a:p>
          <a:p xmlns:a="http://schemas.openxmlformats.org/drawingml/2006/main">
            <a:pPr marL="0" lvl="0" indent="0" algn="l">
              <a:lnSpc>
                <a:spcPct val="100000"/>
              </a:lnSpc>
              <a:spcBef>
                <a:spcPts val="0"/>
              </a:spcBef>
              <a:spcAft>
                <a:spcPts val="0"/>
              </a:spcAft>
              <a:buSzPts val="1400"/>
              <a:buNone/>
            </a:pPr>
            <a:r>
              <a:t>  + 0.25  emotional_salience</a:t>
            </a:r>
            <a:endParaRPr/>
          </a:p>
          <a:p xmlns:a="http://schemas.openxmlformats.org/drawingml/2006/main">
            <a:pPr marL="0" lvl="0" indent="0" algn="l">
              <a:lnSpc>
                <a:spcPct val="100000"/>
              </a:lnSpc>
              <a:spcBef>
                <a:spcPts val="0"/>
              </a:spcBef>
              <a:spcAft>
                <a:spcPts val="0"/>
              </a:spcAft>
              <a:buSzPts val="1400"/>
              <a:buNone/>
            </a:pPr>
            <a:r>
              <a:t>  + 0.15  user_relevance</a:t>
            </a:r>
            <a:endParaRPr/>
          </a:p>
          <a:p xmlns:a="http://schemas.openxmlformats.org/drawingml/2006/main">
            <a:pPr marL="0" lvl="0" indent="0" algn="l">
              <a:lnSpc>
                <a:spcPct val="100000"/>
              </a:lnSpc>
              <a:spcBef>
                <a:spcPts val="0"/>
              </a:spcBef>
              <a:spcAft>
                <a:spcPts val="0"/>
              </a:spcAft>
              <a:buSzPts val="1400"/>
              <a:buNone/>
            </a:pPr>
            <a:r>
              <a:t>  + 0.15  recurrence</a:t>
            </a:r>
            <a:endParaRPr/>
          </a:p>
          <a:p xmlns:a="http://schemas.openxmlformats.org/drawingml/2006/main">
            <a:pPr marL="0" lvl="0" indent="0" algn="l">
              <a:lnSpc>
                <a:spcPct val="100000"/>
              </a:lnSpc>
              <a:spcBef>
                <a:spcPts val="0"/>
              </a:spcBef>
              <a:spcAft>
                <a:spcPts val="0"/>
              </a:spcAft>
              <a:buSzPts val="1400"/>
              <a:buNone/>
            </a:pPr>
            <a:r>
              <a:t>  + 0.10  reflection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admit when I &gt;= 0.55</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Novelty queries episodic candidates, then uses 1 - maximum token Jaccard overlap. User relevance uses explicit lexical/personal-interest cues. The scoring components are bounded to [0,1]. This is an interpretable heuristic, not a learned proof of long-term usefulness. Admission is distinct from explicit document ingestion, state persistence, and maintenance completion. Memory importance, types/defaults, configuration.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5.4 Affect evolution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update_momentum decays prior scores with default factor 0.82, drops very small values, and adds current dominant-emotion confidence. PAD represents pleasure, arousal, and dominance. Volatility averages recent PAD distances, bounded to 1. Stability combines low volatility and current confidence. Dissonance examines recent history, valence flips, and low confidence. Evolution source, PAD.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Explain this as engineered temporal text-affect tracking. It does not measure a person's true internal emotional state.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5.5 Sufficiency, confidence, and stopping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current sufficiency verifier intersects question/evidence terms and accepts coverage of at least 0.60, unless its narrow contradiction check fires. No evidence produces an unanswerable decision. More evidence can be requested under a bounded budget. This can fail on paraphrases or lexical distractors, so the score should not be described as semantic proof. Verifier.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confidence aggregator calibrates available signals, forms weighted means, adds disagreement to uncertainty, and reduces confidence with disagreement. Default source weights include retrieval 1.25, planning 1.15, affect 0.70, state 0.85, reflection/policy 1.0. These are source-specific weights inside a broader effective-weight mechanism, not standalone accuracies. Aggregator.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Public request defaults are top-k 5, maximum hops 3, retrieval calls 3, and context tokens 1600. Reasoning additionally has configured document/model/time/no-progress limits. Campaigns may override defaults. Read recorded effective budgets when explaining a result. E02, [reasoning configuration]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5.6 Controlled tools and corrections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TOOL(invocation, policy):</a:t>
            </a:r>
            <a:endParaRPr/>
          </a:p>
          <a:p xmlns:a="http://schemas.openxmlformats.org/drawingml/2006/main">
            <a:pPr marL="0" lvl="0" indent="0" algn="l">
              <a:lnSpc>
                <a:spcPct val="100000"/>
              </a:lnSpc>
              <a:spcBef>
                <a:spcPts val="0"/>
              </a:spcBef>
              <a:spcAft>
                <a:spcPts val="0"/>
              </a:spcAft>
              <a:buSzPts val="1400"/>
              <a:buNone/>
            </a:pPr>
            <a:r>
              <a:t>    reject external actions unless explicitly enabled</a:t>
            </a:r>
            <a:endParaRPr/>
          </a:p>
          <a:p xmlns:a="http://schemas.openxmlformats.org/drawingml/2006/main">
            <a:pPr marL="0" lvl="0" indent="0" algn="l">
              <a:lnSpc>
                <a:spcPct val="100000"/>
              </a:lnSpc>
              <a:spcBef>
                <a:spcPts val="0"/>
              </a:spcBef>
              <a:spcAft>
                <a:spcPts val="0"/>
              </a:spcAft>
              <a:buSzPts val="1400"/>
              <a:buNone/>
            </a:pPr>
            <a:r>
              <a:t>    check name, allowlist/blocklist, invocation limit and tags</a:t>
            </a:r>
            <a:endParaRPr/>
          </a:p>
          <a:p xmlns:a="http://schemas.openxmlformats.org/drawingml/2006/main">
            <a:pPr marL="0" lvl="0" indent="0" algn="l">
              <a:lnSpc>
                <a:spcPct val="100000"/>
              </a:lnSpc>
              <a:spcBef>
                <a:spcPts val="0"/>
              </a:spcBef>
              <a:spcAft>
                <a:spcPts val="0"/>
              </a:spcAft>
              <a:buSzPts val="1400"/>
              <a:buNone/>
            </a:pPr>
            <a:r>
              <a:t>    resolve registered tool</a:t>
            </a:r>
            <a:endParaRPr/>
          </a:p>
          <a:p xmlns:a="http://schemas.openxmlformats.org/drawingml/2006/main">
            <a:pPr marL="0" lvl="0" indent="0" algn="l">
              <a:lnSpc>
                <a:spcPct val="100000"/>
              </a:lnSpc>
              <a:spcBef>
                <a:spcPts val="0"/>
              </a:spcBef>
              <a:spcAft>
                <a:spcPts val="0"/>
              </a:spcAft>
              <a:buSzPts val="1400"/>
              <a:buNone/>
            </a:pPr>
            <a:r>
              <a:t>    validate arguments against tool schema</a:t>
            </a:r>
            <a:endParaRPr/>
          </a:p>
          <a:p xmlns:a="http://schemas.openxmlformats.org/drawingml/2006/main">
            <a:pPr marL="0" lvl="0" indent="0" algn="l">
              <a:lnSpc>
                <a:spcPct val="100000"/>
              </a:lnSpc>
              <a:spcBef>
                <a:spcPts val="0"/>
              </a:spcBef>
              <a:spcAft>
                <a:spcPts val="0"/>
              </a:spcAft>
              <a:buSzPts val="1400"/>
              <a:buNone/>
            </a:pPr>
            <a:r>
              <a:t>    execute handler; bound awaitable work with configured timeout</a:t>
            </a:r>
            <a:endParaRPr/>
          </a:p>
          <a:p xmlns:a="http://schemas.openxmlformats.org/drawingml/2006/main">
            <a:pPr marL="0" lvl="0" indent="0" algn="l">
              <a:lnSpc>
                <a:spcPct val="100000"/>
              </a:lnSpc>
              <a:spcBef>
                <a:spcPts val="0"/>
              </a:spcBef>
              <a:spcAft>
                <a:spcPts val="0"/>
              </a:spcAft>
              <a:buSzPts val="1400"/>
              <a:buNone/>
            </a:pPr>
            <a:r>
              <a:t>    require typed tool result; return audit and explicit errors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CORRECT(advice):</a:t>
            </a:r>
            <a:endParaRPr/>
          </a:p>
          <a:p xmlns:a="http://schemas.openxmlformats.org/drawingml/2006/main">
            <a:pPr marL="0" lvl="0" indent="0" algn="l">
              <a:lnSpc>
                <a:spcPct val="100000"/>
              </a:lnSpc>
              <a:spcBef>
                <a:spcPts val="0"/>
              </a:spcBef>
              <a:spcAft>
                <a:spcPts val="0"/>
              </a:spcAft>
              <a:buSzPts val="1400"/>
              <a:buNone/>
            </a:pPr>
            <a:r>
              <a:t>    check supported proposal and confidence/trigger conditions</a:t>
            </a:r>
            <a:endParaRPr/>
          </a:p>
          <a:p xmlns:a="http://schemas.openxmlformats.org/drawingml/2006/main">
            <a:pPr marL="0" lvl="0" indent="0" algn="l">
              <a:lnSpc>
                <a:spcPct val="100000"/>
              </a:lnSpc>
              <a:spcBef>
                <a:spcPts val="0"/>
              </a:spcBef>
              <a:spcAft>
                <a:spcPts val="0"/>
              </a:spcAft>
              <a:buSzPts val="1400"/>
              <a:buNone/>
            </a:pPr>
            <a:r>
              <a:t>    reject advice when its budget is exhausted</a:t>
            </a:r>
            <a:endParaRPr/>
          </a:p>
          <a:p xmlns:a="http://schemas.openxmlformats.org/drawingml/2006/main">
            <a:pPr marL="0" lvl="0" indent="0" algn="l">
              <a:lnSpc>
                <a:spcPct val="100000"/>
              </a:lnSpc>
              <a:spcBef>
                <a:spcPts val="0"/>
              </a:spcBef>
              <a:spcAft>
                <a:spcPts val="0"/>
              </a:spcAft>
              <a:buSzPts val="1400"/>
              <a:buNone/>
            </a:pPr>
            <a:r>
              <a:t>    route to permitted retrieval/replanning/retry/regeneration</a:t>
            </a:r>
            <a:endParaRPr/>
          </a:p>
          <a:p xmlns:a="http://schemas.openxmlformats.org/drawingml/2006/main">
            <a:pPr marL="0" lvl="0" indent="0" algn="l">
              <a:lnSpc>
                <a:spcPct val="100000"/>
              </a:lnSpc>
              <a:spcBef>
                <a:spcPts val="0"/>
              </a:spcBef>
              <a:spcAft>
                <a:spcPts val="0"/>
              </a:spcAft>
              <a:buSzPts val="1400"/>
              <a:buNone/>
            </a:pPr>
            <a:r>
              <a:t>    preserve before/after snapshots and outcome</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Tool defaults allow no external tools, limit invocations to 3, and set awaitable timeout to 5 seconds. A synchronous handler can block before that awaitable timeout applies. Reflection generates advice; workflow owns its application. Gold-aware legacy evaluators cannot supply production advice. Execution policy, tool executor, correction loop.</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C:/PRIMA_next/config/retrieval.yaml</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C:/PRIMA_next/memory/maintenance/importance_types.py</a:t>
            </a:r>
            <a:endParaRPr/>
          </a:p>
          <a:p xmlns:a="http://schemas.openxmlformats.org/drawingml/2006/main">
            <a:pPr marL="0" lvl="0" indent="0" algn="l">
              <a:lnSpc>
                <a:spcPct val="100000"/>
              </a:lnSpc>
              <a:spcBef>
                <a:spcPts val="0"/>
              </a:spcBef>
              <a:spcAft>
                <a:spcPts val="0"/>
              </a:spcAft>
              <a:buSzPts val="1400"/>
              <a:buNone/>
            </a:pPr>
            <a:r>
              <a:t>C:/PRIMA_next/config/memory_importance.yaml</a:t>
            </a:r>
            <a:endParaRPr/>
          </a:p>
          <a:p xmlns:a="http://schemas.openxmlformats.org/drawingml/2006/main">
            <a:pPr marL="0" lvl="0" indent="0" algn="l">
              <a:lnSpc>
                <a:spcPct val="100000"/>
              </a:lnSpc>
              <a:spcBef>
                <a:spcPts val="0"/>
              </a:spcBef>
              <a:spcAft>
                <a:spcPts val="0"/>
              </a:spcAft>
              <a:buSzPts val="1400"/>
              <a:buNone/>
            </a:pPr>
            <a:r>
              <a:t>C:/PRIMA_next/affect/affect_evolution.py</a:t>
            </a:r>
            <a:endParaRPr/>
          </a:p>
          <a:p xmlns:a="http://schemas.openxmlformats.org/drawingml/2006/main">
            <a:pPr marL="0" lvl="0" indent="0" algn="l">
              <a:lnSpc>
                <a:spcPct val="100000"/>
              </a:lnSpc>
              <a:spcBef>
                <a:spcPts val="0"/>
              </a:spcBef>
              <a:spcAft>
                <a:spcPts val="0"/>
              </a:spcAft>
              <a:buSzPts val="1400"/>
              <a:buNone/>
            </a:pPr>
            <a:r>
              <a:t>C:/PRIMA_next/affect/pad_model.py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C:/PRIMA_next/reasoning/config.py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Memory admission algorithm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 Slide 5: algorithms and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5.1 Canonical workflow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explanatory pseudocode aligned with E02/E03, not a replacement executable API or a guarantee that all phases run.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EXECUTE(request):</a:t>
            </a:r>
            <a:endParaRPr/>
          </a:p>
          <a:p xmlns:a="http://schemas.openxmlformats.org/drawingml/2006/main">
            <a:pPr marL="0" lvl="0" indent="0" algn="l">
              <a:lnSpc>
                <a:spcPct val="100000"/>
              </a:lnSpc>
              <a:spcBef>
                <a:spcPts val="0"/>
              </a:spcBef>
              <a:spcAft>
                <a:spcPts val="0"/>
              </a:spcAft>
              <a:buSzPts val="1400"/>
              <a:buNone/>
            </a:pPr>
            <a:r>
              <a:t>    validate typed request and reserved metadata</a:t>
            </a:r>
            <a:endParaRPr/>
          </a:p>
          <a:p xmlns:a="http://schemas.openxmlformats.org/drawingml/2006/main">
            <a:pPr marL="0" lvl="0" indent="0" algn="l">
              <a:lnSpc>
                <a:spcPct val="100000"/>
              </a:lnSpc>
              <a:spcBef>
                <a:spcPts val="0"/>
              </a:spcBef>
              <a:spcAft>
                <a:spcPts val="0"/>
              </a:spcAft>
              <a:buSzPts val="1400"/>
              <a:buNone/>
            </a:pPr>
            <a:r>
              <a:t>    select supported task/profile route; reject invalid pairs</a:t>
            </a:r>
            <a:endParaRPr/>
          </a:p>
          <a:p xmlns:a="http://schemas.openxmlformats.org/drawingml/2006/main">
            <a:pPr marL="0" lvl="0" indent="0" algn="l">
              <a:lnSpc>
                <a:spcPct val="100000"/>
              </a:lnSpc>
              <a:spcBef>
                <a:spcPts val="0"/>
              </a:spcBef>
              <a:spcAft>
                <a:spcPts val="0"/>
              </a:spcAft>
              <a:buSzPts val="1400"/>
              <a:buNone/>
            </a:pPr>
            <a:r>
              <a:t>    build trusted execution context and effective budgets</a:t>
            </a:r>
            <a:endParaRPr/>
          </a:p>
          <a:p xmlns:a="http://schemas.openxmlformats.org/drawingml/2006/main">
            <a:pPr marL="0" lvl="0" indent="0" algn="l">
              <a:lnSpc>
                <a:spcPct val="100000"/>
              </a:lnSpc>
              <a:spcBef>
                <a:spcPts val="0"/>
              </a:spcBef>
              <a:spcAft>
                <a:spcPts val="0"/>
              </a:spcAft>
              <a:buSzPts val="1400"/>
              <a:buNone/>
            </a:pPr>
            <a:r>
              <a:t>    load versioned session state</a:t>
            </a:r>
            <a:endParaRPr/>
          </a:p>
          <a:p xmlns:a="http://schemas.openxmlformats.org/drawingml/2006/main">
            <a:pPr marL="0" lvl="0" indent="0" algn="l">
              <a:lnSpc>
                <a:spcPct val="100000"/>
              </a:lnSpc>
              <a:spcBef>
                <a:spcPts val="0"/>
              </a:spcBef>
              <a:spcAft>
                <a:spcPts val="0"/>
              </a:spcAft>
              <a:buSzPts val="1400"/>
              <a:buNone/>
            </a:pPr>
            <a:r>
              <a:t>    for each phase selected by the route:</a:t>
            </a:r>
            <a:endParaRPr/>
          </a:p>
          <a:p xmlns:a="http://schemas.openxmlformats.org/drawingml/2006/main">
            <a:pPr marL="0" lvl="0" indent="0" algn="l">
              <a:lnSpc>
                <a:spcPct val="100000"/>
              </a:lnSpc>
              <a:spcBef>
                <a:spcPts val="0"/>
              </a:spcBef>
              <a:spcAft>
                <a:spcPts val="0"/>
              </a:spcAft>
              <a:buSzPts val="1400"/>
              <a:buNone/>
            </a:pPr>
            <a:r>
              <a:t>        run its controller; record start/result/error</a:t>
            </a:r>
            <a:endParaRPr/>
          </a:p>
          <a:p xmlns:a="http://schemas.openxmlformats.org/drawingml/2006/main">
            <a:pPr marL="0" lvl="0" indent="0" algn="l">
              <a:lnSpc>
                <a:spcPct val="100000"/>
              </a:lnSpc>
              <a:spcBef>
                <a:spcPts val="0"/>
              </a:spcBef>
              <a:spcAft>
                <a:spcPts val="0"/>
              </a:spcAft>
              <a:buSzPts val="1400"/>
              <a:buNone/>
            </a:pPr>
            <a:r>
              <a:t>        if a decision requires correction:</a:t>
            </a:r>
            <a:endParaRPr/>
          </a:p>
          <a:p xmlns:a="http://schemas.openxmlformats.org/drawingml/2006/main">
            <a:pPr marL="0" lvl="0" indent="0" algn="l">
              <a:lnSpc>
                <a:spcPct val="100000"/>
              </a:lnSpc>
              <a:spcBef>
                <a:spcPts val="0"/>
              </a:spcBef>
              <a:spcAft>
                <a:spcPts val="0"/>
              </a:spcAft>
              <a:buSzPts val="1400"/>
              <a:buNone/>
            </a:pPr>
            <a:r>
              <a:t>            validate typed advice and remaining budget</a:t>
            </a:r>
            <a:endParaRPr/>
          </a:p>
          <a:p xmlns:a="http://schemas.openxmlformats.org/drawingml/2006/main">
            <a:pPr marL="0" lvl="0" indent="0" algn="l">
              <a:lnSpc>
                <a:spcPct val="100000"/>
              </a:lnSpc>
              <a:spcBef>
                <a:spcPts val="0"/>
              </a:spcBef>
              <a:spcAft>
                <a:spcPts val="0"/>
              </a:spcAft>
              <a:buSzPts val="1400"/>
              <a:buNone/>
            </a:pPr>
            <a:r>
              <a:t>            apply only the permitted bounded correction</a:t>
            </a:r>
            <a:endParaRPr/>
          </a:p>
          <a:p xmlns:a="http://schemas.openxmlformats.org/drawingml/2006/main">
            <a:pPr marL="0" lvl="0" indent="0" algn="l">
              <a:lnSpc>
                <a:spcPct val="100000"/>
              </a:lnSpc>
              <a:spcBef>
                <a:spcPts val="0"/>
              </a:spcBef>
              <a:spcAft>
                <a:spcPts val="0"/>
              </a:spcAft>
              <a:buSzPts val="1400"/>
              <a:buNone/>
            </a:pPr>
            <a:r>
              <a:t>            record actual before/after state and stop reason</a:t>
            </a:r>
            <a:endParaRPr/>
          </a:p>
          <a:p xmlns:a="http://schemas.openxmlformats.org/drawingml/2006/main">
            <a:pPr marL="0" lvl="0" indent="0" algn="l">
              <a:lnSpc>
                <a:spcPct val="100000"/>
              </a:lnSpc>
              <a:spcBef>
                <a:spcPts val="0"/>
              </a:spcBef>
              <a:spcAft>
                <a:spcPts val="0"/>
              </a:spcAft>
              <a:buSzPts val="1400"/>
              <a:buNone/>
            </a:pPr>
            <a:r>
              <a:t>        if cancellation/failure occurs:</a:t>
            </a:r>
            <a:endParaRPr/>
          </a:p>
          <a:p xmlns:a="http://schemas.openxmlformats.org/drawingml/2006/main">
            <a:pPr marL="0" lvl="0" indent="0" algn="l">
              <a:lnSpc>
                <a:spcPct val="100000"/>
              </a:lnSpc>
              <a:spcBef>
                <a:spcPts val="0"/>
              </a:spcBef>
              <a:spcAft>
                <a:spcPts val="0"/>
              </a:spcAft>
              <a:buSzPts val="1400"/>
              <a:buNone/>
            </a:pPr>
            <a:r>
              <a:t>            return explicit typed outcome with diagnostics</a:t>
            </a:r>
            <a:endParaRPr/>
          </a:p>
          <a:p xmlns:a="http://schemas.openxmlformats.org/drawingml/2006/main">
            <a:pPr marL="0" lvl="0" indent="0" algn="l">
              <a:lnSpc>
                <a:spcPct val="100000"/>
              </a:lnSpc>
              <a:spcBef>
                <a:spcPts val="0"/>
              </a:spcBef>
              <a:spcAft>
                <a:spcPts val="0"/>
              </a:spcAft>
              <a:buSzPts val="1400"/>
              <a:buNone/>
            </a:pPr>
            <a:r>
              <a:t>    shape existing generation/classification/ingestion/action result</a:t>
            </a:r>
            <a:endParaRPr/>
          </a:p>
          <a:p xmlns:a="http://schemas.openxmlformats.org/drawingml/2006/main">
            <a:pPr marL="0" lvl="0" indent="0" algn="l">
              <a:lnSpc>
                <a:spcPct val="100000"/>
              </a:lnSpc>
              <a:spcBef>
                <a:spcPts val="0"/>
              </a:spcBef>
              <a:spcAft>
                <a:spcPts val="0"/>
              </a:spcAft>
              <a:buSzPts val="1400"/>
              <a:buNone/>
            </a:pPr>
            <a:r>
              <a:t>    commit only the effects permitted by that task and policy</a:t>
            </a:r>
            <a:endParaRPr/>
          </a:p>
          <a:p xmlns:a="http://schemas.openxmlformats.org/drawingml/2006/main">
            <a:pPr marL="0" lvl="0" indent="0" algn="l">
              <a:lnSpc>
                <a:spcPct val="100000"/>
              </a:lnSpc>
              <a:spcBef>
                <a:spcPts val="0"/>
              </a:spcBef>
              <a:spcAft>
                <a:spcPts val="0"/>
              </a:spcAft>
              <a:buSzPts val="1400"/>
              <a:buNone/>
            </a:pPr>
            <a:r>
              <a:t>    enqueue admitted maintenance with bounded backpressure</a:t>
            </a:r>
            <a:endParaRPr/>
          </a:p>
          <a:p xmlns:a="http://schemas.openxmlformats.org/drawingml/2006/main">
            <a:pPr marL="0" lvl="0" indent="0" algn="l">
              <a:lnSpc>
                <a:spcPct val="100000"/>
              </a:lnSpc>
              <a:spcBef>
                <a:spcPts val="0"/>
              </a:spcBef>
              <a:spcAft>
                <a:spcPts val="0"/>
              </a:spcAft>
              <a:buSzPts val="1400"/>
              <a:buNone/>
            </a:pPr>
            <a:r>
              <a:t>    return typed response, evidence, state delta, and diagnostics</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5.2 Hybrid retrieval algorithm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Dense, sparse, temporal, and graph strategies return scored candidates. Fusion uses each memory ID once and retains the maximum score for that ID within a strategy. For a nonconstant strategy score range, it applies min-max normalization. Equal-score lists retain their original scores. Missing contributions count as zero. Active strategy weights renormalize using their total weight. E02, [fusion source]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FUSED_SCORE(memory) =</a:t>
            </a:r>
            <a:endParaRPr/>
          </a:p>
          <a:p xmlns:a="http://schemas.openxmlformats.org/drawingml/2006/main">
            <a:pPr marL="0" lvl="0" indent="0" algn="l">
              <a:lnSpc>
                <a:spcPct val="100000"/>
              </a:lnSpc>
              <a:spcBef>
                <a:spcPts val="0"/>
              </a:spcBef>
              <a:spcAft>
                <a:spcPts val="0"/>
              </a:spcAft>
              <a:buSzPts val="1400"/>
              <a:buNone/>
            </a:pPr>
            <a:r>
              <a:t>    sum(weight[strategy]  normalized_score[strategy, memory])</a:t>
            </a:r>
            <a:endParaRPr/>
          </a:p>
          <a:p xmlns:a="http://schemas.openxmlformats.org/drawingml/2006/main">
            <a:pPr marL="0" lvl="0" indent="0" algn="l">
              <a:lnSpc>
                <a:spcPct val="100000"/>
              </a:lnSpc>
              <a:spcBef>
                <a:spcPts val="0"/>
              </a:spcBef>
              <a:spcAft>
                <a:spcPts val="0"/>
              </a:spcAft>
              <a:buSzPts val="1400"/>
              <a:buNone/>
            </a:pPr>
            <a:r>
              <a:t>    / sum(weight[strategy] for selected strategies)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Default full-profile weights:</a:t>
            </a:r>
            <a:endParaRPr/>
          </a:p>
          <a:p xmlns:a="http://schemas.openxmlformats.org/drawingml/2006/main">
            <a:pPr marL="0" lvl="0" indent="0" algn="l">
              <a:lnSpc>
                <a:spcPct val="100000"/>
              </a:lnSpc>
              <a:spcBef>
                <a:spcPts val="0"/>
              </a:spcBef>
              <a:spcAft>
                <a:spcPts val="0"/>
              </a:spcAft>
              <a:buSzPts val="1400"/>
              <a:buNone/>
            </a:pPr>
            <a:r>
              <a:t>    dense 0.40, sparse 0.30, temporal 0.15, graph 0.15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RETRIEVE(query):</a:t>
            </a:r>
            <a:endParaRPr/>
          </a:p>
          <a:p xmlns:a="http://schemas.openxmlformats.org/drawingml/2006/main">
            <a:pPr marL="0" lvl="0" indent="0" algn="l">
              <a:lnSpc>
                <a:spcPct val="100000"/>
              </a:lnSpc>
              <a:spcBef>
                <a:spcPts val="0"/>
              </a:spcBef>
              <a:spcAft>
                <a:spcPts val="0"/>
              </a:spcAft>
              <a:buSzPts val="1400"/>
              <a:buNone/>
            </a:pPr>
            <a:r>
              <a:t>    analyze and rewrite query</a:t>
            </a:r>
            <a:endParaRPr/>
          </a:p>
          <a:p xmlns:a="http://schemas.openxmlformats.org/drawingml/2006/main">
            <a:pPr marL="0" lvl="0" indent="0" algn="l">
              <a:lnSpc>
                <a:spcPct val="100000"/>
              </a:lnSpc>
              <a:spcBef>
                <a:spcPts val="0"/>
              </a:spcBef>
              <a:spcAft>
                <a:spcPts val="0"/>
              </a:spcAft>
              <a:buSzPts val="1400"/>
              <a:buNone/>
            </a:pPr>
            <a:r>
              <a:t>    run strategies supported by route/capabilities</a:t>
            </a:r>
            <a:endParaRPr/>
          </a:p>
          <a:p xmlns:a="http://schemas.openxmlformats.org/drawingml/2006/main">
            <a:pPr marL="0" lvl="0" indent="0" algn="l">
              <a:lnSpc>
                <a:spcPct val="100000"/>
              </a:lnSpc>
              <a:spcBef>
                <a:spcPts val="0"/>
              </a:spcBef>
              <a:spcAft>
                <a:spcPts val="0"/>
              </a:spcAft>
              <a:buSzPts val="1400"/>
              <a:buNone/>
            </a:pPr>
            <a:r>
              <a:t>    merge and weight candidates by memory ID</a:t>
            </a:r>
            <a:endParaRPr/>
          </a:p>
          <a:p xmlns:a="http://schemas.openxmlformats.org/drawingml/2006/main">
            <a:pPr marL="0" lvl="0" indent="0" algn="l">
              <a:lnSpc>
                <a:spcPct val="100000"/>
              </a:lnSpc>
              <a:spcBef>
                <a:spcPts val="0"/>
              </a:spcBef>
              <a:spcAft>
                <a:spcPts val="0"/>
              </a:spcAft>
              <a:buSzPts val="1400"/>
              <a:buNone/>
            </a:pPr>
            <a:r>
              <a:t>    select top candidates and apply configured reranker</a:t>
            </a:r>
            <a:endParaRPr/>
          </a:p>
          <a:p xmlns:a="http://schemas.openxmlformats.org/drawingml/2006/main">
            <a:pPr marL="0" lvl="0" indent="0" algn="l">
              <a:lnSpc>
                <a:spcPct val="100000"/>
              </a:lnSpc>
              <a:spcBef>
                <a:spcPts val="0"/>
              </a:spcBef>
              <a:spcAft>
                <a:spcPts val="0"/>
              </a:spcAft>
              <a:buSzPts val="1400"/>
              <a:buNone/>
            </a:pPr>
            <a:r>
              <a:t>    integrate evidence and preserve source mapping</a:t>
            </a:r>
            <a:endParaRPr/>
          </a:p>
          <a:p xmlns:a="http://schemas.openxmlformats.org/drawingml/2006/main">
            <a:pPr marL="0" lvl="0" indent="0" algn="l">
              <a:lnSpc>
                <a:spcPct val="100000"/>
              </a:lnSpc>
              <a:spcBef>
                <a:spcPts val="0"/>
              </a:spcBef>
              <a:spcAft>
                <a:spcPts val="0"/>
              </a:spcAft>
              <a:buSzPts val="1400"/>
              <a:buNone/>
            </a:pPr>
            <a:r>
              <a:t>    check sufficiency; follow up only within budgets</a:t>
            </a:r>
            <a:endParaRPr/>
          </a:p>
          <a:p xmlns:a="http://schemas.openxmlformats.org/drawingml/2006/main">
            <a:pPr marL="0" lvl="0" indent="0" algn="l">
              <a:lnSpc>
                <a:spcPct val="100000"/>
              </a:lnSpc>
              <a:spcBef>
                <a:spcPts val="0"/>
              </a:spcBef>
              <a:spcAft>
                <a:spcPts val="0"/>
              </a:spcAft>
              <a:buSzPts val="1400"/>
              <a:buNone/>
            </a:pPr>
            <a:r>
              <a:t>    compress context and record dropped evidence</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algorithm is weighted score fusion, not automatically reciprocal rank fusion. Default values in retrieval YAML must be distinguished from request/campaign overrides.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5.3 Memory importance and admission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default normalized importance function is: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I = 0.35  novelty</a:t>
            </a:r>
            <a:endParaRPr/>
          </a:p>
          <a:p xmlns:a="http://schemas.openxmlformats.org/drawingml/2006/main">
            <a:pPr marL="0" lvl="0" indent="0" algn="l">
              <a:lnSpc>
                <a:spcPct val="100000"/>
              </a:lnSpc>
              <a:spcBef>
                <a:spcPts val="0"/>
              </a:spcBef>
              <a:spcAft>
                <a:spcPts val="0"/>
              </a:spcAft>
              <a:buSzPts val="1400"/>
              <a:buNone/>
            </a:pPr>
            <a:r>
              <a:t>  + 0.25  emotional_salience</a:t>
            </a:r>
            <a:endParaRPr/>
          </a:p>
          <a:p xmlns:a="http://schemas.openxmlformats.org/drawingml/2006/main">
            <a:pPr marL="0" lvl="0" indent="0" algn="l">
              <a:lnSpc>
                <a:spcPct val="100000"/>
              </a:lnSpc>
              <a:spcBef>
                <a:spcPts val="0"/>
              </a:spcBef>
              <a:spcAft>
                <a:spcPts val="0"/>
              </a:spcAft>
              <a:buSzPts val="1400"/>
              <a:buNone/>
            </a:pPr>
            <a:r>
              <a:t>  + 0.15  user_relevance</a:t>
            </a:r>
            <a:endParaRPr/>
          </a:p>
          <a:p xmlns:a="http://schemas.openxmlformats.org/drawingml/2006/main">
            <a:pPr marL="0" lvl="0" indent="0" algn="l">
              <a:lnSpc>
                <a:spcPct val="100000"/>
              </a:lnSpc>
              <a:spcBef>
                <a:spcPts val="0"/>
              </a:spcBef>
              <a:spcAft>
                <a:spcPts val="0"/>
              </a:spcAft>
              <a:buSzPts val="1400"/>
              <a:buNone/>
            </a:pPr>
            <a:r>
              <a:t>  + 0.15  recurrence</a:t>
            </a:r>
            <a:endParaRPr/>
          </a:p>
          <a:p xmlns:a="http://schemas.openxmlformats.org/drawingml/2006/main">
            <a:pPr marL="0" lvl="0" indent="0" algn="l">
              <a:lnSpc>
                <a:spcPct val="100000"/>
              </a:lnSpc>
              <a:spcBef>
                <a:spcPts val="0"/>
              </a:spcBef>
              <a:spcAft>
                <a:spcPts val="0"/>
              </a:spcAft>
              <a:buSzPts val="1400"/>
              <a:buNone/>
            </a:pPr>
            <a:r>
              <a:t>  + 0.10  reflection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admit when I &gt;= 0.55</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Novelty queries episodic candidates, then uses 1 - maximum token Jaccard overlap. User relevance uses explicit lexical/personal-interest cues. The scoring components are bounded to [0,1]. This is an interpretable heuristic, not a learned proof of long-term usefulness. Admission is distinct from explicit document ingestion, state persistence, and maintenance completion. Memory importance, types/defaults, configuration.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5.4 Affect evolution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update_momentum decays prior scores with default factor 0.82, drops very small values, and adds current dominant-emotion confidence. PAD represents pleasure, arousal, and dominance. Volatility averages recent PAD distances, bounded to 1. Stability combines low volatility and current confidence. Dissonance examines recent history, valence flips, and low confidence. Evolution source, PAD.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Explain this as engineered temporal text-affect tracking. It does not measure a person's true internal emotional state.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5.5 Sufficiency, confidence, and stopping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current sufficiency verifier intersects question/evidence terms and accepts coverage of at least 0.60, unless its narrow contradiction check fires. No evidence produces an unanswerable decision. More evidence can be requested under a bounded budget. This can fail on paraphrases or lexical distractors, so the score should not be described as semantic proof. Verifier.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confidence aggregator calibrates available signals, forms weighted means, adds disagreement to uncertainty, and reduces confidence with disagreement. Default source weights include retrieval 1.25, planning 1.15, affect 0.70, state 0.85, reflection/policy 1.0. These are source-specific weights inside a broader effective-weight mechanism, not standalone accuracies. Aggregator.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Public request defaults are top-k 5, maximum hops 3, retrieval calls 3, and context tokens 1600. Reasoning additionally has configured document/model/time/no-progress limits. Campaigns may override defaults. Read recorded effective budgets when explaining a result. E02, [reasoning configuration]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5.6 Controlled tools and corrections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TOOL(invocation, policy):</a:t>
            </a:r>
            <a:endParaRPr/>
          </a:p>
          <a:p xmlns:a="http://schemas.openxmlformats.org/drawingml/2006/main">
            <a:pPr marL="0" lvl="0" indent="0" algn="l">
              <a:lnSpc>
                <a:spcPct val="100000"/>
              </a:lnSpc>
              <a:spcBef>
                <a:spcPts val="0"/>
              </a:spcBef>
              <a:spcAft>
                <a:spcPts val="0"/>
              </a:spcAft>
              <a:buSzPts val="1400"/>
              <a:buNone/>
            </a:pPr>
            <a:r>
              <a:t>    reject external actions unless explicitly enabled</a:t>
            </a:r>
            <a:endParaRPr/>
          </a:p>
          <a:p xmlns:a="http://schemas.openxmlformats.org/drawingml/2006/main">
            <a:pPr marL="0" lvl="0" indent="0" algn="l">
              <a:lnSpc>
                <a:spcPct val="100000"/>
              </a:lnSpc>
              <a:spcBef>
                <a:spcPts val="0"/>
              </a:spcBef>
              <a:spcAft>
                <a:spcPts val="0"/>
              </a:spcAft>
              <a:buSzPts val="1400"/>
              <a:buNone/>
            </a:pPr>
            <a:r>
              <a:t>    check name, allowlist/blocklist, invocation limit and tags</a:t>
            </a:r>
            <a:endParaRPr/>
          </a:p>
          <a:p xmlns:a="http://schemas.openxmlformats.org/drawingml/2006/main">
            <a:pPr marL="0" lvl="0" indent="0" algn="l">
              <a:lnSpc>
                <a:spcPct val="100000"/>
              </a:lnSpc>
              <a:spcBef>
                <a:spcPts val="0"/>
              </a:spcBef>
              <a:spcAft>
                <a:spcPts val="0"/>
              </a:spcAft>
              <a:buSzPts val="1400"/>
              <a:buNone/>
            </a:pPr>
            <a:r>
              <a:t>    resolve registered tool</a:t>
            </a:r>
            <a:endParaRPr/>
          </a:p>
          <a:p xmlns:a="http://schemas.openxmlformats.org/drawingml/2006/main">
            <a:pPr marL="0" lvl="0" indent="0" algn="l">
              <a:lnSpc>
                <a:spcPct val="100000"/>
              </a:lnSpc>
              <a:spcBef>
                <a:spcPts val="0"/>
              </a:spcBef>
              <a:spcAft>
                <a:spcPts val="0"/>
              </a:spcAft>
              <a:buSzPts val="1400"/>
              <a:buNone/>
            </a:pPr>
            <a:r>
              <a:t>    validate arguments against tool schema</a:t>
            </a:r>
            <a:endParaRPr/>
          </a:p>
          <a:p xmlns:a="http://schemas.openxmlformats.org/drawingml/2006/main">
            <a:pPr marL="0" lvl="0" indent="0" algn="l">
              <a:lnSpc>
                <a:spcPct val="100000"/>
              </a:lnSpc>
              <a:spcBef>
                <a:spcPts val="0"/>
              </a:spcBef>
              <a:spcAft>
                <a:spcPts val="0"/>
              </a:spcAft>
              <a:buSzPts val="1400"/>
              <a:buNone/>
            </a:pPr>
            <a:r>
              <a:t>    execute handler; bound awaitable work with configured timeout</a:t>
            </a:r>
            <a:endParaRPr/>
          </a:p>
          <a:p xmlns:a="http://schemas.openxmlformats.org/drawingml/2006/main">
            <a:pPr marL="0" lvl="0" indent="0" algn="l">
              <a:lnSpc>
                <a:spcPct val="100000"/>
              </a:lnSpc>
              <a:spcBef>
                <a:spcPts val="0"/>
              </a:spcBef>
              <a:spcAft>
                <a:spcPts val="0"/>
              </a:spcAft>
              <a:buSzPts val="1400"/>
              <a:buNone/>
            </a:pPr>
            <a:r>
              <a:t>    require typed tool result; return audit and explicit errors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CORRECT(advice):</a:t>
            </a:r>
            <a:endParaRPr/>
          </a:p>
          <a:p xmlns:a="http://schemas.openxmlformats.org/drawingml/2006/main">
            <a:pPr marL="0" lvl="0" indent="0" algn="l">
              <a:lnSpc>
                <a:spcPct val="100000"/>
              </a:lnSpc>
              <a:spcBef>
                <a:spcPts val="0"/>
              </a:spcBef>
              <a:spcAft>
                <a:spcPts val="0"/>
              </a:spcAft>
              <a:buSzPts val="1400"/>
              <a:buNone/>
            </a:pPr>
            <a:r>
              <a:t>    check supported proposal and confidence/trigger conditions</a:t>
            </a:r>
            <a:endParaRPr/>
          </a:p>
          <a:p xmlns:a="http://schemas.openxmlformats.org/drawingml/2006/main">
            <a:pPr marL="0" lvl="0" indent="0" algn="l">
              <a:lnSpc>
                <a:spcPct val="100000"/>
              </a:lnSpc>
              <a:spcBef>
                <a:spcPts val="0"/>
              </a:spcBef>
              <a:spcAft>
                <a:spcPts val="0"/>
              </a:spcAft>
              <a:buSzPts val="1400"/>
              <a:buNone/>
            </a:pPr>
            <a:r>
              <a:t>    reject advice when its budget is exhausted</a:t>
            </a:r>
            <a:endParaRPr/>
          </a:p>
          <a:p xmlns:a="http://schemas.openxmlformats.org/drawingml/2006/main">
            <a:pPr marL="0" lvl="0" indent="0" algn="l">
              <a:lnSpc>
                <a:spcPct val="100000"/>
              </a:lnSpc>
              <a:spcBef>
                <a:spcPts val="0"/>
              </a:spcBef>
              <a:spcAft>
                <a:spcPts val="0"/>
              </a:spcAft>
              <a:buSzPts val="1400"/>
              <a:buNone/>
            </a:pPr>
            <a:r>
              <a:t>    route to permitted retrieval/replanning/retry/regeneration</a:t>
            </a:r>
            <a:endParaRPr/>
          </a:p>
          <a:p xmlns:a="http://schemas.openxmlformats.org/drawingml/2006/main">
            <a:pPr marL="0" lvl="0" indent="0" algn="l">
              <a:lnSpc>
                <a:spcPct val="100000"/>
              </a:lnSpc>
              <a:spcBef>
                <a:spcPts val="0"/>
              </a:spcBef>
              <a:spcAft>
                <a:spcPts val="0"/>
              </a:spcAft>
              <a:buSzPts val="1400"/>
              <a:buNone/>
            </a:pPr>
            <a:r>
              <a:t>    preserve before/after snapshots and outcome</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Tool defaults allow no external tools, limit invocations to 3, and set awaitable timeout to 5 seconds. A synchronous handler can block before that awaitable timeout applies. Reflection generates advice; workflow owns its application. Gold-aware legacy evaluators cannot supply production advice. Execution policy, tool executor, correction loop.</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C:/PRIMA_next/config/retrieval.yaml</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C:/PRIMA_next/memory/maintenance/importance_types.py</a:t>
            </a:r>
            <a:endParaRPr/>
          </a:p>
          <a:p xmlns:a="http://schemas.openxmlformats.org/drawingml/2006/main">
            <a:pPr marL="0" lvl="0" indent="0" algn="l">
              <a:lnSpc>
                <a:spcPct val="100000"/>
              </a:lnSpc>
              <a:spcBef>
                <a:spcPts val="0"/>
              </a:spcBef>
              <a:spcAft>
                <a:spcPts val="0"/>
              </a:spcAft>
              <a:buSzPts val="1400"/>
              <a:buNone/>
            </a:pPr>
            <a:r>
              <a:t>C:/PRIMA_next/config/memory_importance.yaml</a:t>
            </a:r>
            <a:endParaRPr/>
          </a:p>
          <a:p xmlns:a="http://schemas.openxmlformats.org/drawingml/2006/main">
            <a:pPr marL="0" lvl="0" indent="0" algn="l">
              <a:lnSpc>
                <a:spcPct val="100000"/>
              </a:lnSpc>
              <a:spcBef>
                <a:spcPts val="0"/>
              </a:spcBef>
              <a:spcAft>
                <a:spcPts val="0"/>
              </a:spcAft>
              <a:buSzPts val="1400"/>
              <a:buNone/>
            </a:pPr>
            <a:r>
              <a:t>C:/PRIMA_next/affect/affect_evolution.py</a:t>
            </a:r>
            <a:endParaRPr/>
          </a:p>
          <a:p xmlns:a="http://schemas.openxmlformats.org/drawingml/2006/main">
            <a:pPr marL="0" lvl="0" indent="0" algn="l">
              <a:lnSpc>
                <a:spcPct val="100000"/>
              </a:lnSpc>
              <a:spcBef>
                <a:spcPts val="0"/>
              </a:spcBef>
              <a:spcAft>
                <a:spcPts val="0"/>
              </a:spcAft>
              <a:buSzPts val="1400"/>
              <a:buNone/>
            </a:pPr>
            <a:r>
              <a:t>C:/PRIMA_next/affect/pad_model.py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C:/PRIMA_next/reasoning/config.py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Affect evolution algorithm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 Slide 5: algorithms and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5.1 Canonical workflow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explanatory pseudocode aligned with E02/E03, not a replacement executable API or a guarantee that all phases run.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EXECUTE(request):</a:t>
            </a:r>
            <a:endParaRPr/>
          </a:p>
          <a:p xmlns:a="http://schemas.openxmlformats.org/drawingml/2006/main">
            <a:pPr marL="0" lvl="0" indent="0" algn="l">
              <a:lnSpc>
                <a:spcPct val="100000"/>
              </a:lnSpc>
              <a:spcBef>
                <a:spcPts val="0"/>
              </a:spcBef>
              <a:spcAft>
                <a:spcPts val="0"/>
              </a:spcAft>
              <a:buSzPts val="1400"/>
              <a:buNone/>
            </a:pPr>
            <a:r>
              <a:t>    validate typed request and reserved metadata</a:t>
            </a:r>
            <a:endParaRPr/>
          </a:p>
          <a:p xmlns:a="http://schemas.openxmlformats.org/drawingml/2006/main">
            <a:pPr marL="0" lvl="0" indent="0" algn="l">
              <a:lnSpc>
                <a:spcPct val="100000"/>
              </a:lnSpc>
              <a:spcBef>
                <a:spcPts val="0"/>
              </a:spcBef>
              <a:spcAft>
                <a:spcPts val="0"/>
              </a:spcAft>
              <a:buSzPts val="1400"/>
              <a:buNone/>
            </a:pPr>
            <a:r>
              <a:t>    select supported task/profile route; reject invalid pairs</a:t>
            </a:r>
            <a:endParaRPr/>
          </a:p>
          <a:p xmlns:a="http://schemas.openxmlformats.org/drawingml/2006/main">
            <a:pPr marL="0" lvl="0" indent="0" algn="l">
              <a:lnSpc>
                <a:spcPct val="100000"/>
              </a:lnSpc>
              <a:spcBef>
                <a:spcPts val="0"/>
              </a:spcBef>
              <a:spcAft>
                <a:spcPts val="0"/>
              </a:spcAft>
              <a:buSzPts val="1400"/>
              <a:buNone/>
            </a:pPr>
            <a:r>
              <a:t>    build trusted execution context and effective budgets</a:t>
            </a:r>
            <a:endParaRPr/>
          </a:p>
          <a:p xmlns:a="http://schemas.openxmlformats.org/drawingml/2006/main">
            <a:pPr marL="0" lvl="0" indent="0" algn="l">
              <a:lnSpc>
                <a:spcPct val="100000"/>
              </a:lnSpc>
              <a:spcBef>
                <a:spcPts val="0"/>
              </a:spcBef>
              <a:spcAft>
                <a:spcPts val="0"/>
              </a:spcAft>
              <a:buSzPts val="1400"/>
              <a:buNone/>
            </a:pPr>
            <a:r>
              <a:t>    load versioned session state</a:t>
            </a:r>
            <a:endParaRPr/>
          </a:p>
          <a:p xmlns:a="http://schemas.openxmlformats.org/drawingml/2006/main">
            <a:pPr marL="0" lvl="0" indent="0" algn="l">
              <a:lnSpc>
                <a:spcPct val="100000"/>
              </a:lnSpc>
              <a:spcBef>
                <a:spcPts val="0"/>
              </a:spcBef>
              <a:spcAft>
                <a:spcPts val="0"/>
              </a:spcAft>
              <a:buSzPts val="1400"/>
              <a:buNone/>
            </a:pPr>
            <a:r>
              <a:t>    for each phase selected by the route:</a:t>
            </a:r>
            <a:endParaRPr/>
          </a:p>
          <a:p xmlns:a="http://schemas.openxmlformats.org/drawingml/2006/main">
            <a:pPr marL="0" lvl="0" indent="0" algn="l">
              <a:lnSpc>
                <a:spcPct val="100000"/>
              </a:lnSpc>
              <a:spcBef>
                <a:spcPts val="0"/>
              </a:spcBef>
              <a:spcAft>
                <a:spcPts val="0"/>
              </a:spcAft>
              <a:buSzPts val="1400"/>
              <a:buNone/>
            </a:pPr>
            <a:r>
              <a:t>        run its controller; record start/result/error</a:t>
            </a:r>
            <a:endParaRPr/>
          </a:p>
          <a:p xmlns:a="http://schemas.openxmlformats.org/drawingml/2006/main">
            <a:pPr marL="0" lvl="0" indent="0" algn="l">
              <a:lnSpc>
                <a:spcPct val="100000"/>
              </a:lnSpc>
              <a:spcBef>
                <a:spcPts val="0"/>
              </a:spcBef>
              <a:spcAft>
                <a:spcPts val="0"/>
              </a:spcAft>
              <a:buSzPts val="1400"/>
              <a:buNone/>
            </a:pPr>
            <a:r>
              <a:t>        if a decision requires correction:</a:t>
            </a:r>
            <a:endParaRPr/>
          </a:p>
          <a:p xmlns:a="http://schemas.openxmlformats.org/drawingml/2006/main">
            <a:pPr marL="0" lvl="0" indent="0" algn="l">
              <a:lnSpc>
                <a:spcPct val="100000"/>
              </a:lnSpc>
              <a:spcBef>
                <a:spcPts val="0"/>
              </a:spcBef>
              <a:spcAft>
                <a:spcPts val="0"/>
              </a:spcAft>
              <a:buSzPts val="1400"/>
              <a:buNone/>
            </a:pPr>
            <a:r>
              <a:t>            validate typed advice and remaining budget</a:t>
            </a:r>
            <a:endParaRPr/>
          </a:p>
          <a:p xmlns:a="http://schemas.openxmlformats.org/drawingml/2006/main">
            <a:pPr marL="0" lvl="0" indent="0" algn="l">
              <a:lnSpc>
                <a:spcPct val="100000"/>
              </a:lnSpc>
              <a:spcBef>
                <a:spcPts val="0"/>
              </a:spcBef>
              <a:spcAft>
                <a:spcPts val="0"/>
              </a:spcAft>
              <a:buSzPts val="1400"/>
              <a:buNone/>
            </a:pPr>
            <a:r>
              <a:t>            apply only the permitted bounded correction</a:t>
            </a:r>
            <a:endParaRPr/>
          </a:p>
          <a:p xmlns:a="http://schemas.openxmlformats.org/drawingml/2006/main">
            <a:pPr marL="0" lvl="0" indent="0" algn="l">
              <a:lnSpc>
                <a:spcPct val="100000"/>
              </a:lnSpc>
              <a:spcBef>
                <a:spcPts val="0"/>
              </a:spcBef>
              <a:spcAft>
                <a:spcPts val="0"/>
              </a:spcAft>
              <a:buSzPts val="1400"/>
              <a:buNone/>
            </a:pPr>
            <a:r>
              <a:t>            record actual before/after state and stop reason</a:t>
            </a:r>
            <a:endParaRPr/>
          </a:p>
          <a:p xmlns:a="http://schemas.openxmlformats.org/drawingml/2006/main">
            <a:pPr marL="0" lvl="0" indent="0" algn="l">
              <a:lnSpc>
                <a:spcPct val="100000"/>
              </a:lnSpc>
              <a:spcBef>
                <a:spcPts val="0"/>
              </a:spcBef>
              <a:spcAft>
                <a:spcPts val="0"/>
              </a:spcAft>
              <a:buSzPts val="1400"/>
              <a:buNone/>
            </a:pPr>
            <a:r>
              <a:t>        if cancellation/failure occurs:</a:t>
            </a:r>
            <a:endParaRPr/>
          </a:p>
          <a:p xmlns:a="http://schemas.openxmlformats.org/drawingml/2006/main">
            <a:pPr marL="0" lvl="0" indent="0" algn="l">
              <a:lnSpc>
                <a:spcPct val="100000"/>
              </a:lnSpc>
              <a:spcBef>
                <a:spcPts val="0"/>
              </a:spcBef>
              <a:spcAft>
                <a:spcPts val="0"/>
              </a:spcAft>
              <a:buSzPts val="1400"/>
              <a:buNone/>
            </a:pPr>
            <a:r>
              <a:t>            return explicit typed outcome with diagnostics</a:t>
            </a:r>
            <a:endParaRPr/>
          </a:p>
          <a:p xmlns:a="http://schemas.openxmlformats.org/drawingml/2006/main">
            <a:pPr marL="0" lvl="0" indent="0" algn="l">
              <a:lnSpc>
                <a:spcPct val="100000"/>
              </a:lnSpc>
              <a:spcBef>
                <a:spcPts val="0"/>
              </a:spcBef>
              <a:spcAft>
                <a:spcPts val="0"/>
              </a:spcAft>
              <a:buSzPts val="1400"/>
              <a:buNone/>
            </a:pPr>
            <a:r>
              <a:t>    shape existing generation/classification/ingestion/action result</a:t>
            </a:r>
            <a:endParaRPr/>
          </a:p>
          <a:p xmlns:a="http://schemas.openxmlformats.org/drawingml/2006/main">
            <a:pPr marL="0" lvl="0" indent="0" algn="l">
              <a:lnSpc>
                <a:spcPct val="100000"/>
              </a:lnSpc>
              <a:spcBef>
                <a:spcPts val="0"/>
              </a:spcBef>
              <a:spcAft>
                <a:spcPts val="0"/>
              </a:spcAft>
              <a:buSzPts val="1400"/>
              <a:buNone/>
            </a:pPr>
            <a:r>
              <a:t>    commit only the effects permitted by that task and policy</a:t>
            </a:r>
            <a:endParaRPr/>
          </a:p>
          <a:p xmlns:a="http://schemas.openxmlformats.org/drawingml/2006/main">
            <a:pPr marL="0" lvl="0" indent="0" algn="l">
              <a:lnSpc>
                <a:spcPct val="100000"/>
              </a:lnSpc>
              <a:spcBef>
                <a:spcPts val="0"/>
              </a:spcBef>
              <a:spcAft>
                <a:spcPts val="0"/>
              </a:spcAft>
              <a:buSzPts val="1400"/>
              <a:buNone/>
            </a:pPr>
            <a:r>
              <a:t>    enqueue admitted maintenance with bounded backpressure</a:t>
            </a:r>
            <a:endParaRPr/>
          </a:p>
          <a:p xmlns:a="http://schemas.openxmlformats.org/drawingml/2006/main">
            <a:pPr marL="0" lvl="0" indent="0" algn="l">
              <a:lnSpc>
                <a:spcPct val="100000"/>
              </a:lnSpc>
              <a:spcBef>
                <a:spcPts val="0"/>
              </a:spcBef>
              <a:spcAft>
                <a:spcPts val="0"/>
              </a:spcAft>
              <a:buSzPts val="1400"/>
              <a:buNone/>
            </a:pPr>
            <a:r>
              <a:t>    return typed response, evidence, state delta, and diagnostics</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5.2 Hybrid retrieval algorithm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Dense, sparse, temporal, and graph strategies return scored candidates. Fusion uses each memory ID once and retains the maximum score for that ID within a strategy. For a nonconstant strategy score range, it applies min-max normalization. Equal-score lists retain their original scores. Missing contributions count as zero. Active strategy weights renormalize using their total weight. E02, [fusion source]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FUSED_SCORE(memory) =</a:t>
            </a:r>
            <a:endParaRPr/>
          </a:p>
          <a:p xmlns:a="http://schemas.openxmlformats.org/drawingml/2006/main">
            <a:pPr marL="0" lvl="0" indent="0" algn="l">
              <a:lnSpc>
                <a:spcPct val="100000"/>
              </a:lnSpc>
              <a:spcBef>
                <a:spcPts val="0"/>
              </a:spcBef>
              <a:spcAft>
                <a:spcPts val="0"/>
              </a:spcAft>
              <a:buSzPts val="1400"/>
              <a:buNone/>
            </a:pPr>
            <a:r>
              <a:t>    sum(weight[strategy]  normalized_score[strategy, memory])</a:t>
            </a:r>
            <a:endParaRPr/>
          </a:p>
          <a:p xmlns:a="http://schemas.openxmlformats.org/drawingml/2006/main">
            <a:pPr marL="0" lvl="0" indent="0" algn="l">
              <a:lnSpc>
                <a:spcPct val="100000"/>
              </a:lnSpc>
              <a:spcBef>
                <a:spcPts val="0"/>
              </a:spcBef>
              <a:spcAft>
                <a:spcPts val="0"/>
              </a:spcAft>
              <a:buSzPts val="1400"/>
              <a:buNone/>
            </a:pPr>
            <a:r>
              <a:t>    / sum(weight[strategy] for selected strategies)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Default full-profile weights:</a:t>
            </a:r>
            <a:endParaRPr/>
          </a:p>
          <a:p xmlns:a="http://schemas.openxmlformats.org/drawingml/2006/main">
            <a:pPr marL="0" lvl="0" indent="0" algn="l">
              <a:lnSpc>
                <a:spcPct val="100000"/>
              </a:lnSpc>
              <a:spcBef>
                <a:spcPts val="0"/>
              </a:spcBef>
              <a:spcAft>
                <a:spcPts val="0"/>
              </a:spcAft>
              <a:buSzPts val="1400"/>
              <a:buNone/>
            </a:pPr>
            <a:r>
              <a:t>    dense 0.40, sparse 0.30, temporal 0.15, graph 0.15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RETRIEVE(query):</a:t>
            </a:r>
            <a:endParaRPr/>
          </a:p>
          <a:p xmlns:a="http://schemas.openxmlformats.org/drawingml/2006/main">
            <a:pPr marL="0" lvl="0" indent="0" algn="l">
              <a:lnSpc>
                <a:spcPct val="100000"/>
              </a:lnSpc>
              <a:spcBef>
                <a:spcPts val="0"/>
              </a:spcBef>
              <a:spcAft>
                <a:spcPts val="0"/>
              </a:spcAft>
              <a:buSzPts val="1400"/>
              <a:buNone/>
            </a:pPr>
            <a:r>
              <a:t>    analyze and rewrite query</a:t>
            </a:r>
            <a:endParaRPr/>
          </a:p>
          <a:p xmlns:a="http://schemas.openxmlformats.org/drawingml/2006/main">
            <a:pPr marL="0" lvl="0" indent="0" algn="l">
              <a:lnSpc>
                <a:spcPct val="100000"/>
              </a:lnSpc>
              <a:spcBef>
                <a:spcPts val="0"/>
              </a:spcBef>
              <a:spcAft>
                <a:spcPts val="0"/>
              </a:spcAft>
              <a:buSzPts val="1400"/>
              <a:buNone/>
            </a:pPr>
            <a:r>
              <a:t>    run strategies supported by route/capabilities</a:t>
            </a:r>
            <a:endParaRPr/>
          </a:p>
          <a:p xmlns:a="http://schemas.openxmlformats.org/drawingml/2006/main">
            <a:pPr marL="0" lvl="0" indent="0" algn="l">
              <a:lnSpc>
                <a:spcPct val="100000"/>
              </a:lnSpc>
              <a:spcBef>
                <a:spcPts val="0"/>
              </a:spcBef>
              <a:spcAft>
                <a:spcPts val="0"/>
              </a:spcAft>
              <a:buSzPts val="1400"/>
              <a:buNone/>
            </a:pPr>
            <a:r>
              <a:t>    merge and weight candidates by memory ID</a:t>
            </a:r>
            <a:endParaRPr/>
          </a:p>
          <a:p xmlns:a="http://schemas.openxmlformats.org/drawingml/2006/main">
            <a:pPr marL="0" lvl="0" indent="0" algn="l">
              <a:lnSpc>
                <a:spcPct val="100000"/>
              </a:lnSpc>
              <a:spcBef>
                <a:spcPts val="0"/>
              </a:spcBef>
              <a:spcAft>
                <a:spcPts val="0"/>
              </a:spcAft>
              <a:buSzPts val="1400"/>
              <a:buNone/>
            </a:pPr>
            <a:r>
              <a:t>    select top candidates and apply configured reranker</a:t>
            </a:r>
            <a:endParaRPr/>
          </a:p>
          <a:p xmlns:a="http://schemas.openxmlformats.org/drawingml/2006/main">
            <a:pPr marL="0" lvl="0" indent="0" algn="l">
              <a:lnSpc>
                <a:spcPct val="100000"/>
              </a:lnSpc>
              <a:spcBef>
                <a:spcPts val="0"/>
              </a:spcBef>
              <a:spcAft>
                <a:spcPts val="0"/>
              </a:spcAft>
              <a:buSzPts val="1400"/>
              <a:buNone/>
            </a:pPr>
            <a:r>
              <a:t>    integrate evidence and preserve source mapping</a:t>
            </a:r>
            <a:endParaRPr/>
          </a:p>
          <a:p xmlns:a="http://schemas.openxmlformats.org/drawingml/2006/main">
            <a:pPr marL="0" lvl="0" indent="0" algn="l">
              <a:lnSpc>
                <a:spcPct val="100000"/>
              </a:lnSpc>
              <a:spcBef>
                <a:spcPts val="0"/>
              </a:spcBef>
              <a:spcAft>
                <a:spcPts val="0"/>
              </a:spcAft>
              <a:buSzPts val="1400"/>
              <a:buNone/>
            </a:pPr>
            <a:r>
              <a:t>    check sufficiency; follow up only within budgets</a:t>
            </a:r>
            <a:endParaRPr/>
          </a:p>
          <a:p xmlns:a="http://schemas.openxmlformats.org/drawingml/2006/main">
            <a:pPr marL="0" lvl="0" indent="0" algn="l">
              <a:lnSpc>
                <a:spcPct val="100000"/>
              </a:lnSpc>
              <a:spcBef>
                <a:spcPts val="0"/>
              </a:spcBef>
              <a:spcAft>
                <a:spcPts val="0"/>
              </a:spcAft>
              <a:buSzPts val="1400"/>
              <a:buNone/>
            </a:pPr>
            <a:r>
              <a:t>    compress context and record dropped evidence</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algorithm is weighted score fusion, not automatically reciprocal rank fusion. Default values in retrieval YAML must be distinguished from request/campaign overrides.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5.3 Memory importance and admission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default normalized importance function is: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I = 0.35  novelty</a:t>
            </a:r>
            <a:endParaRPr/>
          </a:p>
          <a:p xmlns:a="http://schemas.openxmlformats.org/drawingml/2006/main">
            <a:pPr marL="0" lvl="0" indent="0" algn="l">
              <a:lnSpc>
                <a:spcPct val="100000"/>
              </a:lnSpc>
              <a:spcBef>
                <a:spcPts val="0"/>
              </a:spcBef>
              <a:spcAft>
                <a:spcPts val="0"/>
              </a:spcAft>
              <a:buSzPts val="1400"/>
              <a:buNone/>
            </a:pPr>
            <a:r>
              <a:t>  + 0.25  emotional_salience</a:t>
            </a:r>
            <a:endParaRPr/>
          </a:p>
          <a:p xmlns:a="http://schemas.openxmlformats.org/drawingml/2006/main">
            <a:pPr marL="0" lvl="0" indent="0" algn="l">
              <a:lnSpc>
                <a:spcPct val="100000"/>
              </a:lnSpc>
              <a:spcBef>
                <a:spcPts val="0"/>
              </a:spcBef>
              <a:spcAft>
                <a:spcPts val="0"/>
              </a:spcAft>
              <a:buSzPts val="1400"/>
              <a:buNone/>
            </a:pPr>
            <a:r>
              <a:t>  + 0.15  user_relevance</a:t>
            </a:r>
            <a:endParaRPr/>
          </a:p>
          <a:p xmlns:a="http://schemas.openxmlformats.org/drawingml/2006/main">
            <a:pPr marL="0" lvl="0" indent="0" algn="l">
              <a:lnSpc>
                <a:spcPct val="100000"/>
              </a:lnSpc>
              <a:spcBef>
                <a:spcPts val="0"/>
              </a:spcBef>
              <a:spcAft>
                <a:spcPts val="0"/>
              </a:spcAft>
              <a:buSzPts val="1400"/>
              <a:buNone/>
            </a:pPr>
            <a:r>
              <a:t>  + 0.15  recurrence</a:t>
            </a:r>
            <a:endParaRPr/>
          </a:p>
          <a:p xmlns:a="http://schemas.openxmlformats.org/drawingml/2006/main">
            <a:pPr marL="0" lvl="0" indent="0" algn="l">
              <a:lnSpc>
                <a:spcPct val="100000"/>
              </a:lnSpc>
              <a:spcBef>
                <a:spcPts val="0"/>
              </a:spcBef>
              <a:spcAft>
                <a:spcPts val="0"/>
              </a:spcAft>
              <a:buSzPts val="1400"/>
              <a:buNone/>
            </a:pPr>
            <a:r>
              <a:t>  + 0.10  reflection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admit when I &gt;= 0.55</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Novelty queries episodic candidates, then uses 1 - maximum token Jaccard overlap. User relevance uses explicit lexical/personal-interest cues. The scoring components are bounded to [0,1]. This is an interpretable heuristic, not a learned proof of long-term usefulness. Admission is distinct from explicit document ingestion, state persistence, and maintenance completion. Memory importance, types/defaults, configuration.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5.4 Affect evolution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update_momentum decays prior scores with default factor 0.82, drops very small values, and adds current dominant-emotion confidence. PAD represents pleasure, arousal, and dominance. Volatility averages recent PAD distances, bounded to 1. Stability combines low volatility and current confidence. Dissonance examines recent history, valence flips, and low confidence. Evolution source, PAD.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Explain this as engineered temporal text-affect tracking. It does not measure a person's true internal emotional state.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5.5 Sufficiency, confidence, and stopping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current sufficiency verifier intersects question/evidence terms and accepts coverage of at least 0.60, unless its narrow contradiction check fires. No evidence produces an unanswerable decision. More evidence can be requested under a bounded budget. This can fail on paraphrases or lexical distractors, so the score should not be described as semantic proof. Verifier.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confidence aggregator calibrates available signals, forms weighted means, adds disagreement to uncertainty, and reduces confidence with disagreement. Default source weights include retrieval 1.25, planning 1.15, affect 0.70, state 0.85, reflection/policy 1.0. These are source-specific weights inside a broader effective-weight mechanism, not standalone accuracies. Aggregator.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Public request defaults are top-k 5, maximum hops 3, retrieval calls 3, and context tokens 1600. Reasoning additionally has configured document/model/time/no-progress limits. Campaigns may override defaults. Read recorded effective budgets when explaining a result. E02, [reasoning configuration]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5.6 Controlled tools and corrections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TOOL(invocation, policy):</a:t>
            </a:r>
            <a:endParaRPr/>
          </a:p>
          <a:p xmlns:a="http://schemas.openxmlformats.org/drawingml/2006/main">
            <a:pPr marL="0" lvl="0" indent="0" algn="l">
              <a:lnSpc>
                <a:spcPct val="100000"/>
              </a:lnSpc>
              <a:spcBef>
                <a:spcPts val="0"/>
              </a:spcBef>
              <a:spcAft>
                <a:spcPts val="0"/>
              </a:spcAft>
              <a:buSzPts val="1400"/>
              <a:buNone/>
            </a:pPr>
            <a:r>
              <a:t>    reject external actions unless explicitly enabled</a:t>
            </a:r>
            <a:endParaRPr/>
          </a:p>
          <a:p xmlns:a="http://schemas.openxmlformats.org/drawingml/2006/main">
            <a:pPr marL="0" lvl="0" indent="0" algn="l">
              <a:lnSpc>
                <a:spcPct val="100000"/>
              </a:lnSpc>
              <a:spcBef>
                <a:spcPts val="0"/>
              </a:spcBef>
              <a:spcAft>
                <a:spcPts val="0"/>
              </a:spcAft>
              <a:buSzPts val="1400"/>
              <a:buNone/>
            </a:pPr>
            <a:r>
              <a:t>    check name, allowlist/blocklist, invocation limit and tags</a:t>
            </a:r>
            <a:endParaRPr/>
          </a:p>
          <a:p xmlns:a="http://schemas.openxmlformats.org/drawingml/2006/main">
            <a:pPr marL="0" lvl="0" indent="0" algn="l">
              <a:lnSpc>
                <a:spcPct val="100000"/>
              </a:lnSpc>
              <a:spcBef>
                <a:spcPts val="0"/>
              </a:spcBef>
              <a:spcAft>
                <a:spcPts val="0"/>
              </a:spcAft>
              <a:buSzPts val="1400"/>
              <a:buNone/>
            </a:pPr>
            <a:r>
              <a:t>    resolve registered tool</a:t>
            </a:r>
            <a:endParaRPr/>
          </a:p>
          <a:p xmlns:a="http://schemas.openxmlformats.org/drawingml/2006/main">
            <a:pPr marL="0" lvl="0" indent="0" algn="l">
              <a:lnSpc>
                <a:spcPct val="100000"/>
              </a:lnSpc>
              <a:spcBef>
                <a:spcPts val="0"/>
              </a:spcBef>
              <a:spcAft>
                <a:spcPts val="0"/>
              </a:spcAft>
              <a:buSzPts val="1400"/>
              <a:buNone/>
            </a:pPr>
            <a:r>
              <a:t>    validate arguments against tool schema</a:t>
            </a:r>
            <a:endParaRPr/>
          </a:p>
          <a:p xmlns:a="http://schemas.openxmlformats.org/drawingml/2006/main">
            <a:pPr marL="0" lvl="0" indent="0" algn="l">
              <a:lnSpc>
                <a:spcPct val="100000"/>
              </a:lnSpc>
              <a:spcBef>
                <a:spcPts val="0"/>
              </a:spcBef>
              <a:spcAft>
                <a:spcPts val="0"/>
              </a:spcAft>
              <a:buSzPts val="1400"/>
              <a:buNone/>
            </a:pPr>
            <a:r>
              <a:t>    execute handler; bound awaitable work with configured timeout</a:t>
            </a:r>
            <a:endParaRPr/>
          </a:p>
          <a:p xmlns:a="http://schemas.openxmlformats.org/drawingml/2006/main">
            <a:pPr marL="0" lvl="0" indent="0" algn="l">
              <a:lnSpc>
                <a:spcPct val="100000"/>
              </a:lnSpc>
              <a:spcBef>
                <a:spcPts val="0"/>
              </a:spcBef>
              <a:spcAft>
                <a:spcPts val="0"/>
              </a:spcAft>
              <a:buSzPts val="1400"/>
              <a:buNone/>
            </a:pPr>
            <a:r>
              <a:t>    require typed tool result; return audit and explicit errors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CORRECT(advice):</a:t>
            </a:r>
            <a:endParaRPr/>
          </a:p>
          <a:p xmlns:a="http://schemas.openxmlformats.org/drawingml/2006/main">
            <a:pPr marL="0" lvl="0" indent="0" algn="l">
              <a:lnSpc>
                <a:spcPct val="100000"/>
              </a:lnSpc>
              <a:spcBef>
                <a:spcPts val="0"/>
              </a:spcBef>
              <a:spcAft>
                <a:spcPts val="0"/>
              </a:spcAft>
              <a:buSzPts val="1400"/>
              <a:buNone/>
            </a:pPr>
            <a:r>
              <a:t>    check supported proposal and confidence/trigger conditions</a:t>
            </a:r>
            <a:endParaRPr/>
          </a:p>
          <a:p xmlns:a="http://schemas.openxmlformats.org/drawingml/2006/main">
            <a:pPr marL="0" lvl="0" indent="0" algn="l">
              <a:lnSpc>
                <a:spcPct val="100000"/>
              </a:lnSpc>
              <a:spcBef>
                <a:spcPts val="0"/>
              </a:spcBef>
              <a:spcAft>
                <a:spcPts val="0"/>
              </a:spcAft>
              <a:buSzPts val="1400"/>
              <a:buNone/>
            </a:pPr>
            <a:r>
              <a:t>    reject advice when its budget is exhausted</a:t>
            </a:r>
            <a:endParaRPr/>
          </a:p>
          <a:p xmlns:a="http://schemas.openxmlformats.org/drawingml/2006/main">
            <a:pPr marL="0" lvl="0" indent="0" algn="l">
              <a:lnSpc>
                <a:spcPct val="100000"/>
              </a:lnSpc>
              <a:spcBef>
                <a:spcPts val="0"/>
              </a:spcBef>
              <a:spcAft>
                <a:spcPts val="0"/>
              </a:spcAft>
              <a:buSzPts val="1400"/>
              <a:buNone/>
            </a:pPr>
            <a:r>
              <a:t>    route to permitted retrieval/replanning/retry/regeneration</a:t>
            </a:r>
            <a:endParaRPr/>
          </a:p>
          <a:p xmlns:a="http://schemas.openxmlformats.org/drawingml/2006/main">
            <a:pPr marL="0" lvl="0" indent="0" algn="l">
              <a:lnSpc>
                <a:spcPct val="100000"/>
              </a:lnSpc>
              <a:spcBef>
                <a:spcPts val="0"/>
              </a:spcBef>
              <a:spcAft>
                <a:spcPts val="0"/>
              </a:spcAft>
              <a:buSzPts val="1400"/>
              <a:buNone/>
            </a:pPr>
            <a:r>
              <a:t>    preserve before/after snapshots and outcome</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Tool defaults allow no external tools, limit invocations to 3, and set awaitable timeout to 5 seconds. A synchronous handler can block before that awaitable timeout applies. Reflection generates advice; workflow owns its application. Gold-aware legacy evaluators cannot supply production advice. Execution policy, tool executor, correction loop.</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C:/PRIMA_next/config/retrieval.yaml</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C:/PRIMA_next/memory/maintenance/importance_types.py</a:t>
            </a:r>
            <a:endParaRPr/>
          </a:p>
          <a:p xmlns:a="http://schemas.openxmlformats.org/drawingml/2006/main">
            <a:pPr marL="0" lvl="0" indent="0" algn="l">
              <a:lnSpc>
                <a:spcPct val="100000"/>
              </a:lnSpc>
              <a:spcBef>
                <a:spcPts val="0"/>
              </a:spcBef>
              <a:spcAft>
                <a:spcPts val="0"/>
              </a:spcAft>
              <a:buSzPts val="1400"/>
              <a:buNone/>
            </a:pPr>
            <a:r>
              <a:t>C:/PRIMA_next/config/memory_importance.yaml</a:t>
            </a:r>
            <a:endParaRPr/>
          </a:p>
          <a:p xmlns:a="http://schemas.openxmlformats.org/drawingml/2006/main">
            <a:pPr marL="0" lvl="0" indent="0" algn="l">
              <a:lnSpc>
                <a:spcPct val="100000"/>
              </a:lnSpc>
              <a:spcBef>
                <a:spcPts val="0"/>
              </a:spcBef>
              <a:spcAft>
                <a:spcPts val="0"/>
              </a:spcAft>
              <a:buSzPts val="1400"/>
              <a:buNone/>
            </a:pPr>
            <a:r>
              <a:t>C:/PRIMA_next/affect/affect_evolution.py</a:t>
            </a:r>
            <a:endParaRPr/>
          </a:p>
          <a:p xmlns:a="http://schemas.openxmlformats.org/drawingml/2006/main">
            <a:pPr marL="0" lvl="0" indent="0" algn="l">
              <a:lnSpc>
                <a:spcPct val="100000"/>
              </a:lnSpc>
              <a:spcBef>
                <a:spcPts val="0"/>
              </a:spcBef>
              <a:spcAft>
                <a:spcPts val="0"/>
              </a:spcAft>
              <a:buSzPts val="1400"/>
              <a:buNone/>
            </a:pPr>
            <a:r>
              <a:t>C:/PRIMA_next/affect/pad_model.py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C:/PRIMA_next/reasoning/config.py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Sufficiency and reasoning budgets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 Slide 5: algorithms and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5.1 Canonical workflow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explanatory pseudocode aligned with E02/E03, not a replacement executable API or a guarantee that all phases run.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EXECUTE(request):</a:t>
            </a:r>
            <a:endParaRPr/>
          </a:p>
          <a:p xmlns:a="http://schemas.openxmlformats.org/drawingml/2006/main">
            <a:pPr marL="0" lvl="0" indent="0" algn="l">
              <a:lnSpc>
                <a:spcPct val="100000"/>
              </a:lnSpc>
              <a:spcBef>
                <a:spcPts val="0"/>
              </a:spcBef>
              <a:spcAft>
                <a:spcPts val="0"/>
              </a:spcAft>
              <a:buSzPts val="1400"/>
              <a:buNone/>
            </a:pPr>
            <a:r>
              <a:t>    validate typed request and reserved metadata</a:t>
            </a:r>
            <a:endParaRPr/>
          </a:p>
          <a:p xmlns:a="http://schemas.openxmlformats.org/drawingml/2006/main">
            <a:pPr marL="0" lvl="0" indent="0" algn="l">
              <a:lnSpc>
                <a:spcPct val="100000"/>
              </a:lnSpc>
              <a:spcBef>
                <a:spcPts val="0"/>
              </a:spcBef>
              <a:spcAft>
                <a:spcPts val="0"/>
              </a:spcAft>
              <a:buSzPts val="1400"/>
              <a:buNone/>
            </a:pPr>
            <a:r>
              <a:t>    select supported task/profile route; reject invalid pairs</a:t>
            </a:r>
            <a:endParaRPr/>
          </a:p>
          <a:p xmlns:a="http://schemas.openxmlformats.org/drawingml/2006/main">
            <a:pPr marL="0" lvl="0" indent="0" algn="l">
              <a:lnSpc>
                <a:spcPct val="100000"/>
              </a:lnSpc>
              <a:spcBef>
                <a:spcPts val="0"/>
              </a:spcBef>
              <a:spcAft>
                <a:spcPts val="0"/>
              </a:spcAft>
              <a:buSzPts val="1400"/>
              <a:buNone/>
            </a:pPr>
            <a:r>
              <a:t>    build trusted execution context and effective budgets</a:t>
            </a:r>
            <a:endParaRPr/>
          </a:p>
          <a:p xmlns:a="http://schemas.openxmlformats.org/drawingml/2006/main">
            <a:pPr marL="0" lvl="0" indent="0" algn="l">
              <a:lnSpc>
                <a:spcPct val="100000"/>
              </a:lnSpc>
              <a:spcBef>
                <a:spcPts val="0"/>
              </a:spcBef>
              <a:spcAft>
                <a:spcPts val="0"/>
              </a:spcAft>
              <a:buSzPts val="1400"/>
              <a:buNone/>
            </a:pPr>
            <a:r>
              <a:t>    load versioned session state</a:t>
            </a:r>
            <a:endParaRPr/>
          </a:p>
          <a:p xmlns:a="http://schemas.openxmlformats.org/drawingml/2006/main">
            <a:pPr marL="0" lvl="0" indent="0" algn="l">
              <a:lnSpc>
                <a:spcPct val="100000"/>
              </a:lnSpc>
              <a:spcBef>
                <a:spcPts val="0"/>
              </a:spcBef>
              <a:spcAft>
                <a:spcPts val="0"/>
              </a:spcAft>
              <a:buSzPts val="1400"/>
              <a:buNone/>
            </a:pPr>
            <a:r>
              <a:t>    for each phase selected by the route:</a:t>
            </a:r>
            <a:endParaRPr/>
          </a:p>
          <a:p xmlns:a="http://schemas.openxmlformats.org/drawingml/2006/main">
            <a:pPr marL="0" lvl="0" indent="0" algn="l">
              <a:lnSpc>
                <a:spcPct val="100000"/>
              </a:lnSpc>
              <a:spcBef>
                <a:spcPts val="0"/>
              </a:spcBef>
              <a:spcAft>
                <a:spcPts val="0"/>
              </a:spcAft>
              <a:buSzPts val="1400"/>
              <a:buNone/>
            </a:pPr>
            <a:r>
              <a:t>        run its controller; record start/result/error</a:t>
            </a:r>
            <a:endParaRPr/>
          </a:p>
          <a:p xmlns:a="http://schemas.openxmlformats.org/drawingml/2006/main">
            <a:pPr marL="0" lvl="0" indent="0" algn="l">
              <a:lnSpc>
                <a:spcPct val="100000"/>
              </a:lnSpc>
              <a:spcBef>
                <a:spcPts val="0"/>
              </a:spcBef>
              <a:spcAft>
                <a:spcPts val="0"/>
              </a:spcAft>
              <a:buSzPts val="1400"/>
              <a:buNone/>
            </a:pPr>
            <a:r>
              <a:t>        if a decision requires correction:</a:t>
            </a:r>
            <a:endParaRPr/>
          </a:p>
          <a:p xmlns:a="http://schemas.openxmlformats.org/drawingml/2006/main">
            <a:pPr marL="0" lvl="0" indent="0" algn="l">
              <a:lnSpc>
                <a:spcPct val="100000"/>
              </a:lnSpc>
              <a:spcBef>
                <a:spcPts val="0"/>
              </a:spcBef>
              <a:spcAft>
                <a:spcPts val="0"/>
              </a:spcAft>
              <a:buSzPts val="1400"/>
              <a:buNone/>
            </a:pPr>
            <a:r>
              <a:t>            validate typed advice and remaining budget</a:t>
            </a:r>
            <a:endParaRPr/>
          </a:p>
          <a:p xmlns:a="http://schemas.openxmlformats.org/drawingml/2006/main">
            <a:pPr marL="0" lvl="0" indent="0" algn="l">
              <a:lnSpc>
                <a:spcPct val="100000"/>
              </a:lnSpc>
              <a:spcBef>
                <a:spcPts val="0"/>
              </a:spcBef>
              <a:spcAft>
                <a:spcPts val="0"/>
              </a:spcAft>
              <a:buSzPts val="1400"/>
              <a:buNone/>
            </a:pPr>
            <a:r>
              <a:t>            apply only the permitted bounded correction</a:t>
            </a:r>
            <a:endParaRPr/>
          </a:p>
          <a:p xmlns:a="http://schemas.openxmlformats.org/drawingml/2006/main">
            <a:pPr marL="0" lvl="0" indent="0" algn="l">
              <a:lnSpc>
                <a:spcPct val="100000"/>
              </a:lnSpc>
              <a:spcBef>
                <a:spcPts val="0"/>
              </a:spcBef>
              <a:spcAft>
                <a:spcPts val="0"/>
              </a:spcAft>
              <a:buSzPts val="1400"/>
              <a:buNone/>
            </a:pPr>
            <a:r>
              <a:t>            record actual before/after state and stop reason</a:t>
            </a:r>
            <a:endParaRPr/>
          </a:p>
          <a:p xmlns:a="http://schemas.openxmlformats.org/drawingml/2006/main">
            <a:pPr marL="0" lvl="0" indent="0" algn="l">
              <a:lnSpc>
                <a:spcPct val="100000"/>
              </a:lnSpc>
              <a:spcBef>
                <a:spcPts val="0"/>
              </a:spcBef>
              <a:spcAft>
                <a:spcPts val="0"/>
              </a:spcAft>
              <a:buSzPts val="1400"/>
              <a:buNone/>
            </a:pPr>
            <a:r>
              <a:t>        if cancellation/failure occurs:</a:t>
            </a:r>
            <a:endParaRPr/>
          </a:p>
          <a:p xmlns:a="http://schemas.openxmlformats.org/drawingml/2006/main">
            <a:pPr marL="0" lvl="0" indent="0" algn="l">
              <a:lnSpc>
                <a:spcPct val="100000"/>
              </a:lnSpc>
              <a:spcBef>
                <a:spcPts val="0"/>
              </a:spcBef>
              <a:spcAft>
                <a:spcPts val="0"/>
              </a:spcAft>
              <a:buSzPts val="1400"/>
              <a:buNone/>
            </a:pPr>
            <a:r>
              <a:t>            return explicit typed outcome with diagnostics</a:t>
            </a:r>
            <a:endParaRPr/>
          </a:p>
          <a:p xmlns:a="http://schemas.openxmlformats.org/drawingml/2006/main">
            <a:pPr marL="0" lvl="0" indent="0" algn="l">
              <a:lnSpc>
                <a:spcPct val="100000"/>
              </a:lnSpc>
              <a:spcBef>
                <a:spcPts val="0"/>
              </a:spcBef>
              <a:spcAft>
                <a:spcPts val="0"/>
              </a:spcAft>
              <a:buSzPts val="1400"/>
              <a:buNone/>
            </a:pPr>
            <a:r>
              <a:t>    shape existing generation/classification/ingestion/action result</a:t>
            </a:r>
            <a:endParaRPr/>
          </a:p>
          <a:p xmlns:a="http://schemas.openxmlformats.org/drawingml/2006/main">
            <a:pPr marL="0" lvl="0" indent="0" algn="l">
              <a:lnSpc>
                <a:spcPct val="100000"/>
              </a:lnSpc>
              <a:spcBef>
                <a:spcPts val="0"/>
              </a:spcBef>
              <a:spcAft>
                <a:spcPts val="0"/>
              </a:spcAft>
              <a:buSzPts val="1400"/>
              <a:buNone/>
            </a:pPr>
            <a:r>
              <a:t>    commit only the effects permitted by that task and policy</a:t>
            </a:r>
            <a:endParaRPr/>
          </a:p>
          <a:p xmlns:a="http://schemas.openxmlformats.org/drawingml/2006/main">
            <a:pPr marL="0" lvl="0" indent="0" algn="l">
              <a:lnSpc>
                <a:spcPct val="100000"/>
              </a:lnSpc>
              <a:spcBef>
                <a:spcPts val="0"/>
              </a:spcBef>
              <a:spcAft>
                <a:spcPts val="0"/>
              </a:spcAft>
              <a:buSzPts val="1400"/>
              <a:buNone/>
            </a:pPr>
            <a:r>
              <a:t>    enqueue admitted maintenance with bounded backpressure</a:t>
            </a:r>
            <a:endParaRPr/>
          </a:p>
          <a:p xmlns:a="http://schemas.openxmlformats.org/drawingml/2006/main">
            <a:pPr marL="0" lvl="0" indent="0" algn="l">
              <a:lnSpc>
                <a:spcPct val="100000"/>
              </a:lnSpc>
              <a:spcBef>
                <a:spcPts val="0"/>
              </a:spcBef>
              <a:spcAft>
                <a:spcPts val="0"/>
              </a:spcAft>
              <a:buSzPts val="1400"/>
              <a:buNone/>
            </a:pPr>
            <a:r>
              <a:t>    return typed response, evidence, state delta, and diagnostics</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5.2 Hybrid retrieval algorithm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Dense, sparse, temporal, and graph strategies return scored candidates. Fusion uses each memory ID once and retains the maximum score for that ID within a strategy. For a nonconstant strategy score range, it applies min-max normalization. Equal-score lists retain their original scores. Missing contributions count as zero. Active strategy weights renormalize using their total weight. E02, [fusion source]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FUSED_SCORE(memory) =</a:t>
            </a:r>
            <a:endParaRPr/>
          </a:p>
          <a:p xmlns:a="http://schemas.openxmlformats.org/drawingml/2006/main">
            <a:pPr marL="0" lvl="0" indent="0" algn="l">
              <a:lnSpc>
                <a:spcPct val="100000"/>
              </a:lnSpc>
              <a:spcBef>
                <a:spcPts val="0"/>
              </a:spcBef>
              <a:spcAft>
                <a:spcPts val="0"/>
              </a:spcAft>
              <a:buSzPts val="1400"/>
              <a:buNone/>
            </a:pPr>
            <a:r>
              <a:t>    sum(weight[strategy]  normalized_score[strategy, memory])</a:t>
            </a:r>
            <a:endParaRPr/>
          </a:p>
          <a:p xmlns:a="http://schemas.openxmlformats.org/drawingml/2006/main">
            <a:pPr marL="0" lvl="0" indent="0" algn="l">
              <a:lnSpc>
                <a:spcPct val="100000"/>
              </a:lnSpc>
              <a:spcBef>
                <a:spcPts val="0"/>
              </a:spcBef>
              <a:spcAft>
                <a:spcPts val="0"/>
              </a:spcAft>
              <a:buSzPts val="1400"/>
              <a:buNone/>
            </a:pPr>
            <a:r>
              <a:t>    / sum(weight[strategy] for selected strategies)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Default full-profile weights:</a:t>
            </a:r>
            <a:endParaRPr/>
          </a:p>
          <a:p xmlns:a="http://schemas.openxmlformats.org/drawingml/2006/main">
            <a:pPr marL="0" lvl="0" indent="0" algn="l">
              <a:lnSpc>
                <a:spcPct val="100000"/>
              </a:lnSpc>
              <a:spcBef>
                <a:spcPts val="0"/>
              </a:spcBef>
              <a:spcAft>
                <a:spcPts val="0"/>
              </a:spcAft>
              <a:buSzPts val="1400"/>
              <a:buNone/>
            </a:pPr>
            <a:r>
              <a:t>    dense 0.40, sparse 0.30, temporal 0.15, graph 0.15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RETRIEVE(query):</a:t>
            </a:r>
            <a:endParaRPr/>
          </a:p>
          <a:p xmlns:a="http://schemas.openxmlformats.org/drawingml/2006/main">
            <a:pPr marL="0" lvl="0" indent="0" algn="l">
              <a:lnSpc>
                <a:spcPct val="100000"/>
              </a:lnSpc>
              <a:spcBef>
                <a:spcPts val="0"/>
              </a:spcBef>
              <a:spcAft>
                <a:spcPts val="0"/>
              </a:spcAft>
              <a:buSzPts val="1400"/>
              <a:buNone/>
            </a:pPr>
            <a:r>
              <a:t>    analyze and rewrite query</a:t>
            </a:r>
            <a:endParaRPr/>
          </a:p>
          <a:p xmlns:a="http://schemas.openxmlformats.org/drawingml/2006/main">
            <a:pPr marL="0" lvl="0" indent="0" algn="l">
              <a:lnSpc>
                <a:spcPct val="100000"/>
              </a:lnSpc>
              <a:spcBef>
                <a:spcPts val="0"/>
              </a:spcBef>
              <a:spcAft>
                <a:spcPts val="0"/>
              </a:spcAft>
              <a:buSzPts val="1400"/>
              <a:buNone/>
            </a:pPr>
            <a:r>
              <a:t>    run strategies supported by route/capabilities</a:t>
            </a:r>
            <a:endParaRPr/>
          </a:p>
          <a:p xmlns:a="http://schemas.openxmlformats.org/drawingml/2006/main">
            <a:pPr marL="0" lvl="0" indent="0" algn="l">
              <a:lnSpc>
                <a:spcPct val="100000"/>
              </a:lnSpc>
              <a:spcBef>
                <a:spcPts val="0"/>
              </a:spcBef>
              <a:spcAft>
                <a:spcPts val="0"/>
              </a:spcAft>
              <a:buSzPts val="1400"/>
              <a:buNone/>
            </a:pPr>
            <a:r>
              <a:t>    merge and weight candidates by memory ID</a:t>
            </a:r>
            <a:endParaRPr/>
          </a:p>
          <a:p xmlns:a="http://schemas.openxmlformats.org/drawingml/2006/main">
            <a:pPr marL="0" lvl="0" indent="0" algn="l">
              <a:lnSpc>
                <a:spcPct val="100000"/>
              </a:lnSpc>
              <a:spcBef>
                <a:spcPts val="0"/>
              </a:spcBef>
              <a:spcAft>
                <a:spcPts val="0"/>
              </a:spcAft>
              <a:buSzPts val="1400"/>
              <a:buNone/>
            </a:pPr>
            <a:r>
              <a:t>    select top candidates and apply configured reranker</a:t>
            </a:r>
            <a:endParaRPr/>
          </a:p>
          <a:p xmlns:a="http://schemas.openxmlformats.org/drawingml/2006/main">
            <a:pPr marL="0" lvl="0" indent="0" algn="l">
              <a:lnSpc>
                <a:spcPct val="100000"/>
              </a:lnSpc>
              <a:spcBef>
                <a:spcPts val="0"/>
              </a:spcBef>
              <a:spcAft>
                <a:spcPts val="0"/>
              </a:spcAft>
              <a:buSzPts val="1400"/>
              <a:buNone/>
            </a:pPr>
            <a:r>
              <a:t>    integrate evidence and preserve source mapping</a:t>
            </a:r>
            <a:endParaRPr/>
          </a:p>
          <a:p xmlns:a="http://schemas.openxmlformats.org/drawingml/2006/main">
            <a:pPr marL="0" lvl="0" indent="0" algn="l">
              <a:lnSpc>
                <a:spcPct val="100000"/>
              </a:lnSpc>
              <a:spcBef>
                <a:spcPts val="0"/>
              </a:spcBef>
              <a:spcAft>
                <a:spcPts val="0"/>
              </a:spcAft>
              <a:buSzPts val="1400"/>
              <a:buNone/>
            </a:pPr>
            <a:r>
              <a:t>    check sufficiency; follow up only within budgets</a:t>
            </a:r>
            <a:endParaRPr/>
          </a:p>
          <a:p xmlns:a="http://schemas.openxmlformats.org/drawingml/2006/main">
            <a:pPr marL="0" lvl="0" indent="0" algn="l">
              <a:lnSpc>
                <a:spcPct val="100000"/>
              </a:lnSpc>
              <a:spcBef>
                <a:spcPts val="0"/>
              </a:spcBef>
              <a:spcAft>
                <a:spcPts val="0"/>
              </a:spcAft>
              <a:buSzPts val="1400"/>
              <a:buNone/>
            </a:pPr>
            <a:r>
              <a:t>    compress context and record dropped evidence</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algorithm is weighted score fusion, not automatically reciprocal rank fusion. Default values in retrieval YAML must be distinguished from request/campaign overrides.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5.3 Memory importance and admission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default normalized importance function is: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I = 0.35  novelty</a:t>
            </a:r>
            <a:endParaRPr/>
          </a:p>
          <a:p xmlns:a="http://schemas.openxmlformats.org/drawingml/2006/main">
            <a:pPr marL="0" lvl="0" indent="0" algn="l">
              <a:lnSpc>
                <a:spcPct val="100000"/>
              </a:lnSpc>
              <a:spcBef>
                <a:spcPts val="0"/>
              </a:spcBef>
              <a:spcAft>
                <a:spcPts val="0"/>
              </a:spcAft>
              <a:buSzPts val="1400"/>
              <a:buNone/>
            </a:pPr>
            <a:r>
              <a:t>  + 0.25  emotional_salience</a:t>
            </a:r>
            <a:endParaRPr/>
          </a:p>
          <a:p xmlns:a="http://schemas.openxmlformats.org/drawingml/2006/main">
            <a:pPr marL="0" lvl="0" indent="0" algn="l">
              <a:lnSpc>
                <a:spcPct val="100000"/>
              </a:lnSpc>
              <a:spcBef>
                <a:spcPts val="0"/>
              </a:spcBef>
              <a:spcAft>
                <a:spcPts val="0"/>
              </a:spcAft>
              <a:buSzPts val="1400"/>
              <a:buNone/>
            </a:pPr>
            <a:r>
              <a:t>  + 0.15  user_relevance</a:t>
            </a:r>
            <a:endParaRPr/>
          </a:p>
          <a:p xmlns:a="http://schemas.openxmlformats.org/drawingml/2006/main">
            <a:pPr marL="0" lvl="0" indent="0" algn="l">
              <a:lnSpc>
                <a:spcPct val="100000"/>
              </a:lnSpc>
              <a:spcBef>
                <a:spcPts val="0"/>
              </a:spcBef>
              <a:spcAft>
                <a:spcPts val="0"/>
              </a:spcAft>
              <a:buSzPts val="1400"/>
              <a:buNone/>
            </a:pPr>
            <a:r>
              <a:t>  + 0.15  recurrence</a:t>
            </a:r>
            <a:endParaRPr/>
          </a:p>
          <a:p xmlns:a="http://schemas.openxmlformats.org/drawingml/2006/main">
            <a:pPr marL="0" lvl="0" indent="0" algn="l">
              <a:lnSpc>
                <a:spcPct val="100000"/>
              </a:lnSpc>
              <a:spcBef>
                <a:spcPts val="0"/>
              </a:spcBef>
              <a:spcAft>
                <a:spcPts val="0"/>
              </a:spcAft>
              <a:buSzPts val="1400"/>
              <a:buNone/>
            </a:pPr>
            <a:r>
              <a:t>  + 0.10  reflection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admit when I &gt;= 0.55</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Novelty queries episodic candidates, then uses 1 - maximum token Jaccard overlap. User relevance uses explicit lexical/personal-interest cues. The scoring components are bounded to [0,1]. This is an interpretable heuristic, not a learned proof of long-term usefulness. Admission is distinct from explicit document ingestion, state persistence, and maintenance completion. Memory importance, types/defaults, configuration.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5.4 Affect evolution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update_momentum decays prior scores with default factor 0.82, drops very small values, and adds current dominant-emotion confidence. PAD represents pleasure, arousal, and dominance. Volatility averages recent PAD distances, bounded to 1. Stability combines low volatility and current confidence. Dissonance examines recent history, valence flips, and low confidence. Evolution source, PAD.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Explain this as engineered temporal text-affect tracking. It does not measure a person's true internal emotional state.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5.5 Sufficiency, confidence, and stopping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current sufficiency verifier intersects question/evidence terms and accepts coverage of at least 0.60, unless its narrow contradiction check fires. No evidence produces an unanswerable decision. More evidence can be requested under a bounded budget. This can fail on paraphrases or lexical distractors, so the score should not be described as semantic proof. Verifier.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confidence aggregator calibrates available signals, forms weighted means, adds disagreement to uncertainty, and reduces confidence with disagreement. Default source weights include retrieval 1.25, planning 1.15, affect 0.70, state 0.85, reflection/policy 1.0. These are source-specific weights inside a broader effective-weight mechanism, not standalone accuracies. Aggregator.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Public request defaults are top-k 5, maximum hops 3, retrieval calls 3, and context tokens 1600. Reasoning additionally has configured document/model/time/no-progress limits. Campaigns may override defaults. Read recorded effective budgets when explaining a result. E02, [reasoning configuration]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5.6 Controlled tools and corrections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TOOL(invocation, policy):</a:t>
            </a:r>
            <a:endParaRPr/>
          </a:p>
          <a:p xmlns:a="http://schemas.openxmlformats.org/drawingml/2006/main">
            <a:pPr marL="0" lvl="0" indent="0" algn="l">
              <a:lnSpc>
                <a:spcPct val="100000"/>
              </a:lnSpc>
              <a:spcBef>
                <a:spcPts val="0"/>
              </a:spcBef>
              <a:spcAft>
                <a:spcPts val="0"/>
              </a:spcAft>
              <a:buSzPts val="1400"/>
              <a:buNone/>
            </a:pPr>
            <a:r>
              <a:t>    reject external actions unless explicitly enabled</a:t>
            </a:r>
            <a:endParaRPr/>
          </a:p>
          <a:p xmlns:a="http://schemas.openxmlformats.org/drawingml/2006/main">
            <a:pPr marL="0" lvl="0" indent="0" algn="l">
              <a:lnSpc>
                <a:spcPct val="100000"/>
              </a:lnSpc>
              <a:spcBef>
                <a:spcPts val="0"/>
              </a:spcBef>
              <a:spcAft>
                <a:spcPts val="0"/>
              </a:spcAft>
              <a:buSzPts val="1400"/>
              <a:buNone/>
            </a:pPr>
            <a:r>
              <a:t>    check name, allowlist/blocklist, invocation limit and tags</a:t>
            </a:r>
            <a:endParaRPr/>
          </a:p>
          <a:p xmlns:a="http://schemas.openxmlformats.org/drawingml/2006/main">
            <a:pPr marL="0" lvl="0" indent="0" algn="l">
              <a:lnSpc>
                <a:spcPct val="100000"/>
              </a:lnSpc>
              <a:spcBef>
                <a:spcPts val="0"/>
              </a:spcBef>
              <a:spcAft>
                <a:spcPts val="0"/>
              </a:spcAft>
              <a:buSzPts val="1400"/>
              <a:buNone/>
            </a:pPr>
            <a:r>
              <a:t>    resolve registered tool</a:t>
            </a:r>
            <a:endParaRPr/>
          </a:p>
          <a:p xmlns:a="http://schemas.openxmlformats.org/drawingml/2006/main">
            <a:pPr marL="0" lvl="0" indent="0" algn="l">
              <a:lnSpc>
                <a:spcPct val="100000"/>
              </a:lnSpc>
              <a:spcBef>
                <a:spcPts val="0"/>
              </a:spcBef>
              <a:spcAft>
                <a:spcPts val="0"/>
              </a:spcAft>
              <a:buSzPts val="1400"/>
              <a:buNone/>
            </a:pPr>
            <a:r>
              <a:t>    validate arguments against tool schema</a:t>
            </a:r>
            <a:endParaRPr/>
          </a:p>
          <a:p xmlns:a="http://schemas.openxmlformats.org/drawingml/2006/main">
            <a:pPr marL="0" lvl="0" indent="0" algn="l">
              <a:lnSpc>
                <a:spcPct val="100000"/>
              </a:lnSpc>
              <a:spcBef>
                <a:spcPts val="0"/>
              </a:spcBef>
              <a:spcAft>
                <a:spcPts val="0"/>
              </a:spcAft>
              <a:buSzPts val="1400"/>
              <a:buNone/>
            </a:pPr>
            <a:r>
              <a:t>    execute handler; bound awaitable work with configured timeout</a:t>
            </a:r>
            <a:endParaRPr/>
          </a:p>
          <a:p xmlns:a="http://schemas.openxmlformats.org/drawingml/2006/main">
            <a:pPr marL="0" lvl="0" indent="0" algn="l">
              <a:lnSpc>
                <a:spcPct val="100000"/>
              </a:lnSpc>
              <a:spcBef>
                <a:spcPts val="0"/>
              </a:spcBef>
              <a:spcAft>
                <a:spcPts val="0"/>
              </a:spcAft>
              <a:buSzPts val="1400"/>
              <a:buNone/>
            </a:pPr>
            <a:r>
              <a:t>    require typed tool result; return audit and explicit errors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CORRECT(advice):</a:t>
            </a:r>
            <a:endParaRPr/>
          </a:p>
          <a:p xmlns:a="http://schemas.openxmlformats.org/drawingml/2006/main">
            <a:pPr marL="0" lvl="0" indent="0" algn="l">
              <a:lnSpc>
                <a:spcPct val="100000"/>
              </a:lnSpc>
              <a:spcBef>
                <a:spcPts val="0"/>
              </a:spcBef>
              <a:spcAft>
                <a:spcPts val="0"/>
              </a:spcAft>
              <a:buSzPts val="1400"/>
              <a:buNone/>
            </a:pPr>
            <a:r>
              <a:t>    check supported proposal and confidence/trigger conditions</a:t>
            </a:r>
            <a:endParaRPr/>
          </a:p>
          <a:p xmlns:a="http://schemas.openxmlformats.org/drawingml/2006/main">
            <a:pPr marL="0" lvl="0" indent="0" algn="l">
              <a:lnSpc>
                <a:spcPct val="100000"/>
              </a:lnSpc>
              <a:spcBef>
                <a:spcPts val="0"/>
              </a:spcBef>
              <a:spcAft>
                <a:spcPts val="0"/>
              </a:spcAft>
              <a:buSzPts val="1400"/>
              <a:buNone/>
            </a:pPr>
            <a:r>
              <a:t>    reject advice when its budget is exhausted</a:t>
            </a:r>
            <a:endParaRPr/>
          </a:p>
          <a:p xmlns:a="http://schemas.openxmlformats.org/drawingml/2006/main">
            <a:pPr marL="0" lvl="0" indent="0" algn="l">
              <a:lnSpc>
                <a:spcPct val="100000"/>
              </a:lnSpc>
              <a:spcBef>
                <a:spcPts val="0"/>
              </a:spcBef>
              <a:spcAft>
                <a:spcPts val="0"/>
              </a:spcAft>
              <a:buSzPts val="1400"/>
              <a:buNone/>
            </a:pPr>
            <a:r>
              <a:t>    route to permitted retrieval/replanning/retry/regeneration</a:t>
            </a:r>
            <a:endParaRPr/>
          </a:p>
          <a:p xmlns:a="http://schemas.openxmlformats.org/drawingml/2006/main">
            <a:pPr marL="0" lvl="0" indent="0" algn="l">
              <a:lnSpc>
                <a:spcPct val="100000"/>
              </a:lnSpc>
              <a:spcBef>
                <a:spcPts val="0"/>
              </a:spcBef>
              <a:spcAft>
                <a:spcPts val="0"/>
              </a:spcAft>
              <a:buSzPts val="1400"/>
              <a:buNone/>
            </a:pPr>
            <a:r>
              <a:t>    preserve before/after snapshots and outcome</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Tool defaults allow no external tools, limit invocations to 3, and set awaitable timeout to 5 seconds. A synchronous handler can block before that awaitable timeout applies. Reflection generates advice; workflow owns its application. Gold-aware legacy evaluators cannot supply production advice. Execution policy, tool executor, correction loop.</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C:/PRIMA_next/config/retrieval.yaml</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C:/PRIMA_next/memory/maintenance/importance_types.py</a:t>
            </a:r>
            <a:endParaRPr/>
          </a:p>
          <a:p xmlns:a="http://schemas.openxmlformats.org/drawingml/2006/main">
            <a:pPr marL="0" lvl="0" indent="0" algn="l">
              <a:lnSpc>
                <a:spcPct val="100000"/>
              </a:lnSpc>
              <a:spcBef>
                <a:spcPts val="0"/>
              </a:spcBef>
              <a:spcAft>
                <a:spcPts val="0"/>
              </a:spcAft>
              <a:buSzPts val="1400"/>
              <a:buNone/>
            </a:pPr>
            <a:r>
              <a:t>C:/PRIMA_next/config/memory_importance.yaml</a:t>
            </a:r>
            <a:endParaRPr/>
          </a:p>
          <a:p xmlns:a="http://schemas.openxmlformats.org/drawingml/2006/main">
            <a:pPr marL="0" lvl="0" indent="0" algn="l">
              <a:lnSpc>
                <a:spcPct val="100000"/>
              </a:lnSpc>
              <a:spcBef>
                <a:spcPts val="0"/>
              </a:spcBef>
              <a:spcAft>
                <a:spcPts val="0"/>
              </a:spcAft>
              <a:buSzPts val="1400"/>
              <a:buNone/>
            </a:pPr>
            <a:r>
              <a:t>C:/PRIMA_next/affect/affect_evolution.py</a:t>
            </a:r>
            <a:endParaRPr/>
          </a:p>
          <a:p xmlns:a="http://schemas.openxmlformats.org/drawingml/2006/main">
            <a:pPr marL="0" lvl="0" indent="0" algn="l">
              <a:lnSpc>
                <a:spcPct val="100000"/>
              </a:lnSpc>
              <a:spcBef>
                <a:spcPts val="0"/>
              </a:spcBef>
              <a:spcAft>
                <a:spcPts val="0"/>
              </a:spcAft>
              <a:buSzPts val="1400"/>
              <a:buNone/>
            </a:pPr>
            <a:r>
              <a:t>C:/PRIMA_next/affect/pad_model.py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C:/PRIMA_next/reasoning/config.py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Confidence, tools and corrections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 Slide 5: algorithms and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5.1 Canonical workflow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This is explanatory pseudocode aligned with E02/E03, not a replacement executable API or a guarantee that all phases run.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EXECUTE(request):</a:t>
            </a:r>
            <a:endParaRPr/>
          </a:p>
          <a:p xmlns:a="http://schemas.openxmlformats.org/drawingml/2006/main">
            <a:pPr marL="0" lvl="0" indent="0" algn="l">
              <a:lnSpc>
                <a:spcPct val="100000"/>
              </a:lnSpc>
              <a:spcBef>
                <a:spcPts val="0"/>
              </a:spcBef>
              <a:spcAft>
                <a:spcPts val="0"/>
              </a:spcAft>
              <a:buSzPts val="1400"/>
              <a:buNone/>
            </a:pPr>
            <a:r>
              <a:t>    validate typed request and reserved metadata</a:t>
            </a:r>
            <a:endParaRPr/>
          </a:p>
          <a:p xmlns:a="http://schemas.openxmlformats.org/drawingml/2006/main">
            <a:pPr marL="0" lvl="0" indent="0" algn="l">
              <a:lnSpc>
                <a:spcPct val="100000"/>
              </a:lnSpc>
              <a:spcBef>
                <a:spcPts val="0"/>
              </a:spcBef>
              <a:spcAft>
                <a:spcPts val="0"/>
              </a:spcAft>
              <a:buSzPts val="1400"/>
              <a:buNone/>
            </a:pPr>
            <a:r>
              <a:t>    select supported task/profile route; reject invalid pairs</a:t>
            </a:r>
            <a:endParaRPr/>
          </a:p>
          <a:p xmlns:a="http://schemas.openxmlformats.org/drawingml/2006/main">
            <a:pPr marL="0" lvl="0" indent="0" algn="l">
              <a:lnSpc>
                <a:spcPct val="100000"/>
              </a:lnSpc>
              <a:spcBef>
                <a:spcPts val="0"/>
              </a:spcBef>
              <a:spcAft>
                <a:spcPts val="0"/>
              </a:spcAft>
              <a:buSzPts val="1400"/>
              <a:buNone/>
            </a:pPr>
            <a:r>
              <a:t>    build trusted execution context and effective budgets</a:t>
            </a:r>
            <a:endParaRPr/>
          </a:p>
          <a:p xmlns:a="http://schemas.openxmlformats.org/drawingml/2006/main">
            <a:pPr marL="0" lvl="0" indent="0" algn="l">
              <a:lnSpc>
                <a:spcPct val="100000"/>
              </a:lnSpc>
              <a:spcBef>
                <a:spcPts val="0"/>
              </a:spcBef>
              <a:spcAft>
                <a:spcPts val="0"/>
              </a:spcAft>
              <a:buSzPts val="1400"/>
              <a:buNone/>
            </a:pPr>
            <a:r>
              <a:t>    load versioned session state</a:t>
            </a:r>
            <a:endParaRPr/>
          </a:p>
          <a:p xmlns:a="http://schemas.openxmlformats.org/drawingml/2006/main">
            <a:pPr marL="0" lvl="0" indent="0" algn="l">
              <a:lnSpc>
                <a:spcPct val="100000"/>
              </a:lnSpc>
              <a:spcBef>
                <a:spcPts val="0"/>
              </a:spcBef>
              <a:spcAft>
                <a:spcPts val="0"/>
              </a:spcAft>
              <a:buSzPts val="1400"/>
              <a:buNone/>
            </a:pPr>
            <a:r>
              <a:t>    for each phase selected by the route:</a:t>
            </a:r>
            <a:endParaRPr/>
          </a:p>
          <a:p xmlns:a="http://schemas.openxmlformats.org/drawingml/2006/main">
            <a:pPr marL="0" lvl="0" indent="0" algn="l">
              <a:lnSpc>
                <a:spcPct val="100000"/>
              </a:lnSpc>
              <a:spcBef>
                <a:spcPts val="0"/>
              </a:spcBef>
              <a:spcAft>
                <a:spcPts val="0"/>
              </a:spcAft>
              <a:buSzPts val="1400"/>
              <a:buNone/>
            </a:pPr>
            <a:r>
              <a:t>        run its controller; record start/result/error</a:t>
            </a:r>
            <a:endParaRPr/>
          </a:p>
          <a:p xmlns:a="http://schemas.openxmlformats.org/drawingml/2006/main">
            <a:pPr marL="0" lvl="0" indent="0" algn="l">
              <a:lnSpc>
                <a:spcPct val="100000"/>
              </a:lnSpc>
              <a:spcBef>
                <a:spcPts val="0"/>
              </a:spcBef>
              <a:spcAft>
                <a:spcPts val="0"/>
              </a:spcAft>
              <a:buSzPts val="1400"/>
              <a:buNone/>
            </a:pPr>
            <a:r>
              <a:t>        if a decision requires correction:</a:t>
            </a:r>
            <a:endParaRPr/>
          </a:p>
          <a:p xmlns:a="http://schemas.openxmlformats.org/drawingml/2006/main">
            <a:pPr marL="0" lvl="0" indent="0" algn="l">
              <a:lnSpc>
                <a:spcPct val="100000"/>
              </a:lnSpc>
              <a:spcBef>
                <a:spcPts val="0"/>
              </a:spcBef>
              <a:spcAft>
                <a:spcPts val="0"/>
              </a:spcAft>
              <a:buSzPts val="1400"/>
              <a:buNone/>
            </a:pPr>
            <a:r>
              <a:t>            validate typed advice and remaining budget</a:t>
            </a:r>
            <a:endParaRPr/>
          </a:p>
          <a:p xmlns:a="http://schemas.openxmlformats.org/drawingml/2006/main">
            <a:pPr marL="0" lvl="0" indent="0" algn="l">
              <a:lnSpc>
                <a:spcPct val="100000"/>
              </a:lnSpc>
              <a:spcBef>
                <a:spcPts val="0"/>
              </a:spcBef>
              <a:spcAft>
                <a:spcPts val="0"/>
              </a:spcAft>
              <a:buSzPts val="1400"/>
              <a:buNone/>
            </a:pPr>
            <a:r>
              <a:t>            apply only the permitted bounded correction</a:t>
            </a:r>
            <a:endParaRPr/>
          </a:p>
          <a:p xmlns:a="http://schemas.openxmlformats.org/drawingml/2006/main">
            <a:pPr marL="0" lvl="0" indent="0" algn="l">
              <a:lnSpc>
                <a:spcPct val="100000"/>
              </a:lnSpc>
              <a:spcBef>
                <a:spcPts val="0"/>
              </a:spcBef>
              <a:spcAft>
                <a:spcPts val="0"/>
              </a:spcAft>
              <a:buSzPts val="1400"/>
              <a:buNone/>
            </a:pPr>
            <a:r>
              <a:t>            record actual before/after state and stop reason</a:t>
            </a:r>
            <a:endParaRPr/>
          </a:p>
          <a:p xmlns:a="http://schemas.openxmlformats.org/drawingml/2006/main">
            <a:pPr marL="0" lvl="0" indent="0" algn="l">
              <a:lnSpc>
                <a:spcPct val="100000"/>
              </a:lnSpc>
              <a:spcBef>
                <a:spcPts val="0"/>
              </a:spcBef>
              <a:spcAft>
                <a:spcPts val="0"/>
              </a:spcAft>
              <a:buSzPts val="1400"/>
              <a:buNone/>
            </a:pPr>
            <a:r>
              <a:t>        if cancellation/failure occurs:</a:t>
            </a:r>
            <a:endParaRPr/>
          </a:p>
          <a:p xmlns:a="http://schemas.openxmlformats.org/drawingml/2006/main">
            <a:pPr marL="0" lvl="0" indent="0" algn="l">
              <a:lnSpc>
                <a:spcPct val="100000"/>
              </a:lnSpc>
              <a:spcBef>
                <a:spcPts val="0"/>
              </a:spcBef>
              <a:spcAft>
                <a:spcPts val="0"/>
              </a:spcAft>
              <a:buSzPts val="1400"/>
              <a:buNone/>
            </a:pPr>
            <a:r>
              <a:t>            return explicit typed outcome with diagnostics</a:t>
            </a:r>
            <a:endParaRPr/>
          </a:p>
          <a:p xmlns:a="http://schemas.openxmlformats.org/drawingml/2006/main">
            <a:pPr marL="0" lvl="0" indent="0" algn="l">
              <a:lnSpc>
                <a:spcPct val="100000"/>
              </a:lnSpc>
              <a:spcBef>
                <a:spcPts val="0"/>
              </a:spcBef>
              <a:spcAft>
                <a:spcPts val="0"/>
              </a:spcAft>
              <a:buSzPts val="1400"/>
              <a:buNone/>
            </a:pPr>
            <a:r>
              <a:t>    shape existing generation/classification/ingestion/action result</a:t>
            </a:r>
            <a:endParaRPr/>
          </a:p>
          <a:p xmlns:a="http://schemas.openxmlformats.org/drawingml/2006/main">
            <a:pPr marL="0" lvl="0" indent="0" algn="l">
              <a:lnSpc>
                <a:spcPct val="100000"/>
              </a:lnSpc>
              <a:spcBef>
                <a:spcPts val="0"/>
              </a:spcBef>
              <a:spcAft>
                <a:spcPts val="0"/>
              </a:spcAft>
              <a:buSzPts val="1400"/>
              <a:buNone/>
            </a:pPr>
            <a:r>
              <a:t>    commit only the effects permitted by that task and policy</a:t>
            </a:r>
            <a:endParaRPr/>
          </a:p>
          <a:p xmlns:a="http://schemas.openxmlformats.org/drawingml/2006/main">
            <a:pPr marL="0" lvl="0" indent="0" algn="l">
              <a:lnSpc>
                <a:spcPct val="100000"/>
              </a:lnSpc>
              <a:spcBef>
                <a:spcPts val="0"/>
              </a:spcBef>
              <a:spcAft>
                <a:spcPts val="0"/>
              </a:spcAft>
              <a:buSzPts val="1400"/>
              <a:buNone/>
            </a:pPr>
            <a:r>
              <a:t>    enqueue admitted maintenance with bounded backpressure</a:t>
            </a:r>
            <a:endParaRPr/>
          </a:p>
          <a:p xmlns:a="http://schemas.openxmlformats.org/drawingml/2006/main">
            <a:pPr marL="0" lvl="0" indent="0" algn="l">
              <a:lnSpc>
                <a:spcPct val="100000"/>
              </a:lnSpc>
              <a:spcBef>
                <a:spcPts val="0"/>
              </a:spcBef>
              <a:spcAft>
                <a:spcPts val="0"/>
              </a:spcAft>
              <a:buSzPts val="1400"/>
              <a:buNone/>
            </a:pPr>
            <a:r>
              <a:t>    return typed response, evidence, state delta, and diagnostics</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5.2 Hybrid retrieval algorithm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Dense, sparse, temporal, and graph strategies return scored candidates. Fusion uses each memory ID once and retains the maximum score for that ID within a strategy. For a nonconstant strategy score range, it applies min-max normalization. Equal-score lists retain their original scores. Missing contributions count as zero. Active strategy weights renormalize using their total weight. E02, [fusion source]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FUSED_SCORE(memory) =</a:t>
            </a:r>
            <a:endParaRPr/>
          </a:p>
          <a:p xmlns:a="http://schemas.openxmlformats.org/drawingml/2006/main">
            <a:pPr marL="0" lvl="0" indent="0" algn="l">
              <a:lnSpc>
                <a:spcPct val="100000"/>
              </a:lnSpc>
              <a:spcBef>
                <a:spcPts val="0"/>
              </a:spcBef>
              <a:spcAft>
                <a:spcPts val="0"/>
              </a:spcAft>
              <a:buSzPts val="1400"/>
              <a:buNone/>
            </a:pPr>
            <a:r>
              <a:t>    sum(weight[strategy]  normalized_score[strategy, memory])</a:t>
            </a:r>
            <a:endParaRPr/>
          </a:p>
          <a:p xmlns:a="http://schemas.openxmlformats.org/drawingml/2006/main">
            <a:pPr marL="0" lvl="0" indent="0" algn="l">
              <a:lnSpc>
                <a:spcPct val="100000"/>
              </a:lnSpc>
              <a:spcBef>
                <a:spcPts val="0"/>
              </a:spcBef>
              <a:spcAft>
                <a:spcPts val="0"/>
              </a:spcAft>
              <a:buSzPts val="1400"/>
              <a:buNone/>
            </a:pPr>
            <a:r>
              <a:t>    / sum(weight[strategy] for selected strategies)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Default full-profile weights:</a:t>
            </a:r>
            <a:endParaRPr/>
          </a:p>
          <a:p xmlns:a="http://schemas.openxmlformats.org/drawingml/2006/main">
            <a:pPr marL="0" lvl="0" indent="0" algn="l">
              <a:lnSpc>
                <a:spcPct val="100000"/>
              </a:lnSpc>
              <a:spcBef>
                <a:spcPts val="0"/>
              </a:spcBef>
              <a:spcAft>
                <a:spcPts val="0"/>
              </a:spcAft>
              <a:buSzPts val="1400"/>
              <a:buNone/>
            </a:pPr>
            <a:r>
              <a:t>    dense 0.40, sparse 0.30, temporal 0.15, graph 0.15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RETRIEVE(query):</a:t>
            </a:r>
            <a:endParaRPr/>
          </a:p>
          <a:p xmlns:a="http://schemas.openxmlformats.org/drawingml/2006/main">
            <a:pPr marL="0" lvl="0" indent="0" algn="l">
              <a:lnSpc>
                <a:spcPct val="100000"/>
              </a:lnSpc>
              <a:spcBef>
                <a:spcPts val="0"/>
              </a:spcBef>
              <a:spcAft>
                <a:spcPts val="0"/>
              </a:spcAft>
              <a:buSzPts val="1400"/>
              <a:buNone/>
            </a:pPr>
            <a:r>
              <a:t>    analyze and rewrite query</a:t>
            </a:r>
            <a:endParaRPr/>
          </a:p>
          <a:p xmlns:a="http://schemas.openxmlformats.org/drawingml/2006/main">
            <a:pPr marL="0" lvl="0" indent="0" algn="l">
              <a:lnSpc>
                <a:spcPct val="100000"/>
              </a:lnSpc>
              <a:spcBef>
                <a:spcPts val="0"/>
              </a:spcBef>
              <a:spcAft>
                <a:spcPts val="0"/>
              </a:spcAft>
              <a:buSzPts val="1400"/>
              <a:buNone/>
            </a:pPr>
            <a:r>
              <a:t>    run strategies supported by route/capabilities</a:t>
            </a:r>
            <a:endParaRPr/>
          </a:p>
          <a:p xmlns:a="http://schemas.openxmlformats.org/drawingml/2006/main">
            <a:pPr marL="0" lvl="0" indent="0" algn="l">
              <a:lnSpc>
                <a:spcPct val="100000"/>
              </a:lnSpc>
              <a:spcBef>
                <a:spcPts val="0"/>
              </a:spcBef>
              <a:spcAft>
                <a:spcPts val="0"/>
              </a:spcAft>
              <a:buSzPts val="1400"/>
              <a:buNone/>
            </a:pPr>
            <a:r>
              <a:t>    merge and weight candidates by memory ID</a:t>
            </a:r>
            <a:endParaRPr/>
          </a:p>
          <a:p xmlns:a="http://schemas.openxmlformats.org/drawingml/2006/main">
            <a:pPr marL="0" lvl="0" indent="0" algn="l">
              <a:lnSpc>
                <a:spcPct val="100000"/>
              </a:lnSpc>
              <a:spcBef>
                <a:spcPts val="0"/>
              </a:spcBef>
              <a:spcAft>
                <a:spcPts val="0"/>
              </a:spcAft>
              <a:buSzPts val="1400"/>
              <a:buNone/>
            </a:pPr>
            <a:r>
              <a:t>    select top candidates and apply configured reranker</a:t>
            </a:r>
            <a:endParaRPr/>
          </a:p>
          <a:p xmlns:a="http://schemas.openxmlformats.org/drawingml/2006/main">
            <a:pPr marL="0" lvl="0" indent="0" algn="l">
              <a:lnSpc>
                <a:spcPct val="100000"/>
              </a:lnSpc>
              <a:spcBef>
                <a:spcPts val="0"/>
              </a:spcBef>
              <a:spcAft>
                <a:spcPts val="0"/>
              </a:spcAft>
              <a:buSzPts val="1400"/>
              <a:buNone/>
            </a:pPr>
            <a:r>
              <a:t>    integrate evidence and preserve source mapping</a:t>
            </a:r>
            <a:endParaRPr/>
          </a:p>
          <a:p xmlns:a="http://schemas.openxmlformats.org/drawingml/2006/main">
            <a:pPr marL="0" lvl="0" indent="0" algn="l">
              <a:lnSpc>
                <a:spcPct val="100000"/>
              </a:lnSpc>
              <a:spcBef>
                <a:spcPts val="0"/>
              </a:spcBef>
              <a:spcAft>
                <a:spcPts val="0"/>
              </a:spcAft>
              <a:buSzPts val="1400"/>
              <a:buNone/>
            </a:pPr>
            <a:r>
              <a:t>    check sufficiency; follow up only within budgets</a:t>
            </a:r>
            <a:endParaRPr/>
          </a:p>
          <a:p xmlns:a="http://schemas.openxmlformats.org/drawingml/2006/main">
            <a:pPr marL="0" lvl="0" indent="0" algn="l">
              <a:lnSpc>
                <a:spcPct val="100000"/>
              </a:lnSpc>
              <a:spcBef>
                <a:spcPts val="0"/>
              </a:spcBef>
              <a:spcAft>
                <a:spcPts val="0"/>
              </a:spcAft>
              <a:buSzPts val="1400"/>
              <a:buNone/>
            </a:pPr>
            <a:r>
              <a:t>    compress context and record dropped evidence</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algorithm is weighted score fusion, not automatically reciprocal rank fusion. Default values in retrieval YAML must be distinguished from request/campaign overrides.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5.3 Memory importance and admission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default normalized importance function is: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I = 0.35  novelty</a:t>
            </a:r>
            <a:endParaRPr/>
          </a:p>
          <a:p xmlns:a="http://schemas.openxmlformats.org/drawingml/2006/main">
            <a:pPr marL="0" lvl="0" indent="0" algn="l">
              <a:lnSpc>
                <a:spcPct val="100000"/>
              </a:lnSpc>
              <a:spcBef>
                <a:spcPts val="0"/>
              </a:spcBef>
              <a:spcAft>
                <a:spcPts val="0"/>
              </a:spcAft>
              <a:buSzPts val="1400"/>
              <a:buNone/>
            </a:pPr>
            <a:r>
              <a:t>  + 0.25  emotional_salience</a:t>
            </a:r>
            <a:endParaRPr/>
          </a:p>
          <a:p xmlns:a="http://schemas.openxmlformats.org/drawingml/2006/main">
            <a:pPr marL="0" lvl="0" indent="0" algn="l">
              <a:lnSpc>
                <a:spcPct val="100000"/>
              </a:lnSpc>
              <a:spcBef>
                <a:spcPts val="0"/>
              </a:spcBef>
              <a:spcAft>
                <a:spcPts val="0"/>
              </a:spcAft>
              <a:buSzPts val="1400"/>
              <a:buNone/>
            </a:pPr>
            <a:r>
              <a:t>  + 0.15  user_relevance</a:t>
            </a:r>
            <a:endParaRPr/>
          </a:p>
          <a:p xmlns:a="http://schemas.openxmlformats.org/drawingml/2006/main">
            <a:pPr marL="0" lvl="0" indent="0" algn="l">
              <a:lnSpc>
                <a:spcPct val="100000"/>
              </a:lnSpc>
              <a:spcBef>
                <a:spcPts val="0"/>
              </a:spcBef>
              <a:spcAft>
                <a:spcPts val="0"/>
              </a:spcAft>
              <a:buSzPts val="1400"/>
              <a:buNone/>
            </a:pPr>
            <a:r>
              <a:t>  + 0.15  recurrence</a:t>
            </a:r>
            <a:endParaRPr/>
          </a:p>
          <a:p xmlns:a="http://schemas.openxmlformats.org/drawingml/2006/main">
            <a:pPr marL="0" lvl="0" indent="0" algn="l">
              <a:lnSpc>
                <a:spcPct val="100000"/>
              </a:lnSpc>
              <a:spcBef>
                <a:spcPts val="0"/>
              </a:spcBef>
              <a:spcAft>
                <a:spcPts val="0"/>
              </a:spcAft>
              <a:buSzPts val="1400"/>
              <a:buNone/>
            </a:pPr>
            <a:r>
              <a:t>  + 0.10  reflection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admit when I &gt;= 0.55</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Novelty queries episodic candidates, then uses 1 - maximum token Jaccard overlap. User relevance uses explicit lexical/personal-interest cues. The scoring components are bounded to [0,1]. This is an interpretable heuristic, not a learned proof of long-term usefulness. Admission is distinct from explicit document ingestion, state persistence, and maintenance completion. Memory importance, types/defaults, configuration.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5.4 Affect evolution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update_momentum decays prior scores with default factor 0.82, drops very small values, and adds current dominant-emotion confidence. PAD represents pleasure, arousal, and dominance. Volatility averages recent PAD distances, bounded to 1. Stability combines low volatility and current confidence. Dissonance examines recent history, valence flips, and low confidence. Evolution source, PAD.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Explain this as engineered temporal text-affect tracking. It does not measure a person's true internal emotional state.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5.5 Sufficiency, confidence, and stopping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current sufficiency verifier intersects question/evidence terms and accepts coverage of at least 0.60, unless its narrow contradiction check fires. No evidence produces an unanswerable decision. More evidence can be requested under a bounded budget. This can fail on paraphrases or lexical distractors, so the score should not be described as semantic proof. Verifier.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confidence aggregator calibrates available signals, forms weighted means, adds disagreement to uncertainty, and reduces confidence with disagreement. Default source weights include retrieval 1.25, planning 1.15, affect 0.70, state 0.85, reflection/policy 1.0. These are source-specific weights inside a broader effective-weight mechanism, not standalone accuracies. Aggregator.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Public request defaults are top-k 5, maximum hops 3, retrieval calls 3, and context tokens 1600. Reasoning additionally has configured document/model/time/no-progress limits. Campaigns may override defaults. Read recorded effective budgets when explaining a result. E02, [reasoning configuration]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5.6 Controlled tools and corrections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TOOL(invocation, policy):</a:t>
            </a:r>
            <a:endParaRPr/>
          </a:p>
          <a:p xmlns:a="http://schemas.openxmlformats.org/drawingml/2006/main">
            <a:pPr marL="0" lvl="0" indent="0" algn="l">
              <a:lnSpc>
                <a:spcPct val="100000"/>
              </a:lnSpc>
              <a:spcBef>
                <a:spcPts val="0"/>
              </a:spcBef>
              <a:spcAft>
                <a:spcPts val="0"/>
              </a:spcAft>
              <a:buSzPts val="1400"/>
              <a:buNone/>
            </a:pPr>
            <a:r>
              <a:t>    reject external actions unless explicitly enabled</a:t>
            </a:r>
            <a:endParaRPr/>
          </a:p>
          <a:p xmlns:a="http://schemas.openxmlformats.org/drawingml/2006/main">
            <a:pPr marL="0" lvl="0" indent="0" algn="l">
              <a:lnSpc>
                <a:spcPct val="100000"/>
              </a:lnSpc>
              <a:spcBef>
                <a:spcPts val="0"/>
              </a:spcBef>
              <a:spcAft>
                <a:spcPts val="0"/>
              </a:spcAft>
              <a:buSzPts val="1400"/>
              <a:buNone/>
            </a:pPr>
            <a:r>
              <a:t>    check name, allowlist/blocklist, invocation limit and tags</a:t>
            </a:r>
            <a:endParaRPr/>
          </a:p>
          <a:p xmlns:a="http://schemas.openxmlformats.org/drawingml/2006/main">
            <a:pPr marL="0" lvl="0" indent="0" algn="l">
              <a:lnSpc>
                <a:spcPct val="100000"/>
              </a:lnSpc>
              <a:spcBef>
                <a:spcPts val="0"/>
              </a:spcBef>
              <a:spcAft>
                <a:spcPts val="0"/>
              </a:spcAft>
              <a:buSzPts val="1400"/>
              <a:buNone/>
            </a:pPr>
            <a:r>
              <a:t>    resolve registered tool</a:t>
            </a:r>
            <a:endParaRPr/>
          </a:p>
          <a:p xmlns:a="http://schemas.openxmlformats.org/drawingml/2006/main">
            <a:pPr marL="0" lvl="0" indent="0" algn="l">
              <a:lnSpc>
                <a:spcPct val="100000"/>
              </a:lnSpc>
              <a:spcBef>
                <a:spcPts val="0"/>
              </a:spcBef>
              <a:spcAft>
                <a:spcPts val="0"/>
              </a:spcAft>
              <a:buSzPts val="1400"/>
              <a:buNone/>
            </a:pPr>
            <a:r>
              <a:t>    validate arguments against tool schema</a:t>
            </a:r>
            <a:endParaRPr/>
          </a:p>
          <a:p xmlns:a="http://schemas.openxmlformats.org/drawingml/2006/main">
            <a:pPr marL="0" lvl="0" indent="0" algn="l">
              <a:lnSpc>
                <a:spcPct val="100000"/>
              </a:lnSpc>
              <a:spcBef>
                <a:spcPts val="0"/>
              </a:spcBef>
              <a:spcAft>
                <a:spcPts val="0"/>
              </a:spcAft>
              <a:buSzPts val="1400"/>
              <a:buNone/>
            </a:pPr>
            <a:r>
              <a:t>    execute handler; bound awaitable work with configured timeout</a:t>
            </a:r>
            <a:endParaRPr/>
          </a:p>
          <a:p xmlns:a="http://schemas.openxmlformats.org/drawingml/2006/main">
            <a:pPr marL="0" lvl="0" indent="0" algn="l">
              <a:lnSpc>
                <a:spcPct val="100000"/>
              </a:lnSpc>
              <a:spcBef>
                <a:spcPts val="0"/>
              </a:spcBef>
              <a:spcAft>
                <a:spcPts val="0"/>
              </a:spcAft>
              <a:buSzPts val="1400"/>
              <a:buNone/>
            </a:pPr>
            <a:r>
              <a:t>    require typed tool result; return audit and explicit errors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CORRECT(advice):</a:t>
            </a:r>
            <a:endParaRPr/>
          </a:p>
          <a:p xmlns:a="http://schemas.openxmlformats.org/drawingml/2006/main">
            <a:pPr marL="0" lvl="0" indent="0" algn="l">
              <a:lnSpc>
                <a:spcPct val="100000"/>
              </a:lnSpc>
              <a:spcBef>
                <a:spcPts val="0"/>
              </a:spcBef>
              <a:spcAft>
                <a:spcPts val="0"/>
              </a:spcAft>
              <a:buSzPts val="1400"/>
              <a:buNone/>
            </a:pPr>
            <a:r>
              <a:t>    check supported proposal and confidence/trigger conditions</a:t>
            </a:r>
            <a:endParaRPr/>
          </a:p>
          <a:p xmlns:a="http://schemas.openxmlformats.org/drawingml/2006/main">
            <a:pPr marL="0" lvl="0" indent="0" algn="l">
              <a:lnSpc>
                <a:spcPct val="100000"/>
              </a:lnSpc>
              <a:spcBef>
                <a:spcPts val="0"/>
              </a:spcBef>
              <a:spcAft>
                <a:spcPts val="0"/>
              </a:spcAft>
              <a:buSzPts val="1400"/>
              <a:buNone/>
            </a:pPr>
            <a:r>
              <a:t>    reject advice when its budget is exhausted</a:t>
            </a:r>
            <a:endParaRPr/>
          </a:p>
          <a:p xmlns:a="http://schemas.openxmlformats.org/drawingml/2006/main">
            <a:pPr marL="0" lvl="0" indent="0" algn="l">
              <a:lnSpc>
                <a:spcPct val="100000"/>
              </a:lnSpc>
              <a:spcBef>
                <a:spcPts val="0"/>
              </a:spcBef>
              <a:spcAft>
                <a:spcPts val="0"/>
              </a:spcAft>
              <a:buSzPts val="1400"/>
              <a:buNone/>
            </a:pPr>
            <a:r>
              <a:t>    route to permitted retrieval/replanning/retry/regeneration</a:t>
            </a:r>
            <a:endParaRPr/>
          </a:p>
          <a:p xmlns:a="http://schemas.openxmlformats.org/drawingml/2006/main">
            <a:pPr marL="0" lvl="0" indent="0" algn="l">
              <a:lnSpc>
                <a:spcPct val="100000"/>
              </a:lnSpc>
              <a:spcBef>
                <a:spcPts val="0"/>
              </a:spcBef>
              <a:spcAft>
                <a:spcPts val="0"/>
              </a:spcAft>
              <a:buSzPts val="1400"/>
              <a:buNone/>
            </a:pPr>
            <a:r>
              <a:t>    preserve before/after snapshots and outcome</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Tool defaults allow no external tools, limit invocations to 3, and set awaitable timeout to 5 seconds. A synchronous handler can block before that awaitable timeout applies. Reflection generates advice; workflow owns its application. Gold-aware legacy evaluators cannot supply production advice. Execution policy, tool executor, correction loop.</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C:/PRIMA_next/memory/retrieval/hybrid_fusion.py</a:t>
            </a:r>
            <a:endParaRPr/>
          </a:p>
          <a:p xmlns:a="http://schemas.openxmlformats.org/drawingml/2006/main">
            <a:pPr marL="0" lvl="0" indent="0" algn="l">
              <a:lnSpc>
                <a:spcPct val="100000"/>
              </a:lnSpc>
              <a:spcBef>
                <a:spcPts val="0"/>
              </a:spcBef>
              <a:spcAft>
                <a:spcPts val="0"/>
              </a:spcAft>
              <a:buSzPts val="1400"/>
              <a:buNone/>
            </a:pPr>
            <a:r>
              <a:t>C:/PRIMA_next/config/retrieval.yaml</a:t>
            </a:r>
            <a:endParaRPr/>
          </a:p>
          <a:p xmlns:a="http://schemas.openxmlformats.org/drawingml/2006/main">
            <a:pPr marL="0" lvl="0" indent="0" algn="l">
              <a:lnSpc>
                <a:spcPct val="100000"/>
              </a:lnSpc>
              <a:spcBef>
                <a:spcPts val="0"/>
              </a:spcBef>
              <a:spcAft>
                <a:spcPts val="0"/>
              </a:spcAft>
              <a:buSzPts val="1400"/>
              <a:buNone/>
            </a:pPr>
            <a:r>
              <a:t>C:/PRIMA_next/memory/maintenance/memory_importance.py</a:t>
            </a:r>
            <a:endParaRPr/>
          </a:p>
          <a:p xmlns:a="http://schemas.openxmlformats.org/drawingml/2006/main">
            <a:pPr marL="0" lvl="0" indent="0" algn="l">
              <a:lnSpc>
                <a:spcPct val="100000"/>
              </a:lnSpc>
              <a:spcBef>
                <a:spcPts val="0"/>
              </a:spcBef>
              <a:spcAft>
                <a:spcPts val="0"/>
              </a:spcAft>
              <a:buSzPts val="1400"/>
              <a:buNone/>
            </a:pPr>
            <a:r>
              <a:t>C:/PRIMA_next/memory/maintenance/importance_types.py</a:t>
            </a:r>
            <a:endParaRPr/>
          </a:p>
          <a:p xmlns:a="http://schemas.openxmlformats.org/drawingml/2006/main">
            <a:pPr marL="0" lvl="0" indent="0" algn="l">
              <a:lnSpc>
                <a:spcPct val="100000"/>
              </a:lnSpc>
              <a:spcBef>
                <a:spcPts val="0"/>
              </a:spcBef>
              <a:spcAft>
                <a:spcPts val="0"/>
              </a:spcAft>
              <a:buSzPts val="1400"/>
              <a:buNone/>
            </a:pPr>
            <a:r>
              <a:t>C:/PRIMA_next/config/memory_importance.yaml</a:t>
            </a:r>
            <a:endParaRPr/>
          </a:p>
          <a:p xmlns:a="http://schemas.openxmlformats.org/drawingml/2006/main">
            <a:pPr marL="0" lvl="0" indent="0" algn="l">
              <a:lnSpc>
                <a:spcPct val="100000"/>
              </a:lnSpc>
              <a:spcBef>
                <a:spcPts val="0"/>
              </a:spcBef>
              <a:spcAft>
                <a:spcPts val="0"/>
              </a:spcAft>
              <a:buSzPts val="1400"/>
              <a:buNone/>
            </a:pPr>
            <a:r>
              <a:t>C:/PRIMA_next/affect/affect_evolution.py</a:t>
            </a:r>
            <a:endParaRPr/>
          </a:p>
          <a:p xmlns:a="http://schemas.openxmlformats.org/drawingml/2006/main">
            <a:pPr marL="0" lvl="0" indent="0" algn="l">
              <a:lnSpc>
                <a:spcPct val="100000"/>
              </a:lnSpc>
              <a:spcBef>
                <a:spcPts val="0"/>
              </a:spcBef>
              <a:spcAft>
                <a:spcPts val="0"/>
              </a:spcAft>
              <a:buSzPts val="1400"/>
              <a:buNone/>
            </a:pPr>
            <a:r>
              <a:t>C:/PRIMA_next/affect/pad_model.py</a:t>
            </a:r>
            <a:endParaRPr/>
          </a:p>
          <a:p xmlns:a="http://schemas.openxmlformats.org/drawingml/2006/main">
            <a:pPr marL="0" lvl="0" indent="0" algn="l">
              <a:lnSpc>
                <a:spcPct val="100000"/>
              </a:lnSpc>
              <a:spcBef>
                <a:spcPts val="0"/>
              </a:spcBef>
              <a:spcAft>
                <a:spcPts val="0"/>
              </a:spcAft>
              <a:buSzPts val="1400"/>
              <a:buNone/>
            </a:pPr>
            <a:r>
              <a:t>C:/PRIMA_next/reasoning/sufficiency_verifier.py</a:t>
            </a:r>
            <a:endParaRPr/>
          </a:p>
          <a:p xmlns:a="http://schemas.openxmlformats.org/drawingml/2006/main">
            <a:pPr marL="0" lvl="0" indent="0" algn="l">
              <a:lnSpc>
                <a:spcPct val="100000"/>
              </a:lnSpc>
              <a:spcBef>
                <a:spcPts val="0"/>
              </a:spcBef>
              <a:spcAft>
                <a:spcPts val="0"/>
              </a:spcAft>
              <a:buSzPts val="1400"/>
              <a:buNone/>
            </a:pPr>
            <a:r>
              <a:t>C:/PRIMA_next/uncertainty/confidence_aggregator.py</a:t>
            </a:r>
            <a:endParaRPr/>
          </a:p>
          <a:p xmlns:a="http://schemas.openxmlformats.org/drawingml/2006/main">
            <a:pPr marL="0" lvl="0" indent="0" algn="l">
              <a:lnSpc>
                <a:spcPct val="100000"/>
              </a:lnSpc>
              <a:spcBef>
                <a:spcPts val="0"/>
              </a:spcBef>
              <a:spcAft>
                <a:spcPts val="0"/>
              </a:spcAft>
              <a:buSzPts val="1400"/>
              <a:buNone/>
            </a:pPr>
            <a:r>
              <a:t>C:/PRIMA_next/reasoning/config.py</a:t>
            </a:r>
            <a:endParaRPr/>
          </a:p>
          <a:p xmlns:a="http://schemas.openxmlformats.org/drawingml/2006/main">
            <a:pPr marL="0" lvl="0" indent="0" algn="l">
              <a:lnSpc>
                <a:spcPct val="100000"/>
              </a:lnSpc>
              <a:spcBef>
                <a:spcPts val="0"/>
              </a:spcBef>
              <a:spcAft>
                <a:spcPts val="0"/>
              </a:spcAft>
              <a:buSzPts val="1400"/>
              <a:buNone/>
            </a:pPr>
            <a:r>
              <a:t>C:/PRIMA_next/action/execution_policy.py</a:t>
            </a:r>
            <a:endParaRPr/>
          </a:p>
          <a:p xmlns:a="http://schemas.openxmlformats.org/drawingml/2006/main">
            <a:pPr marL="0" lvl="0" indent="0" algn="l">
              <a:lnSpc>
                <a:spcPct val="100000"/>
              </a:lnSpc>
              <a:spcBef>
                <a:spcPts val="0"/>
              </a:spcBef>
              <a:spcAft>
                <a:spcPts val="0"/>
              </a:spcAft>
              <a:buSzPts val="1400"/>
              <a:buNone/>
            </a:pPr>
            <a:r>
              <a:t>C:/PRIMA_next/tools/tool_executor.py</a:t>
            </a:r>
            <a:endParaRPr/>
          </a:p>
          <a:p xmlns:a="http://schemas.openxmlformats.org/drawingml/2006/main">
            <a:pPr marL="0" lvl="0" indent="0" algn="l">
              <a:lnSpc>
                <a:spcPct val="100000"/>
              </a:lnSpc>
              <a:spcBef>
                <a:spcPts val="0"/>
              </a:spcBef>
              <a:spcAft>
                <a:spcPts val="0"/>
              </a:spcAft>
              <a:buSzPts val="1400"/>
              <a:buNone/>
            </a:pPr>
            <a:r>
              <a:t>C:/PRIMA_next/workflow/correction_loop.py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Design Approach</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 Slide 6: design approach, benefits, drawbacks, alternatives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6.1 Chosen design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project follows a modular, typed, workflow-controlled design. Subsystems handle specific responsibilities, while the workflow owns operation order and corrections. Runtime routes select the required components. Content storage is authoritative, graph data is derived, provider access is isolated behind an LLM boundary, and benchmark scoring remains outside production inference. E02/E03, [architecture decision]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Decision | Why it helps | Drawback / tradeoff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One typed execution interface | Applications/tests/benchmarks share validation and output semantics. | Runtime assembly and compatibility code are substantial. |</a:t>
            </a:r>
            <a:endParaRPr/>
          </a:p>
          <a:p xmlns:a="http://schemas.openxmlformats.org/drawingml/2006/main">
            <a:pPr marL="0" lvl="0" indent="0" algn="l">
              <a:lnSpc>
                <a:spcPct val="100000"/>
              </a:lnSpc>
              <a:spcBef>
                <a:spcPts val="0"/>
              </a:spcBef>
              <a:spcAft>
                <a:spcPts val="0"/>
              </a:spcAft>
              <a:buSzPts val="1400"/>
              <a:buNone/>
            </a:pPr>
            <a:r>
              <a:t>| Explicit task/profile routes | Cheap tasks skip irrelevant work and comparisons select clear configurations. | Route/diagnostic consistency needs tests when tasks evolve. |</a:t>
            </a:r>
            <a:endParaRPr/>
          </a:p>
          <a:p xmlns:a="http://schemas.openxmlformats.org/drawingml/2006/main">
            <a:pPr marL="0" lvl="0" indent="0" algn="l">
              <a:lnSpc>
                <a:spcPct val="100000"/>
              </a:lnSpc>
              <a:spcBef>
                <a:spcPts val="0"/>
              </a:spcBef>
              <a:spcAft>
                <a:spcPts val="0"/>
              </a:spcAft>
              <a:buSzPts val="1400"/>
              <a:buNone/>
            </a:pPr>
            <a:r>
              <a:t>| Workflow owns corrections | Avoids subsystem mutation loops and bounds cost. | Integration logic must handle many conditional outcomes. |</a:t>
            </a:r>
            <a:endParaRPr/>
          </a:p>
          <a:p xmlns:a="http://schemas.openxmlformats.org/drawingml/2006/main">
            <a:pPr marL="0" lvl="0" indent="0" algn="l">
              <a:lnSpc>
                <a:spcPct val="100000"/>
              </a:lnSpc>
              <a:spcBef>
                <a:spcPts val="0"/>
              </a:spcBef>
              <a:spcAft>
                <a:spcPts val="0"/>
              </a:spcAft>
              <a:buSzPts val="1400"/>
              <a:buNone/>
            </a:pPr>
            <a:r>
              <a:t>| Hybrid retrieval with provenance | Covers lexical, semantic, temporal, and relationship cues. | Scores need normalization, backend identity, tuning, and ablations. |</a:t>
            </a:r>
            <a:endParaRPr/>
          </a:p>
          <a:p xmlns:a="http://schemas.openxmlformats.org/drawingml/2006/main">
            <a:pPr marL="0" lvl="0" indent="0" algn="l">
              <a:lnSpc>
                <a:spcPct val="100000"/>
              </a:lnSpc>
              <a:spcBef>
                <a:spcPts val="0"/>
              </a:spcBef>
              <a:spcAft>
                <a:spcPts val="0"/>
              </a:spcAft>
              <a:buSzPts val="1400"/>
              <a:buNone/>
            </a:pPr>
            <a:r>
              <a:t>| Background maintenance | Keeps expensive cold work out of immediate answering where possible. | Requires backpressure, barriers, failure handling, and crash durability. |</a:t>
            </a:r>
            <a:endParaRPr/>
          </a:p>
          <a:p xmlns:a="http://schemas.openxmlformats.org/drawingml/2006/main">
            <a:pPr marL="0" lvl="0" indent="0" algn="l">
              <a:lnSpc>
                <a:spcPct val="100000"/>
              </a:lnSpc>
              <a:spcBef>
                <a:spcPts val="0"/>
              </a:spcBef>
              <a:spcAft>
                <a:spcPts val="0"/>
              </a:spcAft>
              <a:buSzPts val="1400"/>
              <a:buNone/>
            </a:pPr>
            <a:r>
              <a:t>| Logical memory taxonomy | Reuses common storage while preserving purpose/provenance. | Summaries can duplicate or become stale without idempotent derivation. |</a:t>
            </a:r>
            <a:endParaRPr/>
          </a:p>
          <a:p xmlns:a="http://schemas.openxmlformats.org/drawingml/2006/main">
            <a:pPr marL="0" lvl="0" indent="0" algn="l">
              <a:lnSpc>
                <a:spcPct val="100000"/>
              </a:lnSpc>
              <a:spcBef>
                <a:spcPts val="0"/>
              </a:spcBef>
              <a:spcAft>
                <a:spcPts val="0"/>
              </a:spcAft>
              <a:buSzPts val="1400"/>
              <a:buNone/>
            </a:pPr>
            <a:r>
              <a:t>| Separate evaluator | Prevents benchmark gold from shaping inference. | More manifest/checkpoint/coverage infrastructure to maintain.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6.2 Alternatives to explain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Alternative | Strength | Why PRIMA explores more / what should still be compared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Model only | Lowest surrounding complexity and no retrieval overhead. | Cannot recover privately stored history unless supplied in context. Essential baseline. |</a:t>
            </a:r>
            <a:endParaRPr/>
          </a:p>
          <a:p xmlns:a="http://schemas.openxmlformats.org/drawingml/2006/main">
            <a:pPr marL="0" lvl="0" indent="0" algn="l">
              <a:lnSpc>
                <a:spcPct val="100000"/>
              </a:lnSpc>
              <a:spcBef>
                <a:spcPts val="0"/>
              </a:spcBef>
              <a:spcAft>
                <a:spcPts val="0"/>
              </a:spcAft>
              <a:buSzPts val="1400"/>
              <a:buNone/>
            </a:pPr>
            <a:r>
              <a:t>| Long-context prompt containing history | Simple evidence access when history fits. | Context size/cost and missing-history behavior still require measurement. A useful additional baseline when feasible. |</a:t>
            </a:r>
            <a:endParaRPr/>
          </a:p>
          <a:p xmlns:a="http://schemas.openxmlformats.org/drawingml/2006/main">
            <a:pPr marL="0" lvl="0" indent="0" algn="l">
              <a:lnSpc>
                <a:spcPct val="100000"/>
              </a:lnSpc>
              <a:spcBef>
                <a:spcPts val="0"/>
              </a:spcBef>
              <a:spcAft>
                <a:spcPts val="0"/>
              </a:spcAft>
              <a:buSzPts val="1400"/>
              <a:buNone/>
            </a:pPr>
            <a:r>
              <a:t>| Simple dense/sparse RAG | Smaller retrieval system with clear evidence flow. | May suffice for the target. Full PRIMA must earn its added cost through matched results. |</a:t>
            </a:r>
            <a:endParaRPr/>
          </a:p>
          <a:p xmlns:a="http://schemas.openxmlformats.org/drawingml/2006/main">
            <a:pPr marL="0" lvl="0" indent="0" algn="l">
              <a:lnSpc>
                <a:spcPct val="100000"/>
              </a:lnSpc>
              <a:spcBef>
                <a:spcPts val="0"/>
              </a:spcBef>
              <a:spcAft>
                <a:spcPts val="0"/>
              </a:spcAft>
              <a:buSzPts val="1400"/>
              <a:buNone/>
            </a:pPr>
            <a:r>
              <a:t>| Always run every component | Easy to draw as one large pipeline. | Adds unnecessary work and misrepresents task needs. Short routes are intentional. |</a:t>
            </a:r>
            <a:endParaRPr/>
          </a:p>
          <a:p xmlns:a="http://schemas.openxmlformats.org/drawingml/2006/main">
            <a:pPr marL="0" lvl="0" indent="0" algn="l">
              <a:lnSpc>
                <a:spcPct val="100000"/>
              </a:lnSpc>
              <a:spcBef>
                <a:spcPts val="0"/>
              </a:spcBef>
              <a:spcAft>
                <a:spcPts val="0"/>
              </a:spcAft>
              <a:buSzPts val="1400"/>
              <a:buNone/>
            </a:pPr>
            <a:r>
              <a:t>| Fine-tune a new model for the whole task | Can specialize model behavior. | Requires training/data resources and separate generalization evidence. Current runtime does not require it.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6.3 Technology choices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Current setup/CI target Python 3.14. Pydantic supplies contracts/settings. NumPy supports numeric operations. ChromaDB is the configured persistent content option; explicit in-memory repositories support tests. NetworkX supports graph operations. Sentence Transformers supplies learned embedding/reranking infrastructure. PyTorch/Transformers and scikit-learn support optional emotion training/baselines. Provider transport/parsing lives in llm/. Pytest and the configured Ruff/Mypy/Xenon/Bandit checks support development. E01/E10, [requirements]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Installing a package does not establish that its model weights are available or that the current runtime selected it. Report requested and active embedding, affect, reranker, provider/model/revision, runtime mode, and repository identities from diagnostics.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6.4 Limitations worth acknowledging in the review</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Full QA quality gains and isolated affect/graph/reflection gains are unproven.</a:t>
            </a:r>
            <a:endParaRPr/>
          </a:p>
          <a:p xmlns:a="http://schemas.openxmlformats.org/drawingml/2006/main">
            <a:pPr marL="0" lvl="0" indent="0" algn="l">
              <a:lnSpc>
                <a:spcPct val="100000"/>
              </a:lnSpc>
              <a:spcBef>
                <a:spcPts val="0"/>
              </a:spcBef>
              <a:spcAft>
                <a:spcPts val="0"/>
              </a:spcAft>
              <a:buSzPts val="1400"/>
              <a:buNone/>
            </a:pPr>
            <a:r>
              <a:t>The dated audit reproduced repeated abstractions, stale shared-context edges, and affect history shared across fresh states on one engine. A single-user research runtime is a narrower boundary than a multiuser service. [E04]</a:t>
            </a:r>
            <a:endParaRPr/>
          </a:p>
          <a:p xmlns:a="http://schemas.openxmlformats.org/drawingml/2006/main">
            <a:pPr marL="0" lvl="0" indent="0" algn="l">
              <a:lnSpc>
                <a:spcPct val="100000"/>
              </a:lnSpc>
              <a:spcBef>
                <a:spcPts val="0"/>
              </a:spcBef>
              <a:spcAft>
                <a:spcPts val="0"/>
              </a:spcAft>
              <a:buSzPts val="1400"/>
              <a:buNone/>
            </a:pPr>
            <a:r>
              <a:t>The maintenance queue/deduplication sets are process-local. JSON state handling does not establish safe multiple-process transactions. [E04/E09]</a:t>
            </a:r>
            <a:endParaRPr/>
          </a:p>
          <a:p xmlns:a="http://schemas.openxmlformats.org/drawingml/2006/main">
            <a:pPr marL="0" lvl="0" indent="0" algn="l">
              <a:lnSpc>
                <a:spcPct val="100000"/>
              </a:lnSpc>
              <a:spcBef>
                <a:spcPts val="0"/>
              </a:spcBef>
              <a:spcAft>
                <a:spcPts val="0"/>
              </a:spcAft>
              <a:buSzPts val="1400"/>
              <a:buNone/>
            </a:pPr>
            <a:r>
              <a:t>Confidence and symbolic risks require held-out calibration. Citation membership is weaker than claim support.</a:t>
            </a:r>
            <a:endParaRPr/>
          </a:p>
          <a:p xmlns:a="http://schemas.openxmlformats.org/drawingml/2006/main">
            <a:pPr marL="0" lvl="0" indent="0" algn="l">
              <a:lnSpc>
                <a:spcPct val="100000"/>
              </a:lnSpc>
              <a:spcBef>
                <a:spcPts val="0"/>
              </a:spcBef>
              <a:spcAft>
                <a:spcPts val="0"/>
              </a:spcAft>
              <a:buSzPts val="1400"/>
              <a:buNone/>
            </a:pPr>
            <a:r>
              <a:t>Tool policies are application controls. Hard isolation, reliable synchronous timeouts, and idempotent side effects need deployment-specific work.</a:t>
            </a:r>
            <a:endParaRPr/>
          </a:p>
          <a:p xmlns:a="http://schemas.openxmlformats.org/drawingml/2006/main">
            <a:pPr marL="0" lvl="0" indent="0" algn="l">
              <a:lnSpc>
                <a:spcPct val="100000"/>
              </a:lnSpc>
              <a:spcBef>
                <a:spcPts val="0"/>
              </a:spcBef>
              <a:spcAft>
                <a:spcPts val="0"/>
              </a:spcAft>
              <a:buSzPts val="1400"/>
              <a:buNone/>
            </a:pPr>
            <a:r>
              <a:t>No hosted production assistant, physical robot, clinical system, or universal reasoning capability is demonstrated by this repository.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scope limits and pending validation, not reasons to discard the existing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C:/PRIMA_next/docs/architecture/ADR_CANONICAL_RUNTIME.md</a:t>
            </a:r>
            <a:endParaRPr/>
          </a:p>
          <a:p xmlns:a="http://schemas.openxmlformats.org/drawingml/2006/main">
            <a:pPr marL="0" lvl="0" indent="0" algn="l">
              <a:lnSpc>
                <a:spcPct val="100000"/>
              </a:lnSpc>
              <a:spcBef>
                <a:spcPts val="0"/>
              </a:spcBef>
              <a:spcAft>
                <a:spcPts val="0"/>
              </a:spcAft>
              <a:buSzPts val="1400"/>
              <a:buNone/>
            </a:pPr>
            <a:r>
              <a:t>C:/PRIMA_next/requirements.txt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Design benefits and drawbacks (1/2)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 Slide 6: design approach, benefits, drawbacks, alternatives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6.1 Chosen design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project follows a modular, typed, workflow-controlled design. Subsystems handle specific responsibilities, while the workflow owns operation order and corrections. Runtime routes select the required components. Content storage is authoritative, graph data is derived, provider access is isolated behind an LLM boundary, and benchmark scoring remains outside production inference. E02/E03, [architecture decision]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Decision | Why it helps | Drawback / tradeoff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One typed execution interface | Applications/tests/benchmarks share validation and output semantics. | Runtime assembly and compatibility code are substantial. |</a:t>
            </a:r>
            <a:endParaRPr/>
          </a:p>
          <a:p xmlns:a="http://schemas.openxmlformats.org/drawingml/2006/main">
            <a:pPr marL="0" lvl="0" indent="0" algn="l">
              <a:lnSpc>
                <a:spcPct val="100000"/>
              </a:lnSpc>
              <a:spcBef>
                <a:spcPts val="0"/>
              </a:spcBef>
              <a:spcAft>
                <a:spcPts val="0"/>
              </a:spcAft>
              <a:buSzPts val="1400"/>
              <a:buNone/>
            </a:pPr>
            <a:r>
              <a:t>| Explicit task/profile routes | Cheap tasks skip irrelevant work and comparisons select clear configurations. | Route/diagnostic consistency needs tests when tasks evolve. |</a:t>
            </a:r>
            <a:endParaRPr/>
          </a:p>
          <a:p xmlns:a="http://schemas.openxmlformats.org/drawingml/2006/main">
            <a:pPr marL="0" lvl="0" indent="0" algn="l">
              <a:lnSpc>
                <a:spcPct val="100000"/>
              </a:lnSpc>
              <a:spcBef>
                <a:spcPts val="0"/>
              </a:spcBef>
              <a:spcAft>
                <a:spcPts val="0"/>
              </a:spcAft>
              <a:buSzPts val="1400"/>
              <a:buNone/>
            </a:pPr>
            <a:r>
              <a:t>| Workflow owns corrections | Avoids subsystem mutation loops and bounds cost. | Integration logic must handle many conditional outcomes. |</a:t>
            </a:r>
            <a:endParaRPr/>
          </a:p>
          <a:p xmlns:a="http://schemas.openxmlformats.org/drawingml/2006/main">
            <a:pPr marL="0" lvl="0" indent="0" algn="l">
              <a:lnSpc>
                <a:spcPct val="100000"/>
              </a:lnSpc>
              <a:spcBef>
                <a:spcPts val="0"/>
              </a:spcBef>
              <a:spcAft>
                <a:spcPts val="0"/>
              </a:spcAft>
              <a:buSzPts val="1400"/>
              <a:buNone/>
            </a:pPr>
            <a:r>
              <a:t>| Hybrid retrieval with provenance | Covers lexical, semantic, temporal, and relationship cues. | Scores need normalization, backend identity, tuning, and ablations. |</a:t>
            </a:r>
            <a:endParaRPr/>
          </a:p>
          <a:p xmlns:a="http://schemas.openxmlformats.org/drawingml/2006/main">
            <a:pPr marL="0" lvl="0" indent="0" algn="l">
              <a:lnSpc>
                <a:spcPct val="100000"/>
              </a:lnSpc>
              <a:spcBef>
                <a:spcPts val="0"/>
              </a:spcBef>
              <a:spcAft>
                <a:spcPts val="0"/>
              </a:spcAft>
              <a:buSzPts val="1400"/>
              <a:buNone/>
            </a:pPr>
            <a:r>
              <a:t>| Background maintenance | Keeps expensive cold work out of immediate answering where possible. | Requires backpressure, barriers, failure handling, and crash durability. |</a:t>
            </a:r>
            <a:endParaRPr/>
          </a:p>
          <a:p xmlns:a="http://schemas.openxmlformats.org/drawingml/2006/main">
            <a:pPr marL="0" lvl="0" indent="0" algn="l">
              <a:lnSpc>
                <a:spcPct val="100000"/>
              </a:lnSpc>
              <a:spcBef>
                <a:spcPts val="0"/>
              </a:spcBef>
              <a:spcAft>
                <a:spcPts val="0"/>
              </a:spcAft>
              <a:buSzPts val="1400"/>
              <a:buNone/>
            </a:pPr>
            <a:r>
              <a:t>| Logical memory taxonomy | Reuses common storage while preserving purpose/provenance. | Summaries can duplicate or become stale without idempotent derivation. |</a:t>
            </a:r>
            <a:endParaRPr/>
          </a:p>
          <a:p xmlns:a="http://schemas.openxmlformats.org/drawingml/2006/main">
            <a:pPr marL="0" lvl="0" indent="0" algn="l">
              <a:lnSpc>
                <a:spcPct val="100000"/>
              </a:lnSpc>
              <a:spcBef>
                <a:spcPts val="0"/>
              </a:spcBef>
              <a:spcAft>
                <a:spcPts val="0"/>
              </a:spcAft>
              <a:buSzPts val="1400"/>
              <a:buNone/>
            </a:pPr>
            <a:r>
              <a:t>| Separate evaluator | Prevents benchmark gold from shaping inference. | More manifest/checkpoint/coverage infrastructure to maintain.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6.2 Alternatives to explain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Alternative | Strength | Why PRIMA explores more / what should still be compared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Model only | Lowest surrounding complexity and no retrieval overhead. | Cannot recover privately stored history unless supplied in context. Essential baseline. |</a:t>
            </a:r>
            <a:endParaRPr/>
          </a:p>
          <a:p xmlns:a="http://schemas.openxmlformats.org/drawingml/2006/main">
            <a:pPr marL="0" lvl="0" indent="0" algn="l">
              <a:lnSpc>
                <a:spcPct val="100000"/>
              </a:lnSpc>
              <a:spcBef>
                <a:spcPts val="0"/>
              </a:spcBef>
              <a:spcAft>
                <a:spcPts val="0"/>
              </a:spcAft>
              <a:buSzPts val="1400"/>
              <a:buNone/>
            </a:pPr>
            <a:r>
              <a:t>| Long-context prompt containing history | Simple evidence access when history fits. | Context size/cost and missing-history behavior still require measurement. A useful additional baseline when feasible. |</a:t>
            </a:r>
            <a:endParaRPr/>
          </a:p>
          <a:p xmlns:a="http://schemas.openxmlformats.org/drawingml/2006/main">
            <a:pPr marL="0" lvl="0" indent="0" algn="l">
              <a:lnSpc>
                <a:spcPct val="100000"/>
              </a:lnSpc>
              <a:spcBef>
                <a:spcPts val="0"/>
              </a:spcBef>
              <a:spcAft>
                <a:spcPts val="0"/>
              </a:spcAft>
              <a:buSzPts val="1400"/>
              <a:buNone/>
            </a:pPr>
            <a:r>
              <a:t>| Simple dense/sparse RAG | Smaller retrieval system with clear evidence flow. | May suffice for the target. Full PRIMA must earn its added cost through matched results. |</a:t>
            </a:r>
            <a:endParaRPr/>
          </a:p>
          <a:p xmlns:a="http://schemas.openxmlformats.org/drawingml/2006/main">
            <a:pPr marL="0" lvl="0" indent="0" algn="l">
              <a:lnSpc>
                <a:spcPct val="100000"/>
              </a:lnSpc>
              <a:spcBef>
                <a:spcPts val="0"/>
              </a:spcBef>
              <a:spcAft>
                <a:spcPts val="0"/>
              </a:spcAft>
              <a:buSzPts val="1400"/>
              <a:buNone/>
            </a:pPr>
            <a:r>
              <a:t>| Always run every component | Easy to draw as one large pipeline. | Adds unnecessary work and misrepresents task needs. Short routes are intentional. |</a:t>
            </a:r>
            <a:endParaRPr/>
          </a:p>
          <a:p xmlns:a="http://schemas.openxmlformats.org/drawingml/2006/main">
            <a:pPr marL="0" lvl="0" indent="0" algn="l">
              <a:lnSpc>
                <a:spcPct val="100000"/>
              </a:lnSpc>
              <a:spcBef>
                <a:spcPts val="0"/>
              </a:spcBef>
              <a:spcAft>
                <a:spcPts val="0"/>
              </a:spcAft>
              <a:buSzPts val="1400"/>
              <a:buNone/>
            </a:pPr>
            <a:r>
              <a:t>| Fine-tune a new model for the whole task | Can specialize model behavior. | Requires training/data resources and separate generalization evidence. Current runtime does not require it.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6.3 Technology choices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Current setup/CI target Python 3.14. Pydantic supplies contracts/settings. NumPy supports numeric operations. ChromaDB is the configured persistent content option; explicit in-memory repositories support tests. NetworkX supports graph operations. Sentence Transformers supplies learned embedding/reranking infrastructure. PyTorch/Transformers and scikit-learn support optional emotion training/baselines. Provider transport/parsing lives in llm/. Pytest and the configured Ruff/Mypy/Xenon/Bandit checks support development. E01/E10, [requirements]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Installing a package does not establish that its model weights are available or that the current runtime selected it. Report requested and active embedding, affect, reranker, provider/model/revision, runtime mode, and repository identities from diagnostics.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6.4 Limitations worth acknowledging in the review</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Full QA quality gains and isolated affect/graph/reflection gains are unproven.</a:t>
            </a:r>
            <a:endParaRPr/>
          </a:p>
          <a:p xmlns:a="http://schemas.openxmlformats.org/drawingml/2006/main">
            <a:pPr marL="0" lvl="0" indent="0" algn="l">
              <a:lnSpc>
                <a:spcPct val="100000"/>
              </a:lnSpc>
              <a:spcBef>
                <a:spcPts val="0"/>
              </a:spcBef>
              <a:spcAft>
                <a:spcPts val="0"/>
              </a:spcAft>
              <a:buSzPts val="1400"/>
              <a:buNone/>
            </a:pPr>
            <a:r>
              <a:t>The dated audit reproduced repeated abstractions, stale shared-context edges, and affect history shared across fresh states on one engine. A single-user research runtime is a narrower boundary than a multiuser service. [E04]</a:t>
            </a:r>
            <a:endParaRPr/>
          </a:p>
          <a:p xmlns:a="http://schemas.openxmlformats.org/drawingml/2006/main">
            <a:pPr marL="0" lvl="0" indent="0" algn="l">
              <a:lnSpc>
                <a:spcPct val="100000"/>
              </a:lnSpc>
              <a:spcBef>
                <a:spcPts val="0"/>
              </a:spcBef>
              <a:spcAft>
                <a:spcPts val="0"/>
              </a:spcAft>
              <a:buSzPts val="1400"/>
              <a:buNone/>
            </a:pPr>
            <a:r>
              <a:t>The maintenance queue/deduplication sets are process-local. JSON state handling does not establish safe multiple-process transactions. [E04/E09]</a:t>
            </a:r>
            <a:endParaRPr/>
          </a:p>
          <a:p xmlns:a="http://schemas.openxmlformats.org/drawingml/2006/main">
            <a:pPr marL="0" lvl="0" indent="0" algn="l">
              <a:lnSpc>
                <a:spcPct val="100000"/>
              </a:lnSpc>
              <a:spcBef>
                <a:spcPts val="0"/>
              </a:spcBef>
              <a:spcAft>
                <a:spcPts val="0"/>
              </a:spcAft>
              <a:buSzPts val="1400"/>
              <a:buNone/>
            </a:pPr>
            <a:r>
              <a:t>Confidence and symbolic risks require held-out calibration. Citation membership is weaker than claim support.</a:t>
            </a:r>
            <a:endParaRPr/>
          </a:p>
          <a:p xmlns:a="http://schemas.openxmlformats.org/drawingml/2006/main">
            <a:pPr marL="0" lvl="0" indent="0" algn="l">
              <a:lnSpc>
                <a:spcPct val="100000"/>
              </a:lnSpc>
              <a:spcBef>
                <a:spcPts val="0"/>
              </a:spcBef>
              <a:spcAft>
                <a:spcPts val="0"/>
              </a:spcAft>
              <a:buSzPts val="1400"/>
              <a:buNone/>
            </a:pPr>
            <a:r>
              <a:t>Tool policies are application controls. Hard isolation, reliable synchronous timeouts, and idempotent side effects need deployment-specific work.</a:t>
            </a:r>
            <a:endParaRPr/>
          </a:p>
          <a:p xmlns:a="http://schemas.openxmlformats.org/drawingml/2006/main">
            <a:pPr marL="0" lvl="0" indent="0" algn="l">
              <a:lnSpc>
                <a:spcPct val="100000"/>
              </a:lnSpc>
              <a:spcBef>
                <a:spcPts val="0"/>
              </a:spcBef>
              <a:spcAft>
                <a:spcPts val="0"/>
              </a:spcAft>
              <a:buSzPts val="1400"/>
              <a:buNone/>
            </a:pPr>
            <a:r>
              <a:t>No hosted production assistant, physical robot, clinical system, or universal reasoning capability is demonstrated by this repository.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scope limits and pending validation, not reasons to discard the existing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C:/PRIMA_next/docs/architecture/ADR_CANONICAL_RUNTIME.md</a:t>
            </a:r>
            <a:endParaRPr/>
          </a:p>
          <a:p xmlns:a="http://schemas.openxmlformats.org/drawingml/2006/main">
            <a:pPr marL="0" lvl="0" indent="0" algn="l">
              <a:lnSpc>
                <a:spcPct val="100000"/>
              </a:lnSpc>
              <a:spcBef>
                <a:spcPts val="0"/>
              </a:spcBef>
              <a:spcAft>
                <a:spcPts val="0"/>
              </a:spcAft>
              <a:buSzPts val="1400"/>
              <a:buNone/>
            </a:pPr>
            <a:r>
              <a:t>C:/PRIMA_next/requirements.txt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Design benefits and drawbacks (2/2)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 Slide 6: design approach, benefits, drawbacks, alternatives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6.1 Chosen design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project follows a modular, typed, workflow-controlled design. Subsystems handle specific responsibilities, while the workflow owns operation order and corrections. Runtime routes select the required components. Content storage is authoritative, graph data is derived, provider access is isolated behind an LLM boundary, and benchmark scoring remains outside production inference. E02/E03, [architecture decision]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Decision | Why it helps | Drawback / tradeoff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One typed execution interface | Applications/tests/benchmarks share validation and output semantics. | Runtime assembly and compatibility code are substantial. |</a:t>
            </a:r>
            <a:endParaRPr/>
          </a:p>
          <a:p xmlns:a="http://schemas.openxmlformats.org/drawingml/2006/main">
            <a:pPr marL="0" lvl="0" indent="0" algn="l">
              <a:lnSpc>
                <a:spcPct val="100000"/>
              </a:lnSpc>
              <a:spcBef>
                <a:spcPts val="0"/>
              </a:spcBef>
              <a:spcAft>
                <a:spcPts val="0"/>
              </a:spcAft>
              <a:buSzPts val="1400"/>
              <a:buNone/>
            </a:pPr>
            <a:r>
              <a:t>| Explicit task/profile routes | Cheap tasks skip irrelevant work and comparisons select clear configurations. | Route/diagnostic consistency needs tests when tasks evolve. |</a:t>
            </a:r>
            <a:endParaRPr/>
          </a:p>
          <a:p xmlns:a="http://schemas.openxmlformats.org/drawingml/2006/main">
            <a:pPr marL="0" lvl="0" indent="0" algn="l">
              <a:lnSpc>
                <a:spcPct val="100000"/>
              </a:lnSpc>
              <a:spcBef>
                <a:spcPts val="0"/>
              </a:spcBef>
              <a:spcAft>
                <a:spcPts val="0"/>
              </a:spcAft>
              <a:buSzPts val="1400"/>
              <a:buNone/>
            </a:pPr>
            <a:r>
              <a:t>| Workflow owns corrections | Avoids subsystem mutation loops and bounds cost. | Integration logic must handle many conditional outcomes. |</a:t>
            </a:r>
            <a:endParaRPr/>
          </a:p>
          <a:p xmlns:a="http://schemas.openxmlformats.org/drawingml/2006/main">
            <a:pPr marL="0" lvl="0" indent="0" algn="l">
              <a:lnSpc>
                <a:spcPct val="100000"/>
              </a:lnSpc>
              <a:spcBef>
                <a:spcPts val="0"/>
              </a:spcBef>
              <a:spcAft>
                <a:spcPts val="0"/>
              </a:spcAft>
              <a:buSzPts val="1400"/>
              <a:buNone/>
            </a:pPr>
            <a:r>
              <a:t>| Hybrid retrieval with provenance | Covers lexical, semantic, temporal, and relationship cues. | Scores need normalization, backend identity, tuning, and ablations. |</a:t>
            </a:r>
            <a:endParaRPr/>
          </a:p>
          <a:p xmlns:a="http://schemas.openxmlformats.org/drawingml/2006/main">
            <a:pPr marL="0" lvl="0" indent="0" algn="l">
              <a:lnSpc>
                <a:spcPct val="100000"/>
              </a:lnSpc>
              <a:spcBef>
                <a:spcPts val="0"/>
              </a:spcBef>
              <a:spcAft>
                <a:spcPts val="0"/>
              </a:spcAft>
              <a:buSzPts val="1400"/>
              <a:buNone/>
            </a:pPr>
            <a:r>
              <a:t>| Background maintenance | Keeps expensive cold work out of immediate answering where possible. | Requires backpressure, barriers, failure handling, and crash durability. |</a:t>
            </a:r>
            <a:endParaRPr/>
          </a:p>
          <a:p xmlns:a="http://schemas.openxmlformats.org/drawingml/2006/main">
            <a:pPr marL="0" lvl="0" indent="0" algn="l">
              <a:lnSpc>
                <a:spcPct val="100000"/>
              </a:lnSpc>
              <a:spcBef>
                <a:spcPts val="0"/>
              </a:spcBef>
              <a:spcAft>
                <a:spcPts val="0"/>
              </a:spcAft>
              <a:buSzPts val="1400"/>
              <a:buNone/>
            </a:pPr>
            <a:r>
              <a:t>| Logical memory taxonomy | Reuses common storage while preserving purpose/provenance. | Summaries can duplicate or become stale without idempotent derivation. |</a:t>
            </a:r>
            <a:endParaRPr/>
          </a:p>
          <a:p xmlns:a="http://schemas.openxmlformats.org/drawingml/2006/main">
            <a:pPr marL="0" lvl="0" indent="0" algn="l">
              <a:lnSpc>
                <a:spcPct val="100000"/>
              </a:lnSpc>
              <a:spcBef>
                <a:spcPts val="0"/>
              </a:spcBef>
              <a:spcAft>
                <a:spcPts val="0"/>
              </a:spcAft>
              <a:buSzPts val="1400"/>
              <a:buNone/>
            </a:pPr>
            <a:r>
              <a:t>| Separate evaluator | Prevents benchmark gold from shaping inference. | More manifest/checkpoint/coverage infrastructure to maintain.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6.2 Alternatives to explain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Alternative | Strength | Why PRIMA explores more / what should still be compared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Model only | Lowest surrounding complexity and no retrieval overhead. | Cannot recover privately stored history unless supplied in context. Essential baseline. |</a:t>
            </a:r>
            <a:endParaRPr/>
          </a:p>
          <a:p xmlns:a="http://schemas.openxmlformats.org/drawingml/2006/main">
            <a:pPr marL="0" lvl="0" indent="0" algn="l">
              <a:lnSpc>
                <a:spcPct val="100000"/>
              </a:lnSpc>
              <a:spcBef>
                <a:spcPts val="0"/>
              </a:spcBef>
              <a:spcAft>
                <a:spcPts val="0"/>
              </a:spcAft>
              <a:buSzPts val="1400"/>
              <a:buNone/>
            </a:pPr>
            <a:r>
              <a:t>| Long-context prompt containing history | Simple evidence access when history fits. | Context size/cost and missing-history behavior still require measurement. A useful additional baseline when feasible. |</a:t>
            </a:r>
            <a:endParaRPr/>
          </a:p>
          <a:p xmlns:a="http://schemas.openxmlformats.org/drawingml/2006/main">
            <a:pPr marL="0" lvl="0" indent="0" algn="l">
              <a:lnSpc>
                <a:spcPct val="100000"/>
              </a:lnSpc>
              <a:spcBef>
                <a:spcPts val="0"/>
              </a:spcBef>
              <a:spcAft>
                <a:spcPts val="0"/>
              </a:spcAft>
              <a:buSzPts val="1400"/>
              <a:buNone/>
            </a:pPr>
            <a:r>
              <a:t>| Simple dense/sparse RAG | Smaller retrieval system with clear evidence flow. | May suffice for the target. Full PRIMA must earn its added cost through matched results. |</a:t>
            </a:r>
            <a:endParaRPr/>
          </a:p>
          <a:p xmlns:a="http://schemas.openxmlformats.org/drawingml/2006/main">
            <a:pPr marL="0" lvl="0" indent="0" algn="l">
              <a:lnSpc>
                <a:spcPct val="100000"/>
              </a:lnSpc>
              <a:spcBef>
                <a:spcPts val="0"/>
              </a:spcBef>
              <a:spcAft>
                <a:spcPts val="0"/>
              </a:spcAft>
              <a:buSzPts val="1400"/>
              <a:buNone/>
            </a:pPr>
            <a:r>
              <a:t>| Always run every component | Easy to draw as one large pipeline. | Adds unnecessary work and misrepresents task needs. Short routes are intentional. |</a:t>
            </a:r>
            <a:endParaRPr/>
          </a:p>
          <a:p xmlns:a="http://schemas.openxmlformats.org/drawingml/2006/main">
            <a:pPr marL="0" lvl="0" indent="0" algn="l">
              <a:lnSpc>
                <a:spcPct val="100000"/>
              </a:lnSpc>
              <a:spcBef>
                <a:spcPts val="0"/>
              </a:spcBef>
              <a:spcAft>
                <a:spcPts val="0"/>
              </a:spcAft>
              <a:buSzPts val="1400"/>
              <a:buNone/>
            </a:pPr>
            <a:r>
              <a:t>| Fine-tune a new model for the whole task | Can specialize model behavior. | Requires training/data resources and separate generalization evidence. Current runtime does not require it.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6.3 Technology choices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Current setup/CI target Python 3.14. Pydantic supplies contracts/settings. NumPy supports numeric operations. ChromaDB is the configured persistent content option; explicit in-memory repositories support tests. NetworkX supports graph operations. Sentence Transformers supplies learned embedding/reranking infrastructure. PyTorch/Transformers and scikit-learn support optional emotion training/baselines. Provider transport/parsing lives in llm/. Pytest and the configured Ruff/Mypy/Xenon/Bandit checks support development. E01/E10, [requirements]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Installing a package does not establish that its model weights are available or that the current runtime selected it. Report requested and active embedding, affect, reranker, provider/model/revision, runtime mode, and repository identities from diagnostics.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6.4 Limitations worth acknowledging in the review</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Full QA quality gains and isolated affect/graph/reflection gains are unproven.</a:t>
            </a:r>
            <a:endParaRPr/>
          </a:p>
          <a:p xmlns:a="http://schemas.openxmlformats.org/drawingml/2006/main">
            <a:pPr marL="0" lvl="0" indent="0" algn="l">
              <a:lnSpc>
                <a:spcPct val="100000"/>
              </a:lnSpc>
              <a:spcBef>
                <a:spcPts val="0"/>
              </a:spcBef>
              <a:spcAft>
                <a:spcPts val="0"/>
              </a:spcAft>
              <a:buSzPts val="1400"/>
              <a:buNone/>
            </a:pPr>
            <a:r>
              <a:t>The dated audit reproduced repeated abstractions, stale shared-context edges, and affect history shared across fresh states on one engine. A single-user research runtime is a narrower boundary than a multiuser service. [E04]</a:t>
            </a:r>
            <a:endParaRPr/>
          </a:p>
          <a:p xmlns:a="http://schemas.openxmlformats.org/drawingml/2006/main">
            <a:pPr marL="0" lvl="0" indent="0" algn="l">
              <a:lnSpc>
                <a:spcPct val="100000"/>
              </a:lnSpc>
              <a:spcBef>
                <a:spcPts val="0"/>
              </a:spcBef>
              <a:spcAft>
                <a:spcPts val="0"/>
              </a:spcAft>
              <a:buSzPts val="1400"/>
              <a:buNone/>
            </a:pPr>
            <a:r>
              <a:t>The maintenance queue/deduplication sets are process-local. JSON state handling does not establish safe multiple-process transactions. [E04/E09]</a:t>
            </a:r>
            <a:endParaRPr/>
          </a:p>
          <a:p xmlns:a="http://schemas.openxmlformats.org/drawingml/2006/main">
            <a:pPr marL="0" lvl="0" indent="0" algn="l">
              <a:lnSpc>
                <a:spcPct val="100000"/>
              </a:lnSpc>
              <a:spcBef>
                <a:spcPts val="0"/>
              </a:spcBef>
              <a:spcAft>
                <a:spcPts val="0"/>
              </a:spcAft>
              <a:buSzPts val="1400"/>
              <a:buNone/>
            </a:pPr>
            <a:r>
              <a:t>Confidence and symbolic risks require held-out calibration. Citation membership is weaker than claim support.</a:t>
            </a:r>
            <a:endParaRPr/>
          </a:p>
          <a:p xmlns:a="http://schemas.openxmlformats.org/drawingml/2006/main">
            <a:pPr marL="0" lvl="0" indent="0" algn="l">
              <a:lnSpc>
                <a:spcPct val="100000"/>
              </a:lnSpc>
              <a:spcBef>
                <a:spcPts val="0"/>
              </a:spcBef>
              <a:spcAft>
                <a:spcPts val="0"/>
              </a:spcAft>
              <a:buSzPts val="1400"/>
              <a:buNone/>
            </a:pPr>
            <a:r>
              <a:t>Tool policies are application controls. Hard isolation, reliable synchronous timeouts, and idempotent side effects need deployment-specific work.</a:t>
            </a:r>
            <a:endParaRPr/>
          </a:p>
          <a:p xmlns:a="http://schemas.openxmlformats.org/drawingml/2006/main">
            <a:pPr marL="0" lvl="0" indent="0" algn="l">
              <a:lnSpc>
                <a:spcPct val="100000"/>
              </a:lnSpc>
              <a:spcBef>
                <a:spcPts val="0"/>
              </a:spcBef>
              <a:spcAft>
                <a:spcPts val="0"/>
              </a:spcAft>
              <a:buSzPts val="1400"/>
              <a:buNone/>
            </a:pPr>
            <a:r>
              <a:t>No hosted production assistant, physical robot, clinical system, or universal reasoning capability is demonstrated by this repository.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scope limits and pending validation, not reasons to discard the existing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C:/PRIMA_next/docs/architecture/ADR_CANONICAL_RUNTIME.md</a:t>
            </a:r>
            <a:endParaRPr/>
          </a:p>
          <a:p xmlns:a="http://schemas.openxmlformats.org/drawingml/2006/main">
            <a:pPr marL="0" lvl="0" indent="0" algn="l">
              <a:lnSpc>
                <a:spcPct val="100000"/>
              </a:lnSpc>
              <a:spcBef>
                <a:spcPts val="0"/>
              </a:spcBef>
              <a:spcAft>
                <a:spcPts val="0"/>
              </a:spcAft>
              <a:buSzPts val="1400"/>
              <a:buNone/>
            </a:pPr>
            <a:r>
              <a:t>C:/PRIMA_next/requirements.txt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Alternative design approaches (1/2)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 Slide 6: design approach, benefits, drawbacks, alternatives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6.1 Chosen design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project follows a modular, typed, workflow-controlled design. Subsystems handle specific responsibilities, while the workflow owns operation order and corrections. Runtime routes select the required components. Content storage is authoritative, graph data is derived, provider access is isolated behind an LLM boundary, and benchmark scoring remains outside production inference. E02/E03, [architecture decision]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Decision | Why it helps | Drawback / tradeoff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One typed execution interface | Applications/tests/benchmarks share validation and output semantics. | Runtime assembly and compatibility code are substantial. |</a:t>
            </a:r>
            <a:endParaRPr/>
          </a:p>
          <a:p xmlns:a="http://schemas.openxmlformats.org/drawingml/2006/main">
            <a:pPr marL="0" lvl="0" indent="0" algn="l">
              <a:lnSpc>
                <a:spcPct val="100000"/>
              </a:lnSpc>
              <a:spcBef>
                <a:spcPts val="0"/>
              </a:spcBef>
              <a:spcAft>
                <a:spcPts val="0"/>
              </a:spcAft>
              <a:buSzPts val="1400"/>
              <a:buNone/>
            </a:pPr>
            <a:r>
              <a:t>| Explicit task/profile routes | Cheap tasks skip irrelevant work and comparisons select clear configurations. | Route/diagnostic consistency needs tests when tasks evolve. |</a:t>
            </a:r>
            <a:endParaRPr/>
          </a:p>
          <a:p xmlns:a="http://schemas.openxmlformats.org/drawingml/2006/main">
            <a:pPr marL="0" lvl="0" indent="0" algn="l">
              <a:lnSpc>
                <a:spcPct val="100000"/>
              </a:lnSpc>
              <a:spcBef>
                <a:spcPts val="0"/>
              </a:spcBef>
              <a:spcAft>
                <a:spcPts val="0"/>
              </a:spcAft>
              <a:buSzPts val="1400"/>
              <a:buNone/>
            </a:pPr>
            <a:r>
              <a:t>| Workflow owns corrections | Avoids subsystem mutation loops and bounds cost. | Integration logic must handle many conditional outcomes. |</a:t>
            </a:r>
            <a:endParaRPr/>
          </a:p>
          <a:p xmlns:a="http://schemas.openxmlformats.org/drawingml/2006/main">
            <a:pPr marL="0" lvl="0" indent="0" algn="l">
              <a:lnSpc>
                <a:spcPct val="100000"/>
              </a:lnSpc>
              <a:spcBef>
                <a:spcPts val="0"/>
              </a:spcBef>
              <a:spcAft>
                <a:spcPts val="0"/>
              </a:spcAft>
              <a:buSzPts val="1400"/>
              <a:buNone/>
            </a:pPr>
            <a:r>
              <a:t>| Hybrid retrieval with provenance | Covers lexical, semantic, temporal, and relationship cues. | Scores need normalization, backend identity, tuning, and ablations. |</a:t>
            </a:r>
            <a:endParaRPr/>
          </a:p>
          <a:p xmlns:a="http://schemas.openxmlformats.org/drawingml/2006/main">
            <a:pPr marL="0" lvl="0" indent="0" algn="l">
              <a:lnSpc>
                <a:spcPct val="100000"/>
              </a:lnSpc>
              <a:spcBef>
                <a:spcPts val="0"/>
              </a:spcBef>
              <a:spcAft>
                <a:spcPts val="0"/>
              </a:spcAft>
              <a:buSzPts val="1400"/>
              <a:buNone/>
            </a:pPr>
            <a:r>
              <a:t>| Background maintenance | Keeps expensive cold work out of immediate answering where possible. | Requires backpressure, barriers, failure handling, and crash durability. |</a:t>
            </a:r>
            <a:endParaRPr/>
          </a:p>
          <a:p xmlns:a="http://schemas.openxmlformats.org/drawingml/2006/main">
            <a:pPr marL="0" lvl="0" indent="0" algn="l">
              <a:lnSpc>
                <a:spcPct val="100000"/>
              </a:lnSpc>
              <a:spcBef>
                <a:spcPts val="0"/>
              </a:spcBef>
              <a:spcAft>
                <a:spcPts val="0"/>
              </a:spcAft>
              <a:buSzPts val="1400"/>
              <a:buNone/>
            </a:pPr>
            <a:r>
              <a:t>| Logical memory taxonomy | Reuses common storage while preserving purpose/provenance. | Summaries can duplicate or become stale without idempotent derivation. |</a:t>
            </a:r>
            <a:endParaRPr/>
          </a:p>
          <a:p xmlns:a="http://schemas.openxmlformats.org/drawingml/2006/main">
            <a:pPr marL="0" lvl="0" indent="0" algn="l">
              <a:lnSpc>
                <a:spcPct val="100000"/>
              </a:lnSpc>
              <a:spcBef>
                <a:spcPts val="0"/>
              </a:spcBef>
              <a:spcAft>
                <a:spcPts val="0"/>
              </a:spcAft>
              <a:buSzPts val="1400"/>
              <a:buNone/>
            </a:pPr>
            <a:r>
              <a:t>| Separate evaluator | Prevents benchmark gold from shaping inference. | More manifest/checkpoint/coverage infrastructure to maintain.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6.2 Alternatives to explain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Alternative | Strength | Why PRIMA explores more / what should still be compared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Model only | Lowest surrounding complexity and no retrieval overhead. | Cannot recover privately stored history unless supplied in context. Essential baseline. |</a:t>
            </a:r>
            <a:endParaRPr/>
          </a:p>
          <a:p xmlns:a="http://schemas.openxmlformats.org/drawingml/2006/main">
            <a:pPr marL="0" lvl="0" indent="0" algn="l">
              <a:lnSpc>
                <a:spcPct val="100000"/>
              </a:lnSpc>
              <a:spcBef>
                <a:spcPts val="0"/>
              </a:spcBef>
              <a:spcAft>
                <a:spcPts val="0"/>
              </a:spcAft>
              <a:buSzPts val="1400"/>
              <a:buNone/>
            </a:pPr>
            <a:r>
              <a:t>| Long-context prompt containing history | Simple evidence access when history fits. | Context size/cost and missing-history behavior still require measurement. A useful additional baseline when feasible. |</a:t>
            </a:r>
            <a:endParaRPr/>
          </a:p>
          <a:p xmlns:a="http://schemas.openxmlformats.org/drawingml/2006/main">
            <a:pPr marL="0" lvl="0" indent="0" algn="l">
              <a:lnSpc>
                <a:spcPct val="100000"/>
              </a:lnSpc>
              <a:spcBef>
                <a:spcPts val="0"/>
              </a:spcBef>
              <a:spcAft>
                <a:spcPts val="0"/>
              </a:spcAft>
              <a:buSzPts val="1400"/>
              <a:buNone/>
            </a:pPr>
            <a:r>
              <a:t>| Simple dense/sparse RAG | Smaller retrieval system with clear evidence flow. | May suffice for the target. Full PRIMA must earn its added cost through matched results. |</a:t>
            </a:r>
            <a:endParaRPr/>
          </a:p>
          <a:p xmlns:a="http://schemas.openxmlformats.org/drawingml/2006/main">
            <a:pPr marL="0" lvl="0" indent="0" algn="l">
              <a:lnSpc>
                <a:spcPct val="100000"/>
              </a:lnSpc>
              <a:spcBef>
                <a:spcPts val="0"/>
              </a:spcBef>
              <a:spcAft>
                <a:spcPts val="0"/>
              </a:spcAft>
              <a:buSzPts val="1400"/>
              <a:buNone/>
            </a:pPr>
            <a:r>
              <a:t>| Always run every component | Easy to draw as one large pipeline. | Adds unnecessary work and misrepresents task needs. Short routes are intentional. |</a:t>
            </a:r>
            <a:endParaRPr/>
          </a:p>
          <a:p xmlns:a="http://schemas.openxmlformats.org/drawingml/2006/main">
            <a:pPr marL="0" lvl="0" indent="0" algn="l">
              <a:lnSpc>
                <a:spcPct val="100000"/>
              </a:lnSpc>
              <a:spcBef>
                <a:spcPts val="0"/>
              </a:spcBef>
              <a:spcAft>
                <a:spcPts val="0"/>
              </a:spcAft>
              <a:buSzPts val="1400"/>
              <a:buNone/>
            </a:pPr>
            <a:r>
              <a:t>| Fine-tune a new model for the whole task | Can specialize model behavior. | Requires training/data resources and separate generalization evidence. Current runtime does not require it.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6.3 Technology choices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Current setup/CI target Python 3.14. Pydantic supplies contracts/settings. NumPy supports numeric operations. ChromaDB is the configured persistent content option; explicit in-memory repositories support tests. NetworkX supports graph operations. Sentence Transformers supplies learned embedding/reranking infrastructure. PyTorch/Transformers and scikit-learn support optional emotion training/baselines. Provider transport/parsing lives in llm/. Pytest and the configured Ruff/Mypy/Xenon/Bandit checks support development. E01/E10, [requirements]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Installing a package does not establish that its model weights are available or that the current runtime selected it. Report requested and active embedding, affect, reranker, provider/model/revision, runtime mode, and repository identities from diagnostics.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6.4 Limitations worth acknowledging in the review</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Full QA quality gains and isolated affect/graph/reflection gains are unproven.</a:t>
            </a:r>
            <a:endParaRPr/>
          </a:p>
          <a:p xmlns:a="http://schemas.openxmlformats.org/drawingml/2006/main">
            <a:pPr marL="0" lvl="0" indent="0" algn="l">
              <a:lnSpc>
                <a:spcPct val="100000"/>
              </a:lnSpc>
              <a:spcBef>
                <a:spcPts val="0"/>
              </a:spcBef>
              <a:spcAft>
                <a:spcPts val="0"/>
              </a:spcAft>
              <a:buSzPts val="1400"/>
              <a:buNone/>
            </a:pPr>
            <a:r>
              <a:t>The dated audit reproduced repeated abstractions, stale shared-context edges, and affect history shared across fresh states on one engine. A single-user research runtime is a narrower boundary than a multiuser service. [E04]</a:t>
            </a:r>
            <a:endParaRPr/>
          </a:p>
          <a:p xmlns:a="http://schemas.openxmlformats.org/drawingml/2006/main">
            <a:pPr marL="0" lvl="0" indent="0" algn="l">
              <a:lnSpc>
                <a:spcPct val="100000"/>
              </a:lnSpc>
              <a:spcBef>
                <a:spcPts val="0"/>
              </a:spcBef>
              <a:spcAft>
                <a:spcPts val="0"/>
              </a:spcAft>
              <a:buSzPts val="1400"/>
              <a:buNone/>
            </a:pPr>
            <a:r>
              <a:t>The maintenance queue/deduplication sets are process-local. JSON state handling does not establish safe multiple-process transactions. [E04/E09]</a:t>
            </a:r>
            <a:endParaRPr/>
          </a:p>
          <a:p xmlns:a="http://schemas.openxmlformats.org/drawingml/2006/main">
            <a:pPr marL="0" lvl="0" indent="0" algn="l">
              <a:lnSpc>
                <a:spcPct val="100000"/>
              </a:lnSpc>
              <a:spcBef>
                <a:spcPts val="0"/>
              </a:spcBef>
              <a:spcAft>
                <a:spcPts val="0"/>
              </a:spcAft>
              <a:buSzPts val="1400"/>
              <a:buNone/>
            </a:pPr>
            <a:r>
              <a:t>Confidence and symbolic risks require held-out calibration. Citation membership is weaker than claim support.</a:t>
            </a:r>
            <a:endParaRPr/>
          </a:p>
          <a:p xmlns:a="http://schemas.openxmlformats.org/drawingml/2006/main">
            <a:pPr marL="0" lvl="0" indent="0" algn="l">
              <a:lnSpc>
                <a:spcPct val="100000"/>
              </a:lnSpc>
              <a:spcBef>
                <a:spcPts val="0"/>
              </a:spcBef>
              <a:spcAft>
                <a:spcPts val="0"/>
              </a:spcAft>
              <a:buSzPts val="1400"/>
              <a:buNone/>
            </a:pPr>
            <a:r>
              <a:t>Tool policies are application controls. Hard isolation, reliable synchronous timeouts, and idempotent side effects need deployment-specific work.</a:t>
            </a:r>
            <a:endParaRPr/>
          </a:p>
          <a:p xmlns:a="http://schemas.openxmlformats.org/drawingml/2006/main">
            <a:pPr marL="0" lvl="0" indent="0" algn="l">
              <a:lnSpc>
                <a:spcPct val="100000"/>
              </a:lnSpc>
              <a:spcBef>
                <a:spcPts val="0"/>
              </a:spcBef>
              <a:spcAft>
                <a:spcPts val="0"/>
              </a:spcAft>
              <a:buSzPts val="1400"/>
              <a:buNone/>
            </a:pPr>
            <a:r>
              <a:t>No hosted production assistant, physical robot, clinical system, or universal reasoning capability is demonstrated by this repository.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scope limits and pending validation, not reasons to discard the existing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C:/PRIMA_next/docs/architecture/ADR_CANONICAL_RUNTIME.md</a:t>
            </a:r>
            <a:endParaRPr/>
          </a:p>
          <a:p xmlns:a="http://schemas.openxmlformats.org/drawingml/2006/main">
            <a:pPr marL="0" lvl="0" indent="0" algn="l">
              <a:lnSpc>
                <a:spcPct val="100000"/>
              </a:lnSpc>
              <a:spcBef>
                <a:spcPts val="0"/>
              </a:spcBef>
              <a:spcAft>
                <a:spcPts val="0"/>
              </a:spcAft>
              <a:buSzPts val="1400"/>
              <a:buNone/>
            </a:pPr>
            <a:r>
              <a:t>C:/PRIMA_next/requirements.txt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Alternative design approaches (2/2)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 Slide 6: design approach, benefits, drawbacks, alternatives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6.1 Chosen design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project follows a modular, typed, workflow-controlled design. Subsystems handle specific responsibilities, while the workflow owns operation order and corrections. Runtime routes select the required components. Content storage is authoritative, graph data is derived, provider access is isolated behind an LLM boundary, and benchmark scoring remains outside production inference. E02/E03, [architecture decision]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Decision | Why it helps | Drawback / tradeoff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One typed execution interface | Applications/tests/benchmarks share validation and output semantics. | Runtime assembly and compatibility code are substantial. |</a:t>
            </a:r>
            <a:endParaRPr/>
          </a:p>
          <a:p xmlns:a="http://schemas.openxmlformats.org/drawingml/2006/main">
            <a:pPr marL="0" lvl="0" indent="0" algn="l">
              <a:lnSpc>
                <a:spcPct val="100000"/>
              </a:lnSpc>
              <a:spcBef>
                <a:spcPts val="0"/>
              </a:spcBef>
              <a:spcAft>
                <a:spcPts val="0"/>
              </a:spcAft>
              <a:buSzPts val="1400"/>
              <a:buNone/>
            </a:pPr>
            <a:r>
              <a:t>| Explicit task/profile routes | Cheap tasks skip irrelevant work and comparisons select clear configurations. | Route/diagnostic consistency needs tests when tasks evolve. |</a:t>
            </a:r>
            <a:endParaRPr/>
          </a:p>
          <a:p xmlns:a="http://schemas.openxmlformats.org/drawingml/2006/main">
            <a:pPr marL="0" lvl="0" indent="0" algn="l">
              <a:lnSpc>
                <a:spcPct val="100000"/>
              </a:lnSpc>
              <a:spcBef>
                <a:spcPts val="0"/>
              </a:spcBef>
              <a:spcAft>
                <a:spcPts val="0"/>
              </a:spcAft>
              <a:buSzPts val="1400"/>
              <a:buNone/>
            </a:pPr>
            <a:r>
              <a:t>| Workflow owns corrections | Avoids subsystem mutation loops and bounds cost. | Integration logic must handle many conditional outcomes. |</a:t>
            </a:r>
            <a:endParaRPr/>
          </a:p>
          <a:p xmlns:a="http://schemas.openxmlformats.org/drawingml/2006/main">
            <a:pPr marL="0" lvl="0" indent="0" algn="l">
              <a:lnSpc>
                <a:spcPct val="100000"/>
              </a:lnSpc>
              <a:spcBef>
                <a:spcPts val="0"/>
              </a:spcBef>
              <a:spcAft>
                <a:spcPts val="0"/>
              </a:spcAft>
              <a:buSzPts val="1400"/>
              <a:buNone/>
            </a:pPr>
            <a:r>
              <a:t>| Hybrid retrieval with provenance | Covers lexical, semantic, temporal, and relationship cues. | Scores need normalization, backend identity, tuning, and ablations. |</a:t>
            </a:r>
            <a:endParaRPr/>
          </a:p>
          <a:p xmlns:a="http://schemas.openxmlformats.org/drawingml/2006/main">
            <a:pPr marL="0" lvl="0" indent="0" algn="l">
              <a:lnSpc>
                <a:spcPct val="100000"/>
              </a:lnSpc>
              <a:spcBef>
                <a:spcPts val="0"/>
              </a:spcBef>
              <a:spcAft>
                <a:spcPts val="0"/>
              </a:spcAft>
              <a:buSzPts val="1400"/>
              <a:buNone/>
            </a:pPr>
            <a:r>
              <a:t>| Background maintenance | Keeps expensive cold work out of immediate answering where possible. | Requires backpressure, barriers, failure handling, and crash durability. |</a:t>
            </a:r>
            <a:endParaRPr/>
          </a:p>
          <a:p xmlns:a="http://schemas.openxmlformats.org/drawingml/2006/main">
            <a:pPr marL="0" lvl="0" indent="0" algn="l">
              <a:lnSpc>
                <a:spcPct val="100000"/>
              </a:lnSpc>
              <a:spcBef>
                <a:spcPts val="0"/>
              </a:spcBef>
              <a:spcAft>
                <a:spcPts val="0"/>
              </a:spcAft>
              <a:buSzPts val="1400"/>
              <a:buNone/>
            </a:pPr>
            <a:r>
              <a:t>| Logical memory taxonomy | Reuses common storage while preserving purpose/provenance. | Summaries can duplicate or become stale without idempotent derivation. |</a:t>
            </a:r>
            <a:endParaRPr/>
          </a:p>
          <a:p xmlns:a="http://schemas.openxmlformats.org/drawingml/2006/main">
            <a:pPr marL="0" lvl="0" indent="0" algn="l">
              <a:lnSpc>
                <a:spcPct val="100000"/>
              </a:lnSpc>
              <a:spcBef>
                <a:spcPts val="0"/>
              </a:spcBef>
              <a:spcAft>
                <a:spcPts val="0"/>
              </a:spcAft>
              <a:buSzPts val="1400"/>
              <a:buNone/>
            </a:pPr>
            <a:r>
              <a:t>| Separate evaluator | Prevents benchmark gold from shaping inference. | More manifest/checkpoint/coverage infrastructure to maintain.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6.2 Alternatives to explain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Alternative | Strength | Why PRIMA explores more / what should still be compared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Model only | Lowest surrounding complexity and no retrieval overhead. | Cannot recover privately stored history unless supplied in context. Essential baseline. |</a:t>
            </a:r>
            <a:endParaRPr/>
          </a:p>
          <a:p xmlns:a="http://schemas.openxmlformats.org/drawingml/2006/main">
            <a:pPr marL="0" lvl="0" indent="0" algn="l">
              <a:lnSpc>
                <a:spcPct val="100000"/>
              </a:lnSpc>
              <a:spcBef>
                <a:spcPts val="0"/>
              </a:spcBef>
              <a:spcAft>
                <a:spcPts val="0"/>
              </a:spcAft>
              <a:buSzPts val="1400"/>
              <a:buNone/>
            </a:pPr>
            <a:r>
              <a:t>| Long-context prompt containing history | Simple evidence access when history fits. | Context size/cost and missing-history behavior still require measurement. A useful additional baseline when feasible. |</a:t>
            </a:r>
            <a:endParaRPr/>
          </a:p>
          <a:p xmlns:a="http://schemas.openxmlformats.org/drawingml/2006/main">
            <a:pPr marL="0" lvl="0" indent="0" algn="l">
              <a:lnSpc>
                <a:spcPct val="100000"/>
              </a:lnSpc>
              <a:spcBef>
                <a:spcPts val="0"/>
              </a:spcBef>
              <a:spcAft>
                <a:spcPts val="0"/>
              </a:spcAft>
              <a:buSzPts val="1400"/>
              <a:buNone/>
            </a:pPr>
            <a:r>
              <a:t>| Simple dense/sparse RAG | Smaller retrieval system with clear evidence flow. | May suffice for the target. Full PRIMA must earn its added cost through matched results. |</a:t>
            </a:r>
            <a:endParaRPr/>
          </a:p>
          <a:p xmlns:a="http://schemas.openxmlformats.org/drawingml/2006/main">
            <a:pPr marL="0" lvl="0" indent="0" algn="l">
              <a:lnSpc>
                <a:spcPct val="100000"/>
              </a:lnSpc>
              <a:spcBef>
                <a:spcPts val="0"/>
              </a:spcBef>
              <a:spcAft>
                <a:spcPts val="0"/>
              </a:spcAft>
              <a:buSzPts val="1400"/>
              <a:buNone/>
            </a:pPr>
            <a:r>
              <a:t>| Always run every component | Easy to draw as one large pipeline. | Adds unnecessary work and misrepresents task needs. Short routes are intentional. |</a:t>
            </a:r>
            <a:endParaRPr/>
          </a:p>
          <a:p xmlns:a="http://schemas.openxmlformats.org/drawingml/2006/main">
            <a:pPr marL="0" lvl="0" indent="0" algn="l">
              <a:lnSpc>
                <a:spcPct val="100000"/>
              </a:lnSpc>
              <a:spcBef>
                <a:spcPts val="0"/>
              </a:spcBef>
              <a:spcAft>
                <a:spcPts val="0"/>
              </a:spcAft>
              <a:buSzPts val="1400"/>
              <a:buNone/>
            </a:pPr>
            <a:r>
              <a:t>| Fine-tune a new model for the whole task | Can specialize model behavior. | Requires training/data resources and separate generalization evidence. Current runtime does not require it.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6.3 Technology choices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Current setup/CI target Python 3.14. Pydantic supplies contracts/settings. NumPy supports numeric operations. ChromaDB is the configured persistent content option; explicit in-memory repositories support tests. NetworkX supports graph operations. Sentence Transformers supplies learned embedding/reranking infrastructure. PyTorch/Transformers and scikit-learn support optional emotion training/baselines. Provider transport/parsing lives in llm/. Pytest and the configured Ruff/Mypy/Xenon/Bandit checks support development. E01/E10, [requirements]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Installing a package does not establish that its model weights are available or that the current runtime selected it. Report requested and active embedding, affect, reranker, provider/model/revision, runtime mode, and repository identities from diagnostics.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6.4 Limitations worth acknowledging in the review</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Full QA quality gains and isolated affect/graph/reflection gains are unproven.</a:t>
            </a:r>
            <a:endParaRPr/>
          </a:p>
          <a:p xmlns:a="http://schemas.openxmlformats.org/drawingml/2006/main">
            <a:pPr marL="0" lvl="0" indent="0" algn="l">
              <a:lnSpc>
                <a:spcPct val="100000"/>
              </a:lnSpc>
              <a:spcBef>
                <a:spcPts val="0"/>
              </a:spcBef>
              <a:spcAft>
                <a:spcPts val="0"/>
              </a:spcAft>
              <a:buSzPts val="1400"/>
              <a:buNone/>
            </a:pPr>
            <a:r>
              <a:t>The dated audit reproduced repeated abstractions, stale shared-context edges, and affect history shared across fresh states on one engine. A single-user research runtime is a narrower boundary than a multiuser service. [E04]</a:t>
            </a:r>
            <a:endParaRPr/>
          </a:p>
          <a:p xmlns:a="http://schemas.openxmlformats.org/drawingml/2006/main">
            <a:pPr marL="0" lvl="0" indent="0" algn="l">
              <a:lnSpc>
                <a:spcPct val="100000"/>
              </a:lnSpc>
              <a:spcBef>
                <a:spcPts val="0"/>
              </a:spcBef>
              <a:spcAft>
                <a:spcPts val="0"/>
              </a:spcAft>
              <a:buSzPts val="1400"/>
              <a:buNone/>
            </a:pPr>
            <a:r>
              <a:t>The maintenance queue/deduplication sets are process-local. JSON state handling does not establish safe multiple-process transactions. [E04/E09]</a:t>
            </a:r>
            <a:endParaRPr/>
          </a:p>
          <a:p xmlns:a="http://schemas.openxmlformats.org/drawingml/2006/main">
            <a:pPr marL="0" lvl="0" indent="0" algn="l">
              <a:lnSpc>
                <a:spcPct val="100000"/>
              </a:lnSpc>
              <a:spcBef>
                <a:spcPts val="0"/>
              </a:spcBef>
              <a:spcAft>
                <a:spcPts val="0"/>
              </a:spcAft>
              <a:buSzPts val="1400"/>
              <a:buNone/>
            </a:pPr>
            <a:r>
              <a:t>Confidence and symbolic risks require held-out calibration. Citation membership is weaker than claim support.</a:t>
            </a:r>
            <a:endParaRPr/>
          </a:p>
          <a:p xmlns:a="http://schemas.openxmlformats.org/drawingml/2006/main">
            <a:pPr marL="0" lvl="0" indent="0" algn="l">
              <a:lnSpc>
                <a:spcPct val="100000"/>
              </a:lnSpc>
              <a:spcBef>
                <a:spcPts val="0"/>
              </a:spcBef>
              <a:spcAft>
                <a:spcPts val="0"/>
              </a:spcAft>
              <a:buSzPts val="1400"/>
              <a:buNone/>
            </a:pPr>
            <a:r>
              <a:t>Tool policies are application controls. Hard isolation, reliable synchronous timeouts, and idempotent side effects need deployment-specific work.</a:t>
            </a:r>
            <a:endParaRPr/>
          </a:p>
          <a:p xmlns:a="http://schemas.openxmlformats.org/drawingml/2006/main">
            <a:pPr marL="0" lvl="0" indent="0" algn="l">
              <a:lnSpc>
                <a:spcPct val="100000"/>
              </a:lnSpc>
              <a:spcBef>
                <a:spcPts val="0"/>
              </a:spcBef>
              <a:spcAft>
                <a:spcPts val="0"/>
              </a:spcAft>
              <a:buSzPts val="1400"/>
              <a:buNone/>
            </a:pPr>
            <a:r>
              <a:t>No hosted production assistant, physical robot, clinical system, or universal reasoning capability is demonstrated by this repository.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scope limits and pending validation, not reasons to discard the existing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C:/PRIMA_next/docs/architecture/ADR_CANONICAL_RUNTIME.md</a:t>
            </a:r>
            <a:endParaRPr/>
          </a:p>
          <a:p xmlns:a="http://schemas.openxmlformats.org/drawingml/2006/main">
            <a:pPr marL="0" lvl="0" indent="0" algn="l">
              <a:lnSpc>
                <a:spcPct val="100000"/>
              </a:lnSpc>
              <a:spcBef>
                <a:spcPts val="0"/>
              </a:spcBef>
              <a:spcAft>
                <a:spcPts val="0"/>
              </a:spcAft>
              <a:buSzPts val="1400"/>
              <a:buNone/>
            </a:pPr>
            <a:r>
              <a:t>C:/PRIMA_next/requirements.txt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Technology stack and active backends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 Slide 6: design approach, benefits, drawbacks, alternatives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6.1 Chosen design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project follows a modular, typed, workflow-controlled design. Subsystems handle specific responsibilities, while the workflow owns operation order and corrections. Runtime routes select the required components. Content storage is authoritative, graph data is derived, provider access is isolated behind an LLM boundary, and benchmark scoring remains outside production inference. E02/E03, [architecture decision]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Decision | Why it helps | Drawback / tradeoff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One typed execution interface | Applications/tests/benchmarks share validation and output semantics. | Runtime assembly and compatibility code are substantial. |</a:t>
            </a:r>
            <a:endParaRPr/>
          </a:p>
          <a:p xmlns:a="http://schemas.openxmlformats.org/drawingml/2006/main">
            <a:pPr marL="0" lvl="0" indent="0" algn="l">
              <a:lnSpc>
                <a:spcPct val="100000"/>
              </a:lnSpc>
              <a:spcBef>
                <a:spcPts val="0"/>
              </a:spcBef>
              <a:spcAft>
                <a:spcPts val="0"/>
              </a:spcAft>
              <a:buSzPts val="1400"/>
              <a:buNone/>
            </a:pPr>
            <a:r>
              <a:t>| Explicit task/profile routes | Cheap tasks skip irrelevant work and comparisons select clear configurations. | Route/diagnostic consistency needs tests when tasks evolve. |</a:t>
            </a:r>
            <a:endParaRPr/>
          </a:p>
          <a:p xmlns:a="http://schemas.openxmlformats.org/drawingml/2006/main">
            <a:pPr marL="0" lvl="0" indent="0" algn="l">
              <a:lnSpc>
                <a:spcPct val="100000"/>
              </a:lnSpc>
              <a:spcBef>
                <a:spcPts val="0"/>
              </a:spcBef>
              <a:spcAft>
                <a:spcPts val="0"/>
              </a:spcAft>
              <a:buSzPts val="1400"/>
              <a:buNone/>
            </a:pPr>
            <a:r>
              <a:t>| Workflow owns corrections | Avoids subsystem mutation loops and bounds cost. | Integration logic must handle many conditional outcomes. |</a:t>
            </a:r>
            <a:endParaRPr/>
          </a:p>
          <a:p xmlns:a="http://schemas.openxmlformats.org/drawingml/2006/main">
            <a:pPr marL="0" lvl="0" indent="0" algn="l">
              <a:lnSpc>
                <a:spcPct val="100000"/>
              </a:lnSpc>
              <a:spcBef>
                <a:spcPts val="0"/>
              </a:spcBef>
              <a:spcAft>
                <a:spcPts val="0"/>
              </a:spcAft>
              <a:buSzPts val="1400"/>
              <a:buNone/>
            </a:pPr>
            <a:r>
              <a:t>| Hybrid retrieval with provenance | Covers lexical, semantic, temporal, and relationship cues. | Scores need normalization, backend identity, tuning, and ablations. |</a:t>
            </a:r>
            <a:endParaRPr/>
          </a:p>
          <a:p xmlns:a="http://schemas.openxmlformats.org/drawingml/2006/main">
            <a:pPr marL="0" lvl="0" indent="0" algn="l">
              <a:lnSpc>
                <a:spcPct val="100000"/>
              </a:lnSpc>
              <a:spcBef>
                <a:spcPts val="0"/>
              </a:spcBef>
              <a:spcAft>
                <a:spcPts val="0"/>
              </a:spcAft>
              <a:buSzPts val="1400"/>
              <a:buNone/>
            </a:pPr>
            <a:r>
              <a:t>| Background maintenance | Keeps expensive cold work out of immediate answering where possible. | Requires backpressure, barriers, failure handling, and crash durability. |</a:t>
            </a:r>
            <a:endParaRPr/>
          </a:p>
          <a:p xmlns:a="http://schemas.openxmlformats.org/drawingml/2006/main">
            <a:pPr marL="0" lvl="0" indent="0" algn="l">
              <a:lnSpc>
                <a:spcPct val="100000"/>
              </a:lnSpc>
              <a:spcBef>
                <a:spcPts val="0"/>
              </a:spcBef>
              <a:spcAft>
                <a:spcPts val="0"/>
              </a:spcAft>
              <a:buSzPts val="1400"/>
              <a:buNone/>
            </a:pPr>
            <a:r>
              <a:t>| Logical memory taxonomy | Reuses common storage while preserving purpose/provenance. | Summaries can duplicate or become stale without idempotent derivation. |</a:t>
            </a:r>
            <a:endParaRPr/>
          </a:p>
          <a:p xmlns:a="http://schemas.openxmlformats.org/drawingml/2006/main">
            <a:pPr marL="0" lvl="0" indent="0" algn="l">
              <a:lnSpc>
                <a:spcPct val="100000"/>
              </a:lnSpc>
              <a:spcBef>
                <a:spcPts val="0"/>
              </a:spcBef>
              <a:spcAft>
                <a:spcPts val="0"/>
              </a:spcAft>
              <a:buSzPts val="1400"/>
              <a:buNone/>
            </a:pPr>
            <a:r>
              <a:t>| Separate evaluator | Prevents benchmark gold from shaping inference. | More manifest/checkpoint/coverage infrastructure to maintain.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6.2 Alternatives to explain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Alternative | Strength | Why PRIMA explores more / what should still be compared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Model only | Lowest surrounding complexity and no retrieval overhead. | Cannot recover privately stored history unless supplied in context. Essential baseline. |</a:t>
            </a:r>
            <a:endParaRPr/>
          </a:p>
          <a:p xmlns:a="http://schemas.openxmlformats.org/drawingml/2006/main">
            <a:pPr marL="0" lvl="0" indent="0" algn="l">
              <a:lnSpc>
                <a:spcPct val="100000"/>
              </a:lnSpc>
              <a:spcBef>
                <a:spcPts val="0"/>
              </a:spcBef>
              <a:spcAft>
                <a:spcPts val="0"/>
              </a:spcAft>
              <a:buSzPts val="1400"/>
              <a:buNone/>
            </a:pPr>
            <a:r>
              <a:t>| Long-context prompt containing history | Simple evidence access when history fits. | Context size/cost and missing-history behavior still require measurement. A useful additional baseline when feasible. |</a:t>
            </a:r>
            <a:endParaRPr/>
          </a:p>
          <a:p xmlns:a="http://schemas.openxmlformats.org/drawingml/2006/main">
            <a:pPr marL="0" lvl="0" indent="0" algn="l">
              <a:lnSpc>
                <a:spcPct val="100000"/>
              </a:lnSpc>
              <a:spcBef>
                <a:spcPts val="0"/>
              </a:spcBef>
              <a:spcAft>
                <a:spcPts val="0"/>
              </a:spcAft>
              <a:buSzPts val="1400"/>
              <a:buNone/>
            </a:pPr>
            <a:r>
              <a:t>| Simple dense/sparse RAG | Smaller retrieval system with clear evidence flow. | May suffice for the target. Full PRIMA must earn its added cost through matched results. |</a:t>
            </a:r>
            <a:endParaRPr/>
          </a:p>
          <a:p xmlns:a="http://schemas.openxmlformats.org/drawingml/2006/main">
            <a:pPr marL="0" lvl="0" indent="0" algn="l">
              <a:lnSpc>
                <a:spcPct val="100000"/>
              </a:lnSpc>
              <a:spcBef>
                <a:spcPts val="0"/>
              </a:spcBef>
              <a:spcAft>
                <a:spcPts val="0"/>
              </a:spcAft>
              <a:buSzPts val="1400"/>
              <a:buNone/>
            </a:pPr>
            <a:r>
              <a:t>| Always run every component | Easy to draw as one large pipeline. | Adds unnecessary work and misrepresents task needs. Short routes are intentional. |</a:t>
            </a:r>
            <a:endParaRPr/>
          </a:p>
          <a:p xmlns:a="http://schemas.openxmlformats.org/drawingml/2006/main">
            <a:pPr marL="0" lvl="0" indent="0" algn="l">
              <a:lnSpc>
                <a:spcPct val="100000"/>
              </a:lnSpc>
              <a:spcBef>
                <a:spcPts val="0"/>
              </a:spcBef>
              <a:spcAft>
                <a:spcPts val="0"/>
              </a:spcAft>
              <a:buSzPts val="1400"/>
              <a:buNone/>
            </a:pPr>
            <a:r>
              <a:t>| Fine-tune a new model for the whole task | Can specialize model behavior. | Requires training/data resources and separate generalization evidence. Current runtime does not require it.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6.3 Technology choices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Current setup/CI target Python 3.14. Pydantic supplies contracts/settings. NumPy supports numeric operations. ChromaDB is the configured persistent content option; explicit in-memory repositories support tests. NetworkX supports graph operations. Sentence Transformers supplies learned embedding/reranking infrastructure. PyTorch/Transformers and scikit-learn support optional emotion training/baselines. Provider transport/parsing lives in llm/. Pytest and the configured Ruff/Mypy/Xenon/Bandit checks support development. E01/E10, [requirements]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Installing a package does not establish that its model weights are available or that the current runtime selected it. Report requested and active embedding, affect, reranker, provider/model/revision, runtime mode, and repository identities from diagnostics.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6.4 Limitations worth acknowledging in the review</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Full QA quality gains and isolated affect/graph/reflection gains are unproven.</a:t>
            </a:r>
            <a:endParaRPr/>
          </a:p>
          <a:p xmlns:a="http://schemas.openxmlformats.org/drawingml/2006/main">
            <a:pPr marL="0" lvl="0" indent="0" algn="l">
              <a:lnSpc>
                <a:spcPct val="100000"/>
              </a:lnSpc>
              <a:spcBef>
                <a:spcPts val="0"/>
              </a:spcBef>
              <a:spcAft>
                <a:spcPts val="0"/>
              </a:spcAft>
              <a:buSzPts val="1400"/>
              <a:buNone/>
            </a:pPr>
            <a:r>
              <a:t>The dated audit reproduced repeated abstractions, stale shared-context edges, and affect history shared across fresh states on one engine. A single-user research runtime is a narrower boundary than a multiuser service. [E04]</a:t>
            </a:r>
            <a:endParaRPr/>
          </a:p>
          <a:p xmlns:a="http://schemas.openxmlformats.org/drawingml/2006/main">
            <a:pPr marL="0" lvl="0" indent="0" algn="l">
              <a:lnSpc>
                <a:spcPct val="100000"/>
              </a:lnSpc>
              <a:spcBef>
                <a:spcPts val="0"/>
              </a:spcBef>
              <a:spcAft>
                <a:spcPts val="0"/>
              </a:spcAft>
              <a:buSzPts val="1400"/>
              <a:buNone/>
            </a:pPr>
            <a:r>
              <a:t>The maintenance queue/deduplication sets are process-local. JSON state handling does not establish safe multiple-process transactions. [E04/E09]</a:t>
            </a:r>
            <a:endParaRPr/>
          </a:p>
          <a:p xmlns:a="http://schemas.openxmlformats.org/drawingml/2006/main">
            <a:pPr marL="0" lvl="0" indent="0" algn="l">
              <a:lnSpc>
                <a:spcPct val="100000"/>
              </a:lnSpc>
              <a:spcBef>
                <a:spcPts val="0"/>
              </a:spcBef>
              <a:spcAft>
                <a:spcPts val="0"/>
              </a:spcAft>
              <a:buSzPts val="1400"/>
              <a:buNone/>
            </a:pPr>
            <a:r>
              <a:t>Confidence and symbolic risks require held-out calibration. Citation membership is weaker than claim support.</a:t>
            </a:r>
            <a:endParaRPr/>
          </a:p>
          <a:p xmlns:a="http://schemas.openxmlformats.org/drawingml/2006/main">
            <a:pPr marL="0" lvl="0" indent="0" algn="l">
              <a:lnSpc>
                <a:spcPct val="100000"/>
              </a:lnSpc>
              <a:spcBef>
                <a:spcPts val="0"/>
              </a:spcBef>
              <a:spcAft>
                <a:spcPts val="0"/>
              </a:spcAft>
              <a:buSzPts val="1400"/>
              <a:buNone/>
            </a:pPr>
            <a:r>
              <a:t>Tool policies are application controls. Hard isolation, reliable synchronous timeouts, and idempotent side effects need deployment-specific work.</a:t>
            </a:r>
            <a:endParaRPr/>
          </a:p>
          <a:p xmlns:a="http://schemas.openxmlformats.org/drawingml/2006/main">
            <a:pPr marL="0" lvl="0" indent="0" algn="l">
              <a:lnSpc>
                <a:spcPct val="100000"/>
              </a:lnSpc>
              <a:spcBef>
                <a:spcPts val="0"/>
              </a:spcBef>
              <a:spcAft>
                <a:spcPts val="0"/>
              </a:spcAft>
              <a:buSzPts val="1400"/>
              <a:buNone/>
            </a:pPr>
            <a:r>
              <a:t>No hosted production assistant, physical robot, clinical system, or universal reasoning capability is demonstrated by this repository.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scope limits and pending validation, not reasons to discard the existing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C:/PRIMA_next/docs/architecture/ADR_CANONICAL_RUNTIME.md</a:t>
            </a:r>
            <a:endParaRPr/>
          </a:p>
          <a:p xmlns:a="http://schemas.openxmlformats.org/drawingml/2006/main">
            <a:pPr marL="0" lvl="0" indent="0" algn="l">
              <a:lnSpc>
                <a:spcPct val="100000"/>
              </a:lnSpc>
              <a:spcBef>
                <a:spcPts val="0"/>
              </a:spcBef>
              <a:spcAft>
                <a:spcPts val="0"/>
              </a:spcAft>
              <a:buSzPts val="1400"/>
              <a:buNone/>
            </a:pPr>
            <a:r>
              <a:t>C:/PRIMA_next/requirements.txt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Current technical limits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 Slide 6: design approach, benefits, drawbacks, alternatives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6.1 Chosen design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project follows a modular, typed, workflow-controlled design. Subsystems handle specific responsibilities, while the workflow owns operation order and corrections. Runtime routes select the required components. Content storage is authoritative, graph data is derived, provider access is isolated behind an LLM boundary, and benchmark scoring remains outside production inference. E02/E03, [architecture decision]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Decision | Why it helps | Drawback / tradeoff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One typed execution interface | Applications/tests/benchmarks share validation and output semantics. | Runtime assembly and compatibility code are substantial. |</a:t>
            </a:r>
            <a:endParaRPr/>
          </a:p>
          <a:p xmlns:a="http://schemas.openxmlformats.org/drawingml/2006/main">
            <a:pPr marL="0" lvl="0" indent="0" algn="l">
              <a:lnSpc>
                <a:spcPct val="100000"/>
              </a:lnSpc>
              <a:spcBef>
                <a:spcPts val="0"/>
              </a:spcBef>
              <a:spcAft>
                <a:spcPts val="0"/>
              </a:spcAft>
              <a:buSzPts val="1400"/>
              <a:buNone/>
            </a:pPr>
            <a:r>
              <a:t>| Explicit task/profile routes | Cheap tasks skip irrelevant work and comparisons select clear configurations. | Route/diagnostic consistency needs tests when tasks evolve. |</a:t>
            </a:r>
            <a:endParaRPr/>
          </a:p>
          <a:p xmlns:a="http://schemas.openxmlformats.org/drawingml/2006/main">
            <a:pPr marL="0" lvl="0" indent="0" algn="l">
              <a:lnSpc>
                <a:spcPct val="100000"/>
              </a:lnSpc>
              <a:spcBef>
                <a:spcPts val="0"/>
              </a:spcBef>
              <a:spcAft>
                <a:spcPts val="0"/>
              </a:spcAft>
              <a:buSzPts val="1400"/>
              <a:buNone/>
            </a:pPr>
            <a:r>
              <a:t>| Workflow owns corrections | Avoids subsystem mutation loops and bounds cost. | Integration logic must handle many conditional outcomes. |</a:t>
            </a:r>
            <a:endParaRPr/>
          </a:p>
          <a:p xmlns:a="http://schemas.openxmlformats.org/drawingml/2006/main">
            <a:pPr marL="0" lvl="0" indent="0" algn="l">
              <a:lnSpc>
                <a:spcPct val="100000"/>
              </a:lnSpc>
              <a:spcBef>
                <a:spcPts val="0"/>
              </a:spcBef>
              <a:spcAft>
                <a:spcPts val="0"/>
              </a:spcAft>
              <a:buSzPts val="1400"/>
              <a:buNone/>
            </a:pPr>
            <a:r>
              <a:t>| Hybrid retrieval with provenance | Covers lexical, semantic, temporal, and relationship cues. | Scores need normalization, backend identity, tuning, and ablations. |</a:t>
            </a:r>
            <a:endParaRPr/>
          </a:p>
          <a:p xmlns:a="http://schemas.openxmlformats.org/drawingml/2006/main">
            <a:pPr marL="0" lvl="0" indent="0" algn="l">
              <a:lnSpc>
                <a:spcPct val="100000"/>
              </a:lnSpc>
              <a:spcBef>
                <a:spcPts val="0"/>
              </a:spcBef>
              <a:spcAft>
                <a:spcPts val="0"/>
              </a:spcAft>
              <a:buSzPts val="1400"/>
              <a:buNone/>
            </a:pPr>
            <a:r>
              <a:t>| Background maintenance | Keeps expensive cold work out of immediate answering where possible. | Requires backpressure, barriers, failure handling, and crash durability. |</a:t>
            </a:r>
            <a:endParaRPr/>
          </a:p>
          <a:p xmlns:a="http://schemas.openxmlformats.org/drawingml/2006/main">
            <a:pPr marL="0" lvl="0" indent="0" algn="l">
              <a:lnSpc>
                <a:spcPct val="100000"/>
              </a:lnSpc>
              <a:spcBef>
                <a:spcPts val="0"/>
              </a:spcBef>
              <a:spcAft>
                <a:spcPts val="0"/>
              </a:spcAft>
              <a:buSzPts val="1400"/>
              <a:buNone/>
            </a:pPr>
            <a:r>
              <a:t>| Logical memory taxonomy | Reuses common storage while preserving purpose/provenance. | Summaries can duplicate or become stale without idempotent derivation. |</a:t>
            </a:r>
            <a:endParaRPr/>
          </a:p>
          <a:p xmlns:a="http://schemas.openxmlformats.org/drawingml/2006/main">
            <a:pPr marL="0" lvl="0" indent="0" algn="l">
              <a:lnSpc>
                <a:spcPct val="100000"/>
              </a:lnSpc>
              <a:spcBef>
                <a:spcPts val="0"/>
              </a:spcBef>
              <a:spcAft>
                <a:spcPts val="0"/>
              </a:spcAft>
              <a:buSzPts val="1400"/>
              <a:buNone/>
            </a:pPr>
            <a:r>
              <a:t>| Separate evaluator | Prevents benchmark gold from shaping inference. | More manifest/checkpoint/coverage infrastructure to maintain.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6.2 Alternatives to explain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Alternative | Strength | Why PRIMA explores more / what should still be compared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Model only | Lowest surrounding complexity and no retrieval overhead. | Cannot recover privately stored history unless supplied in context. Essential baseline. |</a:t>
            </a:r>
            <a:endParaRPr/>
          </a:p>
          <a:p xmlns:a="http://schemas.openxmlformats.org/drawingml/2006/main">
            <a:pPr marL="0" lvl="0" indent="0" algn="l">
              <a:lnSpc>
                <a:spcPct val="100000"/>
              </a:lnSpc>
              <a:spcBef>
                <a:spcPts val="0"/>
              </a:spcBef>
              <a:spcAft>
                <a:spcPts val="0"/>
              </a:spcAft>
              <a:buSzPts val="1400"/>
              <a:buNone/>
            </a:pPr>
            <a:r>
              <a:t>| Long-context prompt containing history | Simple evidence access when history fits. | Context size/cost and missing-history behavior still require measurement. A useful additional baseline when feasible. |</a:t>
            </a:r>
            <a:endParaRPr/>
          </a:p>
          <a:p xmlns:a="http://schemas.openxmlformats.org/drawingml/2006/main">
            <a:pPr marL="0" lvl="0" indent="0" algn="l">
              <a:lnSpc>
                <a:spcPct val="100000"/>
              </a:lnSpc>
              <a:spcBef>
                <a:spcPts val="0"/>
              </a:spcBef>
              <a:spcAft>
                <a:spcPts val="0"/>
              </a:spcAft>
              <a:buSzPts val="1400"/>
              <a:buNone/>
            </a:pPr>
            <a:r>
              <a:t>| Simple dense/sparse RAG | Smaller retrieval system with clear evidence flow. | May suffice for the target. Full PRIMA must earn its added cost through matched results. |</a:t>
            </a:r>
            <a:endParaRPr/>
          </a:p>
          <a:p xmlns:a="http://schemas.openxmlformats.org/drawingml/2006/main">
            <a:pPr marL="0" lvl="0" indent="0" algn="l">
              <a:lnSpc>
                <a:spcPct val="100000"/>
              </a:lnSpc>
              <a:spcBef>
                <a:spcPts val="0"/>
              </a:spcBef>
              <a:spcAft>
                <a:spcPts val="0"/>
              </a:spcAft>
              <a:buSzPts val="1400"/>
              <a:buNone/>
            </a:pPr>
            <a:r>
              <a:t>| Always run every component | Easy to draw as one large pipeline. | Adds unnecessary work and misrepresents task needs. Short routes are intentional. |</a:t>
            </a:r>
            <a:endParaRPr/>
          </a:p>
          <a:p xmlns:a="http://schemas.openxmlformats.org/drawingml/2006/main">
            <a:pPr marL="0" lvl="0" indent="0" algn="l">
              <a:lnSpc>
                <a:spcPct val="100000"/>
              </a:lnSpc>
              <a:spcBef>
                <a:spcPts val="0"/>
              </a:spcBef>
              <a:spcAft>
                <a:spcPts val="0"/>
              </a:spcAft>
              <a:buSzPts val="1400"/>
              <a:buNone/>
            </a:pPr>
            <a:r>
              <a:t>| Fine-tune a new model for the whole task | Can specialize model behavior. | Requires training/data resources and separate generalization evidence. Current runtime does not require it.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6.3 Technology choices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Current setup/CI target Python 3.14. Pydantic supplies contracts/settings. NumPy supports numeric operations. ChromaDB is the configured persistent content option; explicit in-memory repositories support tests. NetworkX supports graph operations. Sentence Transformers supplies learned embedding/reranking infrastructure. PyTorch/Transformers and scikit-learn support optional emotion training/baselines. Provider transport/parsing lives in llm/. Pytest and the configured Ruff/Mypy/Xenon/Bandit checks support development. E01/E10, [requirements]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Installing a package does not establish that its model weights are available or that the current runtime selected it. Report requested and active embedding, affect, reranker, provider/model/revision, runtime mode, and repository identities from diagnostics.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6.4 Limitations worth acknowledging in the review</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Full QA quality gains and isolated affect/graph/reflection gains are unproven.</a:t>
            </a:r>
            <a:endParaRPr/>
          </a:p>
          <a:p xmlns:a="http://schemas.openxmlformats.org/drawingml/2006/main">
            <a:pPr marL="0" lvl="0" indent="0" algn="l">
              <a:lnSpc>
                <a:spcPct val="100000"/>
              </a:lnSpc>
              <a:spcBef>
                <a:spcPts val="0"/>
              </a:spcBef>
              <a:spcAft>
                <a:spcPts val="0"/>
              </a:spcAft>
              <a:buSzPts val="1400"/>
              <a:buNone/>
            </a:pPr>
            <a:r>
              <a:t>The dated audit reproduced repeated abstractions, stale shared-context edges, and affect history shared across fresh states on one engine. A single-user research runtime is a narrower boundary than a multiuser service. [E04]</a:t>
            </a:r>
            <a:endParaRPr/>
          </a:p>
          <a:p xmlns:a="http://schemas.openxmlformats.org/drawingml/2006/main">
            <a:pPr marL="0" lvl="0" indent="0" algn="l">
              <a:lnSpc>
                <a:spcPct val="100000"/>
              </a:lnSpc>
              <a:spcBef>
                <a:spcPts val="0"/>
              </a:spcBef>
              <a:spcAft>
                <a:spcPts val="0"/>
              </a:spcAft>
              <a:buSzPts val="1400"/>
              <a:buNone/>
            </a:pPr>
            <a:r>
              <a:t>The maintenance queue/deduplication sets are process-local. JSON state handling does not establish safe multiple-process transactions. [E04/E09]</a:t>
            </a:r>
            <a:endParaRPr/>
          </a:p>
          <a:p xmlns:a="http://schemas.openxmlformats.org/drawingml/2006/main">
            <a:pPr marL="0" lvl="0" indent="0" algn="l">
              <a:lnSpc>
                <a:spcPct val="100000"/>
              </a:lnSpc>
              <a:spcBef>
                <a:spcPts val="0"/>
              </a:spcBef>
              <a:spcAft>
                <a:spcPts val="0"/>
              </a:spcAft>
              <a:buSzPts val="1400"/>
              <a:buNone/>
            </a:pPr>
            <a:r>
              <a:t>Confidence and symbolic risks require held-out calibration. Citation membership is weaker than claim support.</a:t>
            </a:r>
            <a:endParaRPr/>
          </a:p>
          <a:p xmlns:a="http://schemas.openxmlformats.org/drawingml/2006/main">
            <a:pPr marL="0" lvl="0" indent="0" algn="l">
              <a:lnSpc>
                <a:spcPct val="100000"/>
              </a:lnSpc>
              <a:spcBef>
                <a:spcPts val="0"/>
              </a:spcBef>
              <a:spcAft>
                <a:spcPts val="0"/>
              </a:spcAft>
              <a:buSzPts val="1400"/>
              <a:buNone/>
            </a:pPr>
            <a:r>
              <a:t>Tool policies are application controls. Hard isolation, reliable synchronous timeouts, and idempotent side effects need deployment-specific work.</a:t>
            </a:r>
            <a:endParaRPr/>
          </a:p>
          <a:p xmlns:a="http://schemas.openxmlformats.org/drawingml/2006/main">
            <a:pPr marL="0" lvl="0" indent="0" algn="l">
              <a:lnSpc>
                <a:spcPct val="100000"/>
              </a:lnSpc>
              <a:spcBef>
                <a:spcPts val="0"/>
              </a:spcBef>
              <a:spcAft>
                <a:spcPts val="0"/>
              </a:spcAft>
              <a:buSzPts val="1400"/>
              <a:buNone/>
            </a:pPr>
            <a:r>
              <a:t>No hosted production assistant, physical robot, clinical system, or universal reasoning capability is demonstrated by this repository.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scope limits and pending validation, not reasons to discard the existing architecture.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C:/PRIMA_next/docs/architecture/ADR_CANONICAL_RUNTIME.md</a:t>
            </a:r>
            <a:endParaRPr/>
          </a:p>
          <a:p xmlns:a="http://schemas.openxmlformats.org/drawingml/2006/main">
            <a:pPr marL="0" lvl="0" indent="0" algn="l">
              <a:lnSpc>
                <a:spcPct val="100000"/>
              </a:lnSpc>
              <a:spcBef>
                <a:spcPts val="0"/>
              </a:spcBef>
              <a:spcAft>
                <a:spcPts val="0"/>
              </a:spcAft>
              <a:buSzPts val="1400"/>
              <a:buNone/>
            </a:pPr>
            <a:r>
              <a:t>C:/PRIMA_next/requirements.txt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Demonstration and comparison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 Slide 7, part A: one-scenario demonstration and comparison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Status: proposed demo specification, not a completed demo run. The previous panel's suggestion is best satisfied with one connected scenario, several task-appropriate requests, and one exported evidence bundle. A single factual-QA request intentionally cannot exercise ingestion, conversation admission, emotion-only classification, and tool-only execution together.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7.1 Sample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synthetic data so the demo can be shared without exposing personal information. Freeze the wording and stable source IDs before rehearsal.</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Source ID | Synthetic history/document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S1 | [2026-09-01] Alex: I am working on Project Atlas. Mira is my project mentor. Please remember my important goal: finish the Atlas prototype. |</a:t>
            </a:r>
            <a:endParaRPr/>
          </a:p>
          <a:p xmlns:a="http://schemas.openxmlformats.org/drawingml/2006/main">
            <a:pPr marL="0" lvl="0" indent="0" algn="l">
              <a:lnSpc>
                <a:spcPct val="100000"/>
              </a:lnSpc>
              <a:spcBef>
                <a:spcPts val="0"/>
              </a:spcBef>
              <a:spcAft>
                <a:spcPts val="0"/>
              </a:spcAft>
              <a:buSzPts val="1400"/>
              <a:buNone/>
            </a:pPr>
            <a:r>
              <a:t>| S2 | [2026-09-03] Mira's office is in Pune. Mira reviews Project Atlas every Friday. |</a:t>
            </a:r>
            <a:endParaRPr/>
          </a:p>
          <a:p xmlns:a="http://schemas.openxmlformats.org/drawingml/2006/main">
            <a:pPr marL="0" lvl="0" indent="0" algn="l">
              <a:lnSpc>
                <a:spcPct val="100000"/>
              </a:lnSpc>
              <a:spcBef>
                <a:spcPts val="0"/>
              </a:spcBef>
              <a:spcAft>
                <a:spcPts val="0"/>
              </a:spcAft>
              <a:buSzPts val="1400"/>
              <a:buNone/>
            </a:pPr>
            <a:r>
              <a:t>| S3 | [2026-09-05] Alex: I used to prefer long explanations. I now prefer concise summaries for Project Atlas. |</a:t>
            </a:r>
            <a:endParaRPr/>
          </a:p>
          <a:p xmlns:a="http://schemas.openxmlformats.org/drawingml/2006/main">
            <a:pPr marL="0" lvl="0" indent="0" algn="l">
              <a:lnSpc>
                <a:spcPct val="100000"/>
              </a:lnSpc>
              <a:spcBef>
                <a:spcPts val="0"/>
              </a:spcBef>
              <a:spcAft>
                <a:spcPts val="0"/>
              </a:spcAft>
              <a:buSzPts val="1400"/>
              <a:buNone/>
            </a:pPr>
            <a:r>
              <a:t>| S4 | [2026-09-06] Alex: I feel anxious about the Project Atlas review because the prototype is unfinished. |</a:t>
            </a:r>
            <a:endParaRPr/>
          </a:p>
          <a:p xmlns:a="http://schemas.openxmlformats.org/drawingml/2006/main">
            <a:pPr marL="0" lvl="0" indent="0" algn="l">
              <a:lnSpc>
                <a:spcPct val="100000"/>
              </a:lnSpc>
              <a:spcBef>
                <a:spcPts val="0"/>
              </a:spcBef>
              <a:spcAft>
                <a:spcPts val="0"/>
              </a:spcAft>
              <a:buSzPts val="1400"/>
              <a:buNone/>
            </a:pPr>
            <a:r>
              <a:t>| S5 | [2026-09-07] Alex: The Project Atlas prototype passed its local checks. I feel excited and relieved. |</a:t>
            </a:r>
            <a:endParaRPr/>
          </a:p>
          <a:p xmlns:a="http://schemas.openxmlformats.org/drawingml/2006/main">
            <a:pPr marL="0" lvl="0" indent="0" algn="l">
              <a:lnSpc>
                <a:spcPct val="100000"/>
              </a:lnSpc>
              <a:spcBef>
                <a:spcPts val="0"/>
              </a:spcBef>
              <a:spcAft>
                <a:spcPts val="0"/>
              </a:spcAft>
              <a:buSzPts val="1400"/>
              <a:buNone/>
            </a:pPr>
            <a:r>
              <a:t>| D1 | Distractor: Dev mentors Project Beacon from Mumbai. Project Beacon is unrelated to Project Atlas. |</a:t>
            </a:r>
            <a:endParaRPr/>
          </a:p>
          <a:p xmlns:a="http://schemas.openxmlformats.org/drawingml/2006/main">
            <a:pPr marL="0" lvl="0" indent="0" algn="l">
              <a:lnSpc>
                <a:spcPct val="100000"/>
              </a:lnSpc>
              <a:spcBef>
                <a:spcPts val="0"/>
              </a:spcBef>
              <a:spcAft>
                <a:spcPts val="0"/>
              </a:spcAft>
              <a:buSzPts val="1400"/>
              <a:buNone/>
            </a:pPr>
            <a:r>
              <a:t>| D2 | Distractor: An older Atlas travel brochure mentions Mumbai. It does not describe Alex's mentor.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comparison question: "Which city is Alex's Project Atlas mentor based in?"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Evaluator-owned expected answer: Pune, supported by the Alex - Mira link in S1 and Mira - Pune link in S2. Do not add this expected answer or supporting-source IDs to model request metadata. The source records themselves may be supplied as ordinary evidence. S3 - S5 support temporal/preference/affect demonstrations in the same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current lexical sufficiency heuristic may reject this multi-hop wording despite relevant evidence. That is useful failure evidence. Record it, diagnose its stage, and avoid secretly simplifying only the PRIMA question to get a better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7.2 Two demonstration tracks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Functional track: deterministic injected provider and controlled branch conditions prove execution plumbing. Clearly label provider responses and forced uncertainty as synthetic. Existing tests already use injected responses and low-confidence estimators. This track can show error handling even when a real endpoint is unavailable.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Quality track: run the same frozen sample using a configured real model and record actual outputs. Use matched generation settings and native scoring. This track can provide an illustrative baseline comparison, but one scenario is insufficient for a research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Do not mix functional-track scripted answers into the real-model comparison table. A fake provider returning "Pune" does not show the model inferred the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7.3 Demo sequence, visible outputs, and narration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Step | Request / operation | What must be visible | What to say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0. Freeze setup | Record source commit, dependency versions, sample hash, seed, active backends/model/revision. Use isolated demo stores. | A manifest with real/fake provider label, source IDs, settings. | "This is the exact configuration and input used in all comparisons." |</a:t>
            </a:r>
            <a:endParaRPr/>
          </a:p>
          <a:p xmlns:a="http://schemas.openxmlformats.org/drawingml/2006/main">
            <a:pPr marL="0" lvl="0" indent="0" algn="l">
              <a:lnSpc>
                <a:spcPct val="100000"/>
              </a:lnSpc>
              <a:spcBef>
                <a:spcPts val="0"/>
              </a:spcBef>
              <a:spcAft>
                <a:spcPts val="0"/>
              </a:spcAft>
              <a:buSzPts val="1400"/>
              <a:buNone/>
            </a:pPr>
            <a:r>
              <a:t>| 1. Invalid request | Attempt an unsupported task/profile pair and reserved-control metadata. | Validation rejection / typed rejected result, no unintended execution. | "The public boundary rejects incompatible routes and control overrides." |</a:t>
            </a:r>
            <a:endParaRPr/>
          </a:p>
          <a:p xmlns:a="http://schemas.openxmlformats.org/drawingml/2006/main">
            <a:pPr marL="0" lvl="0" indent="0" algn="l">
              <a:lnSpc>
                <a:spcPct val="100000"/>
              </a:lnSpc>
              <a:spcBef>
                <a:spcPts val="0"/>
              </a:spcBef>
              <a:spcAft>
                <a:spcPts val="0"/>
              </a:spcAft>
              <a:buSzPts val="1400"/>
              <a:buNone/>
            </a:pPr>
            <a:r>
              <a:t>| 2. Ingest history | Submit frozen records through DOCUMENT_INGESTION/INGESTION_ONLY for a fixed-store comparison. Separately replay history through HISTORICAL_REPLAY/PRIMA_FULL to show admission/state behavior. | Memory IDs, content provenance, task outcome, no LLM calls during ingestion/replay. | "Explicit ingestion and selective historical admission are different experiments." |</a:t>
            </a:r>
            <a:endParaRPr/>
          </a:p>
          <a:p xmlns:a="http://schemas.openxmlformats.org/drawingml/2006/main">
            <a:pPr marL="0" lvl="0" indent="0" algn="l">
              <a:lnSpc>
                <a:spcPct val="100000"/>
              </a:lnSpc>
              <a:spcBef>
                <a:spcPts val="0"/>
              </a:spcBef>
              <a:spcAft>
                <a:spcPts val="0"/>
              </a:spcAft>
              <a:buSzPts val="1400"/>
              <a:buNone/>
            </a:pPr>
            <a:r>
              <a:t>| 3. Affect | Process S4 then S5 using the same dedicated scenario session. Optionally classify one utterance through AFFECT_ONLY. | Label scores, PAD, temporal momentum/history, active classifier. | "These are text-derived emotional signals. Here is how the signal changes over time." |</a:t>
            </a:r>
            <a:endParaRPr/>
          </a:p>
          <a:p xmlns:a="http://schemas.openxmlformats.org/drawingml/2006/main">
            <a:pPr marL="0" lvl="0" indent="0" algn="l">
              <a:lnSpc>
                <a:spcPct val="100000"/>
              </a:lnSpc>
              <a:spcBef>
                <a:spcPts val="0"/>
              </a:spcBef>
              <a:spcAft>
                <a:spcPts val="0"/>
              </a:spcAft>
              <a:buSzPts val="1400"/>
              <a:buNone/>
            </a:pPr>
            <a:r>
              <a:t>| 4. Admission | Inspect scores/reasons from replay and an additional low-value synthetic turn. | Stored/rejected decision, threshold, component scores, before/after memory counts. | "Useful-memory selection is explicit. We report the actual outcome instead of assuming every turn is stored." |</a:t>
            </a:r>
            <a:endParaRPr/>
          </a:p>
          <a:p xmlns:a="http://schemas.openxmlformats.org/drawingml/2006/main">
            <a:pPr marL="0" lvl="0" indent="0" algn="l">
              <a:lnSpc>
                <a:spcPct val="100000"/>
              </a:lnSpc>
              <a:spcBef>
                <a:spcPts val="0"/>
              </a:spcBef>
              <a:spcAft>
                <a:spcPts val="0"/>
              </a:spcAft>
              <a:buSzPts val="1400"/>
              <a:buNone/>
            </a:pPr>
            <a:r>
              <a:t>| 5. Three-profile QA | Ask the identical primary question in fresh, equivalent runtime/store instances for each profile. | Output, abstention/failure, retrieved IDs, calls, latency, tokens. | "We change the profile while fixing the model and experiment conditions." |</a:t>
            </a:r>
            <a:endParaRPr/>
          </a:p>
          <a:p xmlns:a="http://schemas.openxmlformats.org/drawingml/2006/main">
            <a:pPr marL="0" lvl="0" indent="0" algn="l">
              <a:lnSpc>
                <a:spcPct val="100000"/>
              </a:lnSpc>
              <a:spcBef>
                <a:spcPts val="0"/>
              </a:spcBef>
              <a:spcAft>
                <a:spcPts val="0"/>
              </a:spcAft>
              <a:buSzPts val="1400"/>
              <a:buNone/>
            </a:pPr>
            <a:r>
              <a:t>| 6. Retrieval internals | Expand full-route trace for the QA request. | Dense/sparse/temporal/graph candidates, fusion/reranking, compressed context/source mapping, insufficiency reason if any. | "This shows where the evidence entered or disappeared." |</a:t>
            </a:r>
            <a:endParaRPr/>
          </a:p>
          <a:p xmlns:a="http://schemas.openxmlformats.org/drawingml/2006/main">
            <a:pPr marL="0" lvl="0" indent="0" algn="l">
              <a:lnSpc>
                <a:spcPct val="100000"/>
              </a:lnSpc>
              <a:spcBef>
                <a:spcPts val="0"/>
              </a:spcBef>
              <a:spcAft>
                <a:spcPts val="0"/>
              </a:spcAft>
              <a:buSzPts val="1400"/>
              <a:buNone/>
            </a:pPr>
            <a:r>
              <a:t>| 7. Planning/world/uncertainty | Inspect a full conversation or tool route in this story. | Plan/actions, symbolic predictions, available confidence signals, selected decision. | "These deterministic components expose intended actions and uncertainty. Their scores need empirical validation." |</a:t>
            </a:r>
            <a:endParaRPr/>
          </a:p>
          <a:p xmlns:a="http://schemas.openxmlformats.org/drawingml/2006/main">
            <a:pPr marL="0" lvl="0" indent="0" algn="l">
              <a:lnSpc>
                <a:spcPct val="100000"/>
              </a:lnSpc>
              <a:spcBef>
                <a:spcPts val="0"/>
              </a:spcBef>
              <a:spcAft>
                <a:spcPts val="0"/>
              </a:spcAft>
              <a:buSzPts val="1400"/>
              <a:buNone/>
            </a:pPr>
            <a:r>
              <a:t>| 8. Reflection | First show natural trigger behavior. In functional track only, inject a low-confidence/wrong-query condition with a visible label. | Advice, budget check, accepted/rejected correction, before/after query/evidence/output. | "This branch is conditional. The injected case proves the correction mechanism, not natural-model improvement." |</a:t>
            </a:r>
            <a:endParaRPr/>
          </a:p>
          <a:p xmlns:a="http://schemas.openxmlformats.org/drawingml/2006/main">
            <a:pPr marL="0" lvl="0" indent="0" algn="l">
              <a:lnSpc>
                <a:spcPct val="100000"/>
              </a:lnSpc>
              <a:spcBef>
                <a:spcPts val="0"/>
              </a:spcBef>
              <a:spcAft>
                <a:spcPts val="0"/>
              </a:spcAft>
              <a:buSzPts val="1400"/>
              <a:buNone/>
            </a:pPr>
            <a:r>
              <a:t>| 9. Controlled tool | Register a harmless local calculator/formatter using existing tool contracts. Permit only that tool. Demonstrate valid and blocked/invalid invocations. | Schema checks, policy audit, typed result, no external side effects. | "Only a registered, validated, allowlisted operation runs." |</a:t>
            </a:r>
            <a:endParaRPr/>
          </a:p>
          <a:p xmlns:a="http://schemas.openxmlformats.org/drawingml/2006/main">
            <a:pPr marL="0" lvl="0" indent="0" algn="l">
              <a:lnSpc>
                <a:spcPct val="100000"/>
              </a:lnSpc>
              <a:spcBef>
                <a:spcPts val="0"/>
              </a:spcBef>
              <a:spcAft>
                <a:spcPts val="0"/>
              </a:spcAft>
              <a:buSzPts val="1400"/>
              <a:buNone/>
            </a:pPr>
            <a:r>
              <a:t>| 10. Generation/validation | Show selected evidence labels in request and parsed citations in response. Force malformed output separately in functional track. | Actual generated response or explicit failure, mapped source IDs, no fabricated fallback. | "A failed provider/schema call remains a failure." |</a:t>
            </a:r>
            <a:endParaRPr/>
          </a:p>
          <a:p xmlns:a="http://schemas.openxmlformats.org/drawingml/2006/main">
            <a:pPr marL="0" lvl="0" indent="0" algn="l">
              <a:lnSpc>
                <a:spcPct val="100000"/>
              </a:lnSpc>
              <a:spcBef>
                <a:spcPts val="0"/>
              </a:spcBef>
              <a:spcAft>
                <a:spcPts val="0"/>
              </a:spcAft>
              <a:buSzPts val="1400"/>
              <a:buNone/>
            </a:pPr>
            <a:r>
              <a:t>| 11. State/maintenance | Show version increment and task-appropriate memory changes. Await the existing maintenance barrier. | Pending/completed/failed counts and derived memory/graph changes. | "Admission and completed background work are separate facts." |</a:t>
            </a:r>
            <a:endParaRPr/>
          </a:p>
          <a:p xmlns:a="http://schemas.openxmlformats.org/drawingml/2006/main">
            <a:pPr marL="0" lvl="0" indent="0" algn="l">
              <a:lnSpc>
                <a:spcPct val="100000"/>
              </a:lnSpc>
              <a:spcBef>
                <a:spcPts val="0"/>
              </a:spcBef>
              <a:spcAft>
                <a:spcPts val="0"/>
              </a:spcAft>
              <a:buSzPts val="1400"/>
              <a:buNone/>
            </a:pPr>
            <a:r>
              <a:t>| 12. Export | Save manifest, per-request typed responses, traces, evaluator records, comparison, test output, checksums. | One reproducible demo bundle with no secrets. | "Every claim shown on screen has a corresponding saved artifact."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7.4 Fair comparisons: separate what changes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A, fixed-store retrieval/control: give simple RAG and full PRIMA identical ingested records and compatible backend/settings. Model-only remains the no-retrieval baseline. Its lack of private memory is the intended distinction. If a long-context baseline is desired, give it the same history explicitly and label it separately. This comparison isolates route-level differences more clearly than simultaneously changing memory admission.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B, historical memory formation: replay identical history using declared admission policies, then compare the resulting stores and later QA. This measures the combined effect of admission/maintenance/retrieval. Do not attribute its whole delta only to graph or affect.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C, component ablation: keep all else fixed and disable one component, such as affect modulation, graph retrieval, or reflection. Use development cases and freeze the final settings before held-out evaluation. Existing profiles are not automatically single-component ablations.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Keep model/revision, source IDs/order, seed, generation settings, context limit, retry policy, scorer, and environment fixed. Reset state/stores between variants to prevent earlier answers contaminating later ones. Use one dedicated runtime/store per principal for the demo. Record warm/cold model state when timing.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7.5 Comparison table to fill from actual runs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Item | Model only | Simple RAG | Full PRIMA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Primary answer | PENDING | PENDING | PENDING |</a:t>
            </a:r>
            <a:endParaRPr/>
          </a:p>
          <a:p xmlns:a="http://schemas.openxmlformats.org/drawingml/2006/main">
            <a:pPr marL="0" lvl="0" indent="0" algn="l">
              <a:lnSpc>
                <a:spcPct val="100000"/>
              </a:lnSpc>
              <a:spcBef>
                <a:spcPts val="0"/>
              </a:spcBef>
              <a:spcAft>
                <a:spcPts val="0"/>
              </a:spcAft>
              <a:buSzPts val="1400"/>
              <a:buNone/>
            </a:pPr>
            <a:r>
              <a:t>| Outcome: answered/abstained/failed | PENDING | PENDING | PENDING |</a:t>
            </a:r>
            <a:endParaRPr/>
          </a:p>
          <a:p xmlns:a="http://schemas.openxmlformats.org/drawingml/2006/main">
            <a:pPr marL="0" lvl="0" indent="0" algn="l">
              <a:lnSpc>
                <a:spcPct val="100000"/>
              </a:lnSpc>
              <a:spcBef>
                <a:spcPts val="0"/>
              </a:spcBef>
              <a:spcAft>
                <a:spcPts val="0"/>
              </a:spcAft>
              <a:buSzPts val="1400"/>
              <a:buNone/>
            </a:pPr>
            <a:r>
              <a:t>| Exact match / token F1 | PENDING | PENDING | PENDING |</a:t>
            </a:r>
            <a:endParaRPr/>
          </a:p>
          <a:p xmlns:a="http://schemas.openxmlformats.org/drawingml/2006/main">
            <a:pPr marL="0" lvl="0" indent="0" algn="l">
              <a:lnSpc>
                <a:spcPct val="100000"/>
              </a:lnSpc>
              <a:spcBef>
                <a:spcPts val="0"/>
              </a:spcBef>
              <a:spcAft>
                <a:spcPts val="0"/>
              </a:spcAft>
              <a:buSzPts val="1400"/>
              <a:buNone/>
            </a:pPr>
            <a:r>
              <a:t>| Supporting-source recall | N/A, no retrieval | PENDING | PENDING |</a:t>
            </a:r>
            <a:endParaRPr/>
          </a:p>
          <a:p xmlns:a="http://schemas.openxmlformats.org/drawingml/2006/main">
            <a:pPr marL="0" lvl="0" indent="0" algn="l">
              <a:lnSpc>
                <a:spcPct val="100000"/>
              </a:lnSpc>
              <a:spcBef>
                <a:spcPts val="0"/>
              </a:spcBef>
              <a:spcAft>
                <a:spcPts val="0"/>
              </a:spcAft>
              <a:buSzPts val="1400"/>
              <a:buNone/>
            </a:pPr>
            <a:r>
              <a:t>| Final evidence/citations | N/A or explicitly supplied context | PENDING | PENDING |</a:t>
            </a:r>
            <a:endParaRPr/>
          </a:p>
          <a:p xmlns:a="http://schemas.openxmlformats.org/drawingml/2006/main">
            <a:pPr marL="0" lvl="0" indent="0" algn="l">
              <a:lnSpc>
                <a:spcPct val="100000"/>
              </a:lnSpc>
              <a:spcBef>
                <a:spcPts val="0"/>
              </a:spcBef>
              <a:spcAft>
                <a:spcPts val="0"/>
              </a:spcAft>
              <a:buSzPts val="1400"/>
              <a:buNone/>
            </a:pPr>
            <a:r>
              <a:t>| Retrieval calls / returned sources | Expected zero retrieval | PENDING | PENDING |</a:t>
            </a:r>
            <a:endParaRPr/>
          </a:p>
          <a:p xmlns:a="http://schemas.openxmlformats.org/drawingml/2006/main">
            <a:pPr marL="0" lvl="0" indent="0" algn="l">
              <a:lnSpc>
                <a:spcPct val="100000"/>
              </a:lnSpc>
              <a:spcBef>
                <a:spcPts val="0"/>
              </a:spcBef>
              <a:spcAft>
                <a:spcPts val="0"/>
              </a:spcAft>
              <a:buSzPts val="1400"/>
              <a:buNone/>
            </a:pPr>
            <a:r>
              <a:t>| Model calls / tokens | PENDING | PENDING | PENDING |</a:t>
            </a:r>
            <a:endParaRPr/>
          </a:p>
          <a:p xmlns:a="http://schemas.openxmlformats.org/drawingml/2006/main">
            <a:pPr marL="0" lvl="0" indent="0" algn="l">
              <a:lnSpc>
                <a:spcPct val="100000"/>
              </a:lnSpc>
              <a:spcBef>
                <a:spcPts val="0"/>
              </a:spcBef>
              <a:spcAft>
                <a:spcPts val="0"/>
              </a:spcAft>
              <a:buSzPts val="1400"/>
              <a:buNone/>
            </a:pPr>
            <a:r>
              <a:t>| Wall latency, including barrier if reported | PENDING | PENDING | PENDING |</a:t>
            </a:r>
            <a:endParaRPr/>
          </a:p>
          <a:p xmlns:a="http://schemas.openxmlformats.org/drawingml/2006/main">
            <a:pPr marL="0" lvl="0" indent="0" algn="l">
              <a:lnSpc>
                <a:spcPct val="100000"/>
              </a:lnSpc>
              <a:spcBef>
                <a:spcPts val="0"/>
              </a:spcBef>
              <a:spcAft>
                <a:spcPts val="0"/>
              </a:spcAft>
              <a:buSzPts val="1400"/>
              <a:buNone/>
            </a:pPr>
            <a:r>
              <a:t>| Reflection/corrections | Route excluded | Route dependent | PENDING |</a:t>
            </a:r>
            <a:endParaRPr/>
          </a:p>
          <a:p xmlns:a="http://schemas.openxmlformats.org/drawingml/2006/main">
            <a:pPr marL="0" lvl="0" indent="0" algn="l">
              <a:lnSpc>
                <a:spcPct val="100000"/>
              </a:lnSpc>
              <a:spcBef>
                <a:spcPts val="0"/>
              </a:spcBef>
              <a:spcAft>
                <a:spcPts val="0"/>
              </a:spcAft>
              <a:buSzPts val="1400"/>
              <a:buNone/>
            </a:pPr>
            <a:r>
              <a:t>| Maintenance admitted/completed/failed | Task/policy dependent | Task/policy dependent | PENDING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expected answer belongs to scoring. Every cell above must come from saved outputs rather than a manually scripted demonstration narrative.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7.6 Demo orchestration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freeze synthetic scenario and evaluator-owned expectations</a:t>
            </a:r>
            <a:endParaRPr/>
          </a:p>
          <a:p xmlns:a="http://schemas.openxmlformats.org/drawingml/2006/main">
            <a:pPr marL="0" lvl="0" indent="0" algn="l">
              <a:lnSpc>
                <a:spcPct val="100000"/>
              </a:lnSpc>
              <a:spcBef>
                <a:spcPts val="0"/>
              </a:spcBef>
              <a:spcAft>
                <a:spcPts val="0"/>
              </a:spcAft>
              <a:buSzPts val="1400"/>
              <a:buNone/>
            </a:pPr>
            <a:r>
              <a:t>record source/model/environment identities</a:t>
            </a:r>
            <a:endParaRPr/>
          </a:p>
          <a:p xmlns:a="http://schemas.openxmlformats.org/drawingml/2006/main">
            <a:pPr marL="0" lvl="0" indent="0" algn="l">
              <a:lnSpc>
                <a:spcPct val="100000"/>
              </a:lnSpc>
              <a:spcBef>
                <a:spcPts val="0"/>
              </a:spcBef>
              <a:spcAft>
                <a:spcPts val="0"/>
              </a:spcAft>
              <a:buSzPts val="1400"/>
              <a:buNone/>
            </a:pPr>
            <a:r>
              <a:t>for profile in [model_only, simple_rag, prima_full]:</a:t>
            </a:r>
            <a:endParaRPr/>
          </a:p>
          <a:p xmlns:a="http://schemas.openxmlformats.org/drawingml/2006/main">
            <a:pPr marL="0" lvl="0" indent="0" algn="l">
              <a:lnSpc>
                <a:spcPct val="100000"/>
              </a:lnSpc>
              <a:spcBef>
                <a:spcPts val="0"/>
              </a:spcBef>
              <a:spcAft>
                <a:spcPts val="0"/>
              </a:spcAft>
              <a:buSzPts val="1400"/>
              <a:buNone/>
            </a:pPr>
            <a:r>
              <a:t>    create fresh isolated runtime, repository, and state</a:t>
            </a:r>
            <a:endParaRPr/>
          </a:p>
          <a:p xmlns:a="http://schemas.openxmlformats.org/drawingml/2006/main">
            <a:pPr marL="0" lvl="0" indent="0" algn="l">
              <a:lnSpc>
                <a:spcPct val="100000"/>
              </a:lnSpc>
              <a:spcBef>
                <a:spcPts val="0"/>
              </a:spcBef>
              <a:spcAft>
                <a:spcPts val="0"/>
              </a:spcAft>
              <a:buSzPts val="1400"/>
              <a:buNone/>
            </a:pPr>
            <a:r>
              <a:t>    seed the declared evidence protocol consistently</a:t>
            </a:r>
            <a:endParaRPr/>
          </a:p>
          <a:p xmlns:a="http://schemas.openxmlformats.org/drawingml/2006/main">
            <a:pPr marL="0" lvl="0" indent="0" algn="l">
              <a:lnSpc>
                <a:spcPct val="100000"/>
              </a:lnSpc>
              <a:spcBef>
                <a:spcPts val="0"/>
              </a:spcBef>
              <a:spcAft>
                <a:spcPts val="0"/>
              </a:spcAft>
              <a:buSzPts val="1400"/>
              <a:buNone/>
            </a:pPr>
            <a:r>
              <a:t>    execute identical QA request with fixed budgets/settings</a:t>
            </a:r>
            <a:endParaRPr/>
          </a:p>
          <a:p xmlns:a="http://schemas.openxmlformats.org/drawingml/2006/main">
            <a:pPr marL="0" lvl="0" indent="0" algn="l">
              <a:lnSpc>
                <a:spcPct val="100000"/>
              </a:lnSpc>
              <a:spcBef>
                <a:spcPts val="0"/>
              </a:spcBef>
              <a:spcAft>
                <a:spcPts val="0"/>
              </a:spcAft>
              <a:buSzPts val="1400"/>
              <a:buNone/>
            </a:pPr>
            <a:r>
              <a:t>    await task-appropriate maintenance boundary</a:t>
            </a:r>
            <a:endParaRPr/>
          </a:p>
          <a:p xmlns:a="http://schemas.openxmlformats.org/drawingml/2006/main">
            <a:pPr marL="0" lvl="0" indent="0" algn="l">
              <a:lnSpc>
                <a:spcPct val="100000"/>
              </a:lnSpc>
              <a:spcBef>
                <a:spcPts val="0"/>
              </a:spcBef>
              <a:spcAft>
                <a:spcPts val="0"/>
              </a:spcAft>
              <a:buSzPts val="1400"/>
              <a:buNone/>
            </a:pPr>
            <a:r>
              <a:t>    save full typed response and active backend diagnostics</a:t>
            </a:r>
            <a:endParaRPr/>
          </a:p>
          <a:p xmlns:a="http://schemas.openxmlformats.org/drawingml/2006/main">
            <a:pPr marL="0" lvl="0" indent="0" algn="l">
              <a:lnSpc>
                <a:spcPct val="100000"/>
              </a:lnSpc>
              <a:spcBef>
                <a:spcPts val="0"/>
              </a:spcBef>
              <a:spcAft>
                <a:spcPts val="0"/>
              </a:spcAft>
              <a:buSzPts val="1400"/>
              <a:buNone/>
            </a:pPr>
            <a:r>
              <a:t>    score only after inference using evaluator-owned gold</a:t>
            </a:r>
            <a:endParaRPr/>
          </a:p>
          <a:p xmlns:a="http://schemas.openxmlformats.org/drawingml/2006/main">
            <a:pPr marL="0" lvl="0" indent="0" algn="l">
              <a:lnSpc>
                <a:spcPct val="100000"/>
              </a:lnSpc>
              <a:spcBef>
                <a:spcPts val="0"/>
              </a:spcBef>
              <a:spcAft>
                <a:spcPts val="0"/>
              </a:spcAft>
              <a:buSzPts val="1400"/>
              <a:buNone/>
            </a:pPr>
            <a:r>
              <a:t>run scenario-specific ingestion/replay/affect/tool requests</a:t>
            </a:r>
            <a:endParaRPr/>
          </a:p>
          <a:p xmlns:a="http://schemas.openxmlformats.org/drawingml/2006/main">
            <a:pPr marL="0" lvl="0" indent="0" algn="l">
              <a:lnSpc>
                <a:spcPct val="100000"/>
              </a:lnSpc>
              <a:spcBef>
                <a:spcPts val="0"/>
              </a:spcBef>
              <a:spcAft>
                <a:spcPts val="0"/>
              </a:spcAft>
              <a:buSzPts val="1400"/>
              <a:buNone/>
            </a:pPr>
            <a:r>
              <a:t>run labeled deterministic reflection and fault cases separately</a:t>
            </a:r>
            <a:endParaRPr/>
          </a:p>
          <a:p xmlns:a="http://schemas.openxmlformats.org/drawingml/2006/main">
            <a:pPr marL="0" lvl="0" indent="0" algn="l">
              <a:lnSpc>
                <a:spcPct val="100000"/>
              </a:lnSpc>
              <a:spcBef>
                <a:spcPts val="0"/>
              </a:spcBef>
              <a:spcAft>
                <a:spcPts val="0"/>
              </a:spcAft>
              <a:buSzPts val="1400"/>
              <a:buNone/>
            </a:pPr>
            <a:r>
              <a:t>reconcile planned, executed, not-executed, and skipped components</a:t>
            </a:r>
            <a:endParaRPr/>
          </a:p>
          <a:p xmlns:a="http://schemas.openxmlformats.org/drawingml/2006/main">
            <a:pPr marL="0" lvl="0" indent="0" algn="l">
              <a:lnSpc>
                <a:spcPct val="100000"/>
              </a:lnSpc>
              <a:spcBef>
                <a:spcPts val="0"/>
              </a:spcBef>
              <a:spcAft>
                <a:spcPts val="0"/>
              </a:spcAft>
              <a:buSzPts val="1400"/>
              <a:buNone/>
            </a:pPr>
            <a:r>
              <a:t>validate artifact coverage and redact secrets</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7.7 Assertions required in the eventual runnable script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Unsupported routes/control overrides fail before unintended work.</a:t>
            </a:r>
            <a:endParaRPr/>
          </a:p>
          <a:p xmlns:a="http://schemas.openxmlformats.org/drawingml/2006/main">
            <a:pPr marL="0" lvl="0" indent="0" algn="l">
              <a:lnSpc>
                <a:spcPct val="100000"/>
              </a:lnSpc>
              <a:spcBef>
                <a:spcPts val="0"/>
              </a:spcBef>
              <a:spcAft>
                <a:spcPts val="0"/>
              </a:spcAft>
              <a:buSzPts val="1400"/>
              <a:buNone/>
            </a:pPr>
            <a:r>
              <a:t>2. Ingestion/replay does not call answer generation.</a:t>
            </a:r>
            <a:endParaRPr/>
          </a:p>
          <a:p xmlns:a="http://schemas.openxmlformats.org/drawingml/2006/main">
            <a:pPr marL="0" lvl="0" indent="0" algn="l">
              <a:lnSpc>
                <a:spcPct val="100000"/>
              </a:lnSpc>
              <a:spcBef>
                <a:spcPts val="0"/>
              </a:spcBef>
              <a:spcAft>
                <a:spcPts val="0"/>
              </a:spcAft>
              <a:buSzPts val="1400"/>
              <a:buNone/>
            </a:pPr>
            <a:r>
              <a:t>3. Model-only does not execute retrieval.</a:t>
            </a:r>
            <a:endParaRPr/>
          </a:p>
          <a:p xmlns:a="http://schemas.openxmlformats.org/drawingml/2006/main">
            <a:pPr marL="0" lvl="0" indent="0" algn="l">
              <a:lnSpc>
                <a:spcPct val="100000"/>
              </a:lnSpc>
              <a:spcBef>
                <a:spcPts val="0"/>
              </a:spcBef>
              <a:spcAft>
                <a:spcPts val="0"/>
              </a:spcAft>
              <a:buSzPts val="1400"/>
              <a:buNone/>
            </a:pPr>
            <a:r>
              <a:t>4. Simple RAG excludes temporal/graph responsibilities selected only by full routes.</a:t>
            </a:r>
            <a:endParaRPr/>
          </a:p>
          <a:p xmlns:a="http://schemas.openxmlformats.org/drawingml/2006/main">
            <a:pPr marL="0" lvl="0" indent="0" algn="l">
              <a:lnSpc>
                <a:spcPct val="100000"/>
              </a:lnSpc>
              <a:spcBef>
                <a:spcPts val="0"/>
              </a:spcBef>
              <a:spcAft>
                <a:spcPts val="0"/>
              </a:spcAft>
              <a:buSzPts val="1400"/>
              <a:buNone/>
            </a:pPr>
            <a:r>
              <a:t>5. Planned components reconcile with executed and not-executed components, and execution respects capabilities.</a:t>
            </a:r>
            <a:endParaRPr/>
          </a:p>
          <a:p xmlns:a="http://schemas.openxmlformats.org/drawingml/2006/main">
            <a:pPr marL="0" lvl="0" indent="0" algn="l">
              <a:lnSpc>
                <a:spcPct val="100000"/>
              </a:lnSpc>
              <a:spcBef>
                <a:spcPts val="0"/>
              </a:spcBef>
              <a:spcAft>
                <a:spcPts val="0"/>
              </a:spcAft>
              <a:buSzPts val="1400"/>
              <a:buNone/>
            </a:pPr>
            <a:r>
              <a:t>6. Returned citations map to the actual selected evidence.</a:t>
            </a:r>
            <a:endParaRPr/>
          </a:p>
          <a:p xmlns:a="http://schemas.openxmlformats.org/drawingml/2006/main">
            <a:pPr marL="0" lvl="0" indent="0" algn="l">
              <a:lnSpc>
                <a:spcPct val="100000"/>
              </a:lnSpc>
              <a:spcBef>
                <a:spcPts val="0"/>
              </a:spcBef>
              <a:spcAft>
                <a:spcPts val="0"/>
              </a:spcAft>
              <a:buSzPts val="1400"/>
              <a:buNone/>
            </a:pPr>
            <a:r>
              <a:t>7. Reflection respects correction budgets and records actual changes.</a:t>
            </a:r>
            <a:endParaRPr/>
          </a:p>
          <a:p xmlns:a="http://schemas.openxmlformats.org/drawingml/2006/main">
            <a:pPr marL="0" lvl="0" indent="0" algn="l">
              <a:lnSpc>
                <a:spcPct val="100000"/>
              </a:lnSpc>
              <a:spcBef>
                <a:spcPts val="0"/>
              </a:spcBef>
              <a:spcAft>
                <a:spcPts val="0"/>
              </a:spcAft>
              <a:buSzPts val="1400"/>
              <a:buNone/>
            </a:pPr>
            <a:r>
              <a:t>8. Tool requests do not accidentally invoke answer generation. Invalid/disallowed invocations remain blocked.</a:t>
            </a:r>
            <a:endParaRPr/>
          </a:p>
          <a:p xmlns:a="http://schemas.openxmlformats.org/drawingml/2006/main">
            <a:pPr marL="0" lvl="0" indent="0" algn="l">
              <a:lnSpc>
                <a:spcPct val="100000"/>
              </a:lnSpc>
              <a:spcBef>
                <a:spcPts val="0"/>
              </a:spcBef>
              <a:spcAft>
                <a:spcPts val="0"/>
              </a:spcAft>
              <a:buSzPts val="1400"/>
              <a:buNone/>
            </a:pPr>
            <a:r>
              <a:t>9. State versions and task-appropriate memory effects are observable.</a:t>
            </a:r>
            <a:endParaRPr/>
          </a:p>
          <a:p xmlns:a="http://schemas.openxmlformats.org/drawingml/2006/main">
            <a:pPr marL="0" lvl="0" indent="0" algn="l">
              <a:lnSpc>
                <a:spcPct val="100000"/>
              </a:lnSpc>
              <a:spcBef>
                <a:spcPts val="0"/>
              </a:spcBef>
              <a:spcAft>
                <a:spcPts val="0"/>
              </a:spcAft>
              <a:buSzPts val="1400"/>
              <a:buNone/>
            </a:pPr>
            <a:r>
              <a:t>10. Maintenance completes or reports failures explicitly before claiming a completed demo stage.</a:t>
            </a:r>
            <a:endParaRPr/>
          </a:p>
          <a:p xmlns:a="http://schemas.openxmlformats.org/drawingml/2006/main">
            <a:pPr marL="0" lvl="0" indent="0" algn="l">
              <a:lnSpc>
                <a:spcPct val="100000"/>
              </a:lnSpc>
              <a:spcBef>
                <a:spcPts val="0"/>
              </a:spcBef>
              <a:spcAft>
                <a:spcPts val="0"/>
              </a:spcAft>
              <a:buSzPts val="1400"/>
              <a:buNone/>
            </a:pPr>
            <a:r>
              <a:t>11. Provider/schema/store failures do not become invented success.</a:t>
            </a:r>
            <a:endParaRPr/>
          </a:p>
          <a:p xmlns:a="http://schemas.openxmlformats.org/drawingml/2006/main">
            <a:pPr marL="0" lvl="0" indent="0" algn="l">
              <a:lnSpc>
                <a:spcPct val="100000"/>
              </a:lnSpc>
              <a:spcBef>
                <a:spcPts val="0"/>
              </a:spcBef>
              <a:spcAft>
                <a:spcPts val="0"/>
              </a:spcAft>
              <a:buSzPts val="1400"/>
              <a:buNone/>
            </a:pPr>
            <a:r>
              <a:t>12. Gold expectations remain outside inference requests/prompts/telemetry.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scaffolding: runtime integration, release fault injection, correction tests, tool tests, maintenance barriers.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C:/PRIMA_next/tests/integration/test_runtime_pipeline.py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Single-sample history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 Slide 7, part A: one-scenario demonstration and comparison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Status: proposed demo specification, not a completed demo run. The previous panel's suggestion is best satisfied with one connected scenario, several task-appropriate requests, and one exported evidence bundle. A single factual-QA request intentionally cannot exercise ingestion, conversation admission, emotion-only classification, and tool-only execution together.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7.1 Sample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synthetic data so the demo can be shared without exposing personal information. Freeze the wording and stable source IDs before rehearsal.</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Source ID | Synthetic history/document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S1 | [2026-09-01] Alex: I am working on Project Atlas. Mira is my project mentor. Please remember my important goal: finish the Atlas prototype. |</a:t>
            </a:r>
            <a:endParaRPr/>
          </a:p>
          <a:p xmlns:a="http://schemas.openxmlformats.org/drawingml/2006/main">
            <a:pPr marL="0" lvl="0" indent="0" algn="l">
              <a:lnSpc>
                <a:spcPct val="100000"/>
              </a:lnSpc>
              <a:spcBef>
                <a:spcPts val="0"/>
              </a:spcBef>
              <a:spcAft>
                <a:spcPts val="0"/>
              </a:spcAft>
              <a:buSzPts val="1400"/>
              <a:buNone/>
            </a:pPr>
            <a:r>
              <a:t>| S2 | [2026-09-03] Mira's office is in Pune. Mira reviews Project Atlas every Friday. |</a:t>
            </a:r>
            <a:endParaRPr/>
          </a:p>
          <a:p xmlns:a="http://schemas.openxmlformats.org/drawingml/2006/main">
            <a:pPr marL="0" lvl="0" indent="0" algn="l">
              <a:lnSpc>
                <a:spcPct val="100000"/>
              </a:lnSpc>
              <a:spcBef>
                <a:spcPts val="0"/>
              </a:spcBef>
              <a:spcAft>
                <a:spcPts val="0"/>
              </a:spcAft>
              <a:buSzPts val="1400"/>
              <a:buNone/>
            </a:pPr>
            <a:r>
              <a:t>| S3 | [2026-09-05] Alex: I used to prefer long explanations. I now prefer concise summaries for Project Atlas. |</a:t>
            </a:r>
            <a:endParaRPr/>
          </a:p>
          <a:p xmlns:a="http://schemas.openxmlformats.org/drawingml/2006/main">
            <a:pPr marL="0" lvl="0" indent="0" algn="l">
              <a:lnSpc>
                <a:spcPct val="100000"/>
              </a:lnSpc>
              <a:spcBef>
                <a:spcPts val="0"/>
              </a:spcBef>
              <a:spcAft>
                <a:spcPts val="0"/>
              </a:spcAft>
              <a:buSzPts val="1400"/>
              <a:buNone/>
            </a:pPr>
            <a:r>
              <a:t>| S4 | [2026-09-06] Alex: I feel anxious about the Project Atlas review because the prototype is unfinished. |</a:t>
            </a:r>
            <a:endParaRPr/>
          </a:p>
          <a:p xmlns:a="http://schemas.openxmlformats.org/drawingml/2006/main">
            <a:pPr marL="0" lvl="0" indent="0" algn="l">
              <a:lnSpc>
                <a:spcPct val="100000"/>
              </a:lnSpc>
              <a:spcBef>
                <a:spcPts val="0"/>
              </a:spcBef>
              <a:spcAft>
                <a:spcPts val="0"/>
              </a:spcAft>
              <a:buSzPts val="1400"/>
              <a:buNone/>
            </a:pPr>
            <a:r>
              <a:t>| S5 | [2026-09-07] Alex: The Project Atlas prototype passed its local checks. I feel excited and relieved. |</a:t>
            </a:r>
            <a:endParaRPr/>
          </a:p>
          <a:p xmlns:a="http://schemas.openxmlformats.org/drawingml/2006/main">
            <a:pPr marL="0" lvl="0" indent="0" algn="l">
              <a:lnSpc>
                <a:spcPct val="100000"/>
              </a:lnSpc>
              <a:spcBef>
                <a:spcPts val="0"/>
              </a:spcBef>
              <a:spcAft>
                <a:spcPts val="0"/>
              </a:spcAft>
              <a:buSzPts val="1400"/>
              <a:buNone/>
            </a:pPr>
            <a:r>
              <a:t>| D1 | Distractor: Dev mentors Project Beacon from Mumbai. Project Beacon is unrelated to Project Atlas. |</a:t>
            </a:r>
            <a:endParaRPr/>
          </a:p>
          <a:p xmlns:a="http://schemas.openxmlformats.org/drawingml/2006/main">
            <a:pPr marL="0" lvl="0" indent="0" algn="l">
              <a:lnSpc>
                <a:spcPct val="100000"/>
              </a:lnSpc>
              <a:spcBef>
                <a:spcPts val="0"/>
              </a:spcBef>
              <a:spcAft>
                <a:spcPts val="0"/>
              </a:spcAft>
              <a:buSzPts val="1400"/>
              <a:buNone/>
            </a:pPr>
            <a:r>
              <a:t>| D2 | Distractor: An older Atlas travel brochure mentions Mumbai. It does not describe Alex's mentor.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comparison question: "Which city is Alex's Project Atlas mentor based in?"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Evaluator-owned expected answer: Pune, supported by the Alex - Mira link in S1 and Mira - Pune link in S2. Do not add this expected answer or supporting-source IDs to model request metadata. The source records themselves may be supplied as ordinary evidence. S3 - S5 support temporal/preference/affect demonstrations in the same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current lexical sufficiency heuristic may reject this multi-hop wording despite relevant evidence. That is useful failure evidence. Record it, diagnose its stage, and avoid secretly simplifying only the PRIMA question to get a better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7.2 Two demonstration tracks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Functional track: deterministic injected provider and controlled branch conditions prove execution plumbing. Clearly label provider responses and forced uncertainty as synthetic. Existing tests already use injected responses and low-confidence estimators. This track can show error handling even when a real endpoint is unavailable.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Quality track: run the same frozen sample using a configured real model and record actual outputs. Use matched generation settings and native scoring. This track can provide an illustrative baseline comparison, but one scenario is insufficient for a research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Do not mix functional-track scripted answers into the real-model comparison table. A fake provider returning "Pune" does not show the model inferred the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7.3 Demo sequence, visible outputs, and narration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Step | Request / operation | What must be visible | What to say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0. Freeze setup | Record source commit, dependency versions, sample hash, seed, active backends/model/revision. Use isolated demo stores. | A manifest with real/fake provider label, source IDs, settings. | "This is the exact configuration and input used in all comparisons." |</a:t>
            </a:r>
            <a:endParaRPr/>
          </a:p>
          <a:p xmlns:a="http://schemas.openxmlformats.org/drawingml/2006/main">
            <a:pPr marL="0" lvl="0" indent="0" algn="l">
              <a:lnSpc>
                <a:spcPct val="100000"/>
              </a:lnSpc>
              <a:spcBef>
                <a:spcPts val="0"/>
              </a:spcBef>
              <a:spcAft>
                <a:spcPts val="0"/>
              </a:spcAft>
              <a:buSzPts val="1400"/>
              <a:buNone/>
            </a:pPr>
            <a:r>
              <a:t>| 1. Invalid request | Attempt an unsupported task/profile pair and reserved-control metadata. | Validation rejection / typed rejected result, no unintended execution. | "The public boundary rejects incompatible routes and control overrides." |</a:t>
            </a:r>
            <a:endParaRPr/>
          </a:p>
          <a:p xmlns:a="http://schemas.openxmlformats.org/drawingml/2006/main">
            <a:pPr marL="0" lvl="0" indent="0" algn="l">
              <a:lnSpc>
                <a:spcPct val="100000"/>
              </a:lnSpc>
              <a:spcBef>
                <a:spcPts val="0"/>
              </a:spcBef>
              <a:spcAft>
                <a:spcPts val="0"/>
              </a:spcAft>
              <a:buSzPts val="1400"/>
              <a:buNone/>
            </a:pPr>
            <a:r>
              <a:t>| 2. Ingest history | Submit frozen records through DOCUMENT_INGESTION/INGESTION_ONLY for a fixed-store comparison. Separately replay history through HISTORICAL_REPLAY/PRIMA_FULL to show admission/state behavior. | Memory IDs, content provenance, task outcome, no LLM calls during ingestion/replay. | "Explicit ingestion and selective historical admission are different experiments." |</a:t>
            </a:r>
            <a:endParaRPr/>
          </a:p>
          <a:p xmlns:a="http://schemas.openxmlformats.org/drawingml/2006/main">
            <a:pPr marL="0" lvl="0" indent="0" algn="l">
              <a:lnSpc>
                <a:spcPct val="100000"/>
              </a:lnSpc>
              <a:spcBef>
                <a:spcPts val="0"/>
              </a:spcBef>
              <a:spcAft>
                <a:spcPts val="0"/>
              </a:spcAft>
              <a:buSzPts val="1400"/>
              <a:buNone/>
            </a:pPr>
            <a:r>
              <a:t>| 3. Affect | Process S4 then S5 using the same dedicated scenario session. Optionally classify one utterance through AFFECT_ONLY. | Label scores, PAD, temporal momentum/history, active classifier. | "These are text-derived emotional signals. Here is how the signal changes over time." |</a:t>
            </a:r>
            <a:endParaRPr/>
          </a:p>
          <a:p xmlns:a="http://schemas.openxmlformats.org/drawingml/2006/main">
            <a:pPr marL="0" lvl="0" indent="0" algn="l">
              <a:lnSpc>
                <a:spcPct val="100000"/>
              </a:lnSpc>
              <a:spcBef>
                <a:spcPts val="0"/>
              </a:spcBef>
              <a:spcAft>
                <a:spcPts val="0"/>
              </a:spcAft>
              <a:buSzPts val="1400"/>
              <a:buNone/>
            </a:pPr>
            <a:r>
              <a:t>| 4. Admission | Inspect scores/reasons from replay and an additional low-value synthetic turn. | Stored/rejected decision, threshold, component scores, before/after memory counts. | "Useful-memory selection is explicit. We report the actual outcome instead of assuming every turn is stored." |</a:t>
            </a:r>
            <a:endParaRPr/>
          </a:p>
          <a:p xmlns:a="http://schemas.openxmlformats.org/drawingml/2006/main">
            <a:pPr marL="0" lvl="0" indent="0" algn="l">
              <a:lnSpc>
                <a:spcPct val="100000"/>
              </a:lnSpc>
              <a:spcBef>
                <a:spcPts val="0"/>
              </a:spcBef>
              <a:spcAft>
                <a:spcPts val="0"/>
              </a:spcAft>
              <a:buSzPts val="1400"/>
              <a:buNone/>
            </a:pPr>
            <a:r>
              <a:t>| 5. Three-profile QA | Ask the identical primary question in fresh, equivalent runtime/store instances for each profile. | Output, abstention/failure, retrieved IDs, calls, latency, tokens. | "We change the profile while fixing the model and experiment conditions." |</a:t>
            </a:r>
            <a:endParaRPr/>
          </a:p>
          <a:p xmlns:a="http://schemas.openxmlformats.org/drawingml/2006/main">
            <a:pPr marL="0" lvl="0" indent="0" algn="l">
              <a:lnSpc>
                <a:spcPct val="100000"/>
              </a:lnSpc>
              <a:spcBef>
                <a:spcPts val="0"/>
              </a:spcBef>
              <a:spcAft>
                <a:spcPts val="0"/>
              </a:spcAft>
              <a:buSzPts val="1400"/>
              <a:buNone/>
            </a:pPr>
            <a:r>
              <a:t>| 6. Retrieval internals | Expand full-route trace for the QA request. | Dense/sparse/temporal/graph candidates, fusion/reranking, compressed context/source mapping, insufficiency reason if any. | "This shows where the evidence entered or disappeared." |</a:t>
            </a:r>
            <a:endParaRPr/>
          </a:p>
          <a:p xmlns:a="http://schemas.openxmlformats.org/drawingml/2006/main">
            <a:pPr marL="0" lvl="0" indent="0" algn="l">
              <a:lnSpc>
                <a:spcPct val="100000"/>
              </a:lnSpc>
              <a:spcBef>
                <a:spcPts val="0"/>
              </a:spcBef>
              <a:spcAft>
                <a:spcPts val="0"/>
              </a:spcAft>
              <a:buSzPts val="1400"/>
              <a:buNone/>
            </a:pPr>
            <a:r>
              <a:t>| 7. Planning/world/uncertainty | Inspect a full conversation or tool route in this story. | Plan/actions, symbolic predictions, available confidence signals, selected decision. | "These deterministic components expose intended actions and uncertainty. Their scores need empirical validation." |</a:t>
            </a:r>
            <a:endParaRPr/>
          </a:p>
          <a:p xmlns:a="http://schemas.openxmlformats.org/drawingml/2006/main">
            <a:pPr marL="0" lvl="0" indent="0" algn="l">
              <a:lnSpc>
                <a:spcPct val="100000"/>
              </a:lnSpc>
              <a:spcBef>
                <a:spcPts val="0"/>
              </a:spcBef>
              <a:spcAft>
                <a:spcPts val="0"/>
              </a:spcAft>
              <a:buSzPts val="1400"/>
              <a:buNone/>
            </a:pPr>
            <a:r>
              <a:t>| 8. Reflection | First show natural trigger behavior. In functional track only, inject a low-confidence/wrong-query condition with a visible label. | Advice, budget check, accepted/rejected correction, before/after query/evidence/output. | "This branch is conditional. The injected case proves the correction mechanism, not natural-model improvement." |</a:t>
            </a:r>
            <a:endParaRPr/>
          </a:p>
          <a:p xmlns:a="http://schemas.openxmlformats.org/drawingml/2006/main">
            <a:pPr marL="0" lvl="0" indent="0" algn="l">
              <a:lnSpc>
                <a:spcPct val="100000"/>
              </a:lnSpc>
              <a:spcBef>
                <a:spcPts val="0"/>
              </a:spcBef>
              <a:spcAft>
                <a:spcPts val="0"/>
              </a:spcAft>
              <a:buSzPts val="1400"/>
              <a:buNone/>
            </a:pPr>
            <a:r>
              <a:t>| 9. Controlled tool | Register a harmless local calculator/formatter using existing tool contracts. Permit only that tool. Demonstrate valid and blocked/invalid invocations. | Schema checks, policy audit, typed result, no external side effects. | "Only a registered, validated, allowlisted operation runs." |</a:t>
            </a:r>
            <a:endParaRPr/>
          </a:p>
          <a:p xmlns:a="http://schemas.openxmlformats.org/drawingml/2006/main">
            <a:pPr marL="0" lvl="0" indent="0" algn="l">
              <a:lnSpc>
                <a:spcPct val="100000"/>
              </a:lnSpc>
              <a:spcBef>
                <a:spcPts val="0"/>
              </a:spcBef>
              <a:spcAft>
                <a:spcPts val="0"/>
              </a:spcAft>
              <a:buSzPts val="1400"/>
              <a:buNone/>
            </a:pPr>
            <a:r>
              <a:t>| 10. Generation/validation | Show selected evidence labels in request and parsed citations in response. Force malformed output separately in functional track. | Actual generated response or explicit failure, mapped source IDs, no fabricated fallback. | "A failed provider/schema call remains a failure." |</a:t>
            </a:r>
            <a:endParaRPr/>
          </a:p>
          <a:p xmlns:a="http://schemas.openxmlformats.org/drawingml/2006/main">
            <a:pPr marL="0" lvl="0" indent="0" algn="l">
              <a:lnSpc>
                <a:spcPct val="100000"/>
              </a:lnSpc>
              <a:spcBef>
                <a:spcPts val="0"/>
              </a:spcBef>
              <a:spcAft>
                <a:spcPts val="0"/>
              </a:spcAft>
              <a:buSzPts val="1400"/>
              <a:buNone/>
            </a:pPr>
            <a:r>
              <a:t>| 11. State/maintenance | Show version increment and task-appropriate memory changes. Await the existing maintenance barrier. | Pending/completed/failed counts and derived memory/graph changes. | "Admission and completed background work are separate facts." |</a:t>
            </a:r>
            <a:endParaRPr/>
          </a:p>
          <a:p xmlns:a="http://schemas.openxmlformats.org/drawingml/2006/main">
            <a:pPr marL="0" lvl="0" indent="0" algn="l">
              <a:lnSpc>
                <a:spcPct val="100000"/>
              </a:lnSpc>
              <a:spcBef>
                <a:spcPts val="0"/>
              </a:spcBef>
              <a:spcAft>
                <a:spcPts val="0"/>
              </a:spcAft>
              <a:buSzPts val="1400"/>
              <a:buNone/>
            </a:pPr>
            <a:r>
              <a:t>| 12. Export | Save manifest, per-request typed responses, traces, evaluator records, comparison, test output, checksums. | One reproducible demo bundle with no secrets. | "Every claim shown on screen has a corresponding saved artifact."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7.4 Fair comparisons: separate what changes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A, fixed-store retrieval/control: give simple RAG and full PRIMA identical ingested records and compatible backend/settings. Model-only remains the no-retrieval baseline. Its lack of private memory is the intended distinction. If a long-context baseline is desired, give it the same history explicitly and label it separately. This comparison isolates route-level differences more clearly than simultaneously changing memory admission.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B, historical memory formation: replay identical history using declared admission policies, then compare the resulting stores and later QA. This measures the combined effect of admission/maintenance/retrieval. Do not attribute its whole delta only to graph or affect.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C, component ablation: keep all else fixed and disable one component, such as affect modulation, graph retrieval, or reflection. Use development cases and freeze the final settings before held-out evaluation. Existing profiles are not automatically single-component ablations.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Keep model/revision, source IDs/order, seed, generation settings, context limit, retry policy, scorer, and environment fixed. Reset state/stores between variants to prevent earlier answers contaminating later ones. Use one dedicated runtime/store per principal for the demo. Record warm/cold model state when timing.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7.5 Comparison table to fill from actual runs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Item | Model only | Simple RAG | Full PRIMA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Primary answer | PENDING | PENDING | PENDING |</a:t>
            </a:r>
            <a:endParaRPr/>
          </a:p>
          <a:p xmlns:a="http://schemas.openxmlformats.org/drawingml/2006/main">
            <a:pPr marL="0" lvl="0" indent="0" algn="l">
              <a:lnSpc>
                <a:spcPct val="100000"/>
              </a:lnSpc>
              <a:spcBef>
                <a:spcPts val="0"/>
              </a:spcBef>
              <a:spcAft>
                <a:spcPts val="0"/>
              </a:spcAft>
              <a:buSzPts val="1400"/>
              <a:buNone/>
            </a:pPr>
            <a:r>
              <a:t>| Outcome: answered/abstained/failed | PENDING | PENDING | PENDING |</a:t>
            </a:r>
            <a:endParaRPr/>
          </a:p>
          <a:p xmlns:a="http://schemas.openxmlformats.org/drawingml/2006/main">
            <a:pPr marL="0" lvl="0" indent="0" algn="l">
              <a:lnSpc>
                <a:spcPct val="100000"/>
              </a:lnSpc>
              <a:spcBef>
                <a:spcPts val="0"/>
              </a:spcBef>
              <a:spcAft>
                <a:spcPts val="0"/>
              </a:spcAft>
              <a:buSzPts val="1400"/>
              <a:buNone/>
            </a:pPr>
            <a:r>
              <a:t>| Exact match / token F1 | PENDING | PENDING | PENDING |</a:t>
            </a:r>
            <a:endParaRPr/>
          </a:p>
          <a:p xmlns:a="http://schemas.openxmlformats.org/drawingml/2006/main">
            <a:pPr marL="0" lvl="0" indent="0" algn="l">
              <a:lnSpc>
                <a:spcPct val="100000"/>
              </a:lnSpc>
              <a:spcBef>
                <a:spcPts val="0"/>
              </a:spcBef>
              <a:spcAft>
                <a:spcPts val="0"/>
              </a:spcAft>
              <a:buSzPts val="1400"/>
              <a:buNone/>
            </a:pPr>
            <a:r>
              <a:t>| Supporting-source recall | N/A, no retrieval | PENDING | PENDING |</a:t>
            </a:r>
            <a:endParaRPr/>
          </a:p>
          <a:p xmlns:a="http://schemas.openxmlformats.org/drawingml/2006/main">
            <a:pPr marL="0" lvl="0" indent="0" algn="l">
              <a:lnSpc>
                <a:spcPct val="100000"/>
              </a:lnSpc>
              <a:spcBef>
                <a:spcPts val="0"/>
              </a:spcBef>
              <a:spcAft>
                <a:spcPts val="0"/>
              </a:spcAft>
              <a:buSzPts val="1400"/>
              <a:buNone/>
            </a:pPr>
            <a:r>
              <a:t>| Final evidence/citations | N/A or explicitly supplied context | PENDING | PENDING |</a:t>
            </a:r>
            <a:endParaRPr/>
          </a:p>
          <a:p xmlns:a="http://schemas.openxmlformats.org/drawingml/2006/main">
            <a:pPr marL="0" lvl="0" indent="0" algn="l">
              <a:lnSpc>
                <a:spcPct val="100000"/>
              </a:lnSpc>
              <a:spcBef>
                <a:spcPts val="0"/>
              </a:spcBef>
              <a:spcAft>
                <a:spcPts val="0"/>
              </a:spcAft>
              <a:buSzPts val="1400"/>
              <a:buNone/>
            </a:pPr>
            <a:r>
              <a:t>| Retrieval calls / returned sources | Expected zero retrieval | PENDING | PENDING |</a:t>
            </a:r>
            <a:endParaRPr/>
          </a:p>
          <a:p xmlns:a="http://schemas.openxmlformats.org/drawingml/2006/main">
            <a:pPr marL="0" lvl="0" indent="0" algn="l">
              <a:lnSpc>
                <a:spcPct val="100000"/>
              </a:lnSpc>
              <a:spcBef>
                <a:spcPts val="0"/>
              </a:spcBef>
              <a:spcAft>
                <a:spcPts val="0"/>
              </a:spcAft>
              <a:buSzPts val="1400"/>
              <a:buNone/>
            </a:pPr>
            <a:r>
              <a:t>| Model calls / tokens | PENDING | PENDING | PENDING |</a:t>
            </a:r>
            <a:endParaRPr/>
          </a:p>
          <a:p xmlns:a="http://schemas.openxmlformats.org/drawingml/2006/main">
            <a:pPr marL="0" lvl="0" indent="0" algn="l">
              <a:lnSpc>
                <a:spcPct val="100000"/>
              </a:lnSpc>
              <a:spcBef>
                <a:spcPts val="0"/>
              </a:spcBef>
              <a:spcAft>
                <a:spcPts val="0"/>
              </a:spcAft>
              <a:buSzPts val="1400"/>
              <a:buNone/>
            </a:pPr>
            <a:r>
              <a:t>| Wall latency, including barrier if reported | PENDING | PENDING | PENDING |</a:t>
            </a:r>
            <a:endParaRPr/>
          </a:p>
          <a:p xmlns:a="http://schemas.openxmlformats.org/drawingml/2006/main">
            <a:pPr marL="0" lvl="0" indent="0" algn="l">
              <a:lnSpc>
                <a:spcPct val="100000"/>
              </a:lnSpc>
              <a:spcBef>
                <a:spcPts val="0"/>
              </a:spcBef>
              <a:spcAft>
                <a:spcPts val="0"/>
              </a:spcAft>
              <a:buSzPts val="1400"/>
              <a:buNone/>
            </a:pPr>
            <a:r>
              <a:t>| Reflection/corrections | Route excluded | Route dependent | PENDING |</a:t>
            </a:r>
            <a:endParaRPr/>
          </a:p>
          <a:p xmlns:a="http://schemas.openxmlformats.org/drawingml/2006/main">
            <a:pPr marL="0" lvl="0" indent="0" algn="l">
              <a:lnSpc>
                <a:spcPct val="100000"/>
              </a:lnSpc>
              <a:spcBef>
                <a:spcPts val="0"/>
              </a:spcBef>
              <a:spcAft>
                <a:spcPts val="0"/>
              </a:spcAft>
              <a:buSzPts val="1400"/>
              <a:buNone/>
            </a:pPr>
            <a:r>
              <a:t>| Maintenance admitted/completed/failed | Task/policy dependent | Task/policy dependent | PENDING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expected answer belongs to scoring. Every cell above must come from saved outputs rather than a manually scripted demonstration narrative.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7.6 Demo orchestration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freeze synthetic scenario and evaluator-owned expectations</a:t>
            </a:r>
            <a:endParaRPr/>
          </a:p>
          <a:p xmlns:a="http://schemas.openxmlformats.org/drawingml/2006/main">
            <a:pPr marL="0" lvl="0" indent="0" algn="l">
              <a:lnSpc>
                <a:spcPct val="100000"/>
              </a:lnSpc>
              <a:spcBef>
                <a:spcPts val="0"/>
              </a:spcBef>
              <a:spcAft>
                <a:spcPts val="0"/>
              </a:spcAft>
              <a:buSzPts val="1400"/>
              <a:buNone/>
            </a:pPr>
            <a:r>
              <a:t>record source/model/environment identities</a:t>
            </a:r>
            <a:endParaRPr/>
          </a:p>
          <a:p xmlns:a="http://schemas.openxmlformats.org/drawingml/2006/main">
            <a:pPr marL="0" lvl="0" indent="0" algn="l">
              <a:lnSpc>
                <a:spcPct val="100000"/>
              </a:lnSpc>
              <a:spcBef>
                <a:spcPts val="0"/>
              </a:spcBef>
              <a:spcAft>
                <a:spcPts val="0"/>
              </a:spcAft>
              <a:buSzPts val="1400"/>
              <a:buNone/>
            </a:pPr>
            <a:r>
              <a:t>for profile in [model_only, simple_rag, prima_full]:</a:t>
            </a:r>
            <a:endParaRPr/>
          </a:p>
          <a:p xmlns:a="http://schemas.openxmlformats.org/drawingml/2006/main">
            <a:pPr marL="0" lvl="0" indent="0" algn="l">
              <a:lnSpc>
                <a:spcPct val="100000"/>
              </a:lnSpc>
              <a:spcBef>
                <a:spcPts val="0"/>
              </a:spcBef>
              <a:spcAft>
                <a:spcPts val="0"/>
              </a:spcAft>
              <a:buSzPts val="1400"/>
              <a:buNone/>
            </a:pPr>
            <a:r>
              <a:t>    create fresh isolated runtime, repository, and state</a:t>
            </a:r>
            <a:endParaRPr/>
          </a:p>
          <a:p xmlns:a="http://schemas.openxmlformats.org/drawingml/2006/main">
            <a:pPr marL="0" lvl="0" indent="0" algn="l">
              <a:lnSpc>
                <a:spcPct val="100000"/>
              </a:lnSpc>
              <a:spcBef>
                <a:spcPts val="0"/>
              </a:spcBef>
              <a:spcAft>
                <a:spcPts val="0"/>
              </a:spcAft>
              <a:buSzPts val="1400"/>
              <a:buNone/>
            </a:pPr>
            <a:r>
              <a:t>    seed the declared evidence protocol consistently</a:t>
            </a:r>
            <a:endParaRPr/>
          </a:p>
          <a:p xmlns:a="http://schemas.openxmlformats.org/drawingml/2006/main">
            <a:pPr marL="0" lvl="0" indent="0" algn="l">
              <a:lnSpc>
                <a:spcPct val="100000"/>
              </a:lnSpc>
              <a:spcBef>
                <a:spcPts val="0"/>
              </a:spcBef>
              <a:spcAft>
                <a:spcPts val="0"/>
              </a:spcAft>
              <a:buSzPts val="1400"/>
              <a:buNone/>
            </a:pPr>
            <a:r>
              <a:t>    execute identical QA request with fixed budgets/settings</a:t>
            </a:r>
            <a:endParaRPr/>
          </a:p>
          <a:p xmlns:a="http://schemas.openxmlformats.org/drawingml/2006/main">
            <a:pPr marL="0" lvl="0" indent="0" algn="l">
              <a:lnSpc>
                <a:spcPct val="100000"/>
              </a:lnSpc>
              <a:spcBef>
                <a:spcPts val="0"/>
              </a:spcBef>
              <a:spcAft>
                <a:spcPts val="0"/>
              </a:spcAft>
              <a:buSzPts val="1400"/>
              <a:buNone/>
            </a:pPr>
            <a:r>
              <a:t>    await task-appropriate maintenance boundary</a:t>
            </a:r>
            <a:endParaRPr/>
          </a:p>
          <a:p xmlns:a="http://schemas.openxmlformats.org/drawingml/2006/main">
            <a:pPr marL="0" lvl="0" indent="0" algn="l">
              <a:lnSpc>
                <a:spcPct val="100000"/>
              </a:lnSpc>
              <a:spcBef>
                <a:spcPts val="0"/>
              </a:spcBef>
              <a:spcAft>
                <a:spcPts val="0"/>
              </a:spcAft>
              <a:buSzPts val="1400"/>
              <a:buNone/>
            </a:pPr>
            <a:r>
              <a:t>    save full typed response and active backend diagnostics</a:t>
            </a:r>
            <a:endParaRPr/>
          </a:p>
          <a:p xmlns:a="http://schemas.openxmlformats.org/drawingml/2006/main">
            <a:pPr marL="0" lvl="0" indent="0" algn="l">
              <a:lnSpc>
                <a:spcPct val="100000"/>
              </a:lnSpc>
              <a:spcBef>
                <a:spcPts val="0"/>
              </a:spcBef>
              <a:spcAft>
                <a:spcPts val="0"/>
              </a:spcAft>
              <a:buSzPts val="1400"/>
              <a:buNone/>
            </a:pPr>
            <a:r>
              <a:t>    score only after inference using evaluator-owned gold</a:t>
            </a:r>
            <a:endParaRPr/>
          </a:p>
          <a:p xmlns:a="http://schemas.openxmlformats.org/drawingml/2006/main">
            <a:pPr marL="0" lvl="0" indent="0" algn="l">
              <a:lnSpc>
                <a:spcPct val="100000"/>
              </a:lnSpc>
              <a:spcBef>
                <a:spcPts val="0"/>
              </a:spcBef>
              <a:spcAft>
                <a:spcPts val="0"/>
              </a:spcAft>
              <a:buSzPts val="1400"/>
              <a:buNone/>
            </a:pPr>
            <a:r>
              <a:t>run scenario-specific ingestion/replay/affect/tool requests</a:t>
            </a:r>
            <a:endParaRPr/>
          </a:p>
          <a:p xmlns:a="http://schemas.openxmlformats.org/drawingml/2006/main">
            <a:pPr marL="0" lvl="0" indent="0" algn="l">
              <a:lnSpc>
                <a:spcPct val="100000"/>
              </a:lnSpc>
              <a:spcBef>
                <a:spcPts val="0"/>
              </a:spcBef>
              <a:spcAft>
                <a:spcPts val="0"/>
              </a:spcAft>
              <a:buSzPts val="1400"/>
              <a:buNone/>
            </a:pPr>
            <a:r>
              <a:t>run labeled deterministic reflection and fault cases separately</a:t>
            </a:r>
            <a:endParaRPr/>
          </a:p>
          <a:p xmlns:a="http://schemas.openxmlformats.org/drawingml/2006/main">
            <a:pPr marL="0" lvl="0" indent="0" algn="l">
              <a:lnSpc>
                <a:spcPct val="100000"/>
              </a:lnSpc>
              <a:spcBef>
                <a:spcPts val="0"/>
              </a:spcBef>
              <a:spcAft>
                <a:spcPts val="0"/>
              </a:spcAft>
              <a:buSzPts val="1400"/>
              <a:buNone/>
            </a:pPr>
            <a:r>
              <a:t>reconcile planned, executed, not-executed, and skipped components</a:t>
            </a:r>
            <a:endParaRPr/>
          </a:p>
          <a:p xmlns:a="http://schemas.openxmlformats.org/drawingml/2006/main">
            <a:pPr marL="0" lvl="0" indent="0" algn="l">
              <a:lnSpc>
                <a:spcPct val="100000"/>
              </a:lnSpc>
              <a:spcBef>
                <a:spcPts val="0"/>
              </a:spcBef>
              <a:spcAft>
                <a:spcPts val="0"/>
              </a:spcAft>
              <a:buSzPts val="1400"/>
              <a:buNone/>
            </a:pPr>
            <a:r>
              <a:t>validate artifact coverage and redact secrets</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7.7 Assertions required in the eventual runnable script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Unsupported routes/control overrides fail before unintended work.</a:t>
            </a:r>
            <a:endParaRPr/>
          </a:p>
          <a:p xmlns:a="http://schemas.openxmlformats.org/drawingml/2006/main">
            <a:pPr marL="0" lvl="0" indent="0" algn="l">
              <a:lnSpc>
                <a:spcPct val="100000"/>
              </a:lnSpc>
              <a:spcBef>
                <a:spcPts val="0"/>
              </a:spcBef>
              <a:spcAft>
                <a:spcPts val="0"/>
              </a:spcAft>
              <a:buSzPts val="1400"/>
              <a:buNone/>
            </a:pPr>
            <a:r>
              <a:t>2. Ingestion/replay does not call answer generation.</a:t>
            </a:r>
            <a:endParaRPr/>
          </a:p>
          <a:p xmlns:a="http://schemas.openxmlformats.org/drawingml/2006/main">
            <a:pPr marL="0" lvl="0" indent="0" algn="l">
              <a:lnSpc>
                <a:spcPct val="100000"/>
              </a:lnSpc>
              <a:spcBef>
                <a:spcPts val="0"/>
              </a:spcBef>
              <a:spcAft>
                <a:spcPts val="0"/>
              </a:spcAft>
              <a:buSzPts val="1400"/>
              <a:buNone/>
            </a:pPr>
            <a:r>
              <a:t>3. Model-only does not execute retrieval.</a:t>
            </a:r>
            <a:endParaRPr/>
          </a:p>
          <a:p xmlns:a="http://schemas.openxmlformats.org/drawingml/2006/main">
            <a:pPr marL="0" lvl="0" indent="0" algn="l">
              <a:lnSpc>
                <a:spcPct val="100000"/>
              </a:lnSpc>
              <a:spcBef>
                <a:spcPts val="0"/>
              </a:spcBef>
              <a:spcAft>
                <a:spcPts val="0"/>
              </a:spcAft>
              <a:buSzPts val="1400"/>
              <a:buNone/>
            </a:pPr>
            <a:r>
              <a:t>4. Simple RAG excludes temporal/graph responsibilities selected only by full routes.</a:t>
            </a:r>
            <a:endParaRPr/>
          </a:p>
          <a:p xmlns:a="http://schemas.openxmlformats.org/drawingml/2006/main">
            <a:pPr marL="0" lvl="0" indent="0" algn="l">
              <a:lnSpc>
                <a:spcPct val="100000"/>
              </a:lnSpc>
              <a:spcBef>
                <a:spcPts val="0"/>
              </a:spcBef>
              <a:spcAft>
                <a:spcPts val="0"/>
              </a:spcAft>
              <a:buSzPts val="1400"/>
              <a:buNone/>
            </a:pPr>
            <a:r>
              <a:t>5. Planned components reconcile with executed and not-executed components, and execution respects capabilities.</a:t>
            </a:r>
            <a:endParaRPr/>
          </a:p>
          <a:p xmlns:a="http://schemas.openxmlformats.org/drawingml/2006/main">
            <a:pPr marL="0" lvl="0" indent="0" algn="l">
              <a:lnSpc>
                <a:spcPct val="100000"/>
              </a:lnSpc>
              <a:spcBef>
                <a:spcPts val="0"/>
              </a:spcBef>
              <a:spcAft>
                <a:spcPts val="0"/>
              </a:spcAft>
              <a:buSzPts val="1400"/>
              <a:buNone/>
            </a:pPr>
            <a:r>
              <a:t>6. Returned citations map to the actual selected evidence.</a:t>
            </a:r>
            <a:endParaRPr/>
          </a:p>
          <a:p xmlns:a="http://schemas.openxmlformats.org/drawingml/2006/main">
            <a:pPr marL="0" lvl="0" indent="0" algn="l">
              <a:lnSpc>
                <a:spcPct val="100000"/>
              </a:lnSpc>
              <a:spcBef>
                <a:spcPts val="0"/>
              </a:spcBef>
              <a:spcAft>
                <a:spcPts val="0"/>
              </a:spcAft>
              <a:buSzPts val="1400"/>
              <a:buNone/>
            </a:pPr>
            <a:r>
              <a:t>7. Reflection respects correction budgets and records actual changes.</a:t>
            </a:r>
            <a:endParaRPr/>
          </a:p>
          <a:p xmlns:a="http://schemas.openxmlformats.org/drawingml/2006/main">
            <a:pPr marL="0" lvl="0" indent="0" algn="l">
              <a:lnSpc>
                <a:spcPct val="100000"/>
              </a:lnSpc>
              <a:spcBef>
                <a:spcPts val="0"/>
              </a:spcBef>
              <a:spcAft>
                <a:spcPts val="0"/>
              </a:spcAft>
              <a:buSzPts val="1400"/>
              <a:buNone/>
            </a:pPr>
            <a:r>
              <a:t>8. Tool requests do not accidentally invoke answer generation. Invalid/disallowed invocations remain blocked.</a:t>
            </a:r>
            <a:endParaRPr/>
          </a:p>
          <a:p xmlns:a="http://schemas.openxmlformats.org/drawingml/2006/main">
            <a:pPr marL="0" lvl="0" indent="0" algn="l">
              <a:lnSpc>
                <a:spcPct val="100000"/>
              </a:lnSpc>
              <a:spcBef>
                <a:spcPts val="0"/>
              </a:spcBef>
              <a:spcAft>
                <a:spcPts val="0"/>
              </a:spcAft>
              <a:buSzPts val="1400"/>
              <a:buNone/>
            </a:pPr>
            <a:r>
              <a:t>9. State versions and task-appropriate memory effects are observable.</a:t>
            </a:r>
            <a:endParaRPr/>
          </a:p>
          <a:p xmlns:a="http://schemas.openxmlformats.org/drawingml/2006/main">
            <a:pPr marL="0" lvl="0" indent="0" algn="l">
              <a:lnSpc>
                <a:spcPct val="100000"/>
              </a:lnSpc>
              <a:spcBef>
                <a:spcPts val="0"/>
              </a:spcBef>
              <a:spcAft>
                <a:spcPts val="0"/>
              </a:spcAft>
              <a:buSzPts val="1400"/>
              <a:buNone/>
            </a:pPr>
            <a:r>
              <a:t>10. Maintenance completes or reports failures explicitly before claiming a completed demo stage.</a:t>
            </a:r>
            <a:endParaRPr/>
          </a:p>
          <a:p xmlns:a="http://schemas.openxmlformats.org/drawingml/2006/main">
            <a:pPr marL="0" lvl="0" indent="0" algn="l">
              <a:lnSpc>
                <a:spcPct val="100000"/>
              </a:lnSpc>
              <a:spcBef>
                <a:spcPts val="0"/>
              </a:spcBef>
              <a:spcAft>
                <a:spcPts val="0"/>
              </a:spcAft>
              <a:buSzPts val="1400"/>
              <a:buNone/>
            </a:pPr>
            <a:r>
              <a:t>11. Provider/schema/store failures do not become invented success.</a:t>
            </a:r>
            <a:endParaRPr/>
          </a:p>
          <a:p xmlns:a="http://schemas.openxmlformats.org/drawingml/2006/main">
            <a:pPr marL="0" lvl="0" indent="0" algn="l">
              <a:lnSpc>
                <a:spcPct val="100000"/>
              </a:lnSpc>
              <a:spcBef>
                <a:spcPts val="0"/>
              </a:spcBef>
              <a:spcAft>
                <a:spcPts val="0"/>
              </a:spcAft>
              <a:buSzPts val="1400"/>
              <a:buNone/>
            </a:pPr>
            <a:r>
              <a:t>12. Gold expectations remain outside inference requests/prompts/telemetry.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scaffolding: runtime integration, release fault injection, correction tests, tool tests, maintenance barriers.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C:/PRIMA_next/tests/integration/test_runtime_pipeline.py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Demo question and distractors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 Slide 7, part A: one-scenario demonstration and comparison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Status: proposed demo specification, not a completed demo run. The previous panel's suggestion is best satisfied with one connected scenario, several task-appropriate requests, and one exported evidence bundle. A single factual-QA request intentionally cannot exercise ingestion, conversation admission, emotion-only classification, and tool-only execution together.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7.1 Sample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synthetic data so the demo can be shared without exposing personal information. Freeze the wording and stable source IDs before rehearsal.</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Source ID | Synthetic history/document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S1 | [2026-09-01] Alex: I am working on Project Atlas. Mira is my project mentor. Please remember my important goal: finish the Atlas prototype. |</a:t>
            </a:r>
            <a:endParaRPr/>
          </a:p>
          <a:p xmlns:a="http://schemas.openxmlformats.org/drawingml/2006/main">
            <a:pPr marL="0" lvl="0" indent="0" algn="l">
              <a:lnSpc>
                <a:spcPct val="100000"/>
              </a:lnSpc>
              <a:spcBef>
                <a:spcPts val="0"/>
              </a:spcBef>
              <a:spcAft>
                <a:spcPts val="0"/>
              </a:spcAft>
              <a:buSzPts val="1400"/>
              <a:buNone/>
            </a:pPr>
            <a:r>
              <a:t>| S2 | [2026-09-03] Mira's office is in Pune. Mira reviews Project Atlas every Friday. |</a:t>
            </a:r>
            <a:endParaRPr/>
          </a:p>
          <a:p xmlns:a="http://schemas.openxmlformats.org/drawingml/2006/main">
            <a:pPr marL="0" lvl="0" indent="0" algn="l">
              <a:lnSpc>
                <a:spcPct val="100000"/>
              </a:lnSpc>
              <a:spcBef>
                <a:spcPts val="0"/>
              </a:spcBef>
              <a:spcAft>
                <a:spcPts val="0"/>
              </a:spcAft>
              <a:buSzPts val="1400"/>
              <a:buNone/>
            </a:pPr>
            <a:r>
              <a:t>| S3 | [2026-09-05] Alex: I used to prefer long explanations. I now prefer concise summaries for Project Atlas. |</a:t>
            </a:r>
            <a:endParaRPr/>
          </a:p>
          <a:p xmlns:a="http://schemas.openxmlformats.org/drawingml/2006/main">
            <a:pPr marL="0" lvl="0" indent="0" algn="l">
              <a:lnSpc>
                <a:spcPct val="100000"/>
              </a:lnSpc>
              <a:spcBef>
                <a:spcPts val="0"/>
              </a:spcBef>
              <a:spcAft>
                <a:spcPts val="0"/>
              </a:spcAft>
              <a:buSzPts val="1400"/>
              <a:buNone/>
            </a:pPr>
            <a:r>
              <a:t>| S4 | [2026-09-06] Alex: I feel anxious about the Project Atlas review because the prototype is unfinished. |</a:t>
            </a:r>
            <a:endParaRPr/>
          </a:p>
          <a:p xmlns:a="http://schemas.openxmlformats.org/drawingml/2006/main">
            <a:pPr marL="0" lvl="0" indent="0" algn="l">
              <a:lnSpc>
                <a:spcPct val="100000"/>
              </a:lnSpc>
              <a:spcBef>
                <a:spcPts val="0"/>
              </a:spcBef>
              <a:spcAft>
                <a:spcPts val="0"/>
              </a:spcAft>
              <a:buSzPts val="1400"/>
              <a:buNone/>
            </a:pPr>
            <a:r>
              <a:t>| S5 | [2026-09-07] Alex: The Project Atlas prototype passed its local checks. I feel excited and relieved. |</a:t>
            </a:r>
            <a:endParaRPr/>
          </a:p>
          <a:p xmlns:a="http://schemas.openxmlformats.org/drawingml/2006/main">
            <a:pPr marL="0" lvl="0" indent="0" algn="l">
              <a:lnSpc>
                <a:spcPct val="100000"/>
              </a:lnSpc>
              <a:spcBef>
                <a:spcPts val="0"/>
              </a:spcBef>
              <a:spcAft>
                <a:spcPts val="0"/>
              </a:spcAft>
              <a:buSzPts val="1400"/>
              <a:buNone/>
            </a:pPr>
            <a:r>
              <a:t>| D1 | Distractor: Dev mentors Project Beacon from Mumbai. Project Beacon is unrelated to Project Atlas. |</a:t>
            </a:r>
            <a:endParaRPr/>
          </a:p>
          <a:p xmlns:a="http://schemas.openxmlformats.org/drawingml/2006/main">
            <a:pPr marL="0" lvl="0" indent="0" algn="l">
              <a:lnSpc>
                <a:spcPct val="100000"/>
              </a:lnSpc>
              <a:spcBef>
                <a:spcPts val="0"/>
              </a:spcBef>
              <a:spcAft>
                <a:spcPts val="0"/>
              </a:spcAft>
              <a:buSzPts val="1400"/>
              <a:buNone/>
            </a:pPr>
            <a:r>
              <a:t>| D2 | Distractor: An older Atlas travel brochure mentions Mumbai. It does not describe Alex's mentor.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comparison question: "Which city is Alex's Project Atlas mentor based in?"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Evaluator-owned expected answer: Pune, supported by the Alex - Mira link in S1 and Mira - Pune link in S2. Do not add this expected answer or supporting-source IDs to model request metadata. The source records themselves may be supplied as ordinary evidence. S3 - S5 support temporal/preference/affect demonstrations in the same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current lexical sufficiency heuristic may reject this multi-hop wording despite relevant evidence. That is useful failure evidence. Record it, diagnose its stage, and avoid secretly simplifying only the PRIMA question to get a better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7.2 Two demonstration tracks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Functional track: deterministic injected provider and controlled branch conditions prove execution plumbing. Clearly label provider responses and forced uncertainty as synthetic. Existing tests already use injected responses and low-confidence estimators. This track can show error handling even when a real endpoint is unavailable.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Quality track: run the same frozen sample using a configured real model and record actual outputs. Use matched generation settings and native scoring. This track can provide an illustrative baseline comparison, but one scenario is insufficient for a research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Do not mix functional-track scripted answers into the real-model comparison table. A fake provider returning "Pune" does not show the model inferred the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7.3 Demo sequence, visible outputs, and narration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Step | Request / operation | What must be visible | What to say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0. Freeze setup | Record source commit, dependency versions, sample hash, seed, active backends/model/revision. Use isolated demo stores. | A manifest with real/fake provider label, source IDs, settings. | "This is the exact configuration and input used in all comparisons." |</a:t>
            </a:r>
            <a:endParaRPr/>
          </a:p>
          <a:p xmlns:a="http://schemas.openxmlformats.org/drawingml/2006/main">
            <a:pPr marL="0" lvl="0" indent="0" algn="l">
              <a:lnSpc>
                <a:spcPct val="100000"/>
              </a:lnSpc>
              <a:spcBef>
                <a:spcPts val="0"/>
              </a:spcBef>
              <a:spcAft>
                <a:spcPts val="0"/>
              </a:spcAft>
              <a:buSzPts val="1400"/>
              <a:buNone/>
            </a:pPr>
            <a:r>
              <a:t>| 1. Invalid request | Attempt an unsupported task/profile pair and reserved-control metadata. | Validation rejection / typed rejected result, no unintended execution. | "The public boundary rejects incompatible routes and control overrides." |</a:t>
            </a:r>
            <a:endParaRPr/>
          </a:p>
          <a:p xmlns:a="http://schemas.openxmlformats.org/drawingml/2006/main">
            <a:pPr marL="0" lvl="0" indent="0" algn="l">
              <a:lnSpc>
                <a:spcPct val="100000"/>
              </a:lnSpc>
              <a:spcBef>
                <a:spcPts val="0"/>
              </a:spcBef>
              <a:spcAft>
                <a:spcPts val="0"/>
              </a:spcAft>
              <a:buSzPts val="1400"/>
              <a:buNone/>
            </a:pPr>
            <a:r>
              <a:t>| 2. Ingest history | Submit frozen records through DOCUMENT_INGESTION/INGESTION_ONLY for a fixed-store comparison. Separately replay history through HISTORICAL_REPLAY/PRIMA_FULL to show admission/state behavior. | Memory IDs, content provenance, task outcome, no LLM calls during ingestion/replay. | "Explicit ingestion and selective historical admission are different experiments." |</a:t>
            </a:r>
            <a:endParaRPr/>
          </a:p>
          <a:p xmlns:a="http://schemas.openxmlformats.org/drawingml/2006/main">
            <a:pPr marL="0" lvl="0" indent="0" algn="l">
              <a:lnSpc>
                <a:spcPct val="100000"/>
              </a:lnSpc>
              <a:spcBef>
                <a:spcPts val="0"/>
              </a:spcBef>
              <a:spcAft>
                <a:spcPts val="0"/>
              </a:spcAft>
              <a:buSzPts val="1400"/>
              <a:buNone/>
            </a:pPr>
            <a:r>
              <a:t>| 3. Affect | Process S4 then S5 using the same dedicated scenario session. Optionally classify one utterance through AFFECT_ONLY. | Label scores, PAD, temporal momentum/history, active classifier. | "These are text-derived emotional signals. Here is how the signal changes over time." |</a:t>
            </a:r>
            <a:endParaRPr/>
          </a:p>
          <a:p xmlns:a="http://schemas.openxmlformats.org/drawingml/2006/main">
            <a:pPr marL="0" lvl="0" indent="0" algn="l">
              <a:lnSpc>
                <a:spcPct val="100000"/>
              </a:lnSpc>
              <a:spcBef>
                <a:spcPts val="0"/>
              </a:spcBef>
              <a:spcAft>
                <a:spcPts val="0"/>
              </a:spcAft>
              <a:buSzPts val="1400"/>
              <a:buNone/>
            </a:pPr>
            <a:r>
              <a:t>| 4. Admission | Inspect scores/reasons from replay and an additional low-value synthetic turn. | Stored/rejected decision, threshold, component scores, before/after memory counts. | "Useful-memory selection is explicit. We report the actual outcome instead of assuming every turn is stored." |</a:t>
            </a:r>
            <a:endParaRPr/>
          </a:p>
          <a:p xmlns:a="http://schemas.openxmlformats.org/drawingml/2006/main">
            <a:pPr marL="0" lvl="0" indent="0" algn="l">
              <a:lnSpc>
                <a:spcPct val="100000"/>
              </a:lnSpc>
              <a:spcBef>
                <a:spcPts val="0"/>
              </a:spcBef>
              <a:spcAft>
                <a:spcPts val="0"/>
              </a:spcAft>
              <a:buSzPts val="1400"/>
              <a:buNone/>
            </a:pPr>
            <a:r>
              <a:t>| 5. Three-profile QA | Ask the identical primary question in fresh, equivalent runtime/store instances for each profile. | Output, abstention/failure, retrieved IDs, calls, latency, tokens. | "We change the profile while fixing the model and experiment conditions." |</a:t>
            </a:r>
            <a:endParaRPr/>
          </a:p>
          <a:p xmlns:a="http://schemas.openxmlformats.org/drawingml/2006/main">
            <a:pPr marL="0" lvl="0" indent="0" algn="l">
              <a:lnSpc>
                <a:spcPct val="100000"/>
              </a:lnSpc>
              <a:spcBef>
                <a:spcPts val="0"/>
              </a:spcBef>
              <a:spcAft>
                <a:spcPts val="0"/>
              </a:spcAft>
              <a:buSzPts val="1400"/>
              <a:buNone/>
            </a:pPr>
            <a:r>
              <a:t>| 6. Retrieval internals | Expand full-route trace for the QA request. | Dense/sparse/temporal/graph candidates, fusion/reranking, compressed context/source mapping, insufficiency reason if any. | "This shows where the evidence entered or disappeared." |</a:t>
            </a:r>
            <a:endParaRPr/>
          </a:p>
          <a:p xmlns:a="http://schemas.openxmlformats.org/drawingml/2006/main">
            <a:pPr marL="0" lvl="0" indent="0" algn="l">
              <a:lnSpc>
                <a:spcPct val="100000"/>
              </a:lnSpc>
              <a:spcBef>
                <a:spcPts val="0"/>
              </a:spcBef>
              <a:spcAft>
                <a:spcPts val="0"/>
              </a:spcAft>
              <a:buSzPts val="1400"/>
              <a:buNone/>
            </a:pPr>
            <a:r>
              <a:t>| 7. Planning/world/uncertainty | Inspect a full conversation or tool route in this story. | Plan/actions, symbolic predictions, available confidence signals, selected decision. | "These deterministic components expose intended actions and uncertainty. Their scores need empirical validation." |</a:t>
            </a:r>
            <a:endParaRPr/>
          </a:p>
          <a:p xmlns:a="http://schemas.openxmlformats.org/drawingml/2006/main">
            <a:pPr marL="0" lvl="0" indent="0" algn="l">
              <a:lnSpc>
                <a:spcPct val="100000"/>
              </a:lnSpc>
              <a:spcBef>
                <a:spcPts val="0"/>
              </a:spcBef>
              <a:spcAft>
                <a:spcPts val="0"/>
              </a:spcAft>
              <a:buSzPts val="1400"/>
              <a:buNone/>
            </a:pPr>
            <a:r>
              <a:t>| 8. Reflection | First show natural trigger behavior. In functional track only, inject a low-confidence/wrong-query condition with a visible label. | Advice, budget check, accepted/rejected correction, before/after query/evidence/output. | "This branch is conditional. The injected case proves the correction mechanism, not natural-model improvement." |</a:t>
            </a:r>
            <a:endParaRPr/>
          </a:p>
          <a:p xmlns:a="http://schemas.openxmlformats.org/drawingml/2006/main">
            <a:pPr marL="0" lvl="0" indent="0" algn="l">
              <a:lnSpc>
                <a:spcPct val="100000"/>
              </a:lnSpc>
              <a:spcBef>
                <a:spcPts val="0"/>
              </a:spcBef>
              <a:spcAft>
                <a:spcPts val="0"/>
              </a:spcAft>
              <a:buSzPts val="1400"/>
              <a:buNone/>
            </a:pPr>
            <a:r>
              <a:t>| 9. Controlled tool | Register a harmless local calculator/formatter using existing tool contracts. Permit only that tool. Demonstrate valid and blocked/invalid invocations. | Schema checks, policy audit, typed result, no external side effects. | "Only a registered, validated, allowlisted operation runs." |</a:t>
            </a:r>
            <a:endParaRPr/>
          </a:p>
          <a:p xmlns:a="http://schemas.openxmlformats.org/drawingml/2006/main">
            <a:pPr marL="0" lvl="0" indent="0" algn="l">
              <a:lnSpc>
                <a:spcPct val="100000"/>
              </a:lnSpc>
              <a:spcBef>
                <a:spcPts val="0"/>
              </a:spcBef>
              <a:spcAft>
                <a:spcPts val="0"/>
              </a:spcAft>
              <a:buSzPts val="1400"/>
              <a:buNone/>
            </a:pPr>
            <a:r>
              <a:t>| 10. Generation/validation | Show selected evidence labels in request and parsed citations in response. Force malformed output separately in functional track. | Actual generated response or explicit failure, mapped source IDs, no fabricated fallback. | "A failed provider/schema call remains a failure." |</a:t>
            </a:r>
            <a:endParaRPr/>
          </a:p>
          <a:p xmlns:a="http://schemas.openxmlformats.org/drawingml/2006/main">
            <a:pPr marL="0" lvl="0" indent="0" algn="l">
              <a:lnSpc>
                <a:spcPct val="100000"/>
              </a:lnSpc>
              <a:spcBef>
                <a:spcPts val="0"/>
              </a:spcBef>
              <a:spcAft>
                <a:spcPts val="0"/>
              </a:spcAft>
              <a:buSzPts val="1400"/>
              <a:buNone/>
            </a:pPr>
            <a:r>
              <a:t>| 11. State/maintenance | Show version increment and task-appropriate memory changes. Await the existing maintenance barrier. | Pending/completed/failed counts and derived memory/graph changes. | "Admission and completed background work are separate facts." |</a:t>
            </a:r>
            <a:endParaRPr/>
          </a:p>
          <a:p xmlns:a="http://schemas.openxmlformats.org/drawingml/2006/main">
            <a:pPr marL="0" lvl="0" indent="0" algn="l">
              <a:lnSpc>
                <a:spcPct val="100000"/>
              </a:lnSpc>
              <a:spcBef>
                <a:spcPts val="0"/>
              </a:spcBef>
              <a:spcAft>
                <a:spcPts val="0"/>
              </a:spcAft>
              <a:buSzPts val="1400"/>
              <a:buNone/>
            </a:pPr>
            <a:r>
              <a:t>| 12. Export | Save manifest, per-request typed responses, traces, evaluator records, comparison, test output, checksums. | One reproducible demo bundle with no secrets. | "Every claim shown on screen has a corresponding saved artifact."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7.4 Fair comparisons: separate what changes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A, fixed-store retrieval/control: give simple RAG and full PRIMA identical ingested records and compatible backend/settings. Model-only remains the no-retrieval baseline. Its lack of private memory is the intended distinction. If a long-context baseline is desired, give it the same history explicitly and label it separately. This comparison isolates route-level differences more clearly than simultaneously changing memory admission.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B, historical memory formation: replay identical history using declared admission policies, then compare the resulting stores and later QA. This measures the combined effect of admission/maintenance/retrieval. Do not attribute its whole delta only to graph or affect.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C, component ablation: keep all else fixed and disable one component, such as affect modulation, graph retrieval, or reflection. Use development cases and freeze the final settings before held-out evaluation. Existing profiles are not automatically single-component ablations.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Keep model/revision, source IDs/order, seed, generation settings, context limit, retry policy, scorer, and environment fixed. Reset state/stores between variants to prevent earlier answers contaminating later ones. Use one dedicated runtime/store per principal for the demo. Record warm/cold model state when timing.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7.5 Comparison table to fill from actual runs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Item | Model only | Simple RAG | Full PRIMA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Primary answer | PENDING | PENDING | PENDING |</a:t>
            </a:r>
            <a:endParaRPr/>
          </a:p>
          <a:p xmlns:a="http://schemas.openxmlformats.org/drawingml/2006/main">
            <a:pPr marL="0" lvl="0" indent="0" algn="l">
              <a:lnSpc>
                <a:spcPct val="100000"/>
              </a:lnSpc>
              <a:spcBef>
                <a:spcPts val="0"/>
              </a:spcBef>
              <a:spcAft>
                <a:spcPts val="0"/>
              </a:spcAft>
              <a:buSzPts val="1400"/>
              <a:buNone/>
            </a:pPr>
            <a:r>
              <a:t>| Outcome: answered/abstained/failed | PENDING | PENDING | PENDING |</a:t>
            </a:r>
            <a:endParaRPr/>
          </a:p>
          <a:p xmlns:a="http://schemas.openxmlformats.org/drawingml/2006/main">
            <a:pPr marL="0" lvl="0" indent="0" algn="l">
              <a:lnSpc>
                <a:spcPct val="100000"/>
              </a:lnSpc>
              <a:spcBef>
                <a:spcPts val="0"/>
              </a:spcBef>
              <a:spcAft>
                <a:spcPts val="0"/>
              </a:spcAft>
              <a:buSzPts val="1400"/>
              <a:buNone/>
            </a:pPr>
            <a:r>
              <a:t>| Exact match / token F1 | PENDING | PENDING | PENDING |</a:t>
            </a:r>
            <a:endParaRPr/>
          </a:p>
          <a:p xmlns:a="http://schemas.openxmlformats.org/drawingml/2006/main">
            <a:pPr marL="0" lvl="0" indent="0" algn="l">
              <a:lnSpc>
                <a:spcPct val="100000"/>
              </a:lnSpc>
              <a:spcBef>
                <a:spcPts val="0"/>
              </a:spcBef>
              <a:spcAft>
                <a:spcPts val="0"/>
              </a:spcAft>
              <a:buSzPts val="1400"/>
              <a:buNone/>
            </a:pPr>
            <a:r>
              <a:t>| Supporting-source recall | N/A, no retrieval | PENDING | PENDING |</a:t>
            </a:r>
            <a:endParaRPr/>
          </a:p>
          <a:p xmlns:a="http://schemas.openxmlformats.org/drawingml/2006/main">
            <a:pPr marL="0" lvl="0" indent="0" algn="l">
              <a:lnSpc>
                <a:spcPct val="100000"/>
              </a:lnSpc>
              <a:spcBef>
                <a:spcPts val="0"/>
              </a:spcBef>
              <a:spcAft>
                <a:spcPts val="0"/>
              </a:spcAft>
              <a:buSzPts val="1400"/>
              <a:buNone/>
            </a:pPr>
            <a:r>
              <a:t>| Final evidence/citations | N/A or explicitly supplied context | PENDING | PENDING |</a:t>
            </a:r>
            <a:endParaRPr/>
          </a:p>
          <a:p xmlns:a="http://schemas.openxmlformats.org/drawingml/2006/main">
            <a:pPr marL="0" lvl="0" indent="0" algn="l">
              <a:lnSpc>
                <a:spcPct val="100000"/>
              </a:lnSpc>
              <a:spcBef>
                <a:spcPts val="0"/>
              </a:spcBef>
              <a:spcAft>
                <a:spcPts val="0"/>
              </a:spcAft>
              <a:buSzPts val="1400"/>
              <a:buNone/>
            </a:pPr>
            <a:r>
              <a:t>| Retrieval calls / returned sources | Expected zero retrieval | PENDING | PENDING |</a:t>
            </a:r>
            <a:endParaRPr/>
          </a:p>
          <a:p xmlns:a="http://schemas.openxmlformats.org/drawingml/2006/main">
            <a:pPr marL="0" lvl="0" indent="0" algn="l">
              <a:lnSpc>
                <a:spcPct val="100000"/>
              </a:lnSpc>
              <a:spcBef>
                <a:spcPts val="0"/>
              </a:spcBef>
              <a:spcAft>
                <a:spcPts val="0"/>
              </a:spcAft>
              <a:buSzPts val="1400"/>
              <a:buNone/>
            </a:pPr>
            <a:r>
              <a:t>| Model calls / tokens | PENDING | PENDING | PENDING |</a:t>
            </a:r>
            <a:endParaRPr/>
          </a:p>
          <a:p xmlns:a="http://schemas.openxmlformats.org/drawingml/2006/main">
            <a:pPr marL="0" lvl="0" indent="0" algn="l">
              <a:lnSpc>
                <a:spcPct val="100000"/>
              </a:lnSpc>
              <a:spcBef>
                <a:spcPts val="0"/>
              </a:spcBef>
              <a:spcAft>
                <a:spcPts val="0"/>
              </a:spcAft>
              <a:buSzPts val="1400"/>
              <a:buNone/>
            </a:pPr>
            <a:r>
              <a:t>| Wall latency, including barrier if reported | PENDING | PENDING | PENDING |</a:t>
            </a:r>
            <a:endParaRPr/>
          </a:p>
          <a:p xmlns:a="http://schemas.openxmlformats.org/drawingml/2006/main">
            <a:pPr marL="0" lvl="0" indent="0" algn="l">
              <a:lnSpc>
                <a:spcPct val="100000"/>
              </a:lnSpc>
              <a:spcBef>
                <a:spcPts val="0"/>
              </a:spcBef>
              <a:spcAft>
                <a:spcPts val="0"/>
              </a:spcAft>
              <a:buSzPts val="1400"/>
              <a:buNone/>
            </a:pPr>
            <a:r>
              <a:t>| Reflection/corrections | Route excluded | Route dependent | PENDING |</a:t>
            </a:r>
            <a:endParaRPr/>
          </a:p>
          <a:p xmlns:a="http://schemas.openxmlformats.org/drawingml/2006/main">
            <a:pPr marL="0" lvl="0" indent="0" algn="l">
              <a:lnSpc>
                <a:spcPct val="100000"/>
              </a:lnSpc>
              <a:spcBef>
                <a:spcPts val="0"/>
              </a:spcBef>
              <a:spcAft>
                <a:spcPts val="0"/>
              </a:spcAft>
              <a:buSzPts val="1400"/>
              <a:buNone/>
            </a:pPr>
            <a:r>
              <a:t>| Maintenance admitted/completed/failed | Task/policy dependent | Task/policy dependent | PENDING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expected answer belongs to scoring. Every cell above must come from saved outputs rather than a manually scripted demonstration narrative.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7.6 Demo orchestration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freeze synthetic scenario and evaluator-owned expectations</a:t>
            </a:r>
            <a:endParaRPr/>
          </a:p>
          <a:p xmlns:a="http://schemas.openxmlformats.org/drawingml/2006/main">
            <a:pPr marL="0" lvl="0" indent="0" algn="l">
              <a:lnSpc>
                <a:spcPct val="100000"/>
              </a:lnSpc>
              <a:spcBef>
                <a:spcPts val="0"/>
              </a:spcBef>
              <a:spcAft>
                <a:spcPts val="0"/>
              </a:spcAft>
              <a:buSzPts val="1400"/>
              <a:buNone/>
            </a:pPr>
            <a:r>
              <a:t>record source/model/environment identities</a:t>
            </a:r>
            <a:endParaRPr/>
          </a:p>
          <a:p xmlns:a="http://schemas.openxmlformats.org/drawingml/2006/main">
            <a:pPr marL="0" lvl="0" indent="0" algn="l">
              <a:lnSpc>
                <a:spcPct val="100000"/>
              </a:lnSpc>
              <a:spcBef>
                <a:spcPts val="0"/>
              </a:spcBef>
              <a:spcAft>
                <a:spcPts val="0"/>
              </a:spcAft>
              <a:buSzPts val="1400"/>
              <a:buNone/>
            </a:pPr>
            <a:r>
              <a:t>for profile in [model_only, simple_rag, prima_full]:</a:t>
            </a:r>
            <a:endParaRPr/>
          </a:p>
          <a:p xmlns:a="http://schemas.openxmlformats.org/drawingml/2006/main">
            <a:pPr marL="0" lvl="0" indent="0" algn="l">
              <a:lnSpc>
                <a:spcPct val="100000"/>
              </a:lnSpc>
              <a:spcBef>
                <a:spcPts val="0"/>
              </a:spcBef>
              <a:spcAft>
                <a:spcPts val="0"/>
              </a:spcAft>
              <a:buSzPts val="1400"/>
              <a:buNone/>
            </a:pPr>
            <a:r>
              <a:t>    create fresh isolated runtime, repository, and state</a:t>
            </a:r>
            <a:endParaRPr/>
          </a:p>
          <a:p xmlns:a="http://schemas.openxmlformats.org/drawingml/2006/main">
            <a:pPr marL="0" lvl="0" indent="0" algn="l">
              <a:lnSpc>
                <a:spcPct val="100000"/>
              </a:lnSpc>
              <a:spcBef>
                <a:spcPts val="0"/>
              </a:spcBef>
              <a:spcAft>
                <a:spcPts val="0"/>
              </a:spcAft>
              <a:buSzPts val="1400"/>
              <a:buNone/>
            </a:pPr>
            <a:r>
              <a:t>    seed the declared evidence protocol consistently</a:t>
            </a:r>
            <a:endParaRPr/>
          </a:p>
          <a:p xmlns:a="http://schemas.openxmlformats.org/drawingml/2006/main">
            <a:pPr marL="0" lvl="0" indent="0" algn="l">
              <a:lnSpc>
                <a:spcPct val="100000"/>
              </a:lnSpc>
              <a:spcBef>
                <a:spcPts val="0"/>
              </a:spcBef>
              <a:spcAft>
                <a:spcPts val="0"/>
              </a:spcAft>
              <a:buSzPts val="1400"/>
              <a:buNone/>
            </a:pPr>
            <a:r>
              <a:t>    execute identical QA request with fixed budgets/settings</a:t>
            </a:r>
            <a:endParaRPr/>
          </a:p>
          <a:p xmlns:a="http://schemas.openxmlformats.org/drawingml/2006/main">
            <a:pPr marL="0" lvl="0" indent="0" algn="l">
              <a:lnSpc>
                <a:spcPct val="100000"/>
              </a:lnSpc>
              <a:spcBef>
                <a:spcPts val="0"/>
              </a:spcBef>
              <a:spcAft>
                <a:spcPts val="0"/>
              </a:spcAft>
              <a:buSzPts val="1400"/>
              <a:buNone/>
            </a:pPr>
            <a:r>
              <a:t>    await task-appropriate maintenance boundary</a:t>
            </a:r>
            <a:endParaRPr/>
          </a:p>
          <a:p xmlns:a="http://schemas.openxmlformats.org/drawingml/2006/main">
            <a:pPr marL="0" lvl="0" indent="0" algn="l">
              <a:lnSpc>
                <a:spcPct val="100000"/>
              </a:lnSpc>
              <a:spcBef>
                <a:spcPts val="0"/>
              </a:spcBef>
              <a:spcAft>
                <a:spcPts val="0"/>
              </a:spcAft>
              <a:buSzPts val="1400"/>
              <a:buNone/>
            </a:pPr>
            <a:r>
              <a:t>    save full typed response and active backend diagnostics</a:t>
            </a:r>
            <a:endParaRPr/>
          </a:p>
          <a:p xmlns:a="http://schemas.openxmlformats.org/drawingml/2006/main">
            <a:pPr marL="0" lvl="0" indent="0" algn="l">
              <a:lnSpc>
                <a:spcPct val="100000"/>
              </a:lnSpc>
              <a:spcBef>
                <a:spcPts val="0"/>
              </a:spcBef>
              <a:spcAft>
                <a:spcPts val="0"/>
              </a:spcAft>
              <a:buSzPts val="1400"/>
              <a:buNone/>
            </a:pPr>
            <a:r>
              <a:t>    score only after inference using evaluator-owned gold</a:t>
            </a:r>
            <a:endParaRPr/>
          </a:p>
          <a:p xmlns:a="http://schemas.openxmlformats.org/drawingml/2006/main">
            <a:pPr marL="0" lvl="0" indent="0" algn="l">
              <a:lnSpc>
                <a:spcPct val="100000"/>
              </a:lnSpc>
              <a:spcBef>
                <a:spcPts val="0"/>
              </a:spcBef>
              <a:spcAft>
                <a:spcPts val="0"/>
              </a:spcAft>
              <a:buSzPts val="1400"/>
              <a:buNone/>
            </a:pPr>
            <a:r>
              <a:t>run scenario-specific ingestion/replay/affect/tool requests</a:t>
            </a:r>
            <a:endParaRPr/>
          </a:p>
          <a:p xmlns:a="http://schemas.openxmlformats.org/drawingml/2006/main">
            <a:pPr marL="0" lvl="0" indent="0" algn="l">
              <a:lnSpc>
                <a:spcPct val="100000"/>
              </a:lnSpc>
              <a:spcBef>
                <a:spcPts val="0"/>
              </a:spcBef>
              <a:spcAft>
                <a:spcPts val="0"/>
              </a:spcAft>
              <a:buSzPts val="1400"/>
              <a:buNone/>
            </a:pPr>
            <a:r>
              <a:t>run labeled deterministic reflection and fault cases separately</a:t>
            </a:r>
            <a:endParaRPr/>
          </a:p>
          <a:p xmlns:a="http://schemas.openxmlformats.org/drawingml/2006/main">
            <a:pPr marL="0" lvl="0" indent="0" algn="l">
              <a:lnSpc>
                <a:spcPct val="100000"/>
              </a:lnSpc>
              <a:spcBef>
                <a:spcPts val="0"/>
              </a:spcBef>
              <a:spcAft>
                <a:spcPts val="0"/>
              </a:spcAft>
              <a:buSzPts val="1400"/>
              <a:buNone/>
            </a:pPr>
            <a:r>
              <a:t>reconcile planned, executed, not-executed, and skipped components</a:t>
            </a:r>
            <a:endParaRPr/>
          </a:p>
          <a:p xmlns:a="http://schemas.openxmlformats.org/drawingml/2006/main">
            <a:pPr marL="0" lvl="0" indent="0" algn="l">
              <a:lnSpc>
                <a:spcPct val="100000"/>
              </a:lnSpc>
              <a:spcBef>
                <a:spcPts val="0"/>
              </a:spcBef>
              <a:spcAft>
                <a:spcPts val="0"/>
              </a:spcAft>
              <a:buSzPts val="1400"/>
              <a:buNone/>
            </a:pPr>
            <a:r>
              <a:t>validate artifact coverage and redact secrets</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7.7 Assertions required in the eventual runnable script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Unsupported routes/control overrides fail before unintended work.</a:t>
            </a:r>
            <a:endParaRPr/>
          </a:p>
          <a:p xmlns:a="http://schemas.openxmlformats.org/drawingml/2006/main">
            <a:pPr marL="0" lvl="0" indent="0" algn="l">
              <a:lnSpc>
                <a:spcPct val="100000"/>
              </a:lnSpc>
              <a:spcBef>
                <a:spcPts val="0"/>
              </a:spcBef>
              <a:spcAft>
                <a:spcPts val="0"/>
              </a:spcAft>
              <a:buSzPts val="1400"/>
              <a:buNone/>
            </a:pPr>
            <a:r>
              <a:t>2. Ingestion/replay does not call answer generation.</a:t>
            </a:r>
            <a:endParaRPr/>
          </a:p>
          <a:p xmlns:a="http://schemas.openxmlformats.org/drawingml/2006/main">
            <a:pPr marL="0" lvl="0" indent="0" algn="l">
              <a:lnSpc>
                <a:spcPct val="100000"/>
              </a:lnSpc>
              <a:spcBef>
                <a:spcPts val="0"/>
              </a:spcBef>
              <a:spcAft>
                <a:spcPts val="0"/>
              </a:spcAft>
              <a:buSzPts val="1400"/>
              <a:buNone/>
            </a:pPr>
            <a:r>
              <a:t>3. Model-only does not execute retrieval.</a:t>
            </a:r>
            <a:endParaRPr/>
          </a:p>
          <a:p xmlns:a="http://schemas.openxmlformats.org/drawingml/2006/main">
            <a:pPr marL="0" lvl="0" indent="0" algn="l">
              <a:lnSpc>
                <a:spcPct val="100000"/>
              </a:lnSpc>
              <a:spcBef>
                <a:spcPts val="0"/>
              </a:spcBef>
              <a:spcAft>
                <a:spcPts val="0"/>
              </a:spcAft>
              <a:buSzPts val="1400"/>
              <a:buNone/>
            </a:pPr>
            <a:r>
              <a:t>4. Simple RAG excludes temporal/graph responsibilities selected only by full routes.</a:t>
            </a:r>
            <a:endParaRPr/>
          </a:p>
          <a:p xmlns:a="http://schemas.openxmlformats.org/drawingml/2006/main">
            <a:pPr marL="0" lvl="0" indent="0" algn="l">
              <a:lnSpc>
                <a:spcPct val="100000"/>
              </a:lnSpc>
              <a:spcBef>
                <a:spcPts val="0"/>
              </a:spcBef>
              <a:spcAft>
                <a:spcPts val="0"/>
              </a:spcAft>
              <a:buSzPts val="1400"/>
              <a:buNone/>
            </a:pPr>
            <a:r>
              <a:t>5. Planned components reconcile with executed and not-executed components, and execution respects capabilities.</a:t>
            </a:r>
            <a:endParaRPr/>
          </a:p>
          <a:p xmlns:a="http://schemas.openxmlformats.org/drawingml/2006/main">
            <a:pPr marL="0" lvl="0" indent="0" algn="l">
              <a:lnSpc>
                <a:spcPct val="100000"/>
              </a:lnSpc>
              <a:spcBef>
                <a:spcPts val="0"/>
              </a:spcBef>
              <a:spcAft>
                <a:spcPts val="0"/>
              </a:spcAft>
              <a:buSzPts val="1400"/>
              <a:buNone/>
            </a:pPr>
            <a:r>
              <a:t>6. Returned citations map to the actual selected evidence.</a:t>
            </a:r>
            <a:endParaRPr/>
          </a:p>
          <a:p xmlns:a="http://schemas.openxmlformats.org/drawingml/2006/main">
            <a:pPr marL="0" lvl="0" indent="0" algn="l">
              <a:lnSpc>
                <a:spcPct val="100000"/>
              </a:lnSpc>
              <a:spcBef>
                <a:spcPts val="0"/>
              </a:spcBef>
              <a:spcAft>
                <a:spcPts val="0"/>
              </a:spcAft>
              <a:buSzPts val="1400"/>
              <a:buNone/>
            </a:pPr>
            <a:r>
              <a:t>7. Reflection respects correction budgets and records actual changes.</a:t>
            </a:r>
            <a:endParaRPr/>
          </a:p>
          <a:p xmlns:a="http://schemas.openxmlformats.org/drawingml/2006/main">
            <a:pPr marL="0" lvl="0" indent="0" algn="l">
              <a:lnSpc>
                <a:spcPct val="100000"/>
              </a:lnSpc>
              <a:spcBef>
                <a:spcPts val="0"/>
              </a:spcBef>
              <a:spcAft>
                <a:spcPts val="0"/>
              </a:spcAft>
              <a:buSzPts val="1400"/>
              <a:buNone/>
            </a:pPr>
            <a:r>
              <a:t>8. Tool requests do not accidentally invoke answer generation. Invalid/disallowed invocations remain blocked.</a:t>
            </a:r>
            <a:endParaRPr/>
          </a:p>
          <a:p xmlns:a="http://schemas.openxmlformats.org/drawingml/2006/main">
            <a:pPr marL="0" lvl="0" indent="0" algn="l">
              <a:lnSpc>
                <a:spcPct val="100000"/>
              </a:lnSpc>
              <a:spcBef>
                <a:spcPts val="0"/>
              </a:spcBef>
              <a:spcAft>
                <a:spcPts val="0"/>
              </a:spcAft>
              <a:buSzPts val="1400"/>
              <a:buNone/>
            </a:pPr>
            <a:r>
              <a:t>9. State versions and task-appropriate memory effects are observable.</a:t>
            </a:r>
            <a:endParaRPr/>
          </a:p>
          <a:p xmlns:a="http://schemas.openxmlformats.org/drawingml/2006/main">
            <a:pPr marL="0" lvl="0" indent="0" algn="l">
              <a:lnSpc>
                <a:spcPct val="100000"/>
              </a:lnSpc>
              <a:spcBef>
                <a:spcPts val="0"/>
              </a:spcBef>
              <a:spcAft>
                <a:spcPts val="0"/>
              </a:spcAft>
              <a:buSzPts val="1400"/>
              <a:buNone/>
            </a:pPr>
            <a:r>
              <a:t>10. Maintenance completes or reports failures explicitly before claiming a completed demo stage.</a:t>
            </a:r>
            <a:endParaRPr/>
          </a:p>
          <a:p xmlns:a="http://schemas.openxmlformats.org/drawingml/2006/main">
            <a:pPr marL="0" lvl="0" indent="0" algn="l">
              <a:lnSpc>
                <a:spcPct val="100000"/>
              </a:lnSpc>
              <a:spcBef>
                <a:spcPts val="0"/>
              </a:spcBef>
              <a:spcAft>
                <a:spcPts val="0"/>
              </a:spcAft>
              <a:buSzPts val="1400"/>
              <a:buNone/>
            </a:pPr>
            <a:r>
              <a:t>11. Provider/schema/store failures do not become invented success.</a:t>
            </a:r>
            <a:endParaRPr/>
          </a:p>
          <a:p xmlns:a="http://schemas.openxmlformats.org/drawingml/2006/main">
            <a:pPr marL="0" lvl="0" indent="0" algn="l">
              <a:lnSpc>
                <a:spcPct val="100000"/>
              </a:lnSpc>
              <a:spcBef>
                <a:spcPts val="0"/>
              </a:spcBef>
              <a:spcAft>
                <a:spcPts val="0"/>
              </a:spcAft>
              <a:buSzPts val="1400"/>
              <a:buNone/>
            </a:pPr>
            <a:r>
              <a:t>12. Gold expectations remain outside inference requests/prompts/telemetry.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scaffolding: runtime integration, release fault injection, correction tests, tool tests, maintenance barriers.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C:/PRIMA_next/tests/integration/test_runtime_pipeline.py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Demo sequence: preparation and memory (1/2)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 Slide 7, part A: one-scenario demonstration and comparison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Status: proposed demo specification, not a completed demo run. The previous panel's suggestion is best satisfied with one connected scenario, several task-appropriate requests, and one exported evidence bundle. A single factual-QA request intentionally cannot exercise ingestion, conversation admission, emotion-only classification, and tool-only execution together.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7.1 Sample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synthetic data so the demo can be shared without exposing personal information. Freeze the wording and stable source IDs before rehearsal.</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Source ID | Synthetic history/document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S1 | [2026-09-01] Alex: I am working on Project Atlas. Mira is my project mentor. Please remember my important goal: finish the Atlas prototype. |</a:t>
            </a:r>
            <a:endParaRPr/>
          </a:p>
          <a:p xmlns:a="http://schemas.openxmlformats.org/drawingml/2006/main">
            <a:pPr marL="0" lvl="0" indent="0" algn="l">
              <a:lnSpc>
                <a:spcPct val="100000"/>
              </a:lnSpc>
              <a:spcBef>
                <a:spcPts val="0"/>
              </a:spcBef>
              <a:spcAft>
                <a:spcPts val="0"/>
              </a:spcAft>
              <a:buSzPts val="1400"/>
              <a:buNone/>
            </a:pPr>
            <a:r>
              <a:t>| S2 | [2026-09-03] Mira's office is in Pune. Mira reviews Project Atlas every Friday. |</a:t>
            </a:r>
            <a:endParaRPr/>
          </a:p>
          <a:p xmlns:a="http://schemas.openxmlformats.org/drawingml/2006/main">
            <a:pPr marL="0" lvl="0" indent="0" algn="l">
              <a:lnSpc>
                <a:spcPct val="100000"/>
              </a:lnSpc>
              <a:spcBef>
                <a:spcPts val="0"/>
              </a:spcBef>
              <a:spcAft>
                <a:spcPts val="0"/>
              </a:spcAft>
              <a:buSzPts val="1400"/>
              <a:buNone/>
            </a:pPr>
            <a:r>
              <a:t>| S3 | [2026-09-05] Alex: I used to prefer long explanations. I now prefer concise summaries for Project Atlas. |</a:t>
            </a:r>
            <a:endParaRPr/>
          </a:p>
          <a:p xmlns:a="http://schemas.openxmlformats.org/drawingml/2006/main">
            <a:pPr marL="0" lvl="0" indent="0" algn="l">
              <a:lnSpc>
                <a:spcPct val="100000"/>
              </a:lnSpc>
              <a:spcBef>
                <a:spcPts val="0"/>
              </a:spcBef>
              <a:spcAft>
                <a:spcPts val="0"/>
              </a:spcAft>
              <a:buSzPts val="1400"/>
              <a:buNone/>
            </a:pPr>
            <a:r>
              <a:t>| S4 | [2026-09-06] Alex: I feel anxious about the Project Atlas review because the prototype is unfinished. |</a:t>
            </a:r>
            <a:endParaRPr/>
          </a:p>
          <a:p xmlns:a="http://schemas.openxmlformats.org/drawingml/2006/main">
            <a:pPr marL="0" lvl="0" indent="0" algn="l">
              <a:lnSpc>
                <a:spcPct val="100000"/>
              </a:lnSpc>
              <a:spcBef>
                <a:spcPts val="0"/>
              </a:spcBef>
              <a:spcAft>
                <a:spcPts val="0"/>
              </a:spcAft>
              <a:buSzPts val="1400"/>
              <a:buNone/>
            </a:pPr>
            <a:r>
              <a:t>| S5 | [2026-09-07] Alex: The Project Atlas prototype passed its local checks. I feel excited and relieved. |</a:t>
            </a:r>
            <a:endParaRPr/>
          </a:p>
          <a:p xmlns:a="http://schemas.openxmlformats.org/drawingml/2006/main">
            <a:pPr marL="0" lvl="0" indent="0" algn="l">
              <a:lnSpc>
                <a:spcPct val="100000"/>
              </a:lnSpc>
              <a:spcBef>
                <a:spcPts val="0"/>
              </a:spcBef>
              <a:spcAft>
                <a:spcPts val="0"/>
              </a:spcAft>
              <a:buSzPts val="1400"/>
              <a:buNone/>
            </a:pPr>
            <a:r>
              <a:t>| D1 | Distractor: Dev mentors Project Beacon from Mumbai. Project Beacon is unrelated to Project Atlas. |</a:t>
            </a:r>
            <a:endParaRPr/>
          </a:p>
          <a:p xmlns:a="http://schemas.openxmlformats.org/drawingml/2006/main">
            <a:pPr marL="0" lvl="0" indent="0" algn="l">
              <a:lnSpc>
                <a:spcPct val="100000"/>
              </a:lnSpc>
              <a:spcBef>
                <a:spcPts val="0"/>
              </a:spcBef>
              <a:spcAft>
                <a:spcPts val="0"/>
              </a:spcAft>
              <a:buSzPts val="1400"/>
              <a:buNone/>
            </a:pPr>
            <a:r>
              <a:t>| D2 | Distractor: An older Atlas travel brochure mentions Mumbai. It does not describe Alex's mentor.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comparison question: "Which city is Alex's Project Atlas mentor based in?"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Evaluator-owned expected answer: Pune, supported by the Alex - Mira link in S1 and Mira - Pune link in S2. Do not add this expected answer or supporting-source IDs to model request metadata. The source records themselves may be supplied as ordinary evidence. S3 - S5 support temporal/preference/affect demonstrations in the same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current lexical sufficiency heuristic may reject this multi-hop wording despite relevant evidence. That is useful failure evidence. Record it, diagnose its stage, and avoid secretly simplifying only the PRIMA question to get a better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7.2 Two demonstration tracks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Functional track: deterministic injected provider and controlled branch conditions prove execution plumbing. Clearly label provider responses and forced uncertainty as synthetic. Existing tests already use injected responses and low-confidence estimators. This track can show error handling even when a real endpoint is unavailable.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Quality track: run the same frozen sample using a configured real model and record actual outputs. Use matched generation settings and native scoring. This track can provide an illustrative baseline comparison, but one scenario is insufficient for a research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Do not mix functional-track scripted answers into the real-model comparison table. A fake provider returning "Pune" does not show the model inferred the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7.3 Demo sequence, visible outputs, and narration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Step | Request / operation | What must be visible | What to say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0. Freeze setup | Record source commit, dependency versions, sample hash, seed, active backends/model/revision. Use isolated demo stores. | A manifest with real/fake provider label, source IDs, settings. | "This is the exact configuration and input used in all comparisons." |</a:t>
            </a:r>
            <a:endParaRPr/>
          </a:p>
          <a:p xmlns:a="http://schemas.openxmlformats.org/drawingml/2006/main">
            <a:pPr marL="0" lvl="0" indent="0" algn="l">
              <a:lnSpc>
                <a:spcPct val="100000"/>
              </a:lnSpc>
              <a:spcBef>
                <a:spcPts val="0"/>
              </a:spcBef>
              <a:spcAft>
                <a:spcPts val="0"/>
              </a:spcAft>
              <a:buSzPts val="1400"/>
              <a:buNone/>
            </a:pPr>
            <a:r>
              <a:t>| 1. Invalid request | Attempt an unsupported task/profile pair and reserved-control metadata. | Validation rejection / typed rejected result, no unintended execution. | "The public boundary rejects incompatible routes and control overrides." |</a:t>
            </a:r>
            <a:endParaRPr/>
          </a:p>
          <a:p xmlns:a="http://schemas.openxmlformats.org/drawingml/2006/main">
            <a:pPr marL="0" lvl="0" indent="0" algn="l">
              <a:lnSpc>
                <a:spcPct val="100000"/>
              </a:lnSpc>
              <a:spcBef>
                <a:spcPts val="0"/>
              </a:spcBef>
              <a:spcAft>
                <a:spcPts val="0"/>
              </a:spcAft>
              <a:buSzPts val="1400"/>
              <a:buNone/>
            </a:pPr>
            <a:r>
              <a:t>| 2. Ingest history | Submit frozen records through DOCUMENT_INGESTION/INGESTION_ONLY for a fixed-store comparison. Separately replay history through HISTORICAL_REPLAY/PRIMA_FULL to show admission/state behavior. | Memory IDs, content provenance, task outcome, no LLM calls during ingestion/replay. | "Explicit ingestion and selective historical admission are different experiments." |</a:t>
            </a:r>
            <a:endParaRPr/>
          </a:p>
          <a:p xmlns:a="http://schemas.openxmlformats.org/drawingml/2006/main">
            <a:pPr marL="0" lvl="0" indent="0" algn="l">
              <a:lnSpc>
                <a:spcPct val="100000"/>
              </a:lnSpc>
              <a:spcBef>
                <a:spcPts val="0"/>
              </a:spcBef>
              <a:spcAft>
                <a:spcPts val="0"/>
              </a:spcAft>
              <a:buSzPts val="1400"/>
              <a:buNone/>
            </a:pPr>
            <a:r>
              <a:t>| 3. Affect | Process S4 then S5 using the same dedicated scenario session. Optionally classify one utterance through AFFECT_ONLY. | Label scores, PAD, temporal momentum/history, active classifier. | "These are text-derived emotional signals. Here is how the signal changes over time." |</a:t>
            </a:r>
            <a:endParaRPr/>
          </a:p>
          <a:p xmlns:a="http://schemas.openxmlformats.org/drawingml/2006/main">
            <a:pPr marL="0" lvl="0" indent="0" algn="l">
              <a:lnSpc>
                <a:spcPct val="100000"/>
              </a:lnSpc>
              <a:spcBef>
                <a:spcPts val="0"/>
              </a:spcBef>
              <a:spcAft>
                <a:spcPts val="0"/>
              </a:spcAft>
              <a:buSzPts val="1400"/>
              <a:buNone/>
            </a:pPr>
            <a:r>
              <a:t>| 4. Admission | Inspect scores/reasons from replay and an additional low-value synthetic turn. | Stored/rejected decision, threshold, component scores, before/after memory counts. | "Useful-memory selection is explicit. We report the actual outcome instead of assuming every turn is stored." |</a:t>
            </a:r>
            <a:endParaRPr/>
          </a:p>
          <a:p xmlns:a="http://schemas.openxmlformats.org/drawingml/2006/main">
            <a:pPr marL="0" lvl="0" indent="0" algn="l">
              <a:lnSpc>
                <a:spcPct val="100000"/>
              </a:lnSpc>
              <a:spcBef>
                <a:spcPts val="0"/>
              </a:spcBef>
              <a:spcAft>
                <a:spcPts val="0"/>
              </a:spcAft>
              <a:buSzPts val="1400"/>
              <a:buNone/>
            </a:pPr>
            <a:r>
              <a:t>| 5. Three-profile QA | Ask the identical primary question in fresh, equivalent runtime/store instances for each profile. | Output, abstention/failure, retrieved IDs, calls, latency, tokens. | "We change the profile while fixing the model and experiment conditions." |</a:t>
            </a:r>
            <a:endParaRPr/>
          </a:p>
          <a:p xmlns:a="http://schemas.openxmlformats.org/drawingml/2006/main">
            <a:pPr marL="0" lvl="0" indent="0" algn="l">
              <a:lnSpc>
                <a:spcPct val="100000"/>
              </a:lnSpc>
              <a:spcBef>
                <a:spcPts val="0"/>
              </a:spcBef>
              <a:spcAft>
                <a:spcPts val="0"/>
              </a:spcAft>
              <a:buSzPts val="1400"/>
              <a:buNone/>
            </a:pPr>
            <a:r>
              <a:t>| 6. Retrieval internals | Expand full-route trace for the QA request. | Dense/sparse/temporal/graph candidates, fusion/reranking, compressed context/source mapping, insufficiency reason if any. | "This shows where the evidence entered or disappeared." |</a:t>
            </a:r>
            <a:endParaRPr/>
          </a:p>
          <a:p xmlns:a="http://schemas.openxmlformats.org/drawingml/2006/main">
            <a:pPr marL="0" lvl="0" indent="0" algn="l">
              <a:lnSpc>
                <a:spcPct val="100000"/>
              </a:lnSpc>
              <a:spcBef>
                <a:spcPts val="0"/>
              </a:spcBef>
              <a:spcAft>
                <a:spcPts val="0"/>
              </a:spcAft>
              <a:buSzPts val="1400"/>
              <a:buNone/>
            </a:pPr>
            <a:r>
              <a:t>| 7. Planning/world/uncertainty | Inspect a full conversation or tool route in this story. | Plan/actions, symbolic predictions, available confidence signals, selected decision. | "These deterministic components expose intended actions and uncertainty. Their scores need empirical validation." |</a:t>
            </a:r>
            <a:endParaRPr/>
          </a:p>
          <a:p xmlns:a="http://schemas.openxmlformats.org/drawingml/2006/main">
            <a:pPr marL="0" lvl="0" indent="0" algn="l">
              <a:lnSpc>
                <a:spcPct val="100000"/>
              </a:lnSpc>
              <a:spcBef>
                <a:spcPts val="0"/>
              </a:spcBef>
              <a:spcAft>
                <a:spcPts val="0"/>
              </a:spcAft>
              <a:buSzPts val="1400"/>
              <a:buNone/>
            </a:pPr>
            <a:r>
              <a:t>| 8. Reflection | First show natural trigger behavior. In functional track only, inject a low-confidence/wrong-query condition with a visible label. | Advice, budget check, accepted/rejected correction, before/after query/evidence/output. | "This branch is conditional. The injected case proves the correction mechanism, not natural-model improvement." |</a:t>
            </a:r>
            <a:endParaRPr/>
          </a:p>
          <a:p xmlns:a="http://schemas.openxmlformats.org/drawingml/2006/main">
            <a:pPr marL="0" lvl="0" indent="0" algn="l">
              <a:lnSpc>
                <a:spcPct val="100000"/>
              </a:lnSpc>
              <a:spcBef>
                <a:spcPts val="0"/>
              </a:spcBef>
              <a:spcAft>
                <a:spcPts val="0"/>
              </a:spcAft>
              <a:buSzPts val="1400"/>
              <a:buNone/>
            </a:pPr>
            <a:r>
              <a:t>| 9. Controlled tool | Register a harmless local calculator/formatter using existing tool contracts. Permit only that tool. Demonstrate valid and blocked/invalid invocations. | Schema checks, policy audit, typed result, no external side effects. | "Only a registered, validated, allowlisted operation runs." |</a:t>
            </a:r>
            <a:endParaRPr/>
          </a:p>
          <a:p xmlns:a="http://schemas.openxmlformats.org/drawingml/2006/main">
            <a:pPr marL="0" lvl="0" indent="0" algn="l">
              <a:lnSpc>
                <a:spcPct val="100000"/>
              </a:lnSpc>
              <a:spcBef>
                <a:spcPts val="0"/>
              </a:spcBef>
              <a:spcAft>
                <a:spcPts val="0"/>
              </a:spcAft>
              <a:buSzPts val="1400"/>
              <a:buNone/>
            </a:pPr>
            <a:r>
              <a:t>| 10. Generation/validation | Show selected evidence labels in request and parsed citations in response. Force malformed output separately in functional track. | Actual generated response or explicit failure, mapped source IDs, no fabricated fallback. | "A failed provider/schema call remains a failure." |</a:t>
            </a:r>
            <a:endParaRPr/>
          </a:p>
          <a:p xmlns:a="http://schemas.openxmlformats.org/drawingml/2006/main">
            <a:pPr marL="0" lvl="0" indent="0" algn="l">
              <a:lnSpc>
                <a:spcPct val="100000"/>
              </a:lnSpc>
              <a:spcBef>
                <a:spcPts val="0"/>
              </a:spcBef>
              <a:spcAft>
                <a:spcPts val="0"/>
              </a:spcAft>
              <a:buSzPts val="1400"/>
              <a:buNone/>
            </a:pPr>
            <a:r>
              <a:t>| 11. State/maintenance | Show version increment and task-appropriate memory changes. Await the existing maintenance barrier. | Pending/completed/failed counts and derived memory/graph changes. | "Admission and completed background work are separate facts." |</a:t>
            </a:r>
            <a:endParaRPr/>
          </a:p>
          <a:p xmlns:a="http://schemas.openxmlformats.org/drawingml/2006/main">
            <a:pPr marL="0" lvl="0" indent="0" algn="l">
              <a:lnSpc>
                <a:spcPct val="100000"/>
              </a:lnSpc>
              <a:spcBef>
                <a:spcPts val="0"/>
              </a:spcBef>
              <a:spcAft>
                <a:spcPts val="0"/>
              </a:spcAft>
              <a:buSzPts val="1400"/>
              <a:buNone/>
            </a:pPr>
            <a:r>
              <a:t>| 12. Export | Save manifest, per-request typed responses, traces, evaluator records, comparison, test output, checksums. | One reproducible demo bundle with no secrets. | "Every claim shown on screen has a corresponding saved artifact."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7.4 Fair comparisons: separate what changes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A, fixed-store retrieval/control: give simple RAG and full PRIMA identical ingested records and compatible backend/settings. Model-only remains the no-retrieval baseline. Its lack of private memory is the intended distinction. If a long-context baseline is desired, give it the same history explicitly and label it separately. This comparison isolates route-level differences more clearly than simultaneously changing memory admission.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B, historical memory formation: replay identical history using declared admission policies, then compare the resulting stores and later QA. This measures the combined effect of admission/maintenance/retrieval. Do not attribute its whole delta only to graph or affect.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C, component ablation: keep all else fixed and disable one component, such as affect modulation, graph retrieval, or reflection. Use development cases and freeze the final settings before held-out evaluation. Existing profiles are not automatically single-component ablations.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Keep model/revision, source IDs/order, seed, generation settings, context limit, retry policy, scorer, and environment fixed. Reset state/stores between variants to prevent earlier answers contaminating later ones. Use one dedicated runtime/store per principal for the demo. Record warm/cold model state when timing.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7.5 Comparison table to fill from actual runs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Item | Model only | Simple RAG | Full PRIMA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Primary answer | PENDING | PENDING | PENDING |</a:t>
            </a:r>
            <a:endParaRPr/>
          </a:p>
          <a:p xmlns:a="http://schemas.openxmlformats.org/drawingml/2006/main">
            <a:pPr marL="0" lvl="0" indent="0" algn="l">
              <a:lnSpc>
                <a:spcPct val="100000"/>
              </a:lnSpc>
              <a:spcBef>
                <a:spcPts val="0"/>
              </a:spcBef>
              <a:spcAft>
                <a:spcPts val="0"/>
              </a:spcAft>
              <a:buSzPts val="1400"/>
              <a:buNone/>
            </a:pPr>
            <a:r>
              <a:t>| Outcome: answered/abstained/failed | PENDING | PENDING | PENDING |</a:t>
            </a:r>
            <a:endParaRPr/>
          </a:p>
          <a:p xmlns:a="http://schemas.openxmlformats.org/drawingml/2006/main">
            <a:pPr marL="0" lvl="0" indent="0" algn="l">
              <a:lnSpc>
                <a:spcPct val="100000"/>
              </a:lnSpc>
              <a:spcBef>
                <a:spcPts val="0"/>
              </a:spcBef>
              <a:spcAft>
                <a:spcPts val="0"/>
              </a:spcAft>
              <a:buSzPts val="1400"/>
              <a:buNone/>
            </a:pPr>
            <a:r>
              <a:t>| Exact match / token F1 | PENDING | PENDING | PENDING |</a:t>
            </a:r>
            <a:endParaRPr/>
          </a:p>
          <a:p xmlns:a="http://schemas.openxmlformats.org/drawingml/2006/main">
            <a:pPr marL="0" lvl="0" indent="0" algn="l">
              <a:lnSpc>
                <a:spcPct val="100000"/>
              </a:lnSpc>
              <a:spcBef>
                <a:spcPts val="0"/>
              </a:spcBef>
              <a:spcAft>
                <a:spcPts val="0"/>
              </a:spcAft>
              <a:buSzPts val="1400"/>
              <a:buNone/>
            </a:pPr>
            <a:r>
              <a:t>| Supporting-source recall | N/A, no retrieval | PENDING | PENDING |</a:t>
            </a:r>
            <a:endParaRPr/>
          </a:p>
          <a:p xmlns:a="http://schemas.openxmlformats.org/drawingml/2006/main">
            <a:pPr marL="0" lvl="0" indent="0" algn="l">
              <a:lnSpc>
                <a:spcPct val="100000"/>
              </a:lnSpc>
              <a:spcBef>
                <a:spcPts val="0"/>
              </a:spcBef>
              <a:spcAft>
                <a:spcPts val="0"/>
              </a:spcAft>
              <a:buSzPts val="1400"/>
              <a:buNone/>
            </a:pPr>
            <a:r>
              <a:t>| Final evidence/citations | N/A or explicitly supplied context | PENDING | PENDING |</a:t>
            </a:r>
            <a:endParaRPr/>
          </a:p>
          <a:p xmlns:a="http://schemas.openxmlformats.org/drawingml/2006/main">
            <a:pPr marL="0" lvl="0" indent="0" algn="l">
              <a:lnSpc>
                <a:spcPct val="100000"/>
              </a:lnSpc>
              <a:spcBef>
                <a:spcPts val="0"/>
              </a:spcBef>
              <a:spcAft>
                <a:spcPts val="0"/>
              </a:spcAft>
              <a:buSzPts val="1400"/>
              <a:buNone/>
            </a:pPr>
            <a:r>
              <a:t>| Retrieval calls / returned sources | Expected zero retrieval | PENDING | PENDING |</a:t>
            </a:r>
            <a:endParaRPr/>
          </a:p>
          <a:p xmlns:a="http://schemas.openxmlformats.org/drawingml/2006/main">
            <a:pPr marL="0" lvl="0" indent="0" algn="l">
              <a:lnSpc>
                <a:spcPct val="100000"/>
              </a:lnSpc>
              <a:spcBef>
                <a:spcPts val="0"/>
              </a:spcBef>
              <a:spcAft>
                <a:spcPts val="0"/>
              </a:spcAft>
              <a:buSzPts val="1400"/>
              <a:buNone/>
            </a:pPr>
            <a:r>
              <a:t>| Model calls / tokens | PENDING | PENDING | PENDING |</a:t>
            </a:r>
            <a:endParaRPr/>
          </a:p>
          <a:p xmlns:a="http://schemas.openxmlformats.org/drawingml/2006/main">
            <a:pPr marL="0" lvl="0" indent="0" algn="l">
              <a:lnSpc>
                <a:spcPct val="100000"/>
              </a:lnSpc>
              <a:spcBef>
                <a:spcPts val="0"/>
              </a:spcBef>
              <a:spcAft>
                <a:spcPts val="0"/>
              </a:spcAft>
              <a:buSzPts val="1400"/>
              <a:buNone/>
            </a:pPr>
            <a:r>
              <a:t>| Wall latency, including barrier if reported | PENDING | PENDING | PENDING |</a:t>
            </a:r>
            <a:endParaRPr/>
          </a:p>
          <a:p xmlns:a="http://schemas.openxmlformats.org/drawingml/2006/main">
            <a:pPr marL="0" lvl="0" indent="0" algn="l">
              <a:lnSpc>
                <a:spcPct val="100000"/>
              </a:lnSpc>
              <a:spcBef>
                <a:spcPts val="0"/>
              </a:spcBef>
              <a:spcAft>
                <a:spcPts val="0"/>
              </a:spcAft>
              <a:buSzPts val="1400"/>
              <a:buNone/>
            </a:pPr>
            <a:r>
              <a:t>| Reflection/corrections | Route excluded | Route dependent | PENDING |</a:t>
            </a:r>
            <a:endParaRPr/>
          </a:p>
          <a:p xmlns:a="http://schemas.openxmlformats.org/drawingml/2006/main">
            <a:pPr marL="0" lvl="0" indent="0" algn="l">
              <a:lnSpc>
                <a:spcPct val="100000"/>
              </a:lnSpc>
              <a:spcBef>
                <a:spcPts val="0"/>
              </a:spcBef>
              <a:spcAft>
                <a:spcPts val="0"/>
              </a:spcAft>
              <a:buSzPts val="1400"/>
              <a:buNone/>
            </a:pPr>
            <a:r>
              <a:t>| Maintenance admitted/completed/failed | Task/policy dependent | Task/policy dependent | PENDING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expected answer belongs to scoring. Every cell above must come from saved outputs rather than a manually scripted demonstration narrative.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7.6 Demo orchestration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freeze synthetic scenario and evaluator-owned expectations</a:t>
            </a:r>
            <a:endParaRPr/>
          </a:p>
          <a:p xmlns:a="http://schemas.openxmlformats.org/drawingml/2006/main">
            <a:pPr marL="0" lvl="0" indent="0" algn="l">
              <a:lnSpc>
                <a:spcPct val="100000"/>
              </a:lnSpc>
              <a:spcBef>
                <a:spcPts val="0"/>
              </a:spcBef>
              <a:spcAft>
                <a:spcPts val="0"/>
              </a:spcAft>
              <a:buSzPts val="1400"/>
              <a:buNone/>
            </a:pPr>
            <a:r>
              <a:t>record source/model/environment identities</a:t>
            </a:r>
            <a:endParaRPr/>
          </a:p>
          <a:p xmlns:a="http://schemas.openxmlformats.org/drawingml/2006/main">
            <a:pPr marL="0" lvl="0" indent="0" algn="l">
              <a:lnSpc>
                <a:spcPct val="100000"/>
              </a:lnSpc>
              <a:spcBef>
                <a:spcPts val="0"/>
              </a:spcBef>
              <a:spcAft>
                <a:spcPts val="0"/>
              </a:spcAft>
              <a:buSzPts val="1400"/>
              <a:buNone/>
            </a:pPr>
            <a:r>
              <a:t>for profile in [model_only, simple_rag, prima_full]:</a:t>
            </a:r>
            <a:endParaRPr/>
          </a:p>
          <a:p xmlns:a="http://schemas.openxmlformats.org/drawingml/2006/main">
            <a:pPr marL="0" lvl="0" indent="0" algn="l">
              <a:lnSpc>
                <a:spcPct val="100000"/>
              </a:lnSpc>
              <a:spcBef>
                <a:spcPts val="0"/>
              </a:spcBef>
              <a:spcAft>
                <a:spcPts val="0"/>
              </a:spcAft>
              <a:buSzPts val="1400"/>
              <a:buNone/>
            </a:pPr>
            <a:r>
              <a:t>    create fresh isolated runtime, repository, and state</a:t>
            </a:r>
            <a:endParaRPr/>
          </a:p>
          <a:p xmlns:a="http://schemas.openxmlformats.org/drawingml/2006/main">
            <a:pPr marL="0" lvl="0" indent="0" algn="l">
              <a:lnSpc>
                <a:spcPct val="100000"/>
              </a:lnSpc>
              <a:spcBef>
                <a:spcPts val="0"/>
              </a:spcBef>
              <a:spcAft>
                <a:spcPts val="0"/>
              </a:spcAft>
              <a:buSzPts val="1400"/>
              <a:buNone/>
            </a:pPr>
            <a:r>
              <a:t>    seed the declared evidence protocol consistently</a:t>
            </a:r>
            <a:endParaRPr/>
          </a:p>
          <a:p xmlns:a="http://schemas.openxmlformats.org/drawingml/2006/main">
            <a:pPr marL="0" lvl="0" indent="0" algn="l">
              <a:lnSpc>
                <a:spcPct val="100000"/>
              </a:lnSpc>
              <a:spcBef>
                <a:spcPts val="0"/>
              </a:spcBef>
              <a:spcAft>
                <a:spcPts val="0"/>
              </a:spcAft>
              <a:buSzPts val="1400"/>
              <a:buNone/>
            </a:pPr>
            <a:r>
              <a:t>    execute identical QA request with fixed budgets/settings</a:t>
            </a:r>
            <a:endParaRPr/>
          </a:p>
          <a:p xmlns:a="http://schemas.openxmlformats.org/drawingml/2006/main">
            <a:pPr marL="0" lvl="0" indent="0" algn="l">
              <a:lnSpc>
                <a:spcPct val="100000"/>
              </a:lnSpc>
              <a:spcBef>
                <a:spcPts val="0"/>
              </a:spcBef>
              <a:spcAft>
                <a:spcPts val="0"/>
              </a:spcAft>
              <a:buSzPts val="1400"/>
              <a:buNone/>
            </a:pPr>
            <a:r>
              <a:t>    await task-appropriate maintenance boundary</a:t>
            </a:r>
            <a:endParaRPr/>
          </a:p>
          <a:p xmlns:a="http://schemas.openxmlformats.org/drawingml/2006/main">
            <a:pPr marL="0" lvl="0" indent="0" algn="l">
              <a:lnSpc>
                <a:spcPct val="100000"/>
              </a:lnSpc>
              <a:spcBef>
                <a:spcPts val="0"/>
              </a:spcBef>
              <a:spcAft>
                <a:spcPts val="0"/>
              </a:spcAft>
              <a:buSzPts val="1400"/>
              <a:buNone/>
            </a:pPr>
            <a:r>
              <a:t>    save full typed response and active backend diagnostics</a:t>
            </a:r>
            <a:endParaRPr/>
          </a:p>
          <a:p xmlns:a="http://schemas.openxmlformats.org/drawingml/2006/main">
            <a:pPr marL="0" lvl="0" indent="0" algn="l">
              <a:lnSpc>
                <a:spcPct val="100000"/>
              </a:lnSpc>
              <a:spcBef>
                <a:spcPts val="0"/>
              </a:spcBef>
              <a:spcAft>
                <a:spcPts val="0"/>
              </a:spcAft>
              <a:buSzPts val="1400"/>
              <a:buNone/>
            </a:pPr>
            <a:r>
              <a:t>    score only after inference using evaluator-owned gold</a:t>
            </a:r>
            <a:endParaRPr/>
          </a:p>
          <a:p xmlns:a="http://schemas.openxmlformats.org/drawingml/2006/main">
            <a:pPr marL="0" lvl="0" indent="0" algn="l">
              <a:lnSpc>
                <a:spcPct val="100000"/>
              </a:lnSpc>
              <a:spcBef>
                <a:spcPts val="0"/>
              </a:spcBef>
              <a:spcAft>
                <a:spcPts val="0"/>
              </a:spcAft>
              <a:buSzPts val="1400"/>
              <a:buNone/>
            </a:pPr>
            <a:r>
              <a:t>run scenario-specific ingestion/replay/affect/tool requests</a:t>
            </a:r>
            <a:endParaRPr/>
          </a:p>
          <a:p xmlns:a="http://schemas.openxmlformats.org/drawingml/2006/main">
            <a:pPr marL="0" lvl="0" indent="0" algn="l">
              <a:lnSpc>
                <a:spcPct val="100000"/>
              </a:lnSpc>
              <a:spcBef>
                <a:spcPts val="0"/>
              </a:spcBef>
              <a:spcAft>
                <a:spcPts val="0"/>
              </a:spcAft>
              <a:buSzPts val="1400"/>
              <a:buNone/>
            </a:pPr>
            <a:r>
              <a:t>run labeled deterministic reflection and fault cases separately</a:t>
            </a:r>
            <a:endParaRPr/>
          </a:p>
          <a:p xmlns:a="http://schemas.openxmlformats.org/drawingml/2006/main">
            <a:pPr marL="0" lvl="0" indent="0" algn="l">
              <a:lnSpc>
                <a:spcPct val="100000"/>
              </a:lnSpc>
              <a:spcBef>
                <a:spcPts val="0"/>
              </a:spcBef>
              <a:spcAft>
                <a:spcPts val="0"/>
              </a:spcAft>
              <a:buSzPts val="1400"/>
              <a:buNone/>
            </a:pPr>
            <a:r>
              <a:t>reconcile planned, executed, not-executed, and skipped components</a:t>
            </a:r>
            <a:endParaRPr/>
          </a:p>
          <a:p xmlns:a="http://schemas.openxmlformats.org/drawingml/2006/main">
            <a:pPr marL="0" lvl="0" indent="0" algn="l">
              <a:lnSpc>
                <a:spcPct val="100000"/>
              </a:lnSpc>
              <a:spcBef>
                <a:spcPts val="0"/>
              </a:spcBef>
              <a:spcAft>
                <a:spcPts val="0"/>
              </a:spcAft>
              <a:buSzPts val="1400"/>
              <a:buNone/>
            </a:pPr>
            <a:r>
              <a:t>validate artifact coverage and redact secrets</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7.7 Assertions required in the eventual runnable script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Unsupported routes/control overrides fail before unintended work.</a:t>
            </a:r>
            <a:endParaRPr/>
          </a:p>
          <a:p xmlns:a="http://schemas.openxmlformats.org/drawingml/2006/main">
            <a:pPr marL="0" lvl="0" indent="0" algn="l">
              <a:lnSpc>
                <a:spcPct val="100000"/>
              </a:lnSpc>
              <a:spcBef>
                <a:spcPts val="0"/>
              </a:spcBef>
              <a:spcAft>
                <a:spcPts val="0"/>
              </a:spcAft>
              <a:buSzPts val="1400"/>
              <a:buNone/>
            </a:pPr>
            <a:r>
              <a:t>2. Ingestion/replay does not call answer generation.</a:t>
            </a:r>
            <a:endParaRPr/>
          </a:p>
          <a:p xmlns:a="http://schemas.openxmlformats.org/drawingml/2006/main">
            <a:pPr marL="0" lvl="0" indent="0" algn="l">
              <a:lnSpc>
                <a:spcPct val="100000"/>
              </a:lnSpc>
              <a:spcBef>
                <a:spcPts val="0"/>
              </a:spcBef>
              <a:spcAft>
                <a:spcPts val="0"/>
              </a:spcAft>
              <a:buSzPts val="1400"/>
              <a:buNone/>
            </a:pPr>
            <a:r>
              <a:t>3. Model-only does not execute retrieval.</a:t>
            </a:r>
            <a:endParaRPr/>
          </a:p>
          <a:p xmlns:a="http://schemas.openxmlformats.org/drawingml/2006/main">
            <a:pPr marL="0" lvl="0" indent="0" algn="l">
              <a:lnSpc>
                <a:spcPct val="100000"/>
              </a:lnSpc>
              <a:spcBef>
                <a:spcPts val="0"/>
              </a:spcBef>
              <a:spcAft>
                <a:spcPts val="0"/>
              </a:spcAft>
              <a:buSzPts val="1400"/>
              <a:buNone/>
            </a:pPr>
            <a:r>
              <a:t>4. Simple RAG excludes temporal/graph responsibilities selected only by full routes.</a:t>
            </a:r>
            <a:endParaRPr/>
          </a:p>
          <a:p xmlns:a="http://schemas.openxmlformats.org/drawingml/2006/main">
            <a:pPr marL="0" lvl="0" indent="0" algn="l">
              <a:lnSpc>
                <a:spcPct val="100000"/>
              </a:lnSpc>
              <a:spcBef>
                <a:spcPts val="0"/>
              </a:spcBef>
              <a:spcAft>
                <a:spcPts val="0"/>
              </a:spcAft>
              <a:buSzPts val="1400"/>
              <a:buNone/>
            </a:pPr>
            <a:r>
              <a:t>5. Planned components reconcile with executed and not-executed components, and execution respects capabilities.</a:t>
            </a:r>
            <a:endParaRPr/>
          </a:p>
          <a:p xmlns:a="http://schemas.openxmlformats.org/drawingml/2006/main">
            <a:pPr marL="0" lvl="0" indent="0" algn="l">
              <a:lnSpc>
                <a:spcPct val="100000"/>
              </a:lnSpc>
              <a:spcBef>
                <a:spcPts val="0"/>
              </a:spcBef>
              <a:spcAft>
                <a:spcPts val="0"/>
              </a:spcAft>
              <a:buSzPts val="1400"/>
              <a:buNone/>
            </a:pPr>
            <a:r>
              <a:t>6. Returned citations map to the actual selected evidence.</a:t>
            </a:r>
            <a:endParaRPr/>
          </a:p>
          <a:p xmlns:a="http://schemas.openxmlformats.org/drawingml/2006/main">
            <a:pPr marL="0" lvl="0" indent="0" algn="l">
              <a:lnSpc>
                <a:spcPct val="100000"/>
              </a:lnSpc>
              <a:spcBef>
                <a:spcPts val="0"/>
              </a:spcBef>
              <a:spcAft>
                <a:spcPts val="0"/>
              </a:spcAft>
              <a:buSzPts val="1400"/>
              <a:buNone/>
            </a:pPr>
            <a:r>
              <a:t>7. Reflection respects correction budgets and records actual changes.</a:t>
            </a:r>
            <a:endParaRPr/>
          </a:p>
          <a:p xmlns:a="http://schemas.openxmlformats.org/drawingml/2006/main">
            <a:pPr marL="0" lvl="0" indent="0" algn="l">
              <a:lnSpc>
                <a:spcPct val="100000"/>
              </a:lnSpc>
              <a:spcBef>
                <a:spcPts val="0"/>
              </a:spcBef>
              <a:spcAft>
                <a:spcPts val="0"/>
              </a:spcAft>
              <a:buSzPts val="1400"/>
              <a:buNone/>
            </a:pPr>
            <a:r>
              <a:t>8. Tool requests do not accidentally invoke answer generation. Invalid/disallowed invocations remain blocked.</a:t>
            </a:r>
            <a:endParaRPr/>
          </a:p>
          <a:p xmlns:a="http://schemas.openxmlformats.org/drawingml/2006/main">
            <a:pPr marL="0" lvl="0" indent="0" algn="l">
              <a:lnSpc>
                <a:spcPct val="100000"/>
              </a:lnSpc>
              <a:spcBef>
                <a:spcPts val="0"/>
              </a:spcBef>
              <a:spcAft>
                <a:spcPts val="0"/>
              </a:spcAft>
              <a:buSzPts val="1400"/>
              <a:buNone/>
            </a:pPr>
            <a:r>
              <a:t>9. State versions and task-appropriate memory effects are observable.</a:t>
            </a:r>
            <a:endParaRPr/>
          </a:p>
          <a:p xmlns:a="http://schemas.openxmlformats.org/drawingml/2006/main">
            <a:pPr marL="0" lvl="0" indent="0" algn="l">
              <a:lnSpc>
                <a:spcPct val="100000"/>
              </a:lnSpc>
              <a:spcBef>
                <a:spcPts val="0"/>
              </a:spcBef>
              <a:spcAft>
                <a:spcPts val="0"/>
              </a:spcAft>
              <a:buSzPts val="1400"/>
              <a:buNone/>
            </a:pPr>
            <a:r>
              <a:t>10. Maintenance completes or reports failures explicitly before claiming a completed demo stage.</a:t>
            </a:r>
            <a:endParaRPr/>
          </a:p>
          <a:p xmlns:a="http://schemas.openxmlformats.org/drawingml/2006/main">
            <a:pPr marL="0" lvl="0" indent="0" algn="l">
              <a:lnSpc>
                <a:spcPct val="100000"/>
              </a:lnSpc>
              <a:spcBef>
                <a:spcPts val="0"/>
              </a:spcBef>
              <a:spcAft>
                <a:spcPts val="0"/>
              </a:spcAft>
              <a:buSzPts val="1400"/>
              <a:buNone/>
            </a:pPr>
            <a:r>
              <a:t>11. Provider/schema/store failures do not become invented success.</a:t>
            </a:r>
            <a:endParaRPr/>
          </a:p>
          <a:p xmlns:a="http://schemas.openxmlformats.org/drawingml/2006/main">
            <a:pPr marL="0" lvl="0" indent="0" algn="l">
              <a:lnSpc>
                <a:spcPct val="100000"/>
              </a:lnSpc>
              <a:spcBef>
                <a:spcPts val="0"/>
              </a:spcBef>
              <a:spcAft>
                <a:spcPts val="0"/>
              </a:spcAft>
              <a:buSzPts val="1400"/>
              <a:buNone/>
            </a:pPr>
            <a:r>
              <a:t>12. Gold expectations remain outside inference requests/prompts/telemetry.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scaffolding: runtime integration, release fault injection, correction tests, tool tests, maintenance barriers.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C:/PRIMA_next/tests/integration/test_runtime_pipeline.py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Demo sequence: preparation and memory (2/2)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 Slide 7, part A: one-scenario demonstration and comparison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Status: proposed demo specification, not a completed demo run. The previous panel's suggestion is best satisfied with one connected scenario, several task-appropriate requests, and one exported evidence bundle. A single factual-QA request intentionally cannot exercise ingestion, conversation admission, emotion-only classification, and tool-only execution together.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7.1 Sample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synthetic data so the demo can be shared without exposing personal information. Freeze the wording and stable source IDs before rehearsal.</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Source ID | Synthetic history/document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S1 | [2026-09-01] Alex: I am working on Project Atlas. Mira is my project mentor. Please remember my important goal: finish the Atlas prototype. |</a:t>
            </a:r>
            <a:endParaRPr/>
          </a:p>
          <a:p xmlns:a="http://schemas.openxmlformats.org/drawingml/2006/main">
            <a:pPr marL="0" lvl="0" indent="0" algn="l">
              <a:lnSpc>
                <a:spcPct val="100000"/>
              </a:lnSpc>
              <a:spcBef>
                <a:spcPts val="0"/>
              </a:spcBef>
              <a:spcAft>
                <a:spcPts val="0"/>
              </a:spcAft>
              <a:buSzPts val="1400"/>
              <a:buNone/>
            </a:pPr>
            <a:r>
              <a:t>| S2 | [2026-09-03] Mira's office is in Pune. Mira reviews Project Atlas every Friday. |</a:t>
            </a:r>
            <a:endParaRPr/>
          </a:p>
          <a:p xmlns:a="http://schemas.openxmlformats.org/drawingml/2006/main">
            <a:pPr marL="0" lvl="0" indent="0" algn="l">
              <a:lnSpc>
                <a:spcPct val="100000"/>
              </a:lnSpc>
              <a:spcBef>
                <a:spcPts val="0"/>
              </a:spcBef>
              <a:spcAft>
                <a:spcPts val="0"/>
              </a:spcAft>
              <a:buSzPts val="1400"/>
              <a:buNone/>
            </a:pPr>
            <a:r>
              <a:t>| S3 | [2026-09-05] Alex: I used to prefer long explanations. I now prefer concise summaries for Project Atlas. |</a:t>
            </a:r>
            <a:endParaRPr/>
          </a:p>
          <a:p xmlns:a="http://schemas.openxmlformats.org/drawingml/2006/main">
            <a:pPr marL="0" lvl="0" indent="0" algn="l">
              <a:lnSpc>
                <a:spcPct val="100000"/>
              </a:lnSpc>
              <a:spcBef>
                <a:spcPts val="0"/>
              </a:spcBef>
              <a:spcAft>
                <a:spcPts val="0"/>
              </a:spcAft>
              <a:buSzPts val="1400"/>
              <a:buNone/>
            </a:pPr>
            <a:r>
              <a:t>| S4 | [2026-09-06] Alex: I feel anxious about the Project Atlas review because the prototype is unfinished. |</a:t>
            </a:r>
            <a:endParaRPr/>
          </a:p>
          <a:p xmlns:a="http://schemas.openxmlformats.org/drawingml/2006/main">
            <a:pPr marL="0" lvl="0" indent="0" algn="l">
              <a:lnSpc>
                <a:spcPct val="100000"/>
              </a:lnSpc>
              <a:spcBef>
                <a:spcPts val="0"/>
              </a:spcBef>
              <a:spcAft>
                <a:spcPts val="0"/>
              </a:spcAft>
              <a:buSzPts val="1400"/>
              <a:buNone/>
            </a:pPr>
            <a:r>
              <a:t>| S5 | [2026-09-07] Alex: The Project Atlas prototype passed its local checks. I feel excited and relieved. |</a:t>
            </a:r>
            <a:endParaRPr/>
          </a:p>
          <a:p xmlns:a="http://schemas.openxmlformats.org/drawingml/2006/main">
            <a:pPr marL="0" lvl="0" indent="0" algn="l">
              <a:lnSpc>
                <a:spcPct val="100000"/>
              </a:lnSpc>
              <a:spcBef>
                <a:spcPts val="0"/>
              </a:spcBef>
              <a:spcAft>
                <a:spcPts val="0"/>
              </a:spcAft>
              <a:buSzPts val="1400"/>
              <a:buNone/>
            </a:pPr>
            <a:r>
              <a:t>| D1 | Distractor: Dev mentors Project Beacon from Mumbai. Project Beacon is unrelated to Project Atlas. |</a:t>
            </a:r>
            <a:endParaRPr/>
          </a:p>
          <a:p xmlns:a="http://schemas.openxmlformats.org/drawingml/2006/main">
            <a:pPr marL="0" lvl="0" indent="0" algn="l">
              <a:lnSpc>
                <a:spcPct val="100000"/>
              </a:lnSpc>
              <a:spcBef>
                <a:spcPts val="0"/>
              </a:spcBef>
              <a:spcAft>
                <a:spcPts val="0"/>
              </a:spcAft>
              <a:buSzPts val="1400"/>
              <a:buNone/>
            </a:pPr>
            <a:r>
              <a:t>| D2 | Distractor: An older Atlas travel brochure mentions Mumbai. It does not describe Alex's mentor.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comparison question: "Which city is Alex's Project Atlas mentor based in?"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Evaluator-owned expected answer: Pune, supported by the Alex - Mira link in S1 and Mira - Pune link in S2. Do not add this expected answer or supporting-source IDs to model request metadata. The source records themselves may be supplied as ordinary evidence. S3 - S5 support temporal/preference/affect demonstrations in the same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current lexical sufficiency heuristic may reject this multi-hop wording despite relevant evidence. That is useful failure evidence. Record it, diagnose its stage, and avoid secretly simplifying only the PRIMA question to get a better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7.2 Two demonstration tracks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Functional track: deterministic injected provider and controlled branch conditions prove execution plumbing. Clearly label provider responses and forced uncertainty as synthetic. Existing tests already use injected responses and low-confidence estimators. This track can show error handling even when a real endpoint is unavailable.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Quality track: run the same frozen sample using a configured real model and record actual outputs. Use matched generation settings and native scoring. This track can provide an illustrative baseline comparison, but one scenario is insufficient for a research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Do not mix functional-track scripted answers into the real-model comparison table. A fake provider returning "Pune" does not show the model inferred the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7.3 Demo sequence, visible outputs, and narration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Step | Request / operation | What must be visible | What to say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0. Freeze setup | Record source commit, dependency versions, sample hash, seed, active backends/model/revision. Use isolated demo stores. | A manifest with real/fake provider label, source IDs, settings. | "This is the exact configuration and input used in all comparisons." |</a:t>
            </a:r>
            <a:endParaRPr/>
          </a:p>
          <a:p xmlns:a="http://schemas.openxmlformats.org/drawingml/2006/main">
            <a:pPr marL="0" lvl="0" indent="0" algn="l">
              <a:lnSpc>
                <a:spcPct val="100000"/>
              </a:lnSpc>
              <a:spcBef>
                <a:spcPts val="0"/>
              </a:spcBef>
              <a:spcAft>
                <a:spcPts val="0"/>
              </a:spcAft>
              <a:buSzPts val="1400"/>
              <a:buNone/>
            </a:pPr>
            <a:r>
              <a:t>| 1. Invalid request | Attempt an unsupported task/profile pair and reserved-control metadata. | Validation rejection / typed rejected result, no unintended execution. | "The public boundary rejects incompatible routes and control overrides." |</a:t>
            </a:r>
            <a:endParaRPr/>
          </a:p>
          <a:p xmlns:a="http://schemas.openxmlformats.org/drawingml/2006/main">
            <a:pPr marL="0" lvl="0" indent="0" algn="l">
              <a:lnSpc>
                <a:spcPct val="100000"/>
              </a:lnSpc>
              <a:spcBef>
                <a:spcPts val="0"/>
              </a:spcBef>
              <a:spcAft>
                <a:spcPts val="0"/>
              </a:spcAft>
              <a:buSzPts val="1400"/>
              <a:buNone/>
            </a:pPr>
            <a:r>
              <a:t>| 2. Ingest history | Submit frozen records through DOCUMENT_INGESTION/INGESTION_ONLY for a fixed-store comparison. Separately replay history through HISTORICAL_REPLAY/PRIMA_FULL to show admission/state behavior. | Memory IDs, content provenance, task outcome, no LLM calls during ingestion/replay. | "Explicit ingestion and selective historical admission are different experiments." |</a:t>
            </a:r>
            <a:endParaRPr/>
          </a:p>
          <a:p xmlns:a="http://schemas.openxmlformats.org/drawingml/2006/main">
            <a:pPr marL="0" lvl="0" indent="0" algn="l">
              <a:lnSpc>
                <a:spcPct val="100000"/>
              </a:lnSpc>
              <a:spcBef>
                <a:spcPts val="0"/>
              </a:spcBef>
              <a:spcAft>
                <a:spcPts val="0"/>
              </a:spcAft>
              <a:buSzPts val="1400"/>
              <a:buNone/>
            </a:pPr>
            <a:r>
              <a:t>| 3. Affect | Process S4 then S5 using the same dedicated scenario session. Optionally classify one utterance through AFFECT_ONLY. | Label scores, PAD, temporal momentum/history, active classifier. | "These are text-derived emotional signals. Here is how the signal changes over time." |</a:t>
            </a:r>
            <a:endParaRPr/>
          </a:p>
          <a:p xmlns:a="http://schemas.openxmlformats.org/drawingml/2006/main">
            <a:pPr marL="0" lvl="0" indent="0" algn="l">
              <a:lnSpc>
                <a:spcPct val="100000"/>
              </a:lnSpc>
              <a:spcBef>
                <a:spcPts val="0"/>
              </a:spcBef>
              <a:spcAft>
                <a:spcPts val="0"/>
              </a:spcAft>
              <a:buSzPts val="1400"/>
              <a:buNone/>
            </a:pPr>
            <a:r>
              <a:t>| 4. Admission | Inspect scores/reasons from replay and an additional low-value synthetic turn. | Stored/rejected decision, threshold, component scores, before/after memory counts. | "Useful-memory selection is explicit. We report the actual outcome instead of assuming every turn is stored." |</a:t>
            </a:r>
            <a:endParaRPr/>
          </a:p>
          <a:p xmlns:a="http://schemas.openxmlformats.org/drawingml/2006/main">
            <a:pPr marL="0" lvl="0" indent="0" algn="l">
              <a:lnSpc>
                <a:spcPct val="100000"/>
              </a:lnSpc>
              <a:spcBef>
                <a:spcPts val="0"/>
              </a:spcBef>
              <a:spcAft>
                <a:spcPts val="0"/>
              </a:spcAft>
              <a:buSzPts val="1400"/>
              <a:buNone/>
            </a:pPr>
            <a:r>
              <a:t>| 5. Three-profile QA | Ask the identical primary question in fresh, equivalent runtime/store instances for each profile. | Output, abstention/failure, retrieved IDs, calls, latency, tokens. | "We change the profile while fixing the model and experiment conditions." |</a:t>
            </a:r>
            <a:endParaRPr/>
          </a:p>
          <a:p xmlns:a="http://schemas.openxmlformats.org/drawingml/2006/main">
            <a:pPr marL="0" lvl="0" indent="0" algn="l">
              <a:lnSpc>
                <a:spcPct val="100000"/>
              </a:lnSpc>
              <a:spcBef>
                <a:spcPts val="0"/>
              </a:spcBef>
              <a:spcAft>
                <a:spcPts val="0"/>
              </a:spcAft>
              <a:buSzPts val="1400"/>
              <a:buNone/>
            </a:pPr>
            <a:r>
              <a:t>| 6. Retrieval internals | Expand full-route trace for the QA request. | Dense/sparse/temporal/graph candidates, fusion/reranking, compressed context/source mapping, insufficiency reason if any. | "This shows where the evidence entered or disappeared." |</a:t>
            </a:r>
            <a:endParaRPr/>
          </a:p>
          <a:p xmlns:a="http://schemas.openxmlformats.org/drawingml/2006/main">
            <a:pPr marL="0" lvl="0" indent="0" algn="l">
              <a:lnSpc>
                <a:spcPct val="100000"/>
              </a:lnSpc>
              <a:spcBef>
                <a:spcPts val="0"/>
              </a:spcBef>
              <a:spcAft>
                <a:spcPts val="0"/>
              </a:spcAft>
              <a:buSzPts val="1400"/>
              <a:buNone/>
            </a:pPr>
            <a:r>
              <a:t>| 7. Planning/world/uncertainty | Inspect a full conversation or tool route in this story. | Plan/actions, symbolic predictions, available confidence signals, selected decision. | "These deterministic components expose intended actions and uncertainty. Their scores need empirical validation." |</a:t>
            </a:r>
            <a:endParaRPr/>
          </a:p>
          <a:p xmlns:a="http://schemas.openxmlformats.org/drawingml/2006/main">
            <a:pPr marL="0" lvl="0" indent="0" algn="l">
              <a:lnSpc>
                <a:spcPct val="100000"/>
              </a:lnSpc>
              <a:spcBef>
                <a:spcPts val="0"/>
              </a:spcBef>
              <a:spcAft>
                <a:spcPts val="0"/>
              </a:spcAft>
              <a:buSzPts val="1400"/>
              <a:buNone/>
            </a:pPr>
            <a:r>
              <a:t>| 8. Reflection | First show natural trigger behavior. In functional track only, inject a low-confidence/wrong-query condition with a visible label. | Advice, budget check, accepted/rejected correction, before/after query/evidence/output. | "This branch is conditional. The injected case proves the correction mechanism, not natural-model improvement." |</a:t>
            </a:r>
            <a:endParaRPr/>
          </a:p>
          <a:p xmlns:a="http://schemas.openxmlformats.org/drawingml/2006/main">
            <a:pPr marL="0" lvl="0" indent="0" algn="l">
              <a:lnSpc>
                <a:spcPct val="100000"/>
              </a:lnSpc>
              <a:spcBef>
                <a:spcPts val="0"/>
              </a:spcBef>
              <a:spcAft>
                <a:spcPts val="0"/>
              </a:spcAft>
              <a:buSzPts val="1400"/>
              <a:buNone/>
            </a:pPr>
            <a:r>
              <a:t>| 9. Controlled tool | Register a harmless local calculator/formatter using existing tool contracts. Permit only that tool. Demonstrate valid and blocked/invalid invocations. | Schema checks, policy audit, typed result, no external side effects. | "Only a registered, validated, allowlisted operation runs." |</a:t>
            </a:r>
            <a:endParaRPr/>
          </a:p>
          <a:p xmlns:a="http://schemas.openxmlformats.org/drawingml/2006/main">
            <a:pPr marL="0" lvl="0" indent="0" algn="l">
              <a:lnSpc>
                <a:spcPct val="100000"/>
              </a:lnSpc>
              <a:spcBef>
                <a:spcPts val="0"/>
              </a:spcBef>
              <a:spcAft>
                <a:spcPts val="0"/>
              </a:spcAft>
              <a:buSzPts val="1400"/>
              <a:buNone/>
            </a:pPr>
            <a:r>
              <a:t>| 10. Generation/validation | Show selected evidence labels in request and parsed citations in response. Force malformed output separately in functional track. | Actual generated response or explicit failure, mapped source IDs, no fabricated fallback. | "A failed provider/schema call remains a failure." |</a:t>
            </a:r>
            <a:endParaRPr/>
          </a:p>
          <a:p xmlns:a="http://schemas.openxmlformats.org/drawingml/2006/main">
            <a:pPr marL="0" lvl="0" indent="0" algn="l">
              <a:lnSpc>
                <a:spcPct val="100000"/>
              </a:lnSpc>
              <a:spcBef>
                <a:spcPts val="0"/>
              </a:spcBef>
              <a:spcAft>
                <a:spcPts val="0"/>
              </a:spcAft>
              <a:buSzPts val="1400"/>
              <a:buNone/>
            </a:pPr>
            <a:r>
              <a:t>| 11. State/maintenance | Show version increment and task-appropriate memory changes. Await the existing maintenance barrier. | Pending/completed/failed counts and derived memory/graph changes. | "Admission and completed background work are separate facts." |</a:t>
            </a:r>
            <a:endParaRPr/>
          </a:p>
          <a:p xmlns:a="http://schemas.openxmlformats.org/drawingml/2006/main">
            <a:pPr marL="0" lvl="0" indent="0" algn="l">
              <a:lnSpc>
                <a:spcPct val="100000"/>
              </a:lnSpc>
              <a:spcBef>
                <a:spcPts val="0"/>
              </a:spcBef>
              <a:spcAft>
                <a:spcPts val="0"/>
              </a:spcAft>
              <a:buSzPts val="1400"/>
              <a:buNone/>
            </a:pPr>
            <a:r>
              <a:t>| 12. Export | Save manifest, per-request typed responses, traces, evaluator records, comparison, test output, checksums. | One reproducible demo bundle with no secrets. | "Every claim shown on screen has a corresponding saved artifact."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7.4 Fair comparisons: separate what changes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A, fixed-store retrieval/control: give simple RAG and full PRIMA identical ingested records and compatible backend/settings. Model-only remains the no-retrieval baseline. Its lack of private memory is the intended distinction. If a long-context baseline is desired, give it the same history explicitly and label it separately. This comparison isolates route-level differences more clearly than simultaneously changing memory admission.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B, historical memory formation: replay identical history using declared admission policies, then compare the resulting stores and later QA. This measures the combined effect of admission/maintenance/retrieval. Do not attribute its whole delta only to graph or affect.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C, component ablation: keep all else fixed and disable one component, such as affect modulation, graph retrieval, or reflection. Use development cases and freeze the final settings before held-out evaluation. Existing profiles are not automatically single-component ablations.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Keep model/revision, source IDs/order, seed, generation settings, context limit, retry policy, scorer, and environment fixed. Reset state/stores between variants to prevent earlier answers contaminating later ones. Use one dedicated runtime/store per principal for the demo. Record warm/cold model state when timing.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7.5 Comparison table to fill from actual runs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Item | Model only | Simple RAG | Full PRIMA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Primary answer | PENDING | PENDING | PENDING |</a:t>
            </a:r>
            <a:endParaRPr/>
          </a:p>
          <a:p xmlns:a="http://schemas.openxmlformats.org/drawingml/2006/main">
            <a:pPr marL="0" lvl="0" indent="0" algn="l">
              <a:lnSpc>
                <a:spcPct val="100000"/>
              </a:lnSpc>
              <a:spcBef>
                <a:spcPts val="0"/>
              </a:spcBef>
              <a:spcAft>
                <a:spcPts val="0"/>
              </a:spcAft>
              <a:buSzPts val="1400"/>
              <a:buNone/>
            </a:pPr>
            <a:r>
              <a:t>| Outcome: answered/abstained/failed | PENDING | PENDING | PENDING |</a:t>
            </a:r>
            <a:endParaRPr/>
          </a:p>
          <a:p xmlns:a="http://schemas.openxmlformats.org/drawingml/2006/main">
            <a:pPr marL="0" lvl="0" indent="0" algn="l">
              <a:lnSpc>
                <a:spcPct val="100000"/>
              </a:lnSpc>
              <a:spcBef>
                <a:spcPts val="0"/>
              </a:spcBef>
              <a:spcAft>
                <a:spcPts val="0"/>
              </a:spcAft>
              <a:buSzPts val="1400"/>
              <a:buNone/>
            </a:pPr>
            <a:r>
              <a:t>| Exact match / token F1 | PENDING | PENDING | PENDING |</a:t>
            </a:r>
            <a:endParaRPr/>
          </a:p>
          <a:p xmlns:a="http://schemas.openxmlformats.org/drawingml/2006/main">
            <a:pPr marL="0" lvl="0" indent="0" algn="l">
              <a:lnSpc>
                <a:spcPct val="100000"/>
              </a:lnSpc>
              <a:spcBef>
                <a:spcPts val="0"/>
              </a:spcBef>
              <a:spcAft>
                <a:spcPts val="0"/>
              </a:spcAft>
              <a:buSzPts val="1400"/>
              <a:buNone/>
            </a:pPr>
            <a:r>
              <a:t>| Supporting-source recall | N/A, no retrieval | PENDING | PENDING |</a:t>
            </a:r>
            <a:endParaRPr/>
          </a:p>
          <a:p xmlns:a="http://schemas.openxmlformats.org/drawingml/2006/main">
            <a:pPr marL="0" lvl="0" indent="0" algn="l">
              <a:lnSpc>
                <a:spcPct val="100000"/>
              </a:lnSpc>
              <a:spcBef>
                <a:spcPts val="0"/>
              </a:spcBef>
              <a:spcAft>
                <a:spcPts val="0"/>
              </a:spcAft>
              <a:buSzPts val="1400"/>
              <a:buNone/>
            </a:pPr>
            <a:r>
              <a:t>| Final evidence/citations | N/A or explicitly supplied context | PENDING | PENDING |</a:t>
            </a:r>
            <a:endParaRPr/>
          </a:p>
          <a:p xmlns:a="http://schemas.openxmlformats.org/drawingml/2006/main">
            <a:pPr marL="0" lvl="0" indent="0" algn="l">
              <a:lnSpc>
                <a:spcPct val="100000"/>
              </a:lnSpc>
              <a:spcBef>
                <a:spcPts val="0"/>
              </a:spcBef>
              <a:spcAft>
                <a:spcPts val="0"/>
              </a:spcAft>
              <a:buSzPts val="1400"/>
              <a:buNone/>
            </a:pPr>
            <a:r>
              <a:t>| Retrieval calls / returned sources | Expected zero retrieval | PENDING | PENDING |</a:t>
            </a:r>
            <a:endParaRPr/>
          </a:p>
          <a:p xmlns:a="http://schemas.openxmlformats.org/drawingml/2006/main">
            <a:pPr marL="0" lvl="0" indent="0" algn="l">
              <a:lnSpc>
                <a:spcPct val="100000"/>
              </a:lnSpc>
              <a:spcBef>
                <a:spcPts val="0"/>
              </a:spcBef>
              <a:spcAft>
                <a:spcPts val="0"/>
              </a:spcAft>
              <a:buSzPts val="1400"/>
              <a:buNone/>
            </a:pPr>
            <a:r>
              <a:t>| Model calls / tokens | PENDING | PENDING | PENDING |</a:t>
            </a:r>
            <a:endParaRPr/>
          </a:p>
          <a:p xmlns:a="http://schemas.openxmlformats.org/drawingml/2006/main">
            <a:pPr marL="0" lvl="0" indent="0" algn="l">
              <a:lnSpc>
                <a:spcPct val="100000"/>
              </a:lnSpc>
              <a:spcBef>
                <a:spcPts val="0"/>
              </a:spcBef>
              <a:spcAft>
                <a:spcPts val="0"/>
              </a:spcAft>
              <a:buSzPts val="1400"/>
              <a:buNone/>
            </a:pPr>
            <a:r>
              <a:t>| Wall latency, including barrier if reported | PENDING | PENDING | PENDING |</a:t>
            </a:r>
            <a:endParaRPr/>
          </a:p>
          <a:p xmlns:a="http://schemas.openxmlformats.org/drawingml/2006/main">
            <a:pPr marL="0" lvl="0" indent="0" algn="l">
              <a:lnSpc>
                <a:spcPct val="100000"/>
              </a:lnSpc>
              <a:spcBef>
                <a:spcPts val="0"/>
              </a:spcBef>
              <a:spcAft>
                <a:spcPts val="0"/>
              </a:spcAft>
              <a:buSzPts val="1400"/>
              <a:buNone/>
            </a:pPr>
            <a:r>
              <a:t>| Reflection/corrections | Route excluded | Route dependent | PENDING |</a:t>
            </a:r>
            <a:endParaRPr/>
          </a:p>
          <a:p xmlns:a="http://schemas.openxmlformats.org/drawingml/2006/main">
            <a:pPr marL="0" lvl="0" indent="0" algn="l">
              <a:lnSpc>
                <a:spcPct val="100000"/>
              </a:lnSpc>
              <a:spcBef>
                <a:spcPts val="0"/>
              </a:spcBef>
              <a:spcAft>
                <a:spcPts val="0"/>
              </a:spcAft>
              <a:buSzPts val="1400"/>
              <a:buNone/>
            </a:pPr>
            <a:r>
              <a:t>| Maintenance admitted/completed/failed | Task/policy dependent | Task/policy dependent | PENDING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expected answer belongs to scoring. Every cell above must come from saved outputs rather than a manually scripted demonstration narrative.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7.6 Demo orchestration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freeze synthetic scenario and evaluator-owned expectations</a:t>
            </a:r>
            <a:endParaRPr/>
          </a:p>
          <a:p xmlns:a="http://schemas.openxmlformats.org/drawingml/2006/main">
            <a:pPr marL="0" lvl="0" indent="0" algn="l">
              <a:lnSpc>
                <a:spcPct val="100000"/>
              </a:lnSpc>
              <a:spcBef>
                <a:spcPts val="0"/>
              </a:spcBef>
              <a:spcAft>
                <a:spcPts val="0"/>
              </a:spcAft>
              <a:buSzPts val="1400"/>
              <a:buNone/>
            </a:pPr>
            <a:r>
              <a:t>record source/model/environment identities</a:t>
            </a:r>
            <a:endParaRPr/>
          </a:p>
          <a:p xmlns:a="http://schemas.openxmlformats.org/drawingml/2006/main">
            <a:pPr marL="0" lvl="0" indent="0" algn="l">
              <a:lnSpc>
                <a:spcPct val="100000"/>
              </a:lnSpc>
              <a:spcBef>
                <a:spcPts val="0"/>
              </a:spcBef>
              <a:spcAft>
                <a:spcPts val="0"/>
              </a:spcAft>
              <a:buSzPts val="1400"/>
              <a:buNone/>
            </a:pPr>
            <a:r>
              <a:t>for profile in [model_only, simple_rag, prima_full]:</a:t>
            </a:r>
            <a:endParaRPr/>
          </a:p>
          <a:p xmlns:a="http://schemas.openxmlformats.org/drawingml/2006/main">
            <a:pPr marL="0" lvl="0" indent="0" algn="l">
              <a:lnSpc>
                <a:spcPct val="100000"/>
              </a:lnSpc>
              <a:spcBef>
                <a:spcPts val="0"/>
              </a:spcBef>
              <a:spcAft>
                <a:spcPts val="0"/>
              </a:spcAft>
              <a:buSzPts val="1400"/>
              <a:buNone/>
            </a:pPr>
            <a:r>
              <a:t>    create fresh isolated runtime, repository, and state</a:t>
            </a:r>
            <a:endParaRPr/>
          </a:p>
          <a:p xmlns:a="http://schemas.openxmlformats.org/drawingml/2006/main">
            <a:pPr marL="0" lvl="0" indent="0" algn="l">
              <a:lnSpc>
                <a:spcPct val="100000"/>
              </a:lnSpc>
              <a:spcBef>
                <a:spcPts val="0"/>
              </a:spcBef>
              <a:spcAft>
                <a:spcPts val="0"/>
              </a:spcAft>
              <a:buSzPts val="1400"/>
              <a:buNone/>
            </a:pPr>
            <a:r>
              <a:t>    seed the declared evidence protocol consistently</a:t>
            </a:r>
            <a:endParaRPr/>
          </a:p>
          <a:p xmlns:a="http://schemas.openxmlformats.org/drawingml/2006/main">
            <a:pPr marL="0" lvl="0" indent="0" algn="l">
              <a:lnSpc>
                <a:spcPct val="100000"/>
              </a:lnSpc>
              <a:spcBef>
                <a:spcPts val="0"/>
              </a:spcBef>
              <a:spcAft>
                <a:spcPts val="0"/>
              </a:spcAft>
              <a:buSzPts val="1400"/>
              <a:buNone/>
            </a:pPr>
            <a:r>
              <a:t>    execute identical QA request with fixed budgets/settings</a:t>
            </a:r>
            <a:endParaRPr/>
          </a:p>
          <a:p xmlns:a="http://schemas.openxmlformats.org/drawingml/2006/main">
            <a:pPr marL="0" lvl="0" indent="0" algn="l">
              <a:lnSpc>
                <a:spcPct val="100000"/>
              </a:lnSpc>
              <a:spcBef>
                <a:spcPts val="0"/>
              </a:spcBef>
              <a:spcAft>
                <a:spcPts val="0"/>
              </a:spcAft>
              <a:buSzPts val="1400"/>
              <a:buNone/>
            </a:pPr>
            <a:r>
              <a:t>    await task-appropriate maintenance boundary</a:t>
            </a:r>
            <a:endParaRPr/>
          </a:p>
          <a:p xmlns:a="http://schemas.openxmlformats.org/drawingml/2006/main">
            <a:pPr marL="0" lvl="0" indent="0" algn="l">
              <a:lnSpc>
                <a:spcPct val="100000"/>
              </a:lnSpc>
              <a:spcBef>
                <a:spcPts val="0"/>
              </a:spcBef>
              <a:spcAft>
                <a:spcPts val="0"/>
              </a:spcAft>
              <a:buSzPts val="1400"/>
              <a:buNone/>
            </a:pPr>
            <a:r>
              <a:t>    save full typed response and active backend diagnostics</a:t>
            </a:r>
            <a:endParaRPr/>
          </a:p>
          <a:p xmlns:a="http://schemas.openxmlformats.org/drawingml/2006/main">
            <a:pPr marL="0" lvl="0" indent="0" algn="l">
              <a:lnSpc>
                <a:spcPct val="100000"/>
              </a:lnSpc>
              <a:spcBef>
                <a:spcPts val="0"/>
              </a:spcBef>
              <a:spcAft>
                <a:spcPts val="0"/>
              </a:spcAft>
              <a:buSzPts val="1400"/>
              <a:buNone/>
            </a:pPr>
            <a:r>
              <a:t>    score only after inference using evaluator-owned gold</a:t>
            </a:r>
            <a:endParaRPr/>
          </a:p>
          <a:p xmlns:a="http://schemas.openxmlformats.org/drawingml/2006/main">
            <a:pPr marL="0" lvl="0" indent="0" algn="l">
              <a:lnSpc>
                <a:spcPct val="100000"/>
              </a:lnSpc>
              <a:spcBef>
                <a:spcPts val="0"/>
              </a:spcBef>
              <a:spcAft>
                <a:spcPts val="0"/>
              </a:spcAft>
              <a:buSzPts val="1400"/>
              <a:buNone/>
            </a:pPr>
            <a:r>
              <a:t>run scenario-specific ingestion/replay/affect/tool requests</a:t>
            </a:r>
            <a:endParaRPr/>
          </a:p>
          <a:p xmlns:a="http://schemas.openxmlformats.org/drawingml/2006/main">
            <a:pPr marL="0" lvl="0" indent="0" algn="l">
              <a:lnSpc>
                <a:spcPct val="100000"/>
              </a:lnSpc>
              <a:spcBef>
                <a:spcPts val="0"/>
              </a:spcBef>
              <a:spcAft>
                <a:spcPts val="0"/>
              </a:spcAft>
              <a:buSzPts val="1400"/>
              <a:buNone/>
            </a:pPr>
            <a:r>
              <a:t>run labeled deterministic reflection and fault cases separately</a:t>
            </a:r>
            <a:endParaRPr/>
          </a:p>
          <a:p xmlns:a="http://schemas.openxmlformats.org/drawingml/2006/main">
            <a:pPr marL="0" lvl="0" indent="0" algn="l">
              <a:lnSpc>
                <a:spcPct val="100000"/>
              </a:lnSpc>
              <a:spcBef>
                <a:spcPts val="0"/>
              </a:spcBef>
              <a:spcAft>
                <a:spcPts val="0"/>
              </a:spcAft>
              <a:buSzPts val="1400"/>
              <a:buNone/>
            </a:pPr>
            <a:r>
              <a:t>reconcile planned, executed, not-executed, and skipped components</a:t>
            </a:r>
            <a:endParaRPr/>
          </a:p>
          <a:p xmlns:a="http://schemas.openxmlformats.org/drawingml/2006/main">
            <a:pPr marL="0" lvl="0" indent="0" algn="l">
              <a:lnSpc>
                <a:spcPct val="100000"/>
              </a:lnSpc>
              <a:spcBef>
                <a:spcPts val="0"/>
              </a:spcBef>
              <a:spcAft>
                <a:spcPts val="0"/>
              </a:spcAft>
              <a:buSzPts val="1400"/>
              <a:buNone/>
            </a:pPr>
            <a:r>
              <a:t>validate artifact coverage and redact secrets</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7.7 Assertions required in the eventual runnable script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Unsupported routes/control overrides fail before unintended work.</a:t>
            </a:r>
            <a:endParaRPr/>
          </a:p>
          <a:p xmlns:a="http://schemas.openxmlformats.org/drawingml/2006/main">
            <a:pPr marL="0" lvl="0" indent="0" algn="l">
              <a:lnSpc>
                <a:spcPct val="100000"/>
              </a:lnSpc>
              <a:spcBef>
                <a:spcPts val="0"/>
              </a:spcBef>
              <a:spcAft>
                <a:spcPts val="0"/>
              </a:spcAft>
              <a:buSzPts val="1400"/>
              <a:buNone/>
            </a:pPr>
            <a:r>
              <a:t>2. Ingestion/replay does not call answer generation.</a:t>
            </a:r>
            <a:endParaRPr/>
          </a:p>
          <a:p xmlns:a="http://schemas.openxmlformats.org/drawingml/2006/main">
            <a:pPr marL="0" lvl="0" indent="0" algn="l">
              <a:lnSpc>
                <a:spcPct val="100000"/>
              </a:lnSpc>
              <a:spcBef>
                <a:spcPts val="0"/>
              </a:spcBef>
              <a:spcAft>
                <a:spcPts val="0"/>
              </a:spcAft>
              <a:buSzPts val="1400"/>
              <a:buNone/>
            </a:pPr>
            <a:r>
              <a:t>3. Model-only does not execute retrieval.</a:t>
            </a:r>
            <a:endParaRPr/>
          </a:p>
          <a:p xmlns:a="http://schemas.openxmlformats.org/drawingml/2006/main">
            <a:pPr marL="0" lvl="0" indent="0" algn="l">
              <a:lnSpc>
                <a:spcPct val="100000"/>
              </a:lnSpc>
              <a:spcBef>
                <a:spcPts val="0"/>
              </a:spcBef>
              <a:spcAft>
                <a:spcPts val="0"/>
              </a:spcAft>
              <a:buSzPts val="1400"/>
              <a:buNone/>
            </a:pPr>
            <a:r>
              <a:t>4. Simple RAG excludes temporal/graph responsibilities selected only by full routes.</a:t>
            </a:r>
            <a:endParaRPr/>
          </a:p>
          <a:p xmlns:a="http://schemas.openxmlformats.org/drawingml/2006/main">
            <a:pPr marL="0" lvl="0" indent="0" algn="l">
              <a:lnSpc>
                <a:spcPct val="100000"/>
              </a:lnSpc>
              <a:spcBef>
                <a:spcPts val="0"/>
              </a:spcBef>
              <a:spcAft>
                <a:spcPts val="0"/>
              </a:spcAft>
              <a:buSzPts val="1400"/>
              <a:buNone/>
            </a:pPr>
            <a:r>
              <a:t>5. Planned components reconcile with executed and not-executed components, and execution respects capabilities.</a:t>
            </a:r>
            <a:endParaRPr/>
          </a:p>
          <a:p xmlns:a="http://schemas.openxmlformats.org/drawingml/2006/main">
            <a:pPr marL="0" lvl="0" indent="0" algn="l">
              <a:lnSpc>
                <a:spcPct val="100000"/>
              </a:lnSpc>
              <a:spcBef>
                <a:spcPts val="0"/>
              </a:spcBef>
              <a:spcAft>
                <a:spcPts val="0"/>
              </a:spcAft>
              <a:buSzPts val="1400"/>
              <a:buNone/>
            </a:pPr>
            <a:r>
              <a:t>6. Returned citations map to the actual selected evidence.</a:t>
            </a:r>
            <a:endParaRPr/>
          </a:p>
          <a:p xmlns:a="http://schemas.openxmlformats.org/drawingml/2006/main">
            <a:pPr marL="0" lvl="0" indent="0" algn="l">
              <a:lnSpc>
                <a:spcPct val="100000"/>
              </a:lnSpc>
              <a:spcBef>
                <a:spcPts val="0"/>
              </a:spcBef>
              <a:spcAft>
                <a:spcPts val="0"/>
              </a:spcAft>
              <a:buSzPts val="1400"/>
              <a:buNone/>
            </a:pPr>
            <a:r>
              <a:t>7. Reflection respects correction budgets and records actual changes.</a:t>
            </a:r>
            <a:endParaRPr/>
          </a:p>
          <a:p xmlns:a="http://schemas.openxmlformats.org/drawingml/2006/main">
            <a:pPr marL="0" lvl="0" indent="0" algn="l">
              <a:lnSpc>
                <a:spcPct val="100000"/>
              </a:lnSpc>
              <a:spcBef>
                <a:spcPts val="0"/>
              </a:spcBef>
              <a:spcAft>
                <a:spcPts val="0"/>
              </a:spcAft>
              <a:buSzPts val="1400"/>
              <a:buNone/>
            </a:pPr>
            <a:r>
              <a:t>8. Tool requests do not accidentally invoke answer generation. Invalid/disallowed invocations remain blocked.</a:t>
            </a:r>
            <a:endParaRPr/>
          </a:p>
          <a:p xmlns:a="http://schemas.openxmlformats.org/drawingml/2006/main">
            <a:pPr marL="0" lvl="0" indent="0" algn="l">
              <a:lnSpc>
                <a:spcPct val="100000"/>
              </a:lnSpc>
              <a:spcBef>
                <a:spcPts val="0"/>
              </a:spcBef>
              <a:spcAft>
                <a:spcPts val="0"/>
              </a:spcAft>
              <a:buSzPts val="1400"/>
              <a:buNone/>
            </a:pPr>
            <a:r>
              <a:t>9. State versions and task-appropriate memory effects are observable.</a:t>
            </a:r>
            <a:endParaRPr/>
          </a:p>
          <a:p xmlns:a="http://schemas.openxmlformats.org/drawingml/2006/main">
            <a:pPr marL="0" lvl="0" indent="0" algn="l">
              <a:lnSpc>
                <a:spcPct val="100000"/>
              </a:lnSpc>
              <a:spcBef>
                <a:spcPts val="0"/>
              </a:spcBef>
              <a:spcAft>
                <a:spcPts val="0"/>
              </a:spcAft>
              <a:buSzPts val="1400"/>
              <a:buNone/>
            </a:pPr>
            <a:r>
              <a:t>10. Maintenance completes or reports failures explicitly before claiming a completed demo stage.</a:t>
            </a:r>
            <a:endParaRPr/>
          </a:p>
          <a:p xmlns:a="http://schemas.openxmlformats.org/drawingml/2006/main">
            <a:pPr marL="0" lvl="0" indent="0" algn="l">
              <a:lnSpc>
                <a:spcPct val="100000"/>
              </a:lnSpc>
              <a:spcBef>
                <a:spcPts val="0"/>
              </a:spcBef>
              <a:spcAft>
                <a:spcPts val="0"/>
              </a:spcAft>
              <a:buSzPts val="1400"/>
              <a:buNone/>
            </a:pPr>
            <a:r>
              <a:t>11. Provider/schema/store failures do not become invented success.</a:t>
            </a:r>
            <a:endParaRPr/>
          </a:p>
          <a:p xmlns:a="http://schemas.openxmlformats.org/drawingml/2006/main">
            <a:pPr marL="0" lvl="0" indent="0" algn="l">
              <a:lnSpc>
                <a:spcPct val="100000"/>
              </a:lnSpc>
              <a:spcBef>
                <a:spcPts val="0"/>
              </a:spcBef>
              <a:spcAft>
                <a:spcPts val="0"/>
              </a:spcAft>
              <a:buSzPts val="1400"/>
              <a:buNone/>
            </a:pPr>
            <a:r>
              <a:t>12. Gold expectations remain outside inference requests/prompts/telemetry.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scaffolding: runtime integration, release fault injection, correction tests, tool tests, maintenance barriers.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C:/PRIMA_next/tests/integration/test_runtime_pipeline.py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Demo sequence: reasoning and actions (1/2)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 Slide 7, part A: one-scenario demonstration and comparison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Status: proposed demo specification, not a completed demo run. The previous panel's suggestion is best satisfied with one connected scenario, several task-appropriate requests, and one exported evidence bundle. A single factual-QA request intentionally cannot exercise ingestion, conversation admission, emotion-only classification, and tool-only execution together.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7.1 Sample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synthetic data so the demo can be shared without exposing personal information. Freeze the wording and stable source IDs before rehearsal.</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Source ID | Synthetic history/document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S1 | [2026-09-01] Alex: I am working on Project Atlas. Mira is my project mentor. Please remember my important goal: finish the Atlas prototype. |</a:t>
            </a:r>
            <a:endParaRPr/>
          </a:p>
          <a:p xmlns:a="http://schemas.openxmlformats.org/drawingml/2006/main">
            <a:pPr marL="0" lvl="0" indent="0" algn="l">
              <a:lnSpc>
                <a:spcPct val="100000"/>
              </a:lnSpc>
              <a:spcBef>
                <a:spcPts val="0"/>
              </a:spcBef>
              <a:spcAft>
                <a:spcPts val="0"/>
              </a:spcAft>
              <a:buSzPts val="1400"/>
              <a:buNone/>
            </a:pPr>
            <a:r>
              <a:t>| S2 | [2026-09-03] Mira's office is in Pune. Mira reviews Project Atlas every Friday. |</a:t>
            </a:r>
            <a:endParaRPr/>
          </a:p>
          <a:p xmlns:a="http://schemas.openxmlformats.org/drawingml/2006/main">
            <a:pPr marL="0" lvl="0" indent="0" algn="l">
              <a:lnSpc>
                <a:spcPct val="100000"/>
              </a:lnSpc>
              <a:spcBef>
                <a:spcPts val="0"/>
              </a:spcBef>
              <a:spcAft>
                <a:spcPts val="0"/>
              </a:spcAft>
              <a:buSzPts val="1400"/>
              <a:buNone/>
            </a:pPr>
            <a:r>
              <a:t>| S3 | [2026-09-05] Alex: I used to prefer long explanations. I now prefer concise summaries for Project Atlas. |</a:t>
            </a:r>
            <a:endParaRPr/>
          </a:p>
          <a:p xmlns:a="http://schemas.openxmlformats.org/drawingml/2006/main">
            <a:pPr marL="0" lvl="0" indent="0" algn="l">
              <a:lnSpc>
                <a:spcPct val="100000"/>
              </a:lnSpc>
              <a:spcBef>
                <a:spcPts val="0"/>
              </a:spcBef>
              <a:spcAft>
                <a:spcPts val="0"/>
              </a:spcAft>
              <a:buSzPts val="1400"/>
              <a:buNone/>
            </a:pPr>
            <a:r>
              <a:t>| S4 | [2026-09-06] Alex: I feel anxious about the Project Atlas review because the prototype is unfinished. |</a:t>
            </a:r>
            <a:endParaRPr/>
          </a:p>
          <a:p xmlns:a="http://schemas.openxmlformats.org/drawingml/2006/main">
            <a:pPr marL="0" lvl="0" indent="0" algn="l">
              <a:lnSpc>
                <a:spcPct val="100000"/>
              </a:lnSpc>
              <a:spcBef>
                <a:spcPts val="0"/>
              </a:spcBef>
              <a:spcAft>
                <a:spcPts val="0"/>
              </a:spcAft>
              <a:buSzPts val="1400"/>
              <a:buNone/>
            </a:pPr>
            <a:r>
              <a:t>| S5 | [2026-09-07] Alex: The Project Atlas prototype passed its local checks. I feel excited and relieved. |</a:t>
            </a:r>
            <a:endParaRPr/>
          </a:p>
          <a:p xmlns:a="http://schemas.openxmlformats.org/drawingml/2006/main">
            <a:pPr marL="0" lvl="0" indent="0" algn="l">
              <a:lnSpc>
                <a:spcPct val="100000"/>
              </a:lnSpc>
              <a:spcBef>
                <a:spcPts val="0"/>
              </a:spcBef>
              <a:spcAft>
                <a:spcPts val="0"/>
              </a:spcAft>
              <a:buSzPts val="1400"/>
              <a:buNone/>
            </a:pPr>
            <a:r>
              <a:t>| D1 | Distractor: Dev mentors Project Beacon from Mumbai. Project Beacon is unrelated to Project Atlas. |</a:t>
            </a:r>
            <a:endParaRPr/>
          </a:p>
          <a:p xmlns:a="http://schemas.openxmlformats.org/drawingml/2006/main">
            <a:pPr marL="0" lvl="0" indent="0" algn="l">
              <a:lnSpc>
                <a:spcPct val="100000"/>
              </a:lnSpc>
              <a:spcBef>
                <a:spcPts val="0"/>
              </a:spcBef>
              <a:spcAft>
                <a:spcPts val="0"/>
              </a:spcAft>
              <a:buSzPts val="1400"/>
              <a:buNone/>
            </a:pPr>
            <a:r>
              <a:t>| D2 | Distractor: An older Atlas travel brochure mentions Mumbai. It does not describe Alex's mentor.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comparison question: "Which city is Alex's Project Atlas mentor based in?"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Evaluator-owned expected answer: Pune, supported by the Alex - Mira link in S1 and Mira - Pune link in S2. Do not add this expected answer or supporting-source IDs to model request metadata. The source records themselves may be supplied as ordinary evidence. S3 - S5 support temporal/preference/affect demonstrations in the same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current lexical sufficiency heuristic may reject this multi-hop wording despite relevant evidence. That is useful failure evidence. Record it, diagnose its stage, and avoid secretly simplifying only the PRIMA question to get a better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7.2 Two demonstration tracks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Functional track: deterministic injected provider and controlled branch conditions prove execution plumbing. Clearly label provider responses and forced uncertainty as synthetic. Existing tests already use injected responses and low-confidence estimators. This track can show error handling even when a real endpoint is unavailable.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Quality track: run the same frozen sample using a configured real model and record actual outputs. Use matched generation settings and native scoring. This track can provide an illustrative baseline comparison, but one scenario is insufficient for a research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Do not mix functional-track scripted answers into the real-model comparison table. A fake provider returning "Pune" does not show the model inferred the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7.3 Demo sequence, visible outputs, and narration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Step | Request / operation | What must be visible | What to say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0. Freeze setup | Record source commit, dependency versions, sample hash, seed, active backends/model/revision. Use isolated demo stores. | A manifest with real/fake provider label, source IDs, settings. | "This is the exact configuration and input used in all comparisons." |</a:t>
            </a:r>
            <a:endParaRPr/>
          </a:p>
          <a:p xmlns:a="http://schemas.openxmlformats.org/drawingml/2006/main">
            <a:pPr marL="0" lvl="0" indent="0" algn="l">
              <a:lnSpc>
                <a:spcPct val="100000"/>
              </a:lnSpc>
              <a:spcBef>
                <a:spcPts val="0"/>
              </a:spcBef>
              <a:spcAft>
                <a:spcPts val="0"/>
              </a:spcAft>
              <a:buSzPts val="1400"/>
              <a:buNone/>
            </a:pPr>
            <a:r>
              <a:t>| 1. Invalid request | Attempt an unsupported task/profile pair and reserved-control metadata. | Validation rejection / typed rejected result, no unintended execution. | "The public boundary rejects incompatible routes and control overrides." |</a:t>
            </a:r>
            <a:endParaRPr/>
          </a:p>
          <a:p xmlns:a="http://schemas.openxmlformats.org/drawingml/2006/main">
            <a:pPr marL="0" lvl="0" indent="0" algn="l">
              <a:lnSpc>
                <a:spcPct val="100000"/>
              </a:lnSpc>
              <a:spcBef>
                <a:spcPts val="0"/>
              </a:spcBef>
              <a:spcAft>
                <a:spcPts val="0"/>
              </a:spcAft>
              <a:buSzPts val="1400"/>
              <a:buNone/>
            </a:pPr>
            <a:r>
              <a:t>| 2. Ingest history | Submit frozen records through DOCUMENT_INGESTION/INGESTION_ONLY for a fixed-store comparison. Separately replay history through HISTORICAL_REPLAY/PRIMA_FULL to show admission/state behavior. | Memory IDs, content provenance, task outcome, no LLM calls during ingestion/replay. | "Explicit ingestion and selective historical admission are different experiments." |</a:t>
            </a:r>
            <a:endParaRPr/>
          </a:p>
          <a:p xmlns:a="http://schemas.openxmlformats.org/drawingml/2006/main">
            <a:pPr marL="0" lvl="0" indent="0" algn="l">
              <a:lnSpc>
                <a:spcPct val="100000"/>
              </a:lnSpc>
              <a:spcBef>
                <a:spcPts val="0"/>
              </a:spcBef>
              <a:spcAft>
                <a:spcPts val="0"/>
              </a:spcAft>
              <a:buSzPts val="1400"/>
              <a:buNone/>
            </a:pPr>
            <a:r>
              <a:t>| 3. Affect | Process S4 then S5 using the same dedicated scenario session. Optionally classify one utterance through AFFECT_ONLY. | Label scores, PAD, temporal momentum/history, active classifier. | "These are text-derived emotional signals. Here is how the signal changes over time." |</a:t>
            </a:r>
            <a:endParaRPr/>
          </a:p>
          <a:p xmlns:a="http://schemas.openxmlformats.org/drawingml/2006/main">
            <a:pPr marL="0" lvl="0" indent="0" algn="l">
              <a:lnSpc>
                <a:spcPct val="100000"/>
              </a:lnSpc>
              <a:spcBef>
                <a:spcPts val="0"/>
              </a:spcBef>
              <a:spcAft>
                <a:spcPts val="0"/>
              </a:spcAft>
              <a:buSzPts val="1400"/>
              <a:buNone/>
            </a:pPr>
            <a:r>
              <a:t>| 4. Admission | Inspect scores/reasons from replay and an additional low-value synthetic turn. | Stored/rejected decision, threshold, component scores, before/after memory counts. | "Useful-memory selection is explicit. We report the actual outcome instead of assuming every turn is stored." |</a:t>
            </a:r>
            <a:endParaRPr/>
          </a:p>
          <a:p xmlns:a="http://schemas.openxmlformats.org/drawingml/2006/main">
            <a:pPr marL="0" lvl="0" indent="0" algn="l">
              <a:lnSpc>
                <a:spcPct val="100000"/>
              </a:lnSpc>
              <a:spcBef>
                <a:spcPts val="0"/>
              </a:spcBef>
              <a:spcAft>
                <a:spcPts val="0"/>
              </a:spcAft>
              <a:buSzPts val="1400"/>
              <a:buNone/>
            </a:pPr>
            <a:r>
              <a:t>| 5. Three-profile QA | Ask the identical primary question in fresh, equivalent runtime/store instances for each profile. | Output, abstention/failure, retrieved IDs, calls, latency, tokens. | "We change the profile while fixing the model and experiment conditions." |</a:t>
            </a:r>
            <a:endParaRPr/>
          </a:p>
          <a:p xmlns:a="http://schemas.openxmlformats.org/drawingml/2006/main">
            <a:pPr marL="0" lvl="0" indent="0" algn="l">
              <a:lnSpc>
                <a:spcPct val="100000"/>
              </a:lnSpc>
              <a:spcBef>
                <a:spcPts val="0"/>
              </a:spcBef>
              <a:spcAft>
                <a:spcPts val="0"/>
              </a:spcAft>
              <a:buSzPts val="1400"/>
              <a:buNone/>
            </a:pPr>
            <a:r>
              <a:t>| 6. Retrieval internals | Expand full-route trace for the QA request. | Dense/sparse/temporal/graph candidates, fusion/reranking, compressed context/source mapping, insufficiency reason if any. | "This shows where the evidence entered or disappeared." |</a:t>
            </a:r>
            <a:endParaRPr/>
          </a:p>
          <a:p xmlns:a="http://schemas.openxmlformats.org/drawingml/2006/main">
            <a:pPr marL="0" lvl="0" indent="0" algn="l">
              <a:lnSpc>
                <a:spcPct val="100000"/>
              </a:lnSpc>
              <a:spcBef>
                <a:spcPts val="0"/>
              </a:spcBef>
              <a:spcAft>
                <a:spcPts val="0"/>
              </a:spcAft>
              <a:buSzPts val="1400"/>
              <a:buNone/>
            </a:pPr>
            <a:r>
              <a:t>| 7. Planning/world/uncertainty | Inspect a full conversation or tool route in this story. | Plan/actions, symbolic predictions, available confidence signals, selected decision. | "These deterministic components expose intended actions and uncertainty. Their scores need empirical validation." |</a:t>
            </a:r>
            <a:endParaRPr/>
          </a:p>
          <a:p xmlns:a="http://schemas.openxmlformats.org/drawingml/2006/main">
            <a:pPr marL="0" lvl="0" indent="0" algn="l">
              <a:lnSpc>
                <a:spcPct val="100000"/>
              </a:lnSpc>
              <a:spcBef>
                <a:spcPts val="0"/>
              </a:spcBef>
              <a:spcAft>
                <a:spcPts val="0"/>
              </a:spcAft>
              <a:buSzPts val="1400"/>
              <a:buNone/>
            </a:pPr>
            <a:r>
              <a:t>| 8. Reflection | First show natural trigger behavior. In functional track only, inject a low-confidence/wrong-query condition with a visible label. | Advice, budget check, accepted/rejected correction, before/after query/evidence/output. | "This branch is conditional. The injected case proves the correction mechanism, not natural-model improvement." |</a:t>
            </a:r>
            <a:endParaRPr/>
          </a:p>
          <a:p xmlns:a="http://schemas.openxmlformats.org/drawingml/2006/main">
            <a:pPr marL="0" lvl="0" indent="0" algn="l">
              <a:lnSpc>
                <a:spcPct val="100000"/>
              </a:lnSpc>
              <a:spcBef>
                <a:spcPts val="0"/>
              </a:spcBef>
              <a:spcAft>
                <a:spcPts val="0"/>
              </a:spcAft>
              <a:buSzPts val="1400"/>
              <a:buNone/>
            </a:pPr>
            <a:r>
              <a:t>| 9. Controlled tool | Register a harmless local calculator/formatter using existing tool contracts. Permit only that tool. Demonstrate valid and blocked/invalid invocations. | Schema checks, policy audit, typed result, no external side effects. | "Only a registered, validated, allowlisted operation runs." |</a:t>
            </a:r>
            <a:endParaRPr/>
          </a:p>
          <a:p xmlns:a="http://schemas.openxmlformats.org/drawingml/2006/main">
            <a:pPr marL="0" lvl="0" indent="0" algn="l">
              <a:lnSpc>
                <a:spcPct val="100000"/>
              </a:lnSpc>
              <a:spcBef>
                <a:spcPts val="0"/>
              </a:spcBef>
              <a:spcAft>
                <a:spcPts val="0"/>
              </a:spcAft>
              <a:buSzPts val="1400"/>
              <a:buNone/>
            </a:pPr>
            <a:r>
              <a:t>| 10. Generation/validation | Show selected evidence labels in request and parsed citations in response. Force malformed output separately in functional track. | Actual generated response or explicit failure, mapped source IDs, no fabricated fallback. | "A failed provider/schema call remains a failure." |</a:t>
            </a:r>
            <a:endParaRPr/>
          </a:p>
          <a:p xmlns:a="http://schemas.openxmlformats.org/drawingml/2006/main">
            <a:pPr marL="0" lvl="0" indent="0" algn="l">
              <a:lnSpc>
                <a:spcPct val="100000"/>
              </a:lnSpc>
              <a:spcBef>
                <a:spcPts val="0"/>
              </a:spcBef>
              <a:spcAft>
                <a:spcPts val="0"/>
              </a:spcAft>
              <a:buSzPts val="1400"/>
              <a:buNone/>
            </a:pPr>
            <a:r>
              <a:t>| 11. State/maintenance | Show version increment and task-appropriate memory changes. Await the existing maintenance barrier. | Pending/completed/failed counts and derived memory/graph changes. | "Admission and completed background work are separate facts." |</a:t>
            </a:r>
            <a:endParaRPr/>
          </a:p>
          <a:p xmlns:a="http://schemas.openxmlformats.org/drawingml/2006/main">
            <a:pPr marL="0" lvl="0" indent="0" algn="l">
              <a:lnSpc>
                <a:spcPct val="100000"/>
              </a:lnSpc>
              <a:spcBef>
                <a:spcPts val="0"/>
              </a:spcBef>
              <a:spcAft>
                <a:spcPts val="0"/>
              </a:spcAft>
              <a:buSzPts val="1400"/>
              <a:buNone/>
            </a:pPr>
            <a:r>
              <a:t>| 12. Export | Save manifest, per-request typed responses, traces, evaluator records, comparison, test output, checksums. | One reproducible demo bundle with no secrets. | "Every claim shown on screen has a corresponding saved artifact."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7.4 Fair comparisons: separate what changes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A, fixed-store retrieval/control: give simple RAG and full PRIMA identical ingested records and compatible backend/settings. Model-only remains the no-retrieval baseline. Its lack of private memory is the intended distinction. If a long-context baseline is desired, give it the same history explicitly and label it separately. This comparison isolates route-level differences more clearly than simultaneously changing memory admission.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B, historical memory formation: replay identical history using declared admission policies, then compare the resulting stores and later QA. This measures the combined effect of admission/maintenance/retrieval. Do not attribute its whole delta only to graph or affect.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C, component ablation: keep all else fixed and disable one component, such as affect modulation, graph retrieval, or reflection. Use development cases and freeze the final settings before held-out evaluation. Existing profiles are not automatically single-component ablations.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Keep model/revision, source IDs/order, seed, generation settings, context limit, retry policy, scorer, and environment fixed. Reset state/stores between variants to prevent earlier answers contaminating later ones. Use one dedicated runtime/store per principal for the demo. Record warm/cold model state when timing.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7.5 Comparison table to fill from actual runs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Item | Model only | Simple RAG | Full PRIMA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Primary answer | PENDING | PENDING | PENDING |</a:t>
            </a:r>
            <a:endParaRPr/>
          </a:p>
          <a:p xmlns:a="http://schemas.openxmlformats.org/drawingml/2006/main">
            <a:pPr marL="0" lvl="0" indent="0" algn="l">
              <a:lnSpc>
                <a:spcPct val="100000"/>
              </a:lnSpc>
              <a:spcBef>
                <a:spcPts val="0"/>
              </a:spcBef>
              <a:spcAft>
                <a:spcPts val="0"/>
              </a:spcAft>
              <a:buSzPts val="1400"/>
              <a:buNone/>
            </a:pPr>
            <a:r>
              <a:t>| Outcome: answered/abstained/failed | PENDING | PENDING | PENDING |</a:t>
            </a:r>
            <a:endParaRPr/>
          </a:p>
          <a:p xmlns:a="http://schemas.openxmlformats.org/drawingml/2006/main">
            <a:pPr marL="0" lvl="0" indent="0" algn="l">
              <a:lnSpc>
                <a:spcPct val="100000"/>
              </a:lnSpc>
              <a:spcBef>
                <a:spcPts val="0"/>
              </a:spcBef>
              <a:spcAft>
                <a:spcPts val="0"/>
              </a:spcAft>
              <a:buSzPts val="1400"/>
              <a:buNone/>
            </a:pPr>
            <a:r>
              <a:t>| Exact match / token F1 | PENDING | PENDING | PENDING |</a:t>
            </a:r>
            <a:endParaRPr/>
          </a:p>
          <a:p xmlns:a="http://schemas.openxmlformats.org/drawingml/2006/main">
            <a:pPr marL="0" lvl="0" indent="0" algn="l">
              <a:lnSpc>
                <a:spcPct val="100000"/>
              </a:lnSpc>
              <a:spcBef>
                <a:spcPts val="0"/>
              </a:spcBef>
              <a:spcAft>
                <a:spcPts val="0"/>
              </a:spcAft>
              <a:buSzPts val="1400"/>
              <a:buNone/>
            </a:pPr>
            <a:r>
              <a:t>| Supporting-source recall | N/A, no retrieval | PENDING | PENDING |</a:t>
            </a:r>
            <a:endParaRPr/>
          </a:p>
          <a:p xmlns:a="http://schemas.openxmlformats.org/drawingml/2006/main">
            <a:pPr marL="0" lvl="0" indent="0" algn="l">
              <a:lnSpc>
                <a:spcPct val="100000"/>
              </a:lnSpc>
              <a:spcBef>
                <a:spcPts val="0"/>
              </a:spcBef>
              <a:spcAft>
                <a:spcPts val="0"/>
              </a:spcAft>
              <a:buSzPts val="1400"/>
              <a:buNone/>
            </a:pPr>
            <a:r>
              <a:t>| Final evidence/citations | N/A or explicitly supplied context | PENDING | PENDING |</a:t>
            </a:r>
            <a:endParaRPr/>
          </a:p>
          <a:p xmlns:a="http://schemas.openxmlformats.org/drawingml/2006/main">
            <a:pPr marL="0" lvl="0" indent="0" algn="l">
              <a:lnSpc>
                <a:spcPct val="100000"/>
              </a:lnSpc>
              <a:spcBef>
                <a:spcPts val="0"/>
              </a:spcBef>
              <a:spcAft>
                <a:spcPts val="0"/>
              </a:spcAft>
              <a:buSzPts val="1400"/>
              <a:buNone/>
            </a:pPr>
            <a:r>
              <a:t>| Retrieval calls / returned sources | Expected zero retrieval | PENDING | PENDING |</a:t>
            </a:r>
            <a:endParaRPr/>
          </a:p>
          <a:p xmlns:a="http://schemas.openxmlformats.org/drawingml/2006/main">
            <a:pPr marL="0" lvl="0" indent="0" algn="l">
              <a:lnSpc>
                <a:spcPct val="100000"/>
              </a:lnSpc>
              <a:spcBef>
                <a:spcPts val="0"/>
              </a:spcBef>
              <a:spcAft>
                <a:spcPts val="0"/>
              </a:spcAft>
              <a:buSzPts val="1400"/>
              <a:buNone/>
            </a:pPr>
            <a:r>
              <a:t>| Model calls / tokens | PENDING | PENDING | PENDING |</a:t>
            </a:r>
            <a:endParaRPr/>
          </a:p>
          <a:p xmlns:a="http://schemas.openxmlformats.org/drawingml/2006/main">
            <a:pPr marL="0" lvl="0" indent="0" algn="l">
              <a:lnSpc>
                <a:spcPct val="100000"/>
              </a:lnSpc>
              <a:spcBef>
                <a:spcPts val="0"/>
              </a:spcBef>
              <a:spcAft>
                <a:spcPts val="0"/>
              </a:spcAft>
              <a:buSzPts val="1400"/>
              <a:buNone/>
            </a:pPr>
            <a:r>
              <a:t>| Wall latency, including barrier if reported | PENDING | PENDING | PENDING |</a:t>
            </a:r>
            <a:endParaRPr/>
          </a:p>
          <a:p xmlns:a="http://schemas.openxmlformats.org/drawingml/2006/main">
            <a:pPr marL="0" lvl="0" indent="0" algn="l">
              <a:lnSpc>
                <a:spcPct val="100000"/>
              </a:lnSpc>
              <a:spcBef>
                <a:spcPts val="0"/>
              </a:spcBef>
              <a:spcAft>
                <a:spcPts val="0"/>
              </a:spcAft>
              <a:buSzPts val="1400"/>
              <a:buNone/>
            </a:pPr>
            <a:r>
              <a:t>| Reflection/corrections | Route excluded | Route dependent | PENDING |</a:t>
            </a:r>
            <a:endParaRPr/>
          </a:p>
          <a:p xmlns:a="http://schemas.openxmlformats.org/drawingml/2006/main">
            <a:pPr marL="0" lvl="0" indent="0" algn="l">
              <a:lnSpc>
                <a:spcPct val="100000"/>
              </a:lnSpc>
              <a:spcBef>
                <a:spcPts val="0"/>
              </a:spcBef>
              <a:spcAft>
                <a:spcPts val="0"/>
              </a:spcAft>
              <a:buSzPts val="1400"/>
              <a:buNone/>
            </a:pPr>
            <a:r>
              <a:t>| Maintenance admitted/completed/failed | Task/policy dependent | Task/policy dependent | PENDING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expected answer belongs to scoring. Every cell above must come from saved outputs rather than a manually scripted demonstration narrative.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7.6 Demo orchestration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freeze synthetic scenario and evaluator-owned expectations</a:t>
            </a:r>
            <a:endParaRPr/>
          </a:p>
          <a:p xmlns:a="http://schemas.openxmlformats.org/drawingml/2006/main">
            <a:pPr marL="0" lvl="0" indent="0" algn="l">
              <a:lnSpc>
                <a:spcPct val="100000"/>
              </a:lnSpc>
              <a:spcBef>
                <a:spcPts val="0"/>
              </a:spcBef>
              <a:spcAft>
                <a:spcPts val="0"/>
              </a:spcAft>
              <a:buSzPts val="1400"/>
              <a:buNone/>
            </a:pPr>
            <a:r>
              <a:t>record source/model/environment identities</a:t>
            </a:r>
            <a:endParaRPr/>
          </a:p>
          <a:p xmlns:a="http://schemas.openxmlformats.org/drawingml/2006/main">
            <a:pPr marL="0" lvl="0" indent="0" algn="l">
              <a:lnSpc>
                <a:spcPct val="100000"/>
              </a:lnSpc>
              <a:spcBef>
                <a:spcPts val="0"/>
              </a:spcBef>
              <a:spcAft>
                <a:spcPts val="0"/>
              </a:spcAft>
              <a:buSzPts val="1400"/>
              <a:buNone/>
            </a:pPr>
            <a:r>
              <a:t>for profile in [model_only, simple_rag, prima_full]:</a:t>
            </a:r>
            <a:endParaRPr/>
          </a:p>
          <a:p xmlns:a="http://schemas.openxmlformats.org/drawingml/2006/main">
            <a:pPr marL="0" lvl="0" indent="0" algn="l">
              <a:lnSpc>
                <a:spcPct val="100000"/>
              </a:lnSpc>
              <a:spcBef>
                <a:spcPts val="0"/>
              </a:spcBef>
              <a:spcAft>
                <a:spcPts val="0"/>
              </a:spcAft>
              <a:buSzPts val="1400"/>
              <a:buNone/>
            </a:pPr>
            <a:r>
              <a:t>    create fresh isolated runtime, repository, and state</a:t>
            </a:r>
            <a:endParaRPr/>
          </a:p>
          <a:p xmlns:a="http://schemas.openxmlformats.org/drawingml/2006/main">
            <a:pPr marL="0" lvl="0" indent="0" algn="l">
              <a:lnSpc>
                <a:spcPct val="100000"/>
              </a:lnSpc>
              <a:spcBef>
                <a:spcPts val="0"/>
              </a:spcBef>
              <a:spcAft>
                <a:spcPts val="0"/>
              </a:spcAft>
              <a:buSzPts val="1400"/>
              <a:buNone/>
            </a:pPr>
            <a:r>
              <a:t>    seed the declared evidence protocol consistently</a:t>
            </a:r>
            <a:endParaRPr/>
          </a:p>
          <a:p xmlns:a="http://schemas.openxmlformats.org/drawingml/2006/main">
            <a:pPr marL="0" lvl="0" indent="0" algn="l">
              <a:lnSpc>
                <a:spcPct val="100000"/>
              </a:lnSpc>
              <a:spcBef>
                <a:spcPts val="0"/>
              </a:spcBef>
              <a:spcAft>
                <a:spcPts val="0"/>
              </a:spcAft>
              <a:buSzPts val="1400"/>
              <a:buNone/>
            </a:pPr>
            <a:r>
              <a:t>    execute identical QA request with fixed budgets/settings</a:t>
            </a:r>
            <a:endParaRPr/>
          </a:p>
          <a:p xmlns:a="http://schemas.openxmlformats.org/drawingml/2006/main">
            <a:pPr marL="0" lvl="0" indent="0" algn="l">
              <a:lnSpc>
                <a:spcPct val="100000"/>
              </a:lnSpc>
              <a:spcBef>
                <a:spcPts val="0"/>
              </a:spcBef>
              <a:spcAft>
                <a:spcPts val="0"/>
              </a:spcAft>
              <a:buSzPts val="1400"/>
              <a:buNone/>
            </a:pPr>
            <a:r>
              <a:t>    await task-appropriate maintenance boundary</a:t>
            </a:r>
            <a:endParaRPr/>
          </a:p>
          <a:p xmlns:a="http://schemas.openxmlformats.org/drawingml/2006/main">
            <a:pPr marL="0" lvl="0" indent="0" algn="l">
              <a:lnSpc>
                <a:spcPct val="100000"/>
              </a:lnSpc>
              <a:spcBef>
                <a:spcPts val="0"/>
              </a:spcBef>
              <a:spcAft>
                <a:spcPts val="0"/>
              </a:spcAft>
              <a:buSzPts val="1400"/>
              <a:buNone/>
            </a:pPr>
            <a:r>
              <a:t>    save full typed response and active backend diagnostics</a:t>
            </a:r>
            <a:endParaRPr/>
          </a:p>
          <a:p xmlns:a="http://schemas.openxmlformats.org/drawingml/2006/main">
            <a:pPr marL="0" lvl="0" indent="0" algn="l">
              <a:lnSpc>
                <a:spcPct val="100000"/>
              </a:lnSpc>
              <a:spcBef>
                <a:spcPts val="0"/>
              </a:spcBef>
              <a:spcAft>
                <a:spcPts val="0"/>
              </a:spcAft>
              <a:buSzPts val="1400"/>
              <a:buNone/>
            </a:pPr>
            <a:r>
              <a:t>    score only after inference using evaluator-owned gold</a:t>
            </a:r>
            <a:endParaRPr/>
          </a:p>
          <a:p xmlns:a="http://schemas.openxmlformats.org/drawingml/2006/main">
            <a:pPr marL="0" lvl="0" indent="0" algn="l">
              <a:lnSpc>
                <a:spcPct val="100000"/>
              </a:lnSpc>
              <a:spcBef>
                <a:spcPts val="0"/>
              </a:spcBef>
              <a:spcAft>
                <a:spcPts val="0"/>
              </a:spcAft>
              <a:buSzPts val="1400"/>
              <a:buNone/>
            </a:pPr>
            <a:r>
              <a:t>run scenario-specific ingestion/replay/affect/tool requests</a:t>
            </a:r>
            <a:endParaRPr/>
          </a:p>
          <a:p xmlns:a="http://schemas.openxmlformats.org/drawingml/2006/main">
            <a:pPr marL="0" lvl="0" indent="0" algn="l">
              <a:lnSpc>
                <a:spcPct val="100000"/>
              </a:lnSpc>
              <a:spcBef>
                <a:spcPts val="0"/>
              </a:spcBef>
              <a:spcAft>
                <a:spcPts val="0"/>
              </a:spcAft>
              <a:buSzPts val="1400"/>
              <a:buNone/>
            </a:pPr>
            <a:r>
              <a:t>run labeled deterministic reflection and fault cases separately</a:t>
            </a:r>
            <a:endParaRPr/>
          </a:p>
          <a:p xmlns:a="http://schemas.openxmlformats.org/drawingml/2006/main">
            <a:pPr marL="0" lvl="0" indent="0" algn="l">
              <a:lnSpc>
                <a:spcPct val="100000"/>
              </a:lnSpc>
              <a:spcBef>
                <a:spcPts val="0"/>
              </a:spcBef>
              <a:spcAft>
                <a:spcPts val="0"/>
              </a:spcAft>
              <a:buSzPts val="1400"/>
              <a:buNone/>
            </a:pPr>
            <a:r>
              <a:t>reconcile planned, executed, not-executed, and skipped components</a:t>
            </a:r>
            <a:endParaRPr/>
          </a:p>
          <a:p xmlns:a="http://schemas.openxmlformats.org/drawingml/2006/main">
            <a:pPr marL="0" lvl="0" indent="0" algn="l">
              <a:lnSpc>
                <a:spcPct val="100000"/>
              </a:lnSpc>
              <a:spcBef>
                <a:spcPts val="0"/>
              </a:spcBef>
              <a:spcAft>
                <a:spcPts val="0"/>
              </a:spcAft>
              <a:buSzPts val="1400"/>
              <a:buNone/>
            </a:pPr>
            <a:r>
              <a:t>validate artifact coverage and redact secrets</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7.7 Assertions required in the eventual runnable script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Unsupported routes/control overrides fail before unintended work.</a:t>
            </a:r>
            <a:endParaRPr/>
          </a:p>
          <a:p xmlns:a="http://schemas.openxmlformats.org/drawingml/2006/main">
            <a:pPr marL="0" lvl="0" indent="0" algn="l">
              <a:lnSpc>
                <a:spcPct val="100000"/>
              </a:lnSpc>
              <a:spcBef>
                <a:spcPts val="0"/>
              </a:spcBef>
              <a:spcAft>
                <a:spcPts val="0"/>
              </a:spcAft>
              <a:buSzPts val="1400"/>
              <a:buNone/>
            </a:pPr>
            <a:r>
              <a:t>2. Ingestion/replay does not call answer generation.</a:t>
            </a:r>
            <a:endParaRPr/>
          </a:p>
          <a:p xmlns:a="http://schemas.openxmlformats.org/drawingml/2006/main">
            <a:pPr marL="0" lvl="0" indent="0" algn="l">
              <a:lnSpc>
                <a:spcPct val="100000"/>
              </a:lnSpc>
              <a:spcBef>
                <a:spcPts val="0"/>
              </a:spcBef>
              <a:spcAft>
                <a:spcPts val="0"/>
              </a:spcAft>
              <a:buSzPts val="1400"/>
              <a:buNone/>
            </a:pPr>
            <a:r>
              <a:t>3. Model-only does not execute retrieval.</a:t>
            </a:r>
            <a:endParaRPr/>
          </a:p>
          <a:p xmlns:a="http://schemas.openxmlformats.org/drawingml/2006/main">
            <a:pPr marL="0" lvl="0" indent="0" algn="l">
              <a:lnSpc>
                <a:spcPct val="100000"/>
              </a:lnSpc>
              <a:spcBef>
                <a:spcPts val="0"/>
              </a:spcBef>
              <a:spcAft>
                <a:spcPts val="0"/>
              </a:spcAft>
              <a:buSzPts val="1400"/>
              <a:buNone/>
            </a:pPr>
            <a:r>
              <a:t>4. Simple RAG excludes temporal/graph responsibilities selected only by full routes.</a:t>
            </a:r>
            <a:endParaRPr/>
          </a:p>
          <a:p xmlns:a="http://schemas.openxmlformats.org/drawingml/2006/main">
            <a:pPr marL="0" lvl="0" indent="0" algn="l">
              <a:lnSpc>
                <a:spcPct val="100000"/>
              </a:lnSpc>
              <a:spcBef>
                <a:spcPts val="0"/>
              </a:spcBef>
              <a:spcAft>
                <a:spcPts val="0"/>
              </a:spcAft>
              <a:buSzPts val="1400"/>
              <a:buNone/>
            </a:pPr>
            <a:r>
              <a:t>5. Planned components reconcile with executed and not-executed components, and execution respects capabilities.</a:t>
            </a:r>
            <a:endParaRPr/>
          </a:p>
          <a:p xmlns:a="http://schemas.openxmlformats.org/drawingml/2006/main">
            <a:pPr marL="0" lvl="0" indent="0" algn="l">
              <a:lnSpc>
                <a:spcPct val="100000"/>
              </a:lnSpc>
              <a:spcBef>
                <a:spcPts val="0"/>
              </a:spcBef>
              <a:spcAft>
                <a:spcPts val="0"/>
              </a:spcAft>
              <a:buSzPts val="1400"/>
              <a:buNone/>
            </a:pPr>
            <a:r>
              <a:t>6. Returned citations map to the actual selected evidence.</a:t>
            </a:r>
            <a:endParaRPr/>
          </a:p>
          <a:p xmlns:a="http://schemas.openxmlformats.org/drawingml/2006/main">
            <a:pPr marL="0" lvl="0" indent="0" algn="l">
              <a:lnSpc>
                <a:spcPct val="100000"/>
              </a:lnSpc>
              <a:spcBef>
                <a:spcPts val="0"/>
              </a:spcBef>
              <a:spcAft>
                <a:spcPts val="0"/>
              </a:spcAft>
              <a:buSzPts val="1400"/>
              <a:buNone/>
            </a:pPr>
            <a:r>
              <a:t>7. Reflection respects correction budgets and records actual changes.</a:t>
            </a:r>
            <a:endParaRPr/>
          </a:p>
          <a:p xmlns:a="http://schemas.openxmlformats.org/drawingml/2006/main">
            <a:pPr marL="0" lvl="0" indent="0" algn="l">
              <a:lnSpc>
                <a:spcPct val="100000"/>
              </a:lnSpc>
              <a:spcBef>
                <a:spcPts val="0"/>
              </a:spcBef>
              <a:spcAft>
                <a:spcPts val="0"/>
              </a:spcAft>
              <a:buSzPts val="1400"/>
              <a:buNone/>
            </a:pPr>
            <a:r>
              <a:t>8. Tool requests do not accidentally invoke answer generation. Invalid/disallowed invocations remain blocked.</a:t>
            </a:r>
            <a:endParaRPr/>
          </a:p>
          <a:p xmlns:a="http://schemas.openxmlformats.org/drawingml/2006/main">
            <a:pPr marL="0" lvl="0" indent="0" algn="l">
              <a:lnSpc>
                <a:spcPct val="100000"/>
              </a:lnSpc>
              <a:spcBef>
                <a:spcPts val="0"/>
              </a:spcBef>
              <a:spcAft>
                <a:spcPts val="0"/>
              </a:spcAft>
              <a:buSzPts val="1400"/>
              <a:buNone/>
            </a:pPr>
            <a:r>
              <a:t>9. State versions and task-appropriate memory effects are observable.</a:t>
            </a:r>
            <a:endParaRPr/>
          </a:p>
          <a:p xmlns:a="http://schemas.openxmlformats.org/drawingml/2006/main">
            <a:pPr marL="0" lvl="0" indent="0" algn="l">
              <a:lnSpc>
                <a:spcPct val="100000"/>
              </a:lnSpc>
              <a:spcBef>
                <a:spcPts val="0"/>
              </a:spcBef>
              <a:spcAft>
                <a:spcPts val="0"/>
              </a:spcAft>
              <a:buSzPts val="1400"/>
              <a:buNone/>
            </a:pPr>
            <a:r>
              <a:t>10. Maintenance completes or reports failures explicitly before claiming a completed demo stage.</a:t>
            </a:r>
            <a:endParaRPr/>
          </a:p>
          <a:p xmlns:a="http://schemas.openxmlformats.org/drawingml/2006/main">
            <a:pPr marL="0" lvl="0" indent="0" algn="l">
              <a:lnSpc>
                <a:spcPct val="100000"/>
              </a:lnSpc>
              <a:spcBef>
                <a:spcPts val="0"/>
              </a:spcBef>
              <a:spcAft>
                <a:spcPts val="0"/>
              </a:spcAft>
              <a:buSzPts val="1400"/>
              <a:buNone/>
            </a:pPr>
            <a:r>
              <a:t>11. Provider/schema/store failures do not become invented success.</a:t>
            </a:r>
            <a:endParaRPr/>
          </a:p>
          <a:p xmlns:a="http://schemas.openxmlformats.org/drawingml/2006/main">
            <a:pPr marL="0" lvl="0" indent="0" algn="l">
              <a:lnSpc>
                <a:spcPct val="100000"/>
              </a:lnSpc>
              <a:spcBef>
                <a:spcPts val="0"/>
              </a:spcBef>
              <a:spcAft>
                <a:spcPts val="0"/>
              </a:spcAft>
              <a:buSzPts val="1400"/>
              <a:buNone/>
            </a:pPr>
            <a:r>
              <a:t>12. Gold expectations remain outside inference requests/prompts/telemetry.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scaffolding: runtime integration, release fault injection, correction tests, tool tests, maintenance barriers.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C:/PRIMA_next/tests/integration/test_runtime_pipeline.py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Demo sequence: reasoning and actions (2/2)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 Slide 7, part A: one-scenario demonstration and comparison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Status: proposed demo specification, not a completed demo run. The previous panel's suggestion is best satisfied with one connected scenario, several task-appropriate requests, and one exported evidence bundle. A single factual-QA request intentionally cannot exercise ingestion, conversation admission, emotion-only classification, and tool-only execution together.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7.1 Sample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synthetic data so the demo can be shared without exposing personal information. Freeze the wording and stable source IDs before rehearsal.</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Source ID | Synthetic history/document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S1 | [2026-09-01] Alex: I am working on Project Atlas. Mira is my project mentor. Please remember my important goal: finish the Atlas prototype. |</a:t>
            </a:r>
            <a:endParaRPr/>
          </a:p>
          <a:p xmlns:a="http://schemas.openxmlformats.org/drawingml/2006/main">
            <a:pPr marL="0" lvl="0" indent="0" algn="l">
              <a:lnSpc>
                <a:spcPct val="100000"/>
              </a:lnSpc>
              <a:spcBef>
                <a:spcPts val="0"/>
              </a:spcBef>
              <a:spcAft>
                <a:spcPts val="0"/>
              </a:spcAft>
              <a:buSzPts val="1400"/>
              <a:buNone/>
            </a:pPr>
            <a:r>
              <a:t>| S2 | [2026-09-03] Mira's office is in Pune. Mira reviews Project Atlas every Friday. |</a:t>
            </a:r>
            <a:endParaRPr/>
          </a:p>
          <a:p xmlns:a="http://schemas.openxmlformats.org/drawingml/2006/main">
            <a:pPr marL="0" lvl="0" indent="0" algn="l">
              <a:lnSpc>
                <a:spcPct val="100000"/>
              </a:lnSpc>
              <a:spcBef>
                <a:spcPts val="0"/>
              </a:spcBef>
              <a:spcAft>
                <a:spcPts val="0"/>
              </a:spcAft>
              <a:buSzPts val="1400"/>
              <a:buNone/>
            </a:pPr>
            <a:r>
              <a:t>| S3 | [2026-09-05] Alex: I used to prefer long explanations. I now prefer concise summaries for Project Atlas. |</a:t>
            </a:r>
            <a:endParaRPr/>
          </a:p>
          <a:p xmlns:a="http://schemas.openxmlformats.org/drawingml/2006/main">
            <a:pPr marL="0" lvl="0" indent="0" algn="l">
              <a:lnSpc>
                <a:spcPct val="100000"/>
              </a:lnSpc>
              <a:spcBef>
                <a:spcPts val="0"/>
              </a:spcBef>
              <a:spcAft>
                <a:spcPts val="0"/>
              </a:spcAft>
              <a:buSzPts val="1400"/>
              <a:buNone/>
            </a:pPr>
            <a:r>
              <a:t>| S4 | [2026-09-06] Alex: I feel anxious about the Project Atlas review because the prototype is unfinished. |</a:t>
            </a:r>
            <a:endParaRPr/>
          </a:p>
          <a:p xmlns:a="http://schemas.openxmlformats.org/drawingml/2006/main">
            <a:pPr marL="0" lvl="0" indent="0" algn="l">
              <a:lnSpc>
                <a:spcPct val="100000"/>
              </a:lnSpc>
              <a:spcBef>
                <a:spcPts val="0"/>
              </a:spcBef>
              <a:spcAft>
                <a:spcPts val="0"/>
              </a:spcAft>
              <a:buSzPts val="1400"/>
              <a:buNone/>
            </a:pPr>
            <a:r>
              <a:t>| S5 | [2026-09-07] Alex: The Project Atlas prototype passed its local checks. I feel excited and relieved. |</a:t>
            </a:r>
            <a:endParaRPr/>
          </a:p>
          <a:p xmlns:a="http://schemas.openxmlformats.org/drawingml/2006/main">
            <a:pPr marL="0" lvl="0" indent="0" algn="l">
              <a:lnSpc>
                <a:spcPct val="100000"/>
              </a:lnSpc>
              <a:spcBef>
                <a:spcPts val="0"/>
              </a:spcBef>
              <a:spcAft>
                <a:spcPts val="0"/>
              </a:spcAft>
              <a:buSzPts val="1400"/>
              <a:buNone/>
            </a:pPr>
            <a:r>
              <a:t>| D1 | Distractor: Dev mentors Project Beacon from Mumbai. Project Beacon is unrelated to Project Atlas. |</a:t>
            </a:r>
            <a:endParaRPr/>
          </a:p>
          <a:p xmlns:a="http://schemas.openxmlformats.org/drawingml/2006/main">
            <a:pPr marL="0" lvl="0" indent="0" algn="l">
              <a:lnSpc>
                <a:spcPct val="100000"/>
              </a:lnSpc>
              <a:spcBef>
                <a:spcPts val="0"/>
              </a:spcBef>
              <a:spcAft>
                <a:spcPts val="0"/>
              </a:spcAft>
              <a:buSzPts val="1400"/>
              <a:buNone/>
            </a:pPr>
            <a:r>
              <a:t>| D2 | Distractor: An older Atlas travel brochure mentions Mumbai. It does not describe Alex's mentor.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comparison question: "Which city is Alex's Project Atlas mentor based in?"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Evaluator-owned expected answer: Pune, supported by the Alex - Mira link in S1 and Mira - Pune link in S2. Do not add this expected answer or supporting-source IDs to model request metadata. The source records themselves may be supplied as ordinary evidence. S3 - S5 support temporal/preference/affect demonstrations in the same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current lexical sufficiency heuristic may reject this multi-hop wording despite relevant evidence. That is useful failure evidence. Record it, diagnose its stage, and avoid secretly simplifying only the PRIMA question to get a better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7.2 Two demonstration tracks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Functional track: deterministic injected provider and controlled branch conditions prove execution plumbing. Clearly label provider responses and forced uncertainty as synthetic. Existing tests already use injected responses and low-confidence estimators. This track can show error handling even when a real endpoint is unavailable.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Quality track: run the same frozen sample using a configured real model and record actual outputs. Use matched generation settings and native scoring. This track can provide an illustrative baseline comparison, but one scenario is insufficient for a research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Do not mix functional-track scripted answers into the real-model comparison table. A fake provider returning "Pune" does not show the model inferred the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7.3 Demo sequence, visible outputs, and narration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Step | Request / operation | What must be visible | What to say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0. Freeze setup | Record source commit, dependency versions, sample hash, seed, active backends/model/revision. Use isolated demo stores. | A manifest with real/fake provider label, source IDs, settings. | "This is the exact configuration and input used in all comparisons." |</a:t>
            </a:r>
            <a:endParaRPr/>
          </a:p>
          <a:p xmlns:a="http://schemas.openxmlformats.org/drawingml/2006/main">
            <a:pPr marL="0" lvl="0" indent="0" algn="l">
              <a:lnSpc>
                <a:spcPct val="100000"/>
              </a:lnSpc>
              <a:spcBef>
                <a:spcPts val="0"/>
              </a:spcBef>
              <a:spcAft>
                <a:spcPts val="0"/>
              </a:spcAft>
              <a:buSzPts val="1400"/>
              <a:buNone/>
            </a:pPr>
            <a:r>
              <a:t>| 1. Invalid request | Attempt an unsupported task/profile pair and reserved-control metadata. | Validation rejection / typed rejected result, no unintended execution. | "The public boundary rejects incompatible routes and control overrides." |</a:t>
            </a:r>
            <a:endParaRPr/>
          </a:p>
          <a:p xmlns:a="http://schemas.openxmlformats.org/drawingml/2006/main">
            <a:pPr marL="0" lvl="0" indent="0" algn="l">
              <a:lnSpc>
                <a:spcPct val="100000"/>
              </a:lnSpc>
              <a:spcBef>
                <a:spcPts val="0"/>
              </a:spcBef>
              <a:spcAft>
                <a:spcPts val="0"/>
              </a:spcAft>
              <a:buSzPts val="1400"/>
              <a:buNone/>
            </a:pPr>
            <a:r>
              <a:t>| 2. Ingest history | Submit frozen records through DOCUMENT_INGESTION/INGESTION_ONLY for a fixed-store comparison. Separately replay history through HISTORICAL_REPLAY/PRIMA_FULL to show admission/state behavior. | Memory IDs, content provenance, task outcome, no LLM calls during ingestion/replay. | "Explicit ingestion and selective historical admission are different experiments." |</a:t>
            </a:r>
            <a:endParaRPr/>
          </a:p>
          <a:p xmlns:a="http://schemas.openxmlformats.org/drawingml/2006/main">
            <a:pPr marL="0" lvl="0" indent="0" algn="l">
              <a:lnSpc>
                <a:spcPct val="100000"/>
              </a:lnSpc>
              <a:spcBef>
                <a:spcPts val="0"/>
              </a:spcBef>
              <a:spcAft>
                <a:spcPts val="0"/>
              </a:spcAft>
              <a:buSzPts val="1400"/>
              <a:buNone/>
            </a:pPr>
            <a:r>
              <a:t>| 3. Affect | Process S4 then S5 using the same dedicated scenario session. Optionally classify one utterance through AFFECT_ONLY. | Label scores, PAD, temporal momentum/history, active classifier. | "These are text-derived emotional signals. Here is how the signal changes over time." |</a:t>
            </a:r>
            <a:endParaRPr/>
          </a:p>
          <a:p xmlns:a="http://schemas.openxmlformats.org/drawingml/2006/main">
            <a:pPr marL="0" lvl="0" indent="0" algn="l">
              <a:lnSpc>
                <a:spcPct val="100000"/>
              </a:lnSpc>
              <a:spcBef>
                <a:spcPts val="0"/>
              </a:spcBef>
              <a:spcAft>
                <a:spcPts val="0"/>
              </a:spcAft>
              <a:buSzPts val="1400"/>
              <a:buNone/>
            </a:pPr>
            <a:r>
              <a:t>| 4. Admission | Inspect scores/reasons from replay and an additional low-value synthetic turn. | Stored/rejected decision, threshold, component scores, before/after memory counts. | "Useful-memory selection is explicit. We report the actual outcome instead of assuming every turn is stored." |</a:t>
            </a:r>
            <a:endParaRPr/>
          </a:p>
          <a:p xmlns:a="http://schemas.openxmlformats.org/drawingml/2006/main">
            <a:pPr marL="0" lvl="0" indent="0" algn="l">
              <a:lnSpc>
                <a:spcPct val="100000"/>
              </a:lnSpc>
              <a:spcBef>
                <a:spcPts val="0"/>
              </a:spcBef>
              <a:spcAft>
                <a:spcPts val="0"/>
              </a:spcAft>
              <a:buSzPts val="1400"/>
              <a:buNone/>
            </a:pPr>
            <a:r>
              <a:t>| 5. Three-profile QA | Ask the identical primary question in fresh, equivalent runtime/store instances for each profile. | Output, abstention/failure, retrieved IDs, calls, latency, tokens. | "We change the profile while fixing the model and experiment conditions." |</a:t>
            </a:r>
            <a:endParaRPr/>
          </a:p>
          <a:p xmlns:a="http://schemas.openxmlformats.org/drawingml/2006/main">
            <a:pPr marL="0" lvl="0" indent="0" algn="l">
              <a:lnSpc>
                <a:spcPct val="100000"/>
              </a:lnSpc>
              <a:spcBef>
                <a:spcPts val="0"/>
              </a:spcBef>
              <a:spcAft>
                <a:spcPts val="0"/>
              </a:spcAft>
              <a:buSzPts val="1400"/>
              <a:buNone/>
            </a:pPr>
            <a:r>
              <a:t>| 6. Retrieval internals | Expand full-route trace for the QA request. | Dense/sparse/temporal/graph candidates, fusion/reranking, compressed context/source mapping, insufficiency reason if any. | "This shows where the evidence entered or disappeared." |</a:t>
            </a:r>
            <a:endParaRPr/>
          </a:p>
          <a:p xmlns:a="http://schemas.openxmlformats.org/drawingml/2006/main">
            <a:pPr marL="0" lvl="0" indent="0" algn="l">
              <a:lnSpc>
                <a:spcPct val="100000"/>
              </a:lnSpc>
              <a:spcBef>
                <a:spcPts val="0"/>
              </a:spcBef>
              <a:spcAft>
                <a:spcPts val="0"/>
              </a:spcAft>
              <a:buSzPts val="1400"/>
              <a:buNone/>
            </a:pPr>
            <a:r>
              <a:t>| 7. Planning/world/uncertainty | Inspect a full conversation or tool route in this story. | Plan/actions, symbolic predictions, available confidence signals, selected decision. | "These deterministic components expose intended actions and uncertainty. Their scores need empirical validation." |</a:t>
            </a:r>
            <a:endParaRPr/>
          </a:p>
          <a:p xmlns:a="http://schemas.openxmlformats.org/drawingml/2006/main">
            <a:pPr marL="0" lvl="0" indent="0" algn="l">
              <a:lnSpc>
                <a:spcPct val="100000"/>
              </a:lnSpc>
              <a:spcBef>
                <a:spcPts val="0"/>
              </a:spcBef>
              <a:spcAft>
                <a:spcPts val="0"/>
              </a:spcAft>
              <a:buSzPts val="1400"/>
              <a:buNone/>
            </a:pPr>
            <a:r>
              <a:t>| 8. Reflection | First show natural trigger behavior. In functional track only, inject a low-confidence/wrong-query condition with a visible label. | Advice, budget check, accepted/rejected correction, before/after query/evidence/output. | "This branch is conditional. The injected case proves the correction mechanism, not natural-model improvement." |</a:t>
            </a:r>
            <a:endParaRPr/>
          </a:p>
          <a:p xmlns:a="http://schemas.openxmlformats.org/drawingml/2006/main">
            <a:pPr marL="0" lvl="0" indent="0" algn="l">
              <a:lnSpc>
                <a:spcPct val="100000"/>
              </a:lnSpc>
              <a:spcBef>
                <a:spcPts val="0"/>
              </a:spcBef>
              <a:spcAft>
                <a:spcPts val="0"/>
              </a:spcAft>
              <a:buSzPts val="1400"/>
              <a:buNone/>
            </a:pPr>
            <a:r>
              <a:t>| 9. Controlled tool | Register a harmless local calculator/formatter using existing tool contracts. Permit only that tool. Demonstrate valid and blocked/invalid invocations. | Schema checks, policy audit, typed result, no external side effects. | "Only a registered, validated, allowlisted operation runs." |</a:t>
            </a:r>
            <a:endParaRPr/>
          </a:p>
          <a:p xmlns:a="http://schemas.openxmlformats.org/drawingml/2006/main">
            <a:pPr marL="0" lvl="0" indent="0" algn="l">
              <a:lnSpc>
                <a:spcPct val="100000"/>
              </a:lnSpc>
              <a:spcBef>
                <a:spcPts val="0"/>
              </a:spcBef>
              <a:spcAft>
                <a:spcPts val="0"/>
              </a:spcAft>
              <a:buSzPts val="1400"/>
              <a:buNone/>
            </a:pPr>
            <a:r>
              <a:t>| 10. Generation/validation | Show selected evidence labels in request and parsed citations in response. Force malformed output separately in functional track. | Actual generated response or explicit failure, mapped source IDs, no fabricated fallback. | "A failed provider/schema call remains a failure." |</a:t>
            </a:r>
            <a:endParaRPr/>
          </a:p>
          <a:p xmlns:a="http://schemas.openxmlformats.org/drawingml/2006/main">
            <a:pPr marL="0" lvl="0" indent="0" algn="l">
              <a:lnSpc>
                <a:spcPct val="100000"/>
              </a:lnSpc>
              <a:spcBef>
                <a:spcPts val="0"/>
              </a:spcBef>
              <a:spcAft>
                <a:spcPts val="0"/>
              </a:spcAft>
              <a:buSzPts val="1400"/>
              <a:buNone/>
            </a:pPr>
            <a:r>
              <a:t>| 11. State/maintenance | Show version increment and task-appropriate memory changes. Await the existing maintenance barrier. | Pending/completed/failed counts and derived memory/graph changes. | "Admission and completed background work are separate facts." |</a:t>
            </a:r>
            <a:endParaRPr/>
          </a:p>
          <a:p xmlns:a="http://schemas.openxmlformats.org/drawingml/2006/main">
            <a:pPr marL="0" lvl="0" indent="0" algn="l">
              <a:lnSpc>
                <a:spcPct val="100000"/>
              </a:lnSpc>
              <a:spcBef>
                <a:spcPts val="0"/>
              </a:spcBef>
              <a:spcAft>
                <a:spcPts val="0"/>
              </a:spcAft>
              <a:buSzPts val="1400"/>
              <a:buNone/>
            </a:pPr>
            <a:r>
              <a:t>| 12. Export | Save manifest, per-request typed responses, traces, evaluator records, comparison, test output, checksums. | One reproducible demo bundle with no secrets. | "Every claim shown on screen has a corresponding saved artifact."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7.4 Fair comparisons: separate what changes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A, fixed-store retrieval/control: give simple RAG and full PRIMA identical ingested records and compatible backend/settings. Model-only remains the no-retrieval baseline. Its lack of private memory is the intended distinction. If a long-context baseline is desired, give it the same history explicitly and label it separately. This comparison isolates route-level differences more clearly than simultaneously changing memory admission.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B, historical memory formation: replay identical history using declared admission policies, then compare the resulting stores and later QA. This measures the combined effect of admission/maintenance/retrieval. Do not attribute its whole delta only to graph or affect.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C, component ablation: keep all else fixed and disable one component, such as affect modulation, graph retrieval, or reflection. Use development cases and freeze the final settings before held-out evaluation. Existing profiles are not automatically single-component ablations.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Keep model/revision, source IDs/order, seed, generation settings, context limit, retry policy, scorer, and environment fixed. Reset state/stores between variants to prevent earlier answers contaminating later ones. Use one dedicated runtime/store per principal for the demo. Record warm/cold model state when timing.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7.5 Comparison table to fill from actual runs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Item | Model only | Simple RAG | Full PRIMA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Primary answer | PENDING | PENDING | PENDING |</a:t>
            </a:r>
            <a:endParaRPr/>
          </a:p>
          <a:p xmlns:a="http://schemas.openxmlformats.org/drawingml/2006/main">
            <a:pPr marL="0" lvl="0" indent="0" algn="l">
              <a:lnSpc>
                <a:spcPct val="100000"/>
              </a:lnSpc>
              <a:spcBef>
                <a:spcPts val="0"/>
              </a:spcBef>
              <a:spcAft>
                <a:spcPts val="0"/>
              </a:spcAft>
              <a:buSzPts val="1400"/>
              <a:buNone/>
            </a:pPr>
            <a:r>
              <a:t>| Outcome: answered/abstained/failed | PENDING | PENDING | PENDING |</a:t>
            </a:r>
            <a:endParaRPr/>
          </a:p>
          <a:p xmlns:a="http://schemas.openxmlformats.org/drawingml/2006/main">
            <a:pPr marL="0" lvl="0" indent="0" algn="l">
              <a:lnSpc>
                <a:spcPct val="100000"/>
              </a:lnSpc>
              <a:spcBef>
                <a:spcPts val="0"/>
              </a:spcBef>
              <a:spcAft>
                <a:spcPts val="0"/>
              </a:spcAft>
              <a:buSzPts val="1400"/>
              <a:buNone/>
            </a:pPr>
            <a:r>
              <a:t>| Exact match / token F1 | PENDING | PENDING | PENDING |</a:t>
            </a:r>
            <a:endParaRPr/>
          </a:p>
          <a:p xmlns:a="http://schemas.openxmlformats.org/drawingml/2006/main">
            <a:pPr marL="0" lvl="0" indent="0" algn="l">
              <a:lnSpc>
                <a:spcPct val="100000"/>
              </a:lnSpc>
              <a:spcBef>
                <a:spcPts val="0"/>
              </a:spcBef>
              <a:spcAft>
                <a:spcPts val="0"/>
              </a:spcAft>
              <a:buSzPts val="1400"/>
              <a:buNone/>
            </a:pPr>
            <a:r>
              <a:t>| Supporting-source recall | N/A, no retrieval | PENDING | PENDING |</a:t>
            </a:r>
            <a:endParaRPr/>
          </a:p>
          <a:p xmlns:a="http://schemas.openxmlformats.org/drawingml/2006/main">
            <a:pPr marL="0" lvl="0" indent="0" algn="l">
              <a:lnSpc>
                <a:spcPct val="100000"/>
              </a:lnSpc>
              <a:spcBef>
                <a:spcPts val="0"/>
              </a:spcBef>
              <a:spcAft>
                <a:spcPts val="0"/>
              </a:spcAft>
              <a:buSzPts val="1400"/>
              <a:buNone/>
            </a:pPr>
            <a:r>
              <a:t>| Final evidence/citations | N/A or explicitly supplied context | PENDING | PENDING |</a:t>
            </a:r>
            <a:endParaRPr/>
          </a:p>
          <a:p xmlns:a="http://schemas.openxmlformats.org/drawingml/2006/main">
            <a:pPr marL="0" lvl="0" indent="0" algn="l">
              <a:lnSpc>
                <a:spcPct val="100000"/>
              </a:lnSpc>
              <a:spcBef>
                <a:spcPts val="0"/>
              </a:spcBef>
              <a:spcAft>
                <a:spcPts val="0"/>
              </a:spcAft>
              <a:buSzPts val="1400"/>
              <a:buNone/>
            </a:pPr>
            <a:r>
              <a:t>| Retrieval calls / returned sources | Expected zero retrieval | PENDING | PENDING |</a:t>
            </a:r>
            <a:endParaRPr/>
          </a:p>
          <a:p xmlns:a="http://schemas.openxmlformats.org/drawingml/2006/main">
            <a:pPr marL="0" lvl="0" indent="0" algn="l">
              <a:lnSpc>
                <a:spcPct val="100000"/>
              </a:lnSpc>
              <a:spcBef>
                <a:spcPts val="0"/>
              </a:spcBef>
              <a:spcAft>
                <a:spcPts val="0"/>
              </a:spcAft>
              <a:buSzPts val="1400"/>
              <a:buNone/>
            </a:pPr>
            <a:r>
              <a:t>| Model calls / tokens | PENDING | PENDING | PENDING |</a:t>
            </a:r>
            <a:endParaRPr/>
          </a:p>
          <a:p xmlns:a="http://schemas.openxmlformats.org/drawingml/2006/main">
            <a:pPr marL="0" lvl="0" indent="0" algn="l">
              <a:lnSpc>
                <a:spcPct val="100000"/>
              </a:lnSpc>
              <a:spcBef>
                <a:spcPts val="0"/>
              </a:spcBef>
              <a:spcAft>
                <a:spcPts val="0"/>
              </a:spcAft>
              <a:buSzPts val="1400"/>
              <a:buNone/>
            </a:pPr>
            <a:r>
              <a:t>| Wall latency, including barrier if reported | PENDING | PENDING | PENDING |</a:t>
            </a:r>
            <a:endParaRPr/>
          </a:p>
          <a:p xmlns:a="http://schemas.openxmlformats.org/drawingml/2006/main">
            <a:pPr marL="0" lvl="0" indent="0" algn="l">
              <a:lnSpc>
                <a:spcPct val="100000"/>
              </a:lnSpc>
              <a:spcBef>
                <a:spcPts val="0"/>
              </a:spcBef>
              <a:spcAft>
                <a:spcPts val="0"/>
              </a:spcAft>
              <a:buSzPts val="1400"/>
              <a:buNone/>
            </a:pPr>
            <a:r>
              <a:t>| Reflection/corrections | Route excluded | Route dependent | PENDING |</a:t>
            </a:r>
            <a:endParaRPr/>
          </a:p>
          <a:p xmlns:a="http://schemas.openxmlformats.org/drawingml/2006/main">
            <a:pPr marL="0" lvl="0" indent="0" algn="l">
              <a:lnSpc>
                <a:spcPct val="100000"/>
              </a:lnSpc>
              <a:spcBef>
                <a:spcPts val="0"/>
              </a:spcBef>
              <a:spcAft>
                <a:spcPts val="0"/>
              </a:spcAft>
              <a:buSzPts val="1400"/>
              <a:buNone/>
            </a:pPr>
            <a:r>
              <a:t>| Maintenance admitted/completed/failed | Task/policy dependent | Task/policy dependent | PENDING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expected answer belongs to scoring. Every cell above must come from saved outputs rather than a manually scripted demonstration narrative.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7.6 Demo orchestration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freeze synthetic scenario and evaluator-owned expectations</a:t>
            </a:r>
            <a:endParaRPr/>
          </a:p>
          <a:p xmlns:a="http://schemas.openxmlformats.org/drawingml/2006/main">
            <a:pPr marL="0" lvl="0" indent="0" algn="l">
              <a:lnSpc>
                <a:spcPct val="100000"/>
              </a:lnSpc>
              <a:spcBef>
                <a:spcPts val="0"/>
              </a:spcBef>
              <a:spcAft>
                <a:spcPts val="0"/>
              </a:spcAft>
              <a:buSzPts val="1400"/>
              <a:buNone/>
            </a:pPr>
            <a:r>
              <a:t>record source/model/environment identities</a:t>
            </a:r>
            <a:endParaRPr/>
          </a:p>
          <a:p xmlns:a="http://schemas.openxmlformats.org/drawingml/2006/main">
            <a:pPr marL="0" lvl="0" indent="0" algn="l">
              <a:lnSpc>
                <a:spcPct val="100000"/>
              </a:lnSpc>
              <a:spcBef>
                <a:spcPts val="0"/>
              </a:spcBef>
              <a:spcAft>
                <a:spcPts val="0"/>
              </a:spcAft>
              <a:buSzPts val="1400"/>
              <a:buNone/>
            </a:pPr>
            <a:r>
              <a:t>for profile in [model_only, simple_rag, prima_full]:</a:t>
            </a:r>
            <a:endParaRPr/>
          </a:p>
          <a:p xmlns:a="http://schemas.openxmlformats.org/drawingml/2006/main">
            <a:pPr marL="0" lvl="0" indent="0" algn="l">
              <a:lnSpc>
                <a:spcPct val="100000"/>
              </a:lnSpc>
              <a:spcBef>
                <a:spcPts val="0"/>
              </a:spcBef>
              <a:spcAft>
                <a:spcPts val="0"/>
              </a:spcAft>
              <a:buSzPts val="1400"/>
              <a:buNone/>
            </a:pPr>
            <a:r>
              <a:t>    create fresh isolated runtime, repository, and state</a:t>
            </a:r>
            <a:endParaRPr/>
          </a:p>
          <a:p xmlns:a="http://schemas.openxmlformats.org/drawingml/2006/main">
            <a:pPr marL="0" lvl="0" indent="0" algn="l">
              <a:lnSpc>
                <a:spcPct val="100000"/>
              </a:lnSpc>
              <a:spcBef>
                <a:spcPts val="0"/>
              </a:spcBef>
              <a:spcAft>
                <a:spcPts val="0"/>
              </a:spcAft>
              <a:buSzPts val="1400"/>
              <a:buNone/>
            </a:pPr>
            <a:r>
              <a:t>    seed the declared evidence protocol consistently</a:t>
            </a:r>
            <a:endParaRPr/>
          </a:p>
          <a:p xmlns:a="http://schemas.openxmlformats.org/drawingml/2006/main">
            <a:pPr marL="0" lvl="0" indent="0" algn="l">
              <a:lnSpc>
                <a:spcPct val="100000"/>
              </a:lnSpc>
              <a:spcBef>
                <a:spcPts val="0"/>
              </a:spcBef>
              <a:spcAft>
                <a:spcPts val="0"/>
              </a:spcAft>
              <a:buSzPts val="1400"/>
              <a:buNone/>
            </a:pPr>
            <a:r>
              <a:t>    execute identical QA request with fixed budgets/settings</a:t>
            </a:r>
            <a:endParaRPr/>
          </a:p>
          <a:p xmlns:a="http://schemas.openxmlformats.org/drawingml/2006/main">
            <a:pPr marL="0" lvl="0" indent="0" algn="l">
              <a:lnSpc>
                <a:spcPct val="100000"/>
              </a:lnSpc>
              <a:spcBef>
                <a:spcPts val="0"/>
              </a:spcBef>
              <a:spcAft>
                <a:spcPts val="0"/>
              </a:spcAft>
              <a:buSzPts val="1400"/>
              <a:buNone/>
            </a:pPr>
            <a:r>
              <a:t>    await task-appropriate maintenance boundary</a:t>
            </a:r>
            <a:endParaRPr/>
          </a:p>
          <a:p xmlns:a="http://schemas.openxmlformats.org/drawingml/2006/main">
            <a:pPr marL="0" lvl="0" indent="0" algn="l">
              <a:lnSpc>
                <a:spcPct val="100000"/>
              </a:lnSpc>
              <a:spcBef>
                <a:spcPts val="0"/>
              </a:spcBef>
              <a:spcAft>
                <a:spcPts val="0"/>
              </a:spcAft>
              <a:buSzPts val="1400"/>
              <a:buNone/>
            </a:pPr>
            <a:r>
              <a:t>    save full typed response and active backend diagnostics</a:t>
            </a:r>
            <a:endParaRPr/>
          </a:p>
          <a:p xmlns:a="http://schemas.openxmlformats.org/drawingml/2006/main">
            <a:pPr marL="0" lvl="0" indent="0" algn="l">
              <a:lnSpc>
                <a:spcPct val="100000"/>
              </a:lnSpc>
              <a:spcBef>
                <a:spcPts val="0"/>
              </a:spcBef>
              <a:spcAft>
                <a:spcPts val="0"/>
              </a:spcAft>
              <a:buSzPts val="1400"/>
              <a:buNone/>
            </a:pPr>
            <a:r>
              <a:t>    score only after inference using evaluator-owned gold</a:t>
            </a:r>
            <a:endParaRPr/>
          </a:p>
          <a:p xmlns:a="http://schemas.openxmlformats.org/drawingml/2006/main">
            <a:pPr marL="0" lvl="0" indent="0" algn="l">
              <a:lnSpc>
                <a:spcPct val="100000"/>
              </a:lnSpc>
              <a:spcBef>
                <a:spcPts val="0"/>
              </a:spcBef>
              <a:spcAft>
                <a:spcPts val="0"/>
              </a:spcAft>
              <a:buSzPts val="1400"/>
              <a:buNone/>
            </a:pPr>
            <a:r>
              <a:t>run scenario-specific ingestion/replay/affect/tool requests</a:t>
            </a:r>
            <a:endParaRPr/>
          </a:p>
          <a:p xmlns:a="http://schemas.openxmlformats.org/drawingml/2006/main">
            <a:pPr marL="0" lvl="0" indent="0" algn="l">
              <a:lnSpc>
                <a:spcPct val="100000"/>
              </a:lnSpc>
              <a:spcBef>
                <a:spcPts val="0"/>
              </a:spcBef>
              <a:spcAft>
                <a:spcPts val="0"/>
              </a:spcAft>
              <a:buSzPts val="1400"/>
              <a:buNone/>
            </a:pPr>
            <a:r>
              <a:t>run labeled deterministic reflection and fault cases separately</a:t>
            </a:r>
            <a:endParaRPr/>
          </a:p>
          <a:p xmlns:a="http://schemas.openxmlformats.org/drawingml/2006/main">
            <a:pPr marL="0" lvl="0" indent="0" algn="l">
              <a:lnSpc>
                <a:spcPct val="100000"/>
              </a:lnSpc>
              <a:spcBef>
                <a:spcPts val="0"/>
              </a:spcBef>
              <a:spcAft>
                <a:spcPts val="0"/>
              </a:spcAft>
              <a:buSzPts val="1400"/>
              <a:buNone/>
            </a:pPr>
            <a:r>
              <a:t>reconcile planned, executed, not-executed, and skipped components</a:t>
            </a:r>
            <a:endParaRPr/>
          </a:p>
          <a:p xmlns:a="http://schemas.openxmlformats.org/drawingml/2006/main">
            <a:pPr marL="0" lvl="0" indent="0" algn="l">
              <a:lnSpc>
                <a:spcPct val="100000"/>
              </a:lnSpc>
              <a:spcBef>
                <a:spcPts val="0"/>
              </a:spcBef>
              <a:spcAft>
                <a:spcPts val="0"/>
              </a:spcAft>
              <a:buSzPts val="1400"/>
              <a:buNone/>
            </a:pPr>
            <a:r>
              <a:t>validate artifact coverage and redact secrets</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7.7 Assertions required in the eventual runnable script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Unsupported routes/control overrides fail before unintended work.</a:t>
            </a:r>
            <a:endParaRPr/>
          </a:p>
          <a:p xmlns:a="http://schemas.openxmlformats.org/drawingml/2006/main">
            <a:pPr marL="0" lvl="0" indent="0" algn="l">
              <a:lnSpc>
                <a:spcPct val="100000"/>
              </a:lnSpc>
              <a:spcBef>
                <a:spcPts val="0"/>
              </a:spcBef>
              <a:spcAft>
                <a:spcPts val="0"/>
              </a:spcAft>
              <a:buSzPts val="1400"/>
              <a:buNone/>
            </a:pPr>
            <a:r>
              <a:t>2. Ingestion/replay does not call answer generation.</a:t>
            </a:r>
            <a:endParaRPr/>
          </a:p>
          <a:p xmlns:a="http://schemas.openxmlformats.org/drawingml/2006/main">
            <a:pPr marL="0" lvl="0" indent="0" algn="l">
              <a:lnSpc>
                <a:spcPct val="100000"/>
              </a:lnSpc>
              <a:spcBef>
                <a:spcPts val="0"/>
              </a:spcBef>
              <a:spcAft>
                <a:spcPts val="0"/>
              </a:spcAft>
              <a:buSzPts val="1400"/>
              <a:buNone/>
            </a:pPr>
            <a:r>
              <a:t>3. Model-only does not execute retrieval.</a:t>
            </a:r>
            <a:endParaRPr/>
          </a:p>
          <a:p xmlns:a="http://schemas.openxmlformats.org/drawingml/2006/main">
            <a:pPr marL="0" lvl="0" indent="0" algn="l">
              <a:lnSpc>
                <a:spcPct val="100000"/>
              </a:lnSpc>
              <a:spcBef>
                <a:spcPts val="0"/>
              </a:spcBef>
              <a:spcAft>
                <a:spcPts val="0"/>
              </a:spcAft>
              <a:buSzPts val="1400"/>
              <a:buNone/>
            </a:pPr>
            <a:r>
              <a:t>4. Simple RAG excludes temporal/graph responsibilities selected only by full routes.</a:t>
            </a:r>
            <a:endParaRPr/>
          </a:p>
          <a:p xmlns:a="http://schemas.openxmlformats.org/drawingml/2006/main">
            <a:pPr marL="0" lvl="0" indent="0" algn="l">
              <a:lnSpc>
                <a:spcPct val="100000"/>
              </a:lnSpc>
              <a:spcBef>
                <a:spcPts val="0"/>
              </a:spcBef>
              <a:spcAft>
                <a:spcPts val="0"/>
              </a:spcAft>
              <a:buSzPts val="1400"/>
              <a:buNone/>
            </a:pPr>
            <a:r>
              <a:t>5. Planned components reconcile with executed and not-executed components, and execution respects capabilities.</a:t>
            </a:r>
            <a:endParaRPr/>
          </a:p>
          <a:p xmlns:a="http://schemas.openxmlformats.org/drawingml/2006/main">
            <a:pPr marL="0" lvl="0" indent="0" algn="l">
              <a:lnSpc>
                <a:spcPct val="100000"/>
              </a:lnSpc>
              <a:spcBef>
                <a:spcPts val="0"/>
              </a:spcBef>
              <a:spcAft>
                <a:spcPts val="0"/>
              </a:spcAft>
              <a:buSzPts val="1400"/>
              <a:buNone/>
            </a:pPr>
            <a:r>
              <a:t>6. Returned citations map to the actual selected evidence.</a:t>
            </a:r>
            <a:endParaRPr/>
          </a:p>
          <a:p xmlns:a="http://schemas.openxmlformats.org/drawingml/2006/main">
            <a:pPr marL="0" lvl="0" indent="0" algn="l">
              <a:lnSpc>
                <a:spcPct val="100000"/>
              </a:lnSpc>
              <a:spcBef>
                <a:spcPts val="0"/>
              </a:spcBef>
              <a:spcAft>
                <a:spcPts val="0"/>
              </a:spcAft>
              <a:buSzPts val="1400"/>
              <a:buNone/>
            </a:pPr>
            <a:r>
              <a:t>7. Reflection respects correction budgets and records actual changes.</a:t>
            </a:r>
            <a:endParaRPr/>
          </a:p>
          <a:p xmlns:a="http://schemas.openxmlformats.org/drawingml/2006/main">
            <a:pPr marL="0" lvl="0" indent="0" algn="l">
              <a:lnSpc>
                <a:spcPct val="100000"/>
              </a:lnSpc>
              <a:spcBef>
                <a:spcPts val="0"/>
              </a:spcBef>
              <a:spcAft>
                <a:spcPts val="0"/>
              </a:spcAft>
              <a:buSzPts val="1400"/>
              <a:buNone/>
            </a:pPr>
            <a:r>
              <a:t>8. Tool requests do not accidentally invoke answer generation. Invalid/disallowed invocations remain blocked.</a:t>
            </a:r>
            <a:endParaRPr/>
          </a:p>
          <a:p xmlns:a="http://schemas.openxmlformats.org/drawingml/2006/main">
            <a:pPr marL="0" lvl="0" indent="0" algn="l">
              <a:lnSpc>
                <a:spcPct val="100000"/>
              </a:lnSpc>
              <a:spcBef>
                <a:spcPts val="0"/>
              </a:spcBef>
              <a:spcAft>
                <a:spcPts val="0"/>
              </a:spcAft>
              <a:buSzPts val="1400"/>
              <a:buNone/>
            </a:pPr>
            <a:r>
              <a:t>9. State versions and task-appropriate memory effects are observable.</a:t>
            </a:r>
            <a:endParaRPr/>
          </a:p>
          <a:p xmlns:a="http://schemas.openxmlformats.org/drawingml/2006/main">
            <a:pPr marL="0" lvl="0" indent="0" algn="l">
              <a:lnSpc>
                <a:spcPct val="100000"/>
              </a:lnSpc>
              <a:spcBef>
                <a:spcPts val="0"/>
              </a:spcBef>
              <a:spcAft>
                <a:spcPts val="0"/>
              </a:spcAft>
              <a:buSzPts val="1400"/>
              <a:buNone/>
            </a:pPr>
            <a:r>
              <a:t>10. Maintenance completes or reports failures explicitly before claiming a completed demo stage.</a:t>
            </a:r>
            <a:endParaRPr/>
          </a:p>
          <a:p xmlns:a="http://schemas.openxmlformats.org/drawingml/2006/main">
            <a:pPr marL="0" lvl="0" indent="0" algn="l">
              <a:lnSpc>
                <a:spcPct val="100000"/>
              </a:lnSpc>
              <a:spcBef>
                <a:spcPts val="0"/>
              </a:spcBef>
              <a:spcAft>
                <a:spcPts val="0"/>
              </a:spcAft>
              <a:buSzPts val="1400"/>
              <a:buNone/>
            </a:pPr>
            <a:r>
              <a:t>11. Provider/schema/store failures do not become invented success.</a:t>
            </a:r>
            <a:endParaRPr/>
          </a:p>
          <a:p xmlns:a="http://schemas.openxmlformats.org/drawingml/2006/main">
            <a:pPr marL="0" lvl="0" indent="0" algn="l">
              <a:lnSpc>
                <a:spcPct val="100000"/>
              </a:lnSpc>
              <a:spcBef>
                <a:spcPts val="0"/>
              </a:spcBef>
              <a:spcAft>
                <a:spcPts val="0"/>
              </a:spcAft>
              <a:buSzPts val="1400"/>
              <a:buNone/>
            </a:pPr>
            <a:r>
              <a:t>12. Gold expectations remain outside inference requests/prompts/telemetry.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scaffolding: runtime integration, release fault injection, correction tests, tool tests, maintenance barriers.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C:/PRIMA_next/tests/integration/test_runtime_pipeline.py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Demo sequence: output and completion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 Slide 7, part A: one-scenario demonstration and comparison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Status: proposed demo specification, not a completed demo run. The previous panel's suggestion is best satisfied with one connected scenario, several task-appropriate requests, and one exported evidence bundle. A single factual-QA request intentionally cannot exercise ingestion, conversation admission, emotion-only classification, and tool-only execution together.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7.1 Sample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synthetic data so the demo can be shared without exposing personal information. Freeze the wording and stable source IDs before rehearsal.</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Source ID | Synthetic history/document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S1 | [2026-09-01] Alex: I am working on Project Atlas. Mira is my project mentor. Please remember my important goal: finish the Atlas prototype. |</a:t>
            </a:r>
            <a:endParaRPr/>
          </a:p>
          <a:p xmlns:a="http://schemas.openxmlformats.org/drawingml/2006/main">
            <a:pPr marL="0" lvl="0" indent="0" algn="l">
              <a:lnSpc>
                <a:spcPct val="100000"/>
              </a:lnSpc>
              <a:spcBef>
                <a:spcPts val="0"/>
              </a:spcBef>
              <a:spcAft>
                <a:spcPts val="0"/>
              </a:spcAft>
              <a:buSzPts val="1400"/>
              <a:buNone/>
            </a:pPr>
            <a:r>
              <a:t>| S2 | [2026-09-03] Mira's office is in Pune. Mira reviews Project Atlas every Friday. |</a:t>
            </a:r>
            <a:endParaRPr/>
          </a:p>
          <a:p xmlns:a="http://schemas.openxmlformats.org/drawingml/2006/main">
            <a:pPr marL="0" lvl="0" indent="0" algn="l">
              <a:lnSpc>
                <a:spcPct val="100000"/>
              </a:lnSpc>
              <a:spcBef>
                <a:spcPts val="0"/>
              </a:spcBef>
              <a:spcAft>
                <a:spcPts val="0"/>
              </a:spcAft>
              <a:buSzPts val="1400"/>
              <a:buNone/>
            </a:pPr>
            <a:r>
              <a:t>| S3 | [2026-09-05] Alex: I used to prefer long explanations. I now prefer concise summaries for Project Atlas. |</a:t>
            </a:r>
            <a:endParaRPr/>
          </a:p>
          <a:p xmlns:a="http://schemas.openxmlformats.org/drawingml/2006/main">
            <a:pPr marL="0" lvl="0" indent="0" algn="l">
              <a:lnSpc>
                <a:spcPct val="100000"/>
              </a:lnSpc>
              <a:spcBef>
                <a:spcPts val="0"/>
              </a:spcBef>
              <a:spcAft>
                <a:spcPts val="0"/>
              </a:spcAft>
              <a:buSzPts val="1400"/>
              <a:buNone/>
            </a:pPr>
            <a:r>
              <a:t>| S4 | [2026-09-06] Alex: I feel anxious about the Project Atlas review because the prototype is unfinished. |</a:t>
            </a:r>
            <a:endParaRPr/>
          </a:p>
          <a:p xmlns:a="http://schemas.openxmlformats.org/drawingml/2006/main">
            <a:pPr marL="0" lvl="0" indent="0" algn="l">
              <a:lnSpc>
                <a:spcPct val="100000"/>
              </a:lnSpc>
              <a:spcBef>
                <a:spcPts val="0"/>
              </a:spcBef>
              <a:spcAft>
                <a:spcPts val="0"/>
              </a:spcAft>
              <a:buSzPts val="1400"/>
              <a:buNone/>
            </a:pPr>
            <a:r>
              <a:t>| S5 | [2026-09-07] Alex: The Project Atlas prototype passed its local checks. I feel excited and relieved. |</a:t>
            </a:r>
            <a:endParaRPr/>
          </a:p>
          <a:p xmlns:a="http://schemas.openxmlformats.org/drawingml/2006/main">
            <a:pPr marL="0" lvl="0" indent="0" algn="l">
              <a:lnSpc>
                <a:spcPct val="100000"/>
              </a:lnSpc>
              <a:spcBef>
                <a:spcPts val="0"/>
              </a:spcBef>
              <a:spcAft>
                <a:spcPts val="0"/>
              </a:spcAft>
              <a:buSzPts val="1400"/>
              <a:buNone/>
            </a:pPr>
            <a:r>
              <a:t>| D1 | Distractor: Dev mentors Project Beacon from Mumbai. Project Beacon is unrelated to Project Atlas. |</a:t>
            </a:r>
            <a:endParaRPr/>
          </a:p>
          <a:p xmlns:a="http://schemas.openxmlformats.org/drawingml/2006/main">
            <a:pPr marL="0" lvl="0" indent="0" algn="l">
              <a:lnSpc>
                <a:spcPct val="100000"/>
              </a:lnSpc>
              <a:spcBef>
                <a:spcPts val="0"/>
              </a:spcBef>
              <a:spcAft>
                <a:spcPts val="0"/>
              </a:spcAft>
              <a:buSzPts val="1400"/>
              <a:buNone/>
            </a:pPr>
            <a:r>
              <a:t>| D2 | Distractor: An older Atlas travel brochure mentions Mumbai. It does not describe Alex's mentor.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comparison question: "Which city is Alex's Project Atlas mentor based in?"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Evaluator-owned expected answer: Pune, supported by the Alex - Mira link in S1 and Mira - Pune link in S2. Do not add this expected answer or supporting-source IDs to model request metadata. The source records themselves may be supplied as ordinary evidence. S3 - S5 support temporal/preference/affect demonstrations in the same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current lexical sufficiency heuristic may reject this multi-hop wording despite relevant evidence. That is useful failure evidence. Record it, diagnose its stage, and avoid secretly simplifying only the PRIMA question to get a better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7.2 Two demonstration tracks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Functional track: deterministic injected provider and controlled branch conditions prove execution plumbing. Clearly label provider responses and forced uncertainty as synthetic. Existing tests already use injected responses and low-confidence estimators. This track can show error handling even when a real endpoint is unavailable.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Quality track: run the same frozen sample using a configured real model and record actual outputs. Use matched generation settings and native scoring. This track can provide an illustrative baseline comparison, but one scenario is insufficient for a research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Do not mix functional-track scripted answers into the real-model comparison table. A fake provider returning "Pune" does not show the model inferred the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7.3 Demo sequence, visible outputs, and narration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Step | Request / operation | What must be visible | What to say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0. Freeze setup | Record source commit, dependency versions, sample hash, seed, active backends/model/revision. Use isolated demo stores. | A manifest with real/fake provider label, source IDs, settings. | "This is the exact configuration and input used in all comparisons." |</a:t>
            </a:r>
            <a:endParaRPr/>
          </a:p>
          <a:p xmlns:a="http://schemas.openxmlformats.org/drawingml/2006/main">
            <a:pPr marL="0" lvl="0" indent="0" algn="l">
              <a:lnSpc>
                <a:spcPct val="100000"/>
              </a:lnSpc>
              <a:spcBef>
                <a:spcPts val="0"/>
              </a:spcBef>
              <a:spcAft>
                <a:spcPts val="0"/>
              </a:spcAft>
              <a:buSzPts val="1400"/>
              <a:buNone/>
            </a:pPr>
            <a:r>
              <a:t>| 1. Invalid request | Attempt an unsupported task/profile pair and reserved-control metadata. | Validation rejection / typed rejected result, no unintended execution. | "The public boundary rejects incompatible routes and control overrides." |</a:t>
            </a:r>
            <a:endParaRPr/>
          </a:p>
          <a:p xmlns:a="http://schemas.openxmlformats.org/drawingml/2006/main">
            <a:pPr marL="0" lvl="0" indent="0" algn="l">
              <a:lnSpc>
                <a:spcPct val="100000"/>
              </a:lnSpc>
              <a:spcBef>
                <a:spcPts val="0"/>
              </a:spcBef>
              <a:spcAft>
                <a:spcPts val="0"/>
              </a:spcAft>
              <a:buSzPts val="1400"/>
              <a:buNone/>
            </a:pPr>
            <a:r>
              <a:t>| 2. Ingest history | Submit frozen records through DOCUMENT_INGESTION/INGESTION_ONLY for a fixed-store comparison. Separately replay history through HISTORICAL_REPLAY/PRIMA_FULL to show admission/state behavior. | Memory IDs, content provenance, task outcome, no LLM calls during ingestion/replay. | "Explicit ingestion and selective historical admission are different experiments." |</a:t>
            </a:r>
            <a:endParaRPr/>
          </a:p>
          <a:p xmlns:a="http://schemas.openxmlformats.org/drawingml/2006/main">
            <a:pPr marL="0" lvl="0" indent="0" algn="l">
              <a:lnSpc>
                <a:spcPct val="100000"/>
              </a:lnSpc>
              <a:spcBef>
                <a:spcPts val="0"/>
              </a:spcBef>
              <a:spcAft>
                <a:spcPts val="0"/>
              </a:spcAft>
              <a:buSzPts val="1400"/>
              <a:buNone/>
            </a:pPr>
            <a:r>
              <a:t>| 3. Affect | Process S4 then S5 using the same dedicated scenario session. Optionally classify one utterance through AFFECT_ONLY. | Label scores, PAD, temporal momentum/history, active classifier. | "These are text-derived emotional signals. Here is how the signal changes over time." |</a:t>
            </a:r>
            <a:endParaRPr/>
          </a:p>
          <a:p xmlns:a="http://schemas.openxmlformats.org/drawingml/2006/main">
            <a:pPr marL="0" lvl="0" indent="0" algn="l">
              <a:lnSpc>
                <a:spcPct val="100000"/>
              </a:lnSpc>
              <a:spcBef>
                <a:spcPts val="0"/>
              </a:spcBef>
              <a:spcAft>
                <a:spcPts val="0"/>
              </a:spcAft>
              <a:buSzPts val="1400"/>
              <a:buNone/>
            </a:pPr>
            <a:r>
              <a:t>| 4. Admission | Inspect scores/reasons from replay and an additional low-value synthetic turn. | Stored/rejected decision, threshold, component scores, before/after memory counts. | "Useful-memory selection is explicit. We report the actual outcome instead of assuming every turn is stored." |</a:t>
            </a:r>
            <a:endParaRPr/>
          </a:p>
          <a:p xmlns:a="http://schemas.openxmlformats.org/drawingml/2006/main">
            <a:pPr marL="0" lvl="0" indent="0" algn="l">
              <a:lnSpc>
                <a:spcPct val="100000"/>
              </a:lnSpc>
              <a:spcBef>
                <a:spcPts val="0"/>
              </a:spcBef>
              <a:spcAft>
                <a:spcPts val="0"/>
              </a:spcAft>
              <a:buSzPts val="1400"/>
              <a:buNone/>
            </a:pPr>
            <a:r>
              <a:t>| 5. Three-profile QA | Ask the identical primary question in fresh, equivalent runtime/store instances for each profile. | Output, abstention/failure, retrieved IDs, calls, latency, tokens. | "We change the profile while fixing the model and experiment conditions." |</a:t>
            </a:r>
            <a:endParaRPr/>
          </a:p>
          <a:p xmlns:a="http://schemas.openxmlformats.org/drawingml/2006/main">
            <a:pPr marL="0" lvl="0" indent="0" algn="l">
              <a:lnSpc>
                <a:spcPct val="100000"/>
              </a:lnSpc>
              <a:spcBef>
                <a:spcPts val="0"/>
              </a:spcBef>
              <a:spcAft>
                <a:spcPts val="0"/>
              </a:spcAft>
              <a:buSzPts val="1400"/>
              <a:buNone/>
            </a:pPr>
            <a:r>
              <a:t>| 6. Retrieval internals | Expand full-route trace for the QA request. | Dense/sparse/temporal/graph candidates, fusion/reranking, compressed context/source mapping, insufficiency reason if any. | "This shows where the evidence entered or disappeared." |</a:t>
            </a:r>
            <a:endParaRPr/>
          </a:p>
          <a:p xmlns:a="http://schemas.openxmlformats.org/drawingml/2006/main">
            <a:pPr marL="0" lvl="0" indent="0" algn="l">
              <a:lnSpc>
                <a:spcPct val="100000"/>
              </a:lnSpc>
              <a:spcBef>
                <a:spcPts val="0"/>
              </a:spcBef>
              <a:spcAft>
                <a:spcPts val="0"/>
              </a:spcAft>
              <a:buSzPts val="1400"/>
              <a:buNone/>
            </a:pPr>
            <a:r>
              <a:t>| 7. Planning/world/uncertainty | Inspect a full conversation or tool route in this story. | Plan/actions, symbolic predictions, available confidence signals, selected decision. | "These deterministic components expose intended actions and uncertainty. Their scores need empirical validation." |</a:t>
            </a:r>
            <a:endParaRPr/>
          </a:p>
          <a:p xmlns:a="http://schemas.openxmlformats.org/drawingml/2006/main">
            <a:pPr marL="0" lvl="0" indent="0" algn="l">
              <a:lnSpc>
                <a:spcPct val="100000"/>
              </a:lnSpc>
              <a:spcBef>
                <a:spcPts val="0"/>
              </a:spcBef>
              <a:spcAft>
                <a:spcPts val="0"/>
              </a:spcAft>
              <a:buSzPts val="1400"/>
              <a:buNone/>
            </a:pPr>
            <a:r>
              <a:t>| 8. Reflection | First show natural trigger behavior. In functional track only, inject a low-confidence/wrong-query condition with a visible label. | Advice, budget check, accepted/rejected correction, before/after query/evidence/output. | "This branch is conditional. The injected case proves the correction mechanism, not natural-model improvement." |</a:t>
            </a:r>
            <a:endParaRPr/>
          </a:p>
          <a:p xmlns:a="http://schemas.openxmlformats.org/drawingml/2006/main">
            <a:pPr marL="0" lvl="0" indent="0" algn="l">
              <a:lnSpc>
                <a:spcPct val="100000"/>
              </a:lnSpc>
              <a:spcBef>
                <a:spcPts val="0"/>
              </a:spcBef>
              <a:spcAft>
                <a:spcPts val="0"/>
              </a:spcAft>
              <a:buSzPts val="1400"/>
              <a:buNone/>
            </a:pPr>
            <a:r>
              <a:t>| 9. Controlled tool | Register a harmless local calculator/formatter using existing tool contracts. Permit only that tool. Demonstrate valid and blocked/invalid invocations. | Schema checks, policy audit, typed result, no external side effects. | "Only a registered, validated, allowlisted operation runs." |</a:t>
            </a:r>
            <a:endParaRPr/>
          </a:p>
          <a:p xmlns:a="http://schemas.openxmlformats.org/drawingml/2006/main">
            <a:pPr marL="0" lvl="0" indent="0" algn="l">
              <a:lnSpc>
                <a:spcPct val="100000"/>
              </a:lnSpc>
              <a:spcBef>
                <a:spcPts val="0"/>
              </a:spcBef>
              <a:spcAft>
                <a:spcPts val="0"/>
              </a:spcAft>
              <a:buSzPts val="1400"/>
              <a:buNone/>
            </a:pPr>
            <a:r>
              <a:t>| 10. Generation/validation | Show selected evidence labels in request and parsed citations in response. Force malformed output separately in functional track. | Actual generated response or explicit failure, mapped source IDs, no fabricated fallback. | "A failed provider/schema call remains a failure." |</a:t>
            </a:r>
            <a:endParaRPr/>
          </a:p>
          <a:p xmlns:a="http://schemas.openxmlformats.org/drawingml/2006/main">
            <a:pPr marL="0" lvl="0" indent="0" algn="l">
              <a:lnSpc>
                <a:spcPct val="100000"/>
              </a:lnSpc>
              <a:spcBef>
                <a:spcPts val="0"/>
              </a:spcBef>
              <a:spcAft>
                <a:spcPts val="0"/>
              </a:spcAft>
              <a:buSzPts val="1400"/>
              <a:buNone/>
            </a:pPr>
            <a:r>
              <a:t>| 11. State/maintenance | Show version increment and task-appropriate memory changes. Await the existing maintenance barrier. | Pending/completed/failed counts and derived memory/graph changes. | "Admission and completed background work are separate facts." |</a:t>
            </a:r>
            <a:endParaRPr/>
          </a:p>
          <a:p xmlns:a="http://schemas.openxmlformats.org/drawingml/2006/main">
            <a:pPr marL="0" lvl="0" indent="0" algn="l">
              <a:lnSpc>
                <a:spcPct val="100000"/>
              </a:lnSpc>
              <a:spcBef>
                <a:spcPts val="0"/>
              </a:spcBef>
              <a:spcAft>
                <a:spcPts val="0"/>
              </a:spcAft>
              <a:buSzPts val="1400"/>
              <a:buNone/>
            </a:pPr>
            <a:r>
              <a:t>| 12. Export | Save manifest, per-request typed responses, traces, evaluator records, comparison, test output, checksums. | One reproducible demo bundle with no secrets. | "Every claim shown on screen has a corresponding saved artifact."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7.4 Fair comparisons: separate what changes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A, fixed-store retrieval/control: give simple RAG and full PRIMA identical ingested records and compatible backend/settings. Model-only remains the no-retrieval baseline. Its lack of private memory is the intended distinction. If a long-context baseline is desired, give it the same history explicitly and label it separately. This comparison isolates route-level differences more clearly than simultaneously changing memory admission.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B, historical memory formation: replay identical history using declared admission policies, then compare the resulting stores and later QA. This measures the combined effect of admission/maintenance/retrieval. Do not attribute its whole delta only to graph or affect.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C, component ablation: keep all else fixed and disable one component, such as affect modulation, graph retrieval, or reflection. Use development cases and freeze the final settings before held-out evaluation. Existing profiles are not automatically single-component ablations.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Keep model/revision, source IDs/order, seed, generation settings, context limit, retry policy, scorer, and environment fixed. Reset state/stores between variants to prevent earlier answers contaminating later ones. Use one dedicated runtime/store per principal for the demo. Record warm/cold model state when timing.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7.5 Comparison table to fill from actual runs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Item | Model only | Simple RAG | Full PRIMA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Primary answer | PENDING | PENDING | PENDING |</a:t>
            </a:r>
            <a:endParaRPr/>
          </a:p>
          <a:p xmlns:a="http://schemas.openxmlformats.org/drawingml/2006/main">
            <a:pPr marL="0" lvl="0" indent="0" algn="l">
              <a:lnSpc>
                <a:spcPct val="100000"/>
              </a:lnSpc>
              <a:spcBef>
                <a:spcPts val="0"/>
              </a:spcBef>
              <a:spcAft>
                <a:spcPts val="0"/>
              </a:spcAft>
              <a:buSzPts val="1400"/>
              <a:buNone/>
            </a:pPr>
            <a:r>
              <a:t>| Outcome: answered/abstained/failed | PENDING | PENDING | PENDING |</a:t>
            </a:r>
            <a:endParaRPr/>
          </a:p>
          <a:p xmlns:a="http://schemas.openxmlformats.org/drawingml/2006/main">
            <a:pPr marL="0" lvl="0" indent="0" algn="l">
              <a:lnSpc>
                <a:spcPct val="100000"/>
              </a:lnSpc>
              <a:spcBef>
                <a:spcPts val="0"/>
              </a:spcBef>
              <a:spcAft>
                <a:spcPts val="0"/>
              </a:spcAft>
              <a:buSzPts val="1400"/>
              <a:buNone/>
            </a:pPr>
            <a:r>
              <a:t>| Exact match / token F1 | PENDING | PENDING | PENDING |</a:t>
            </a:r>
            <a:endParaRPr/>
          </a:p>
          <a:p xmlns:a="http://schemas.openxmlformats.org/drawingml/2006/main">
            <a:pPr marL="0" lvl="0" indent="0" algn="l">
              <a:lnSpc>
                <a:spcPct val="100000"/>
              </a:lnSpc>
              <a:spcBef>
                <a:spcPts val="0"/>
              </a:spcBef>
              <a:spcAft>
                <a:spcPts val="0"/>
              </a:spcAft>
              <a:buSzPts val="1400"/>
              <a:buNone/>
            </a:pPr>
            <a:r>
              <a:t>| Supporting-source recall | N/A, no retrieval | PENDING | PENDING |</a:t>
            </a:r>
            <a:endParaRPr/>
          </a:p>
          <a:p xmlns:a="http://schemas.openxmlformats.org/drawingml/2006/main">
            <a:pPr marL="0" lvl="0" indent="0" algn="l">
              <a:lnSpc>
                <a:spcPct val="100000"/>
              </a:lnSpc>
              <a:spcBef>
                <a:spcPts val="0"/>
              </a:spcBef>
              <a:spcAft>
                <a:spcPts val="0"/>
              </a:spcAft>
              <a:buSzPts val="1400"/>
              <a:buNone/>
            </a:pPr>
            <a:r>
              <a:t>| Final evidence/citations | N/A or explicitly supplied context | PENDING | PENDING |</a:t>
            </a:r>
            <a:endParaRPr/>
          </a:p>
          <a:p xmlns:a="http://schemas.openxmlformats.org/drawingml/2006/main">
            <a:pPr marL="0" lvl="0" indent="0" algn="l">
              <a:lnSpc>
                <a:spcPct val="100000"/>
              </a:lnSpc>
              <a:spcBef>
                <a:spcPts val="0"/>
              </a:spcBef>
              <a:spcAft>
                <a:spcPts val="0"/>
              </a:spcAft>
              <a:buSzPts val="1400"/>
              <a:buNone/>
            </a:pPr>
            <a:r>
              <a:t>| Retrieval calls / returned sources | Expected zero retrieval | PENDING | PENDING |</a:t>
            </a:r>
            <a:endParaRPr/>
          </a:p>
          <a:p xmlns:a="http://schemas.openxmlformats.org/drawingml/2006/main">
            <a:pPr marL="0" lvl="0" indent="0" algn="l">
              <a:lnSpc>
                <a:spcPct val="100000"/>
              </a:lnSpc>
              <a:spcBef>
                <a:spcPts val="0"/>
              </a:spcBef>
              <a:spcAft>
                <a:spcPts val="0"/>
              </a:spcAft>
              <a:buSzPts val="1400"/>
              <a:buNone/>
            </a:pPr>
            <a:r>
              <a:t>| Model calls / tokens | PENDING | PENDING | PENDING |</a:t>
            </a:r>
            <a:endParaRPr/>
          </a:p>
          <a:p xmlns:a="http://schemas.openxmlformats.org/drawingml/2006/main">
            <a:pPr marL="0" lvl="0" indent="0" algn="l">
              <a:lnSpc>
                <a:spcPct val="100000"/>
              </a:lnSpc>
              <a:spcBef>
                <a:spcPts val="0"/>
              </a:spcBef>
              <a:spcAft>
                <a:spcPts val="0"/>
              </a:spcAft>
              <a:buSzPts val="1400"/>
              <a:buNone/>
            </a:pPr>
            <a:r>
              <a:t>| Wall latency, including barrier if reported | PENDING | PENDING | PENDING |</a:t>
            </a:r>
            <a:endParaRPr/>
          </a:p>
          <a:p xmlns:a="http://schemas.openxmlformats.org/drawingml/2006/main">
            <a:pPr marL="0" lvl="0" indent="0" algn="l">
              <a:lnSpc>
                <a:spcPct val="100000"/>
              </a:lnSpc>
              <a:spcBef>
                <a:spcPts val="0"/>
              </a:spcBef>
              <a:spcAft>
                <a:spcPts val="0"/>
              </a:spcAft>
              <a:buSzPts val="1400"/>
              <a:buNone/>
            </a:pPr>
            <a:r>
              <a:t>| Reflection/corrections | Route excluded | Route dependent | PENDING |</a:t>
            </a:r>
            <a:endParaRPr/>
          </a:p>
          <a:p xmlns:a="http://schemas.openxmlformats.org/drawingml/2006/main">
            <a:pPr marL="0" lvl="0" indent="0" algn="l">
              <a:lnSpc>
                <a:spcPct val="100000"/>
              </a:lnSpc>
              <a:spcBef>
                <a:spcPts val="0"/>
              </a:spcBef>
              <a:spcAft>
                <a:spcPts val="0"/>
              </a:spcAft>
              <a:buSzPts val="1400"/>
              <a:buNone/>
            </a:pPr>
            <a:r>
              <a:t>| Maintenance admitted/completed/failed | Task/policy dependent | Task/policy dependent | PENDING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expected answer belongs to scoring. Every cell above must come from saved outputs rather than a manually scripted demonstration narrative.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7.6 Demo orchestration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freeze synthetic scenario and evaluator-owned expectations</a:t>
            </a:r>
            <a:endParaRPr/>
          </a:p>
          <a:p xmlns:a="http://schemas.openxmlformats.org/drawingml/2006/main">
            <a:pPr marL="0" lvl="0" indent="0" algn="l">
              <a:lnSpc>
                <a:spcPct val="100000"/>
              </a:lnSpc>
              <a:spcBef>
                <a:spcPts val="0"/>
              </a:spcBef>
              <a:spcAft>
                <a:spcPts val="0"/>
              </a:spcAft>
              <a:buSzPts val="1400"/>
              <a:buNone/>
            </a:pPr>
            <a:r>
              <a:t>record source/model/environment identities</a:t>
            </a:r>
            <a:endParaRPr/>
          </a:p>
          <a:p xmlns:a="http://schemas.openxmlformats.org/drawingml/2006/main">
            <a:pPr marL="0" lvl="0" indent="0" algn="l">
              <a:lnSpc>
                <a:spcPct val="100000"/>
              </a:lnSpc>
              <a:spcBef>
                <a:spcPts val="0"/>
              </a:spcBef>
              <a:spcAft>
                <a:spcPts val="0"/>
              </a:spcAft>
              <a:buSzPts val="1400"/>
              <a:buNone/>
            </a:pPr>
            <a:r>
              <a:t>for profile in [model_only, simple_rag, prima_full]:</a:t>
            </a:r>
            <a:endParaRPr/>
          </a:p>
          <a:p xmlns:a="http://schemas.openxmlformats.org/drawingml/2006/main">
            <a:pPr marL="0" lvl="0" indent="0" algn="l">
              <a:lnSpc>
                <a:spcPct val="100000"/>
              </a:lnSpc>
              <a:spcBef>
                <a:spcPts val="0"/>
              </a:spcBef>
              <a:spcAft>
                <a:spcPts val="0"/>
              </a:spcAft>
              <a:buSzPts val="1400"/>
              <a:buNone/>
            </a:pPr>
            <a:r>
              <a:t>    create fresh isolated runtime, repository, and state</a:t>
            </a:r>
            <a:endParaRPr/>
          </a:p>
          <a:p xmlns:a="http://schemas.openxmlformats.org/drawingml/2006/main">
            <a:pPr marL="0" lvl="0" indent="0" algn="l">
              <a:lnSpc>
                <a:spcPct val="100000"/>
              </a:lnSpc>
              <a:spcBef>
                <a:spcPts val="0"/>
              </a:spcBef>
              <a:spcAft>
                <a:spcPts val="0"/>
              </a:spcAft>
              <a:buSzPts val="1400"/>
              <a:buNone/>
            </a:pPr>
            <a:r>
              <a:t>    seed the declared evidence protocol consistently</a:t>
            </a:r>
            <a:endParaRPr/>
          </a:p>
          <a:p xmlns:a="http://schemas.openxmlformats.org/drawingml/2006/main">
            <a:pPr marL="0" lvl="0" indent="0" algn="l">
              <a:lnSpc>
                <a:spcPct val="100000"/>
              </a:lnSpc>
              <a:spcBef>
                <a:spcPts val="0"/>
              </a:spcBef>
              <a:spcAft>
                <a:spcPts val="0"/>
              </a:spcAft>
              <a:buSzPts val="1400"/>
              <a:buNone/>
            </a:pPr>
            <a:r>
              <a:t>    execute identical QA request with fixed budgets/settings</a:t>
            </a:r>
            <a:endParaRPr/>
          </a:p>
          <a:p xmlns:a="http://schemas.openxmlformats.org/drawingml/2006/main">
            <a:pPr marL="0" lvl="0" indent="0" algn="l">
              <a:lnSpc>
                <a:spcPct val="100000"/>
              </a:lnSpc>
              <a:spcBef>
                <a:spcPts val="0"/>
              </a:spcBef>
              <a:spcAft>
                <a:spcPts val="0"/>
              </a:spcAft>
              <a:buSzPts val="1400"/>
              <a:buNone/>
            </a:pPr>
            <a:r>
              <a:t>    await task-appropriate maintenance boundary</a:t>
            </a:r>
            <a:endParaRPr/>
          </a:p>
          <a:p xmlns:a="http://schemas.openxmlformats.org/drawingml/2006/main">
            <a:pPr marL="0" lvl="0" indent="0" algn="l">
              <a:lnSpc>
                <a:spcPct val="100000"/>
              </a:lnSpc>
              <a:spcBef>
                <a:spcPts val="0"/>
              </a:spcBef>
              <a:spcAft>
                <a:spcPts val="0"/>
              </a:spcAft>
              <a:buSzPts val="1400"/>
              <a:buNone/>
            </a:pPr>
            <a:r>
              <a:t>    save full typed response and active backend diagnostics</a:t>
            </a:r>
            <a:endParaRPr/>
          </a:p>
          <a:p xmlns:a="http://schemas.openxmlformats.org/drawingml/2006/main">
            <a:pPr marL="0" lvl="0" indent="0" algn="l">
              <a:lnSpc>
                <a:spcPct val="100000"/>
              </a:lnSpc>
              <a:spcBef>
                <a:spcPts val="0"/>
              </a:spcBef>
              <a:spcAft>
                <a:spcPts val="0"/>
              </a:spcAft>
              <a:buSzPts val="1400"/>
              <a:buNone/>
            </a:pPr>
            <a:r>
              <a:t>    score only after inference using evaluator-owned gold</a:t>
            </a:r>
            <a:endParaRPr/>
          </a:p>
          <a:p xmlns:a="http://schemas.openxmlformats.org/drawingml/2006/main">
            <a:pPr marL="0" lvl="0" indent="0" algn="l">
              <a:lnSpc>
                <a:spcPct val="100000"/>
              </a:lnSpc>
              <a:spcBef>
                <a:spcPts val="0"/>
              </a:spcBef>
              <a:spcAft>
                <a:spcPts val="0"/>
              </a:spcAft>
              <a:buSzPts val="1400"/>
              <a:buNone/>
            </a:pPr>
            <a:r>
              <a:t>run scenario-specific ingestion/replay/affect/tool requests</a:t>
            </a:r>
            <a:endParaRPr/>
          </a:p>
          <a:p xmlns:a="http://schemas.openxmlformats.org/drawingml/2006/main">
            <a:pPr marL="0" lvl="0" indent="0" algn="l">
              <a:lnSpc>
                <a:spcPct val="100000"/>
              </a:lnSpc>
              <a:spcBef>
                <a:spcPts val="0"/>
              </a:spcBef>
              <a:spcAft>
                <a:spcPts val="0"/>
              </a:spcAft>
              <a:buSzPts val="1400"/>
              <a:buNone/>
            </a:pPr>
            <a:r>
              <a:t>run labeled deterministic reflection and fault cases separately</a:t>
            </a:r>
            <a:endParaRPr/>
          </a:p>
          <a:p xmlns:a="http://schemas.openxmlformats.org/drawingml/2006/main">
            <a:pPr marL="0" lvl="0" indent="0" algn="l">
              <a:lnSpc>
                <a:spcPct val="100000"/>
              </a:lnSpc>
              <a:spcBef>
                <a:spcPts val="0"/>
              </a:spcBef>
              <a:spcAft>
                <a:spcPts val="0"/>
              </a:spcAft>
              <a:buSzPts val="1400"/>
              <a:buNone/>
            </a:pPr>
            <a:r>
              <a:t>reconcile planned, executed, not-executed, and skipped components</a:t>
            </a:r>
            <a:endParaRPr/>
          </a:p>
          <a:p xmlns:a="http://schemas.openxmlformats.org/drawingml/2006/main">
            <a:pPr marL="0" lvl="0" indent="0" algn="l">
              <a:lnSpc>
                <a:spcPct val="100000"/>
              </a:lnSpc>
              <a:spcBef>
                <a:spcPts val="0"/>
              </a:spcBef>
              <a:spcAft>
                <a:spcPts val="0"/>
              </a:spcAft>
              <a:buSzPts val="1400"/>
              <a:buNone/>
            </a:pPr>
            <a:r>
              <a:t>validate artifact coverage and redact secrets</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7.7 Assertions required in the eventual runnable script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Unsupported routes/control overrides fail before unintended work.</a:t>
            </a:r>
            <a:endParaRPr/>
          </a:p>
          <a:p xmlns:a="http://schemas.openxmlformats.org/drawingml/2006/main">
            <a:pPr marL="0" lvl="0" indent="0" algn="l">
              <a:lnSpc>
                <a:spcPct val="100000"/>
              </a:lnSpc>
              <a:spcBef>
                <a:spcPts val="0"/>
              </a:spcBef>
              <a:spcAft>
                <a:spcPts val="0"/>
              </a:spcAft>
              <a:buSzPts val="1400"/>
              <a:buNone/>
            </a:pPr>
            <a:r>
              <a:t>2. Ingestion/replay does not call answer generation.</a:t>
            </a:r>
            <a:endParaRPr/>
          </a:p>
          <a:p xmlns:a="http://schemas.openxmlformats.org/drawingml/2006/main">
            <a:pPr marL="0" lvl="0" indent="0" algn="l">
              <a:lnSpc>
                <a:spcPct val="100000"/>
              </a:lnSpc>
              <a:spcBef>
                <a:spcPts val="0"/>
              </a:spcBef>
              <a:spcAft>
                <a:spcPts val="0"/>
              </a:spcAft>
              <a:buSzPts val="1400"/>
              <a:buNone/>
            </a:pPr>
            <a:r>
              <a:t>3. Model-only does not execute retrieval.</a:t>
            </a:r>
            <a:endParaRPr/>
          </a:p>
          <a:p xmlns:a="http://schemas.openxmlformats.org/drawingml/2006/main">
            <a:pPr marL="0" lvl="0" indent="0" algn="l">
              <a:lnSpc>
                <a:spcPct val="100000"/>
              </a:lnSpc>
              <a:spcBef>
                <a:spcPts val="0"/>
              </a:spcBef>
              <a:spcAft>
                <a:spcPts val="0"/>
              </a:spcAft>
              <a:buSzPts val="1400"/>
              <a:buNone/>
            </a:pPr>
            <a:r>
              <a:t>4. Simple RAG excludes temporal/graph responsibilities selected only by full routes.</a:t>
            </a:r>
            <a:endParaRPr/>
          </a:p>
          <a:p xmlns:a="http://schemas.openxmlformats.org/drawingml/2006/main">
            <a:pPr marL="0" lvl="0" indent="0" algn="l">
              <a:lnSpc>
                <a:spcPct val="100000"/>
              </a:lnSpc>
              <a:spcBef>
                <a:spcPts val="0"/>
              </a:spcBef>
              <a:spcAft>
                <a:spcPts val="0"/>
              </a:spcAft>
              <a:buSzPts val="1400"/>
              <a:buNone/>
            </a:pPr>
            <a:r>
              <a:t>5. Planned components reconcile with executed and not-executed components, and execution respects capabilities.</a:t>
            </a:r>
            <a:endParaRPr/>
          </a:p>
          <a:p xmlns:a="http://schemas.openxmlformats.org/drawingml/2006/main">
            <a:pPr marL="0" lvl="0" indent="0" algn="l">
              <a:lnSpc>
                <a:spcPct val="100000"/>
              </a:lnSpc>
              <a:spcBef>
                <a:spcPts val="0"/>
              </a:spcBef>
              <a:spcAft>
                <a:spcPts val="0"/>
              </a:spcAft>
              <a:buSzPts val="1400"/>
              <a:buNone/>
            </a:pPr>
            <a:r>
              <a:t>6. Returned citations map to the actual selected evidence.</a:t>
            </a:r>
            <a:endParaRPr/>
          </a:p>
          <a:p xmlns:a="http://schemas.openxmlformats.org/drawingml/2006/main">
            <a:pPr marL="0" lvl="0" indent="0" algn="l">
              <a:lnSpc>
                <a:spcPct val="100000"/>
              </a:lnSpc>
              <a:spcBef>
                <a:spcPts val="0"/>
              </a:spcBef>
              <a:spcAft>
                <a:spcPts val="0"/>
              </a:spcAft>
              <a:buSzPts val="1400"/>
              <a:buNone/>
            </a:pPr>
            <a:r>
              <a:t>7. Reflection respects correction budgets and records actual changes.</a:t>
            </a:r>
            <a:endParaRPr/>
          </a:p>
          <a:p xmlns:a="http://schemas.openxmlformats.org/drawingml/2006/main">
            <a:pPr marL="0" lvl="0" indent="0" algn="l">
              <a:lnSpc>
                <a:spcPct val="100000"/>
              </a:lnSpc>
              <a:spcBef>
                <a:spcPts val="0"/>
              </a:spcBef>
              <a:spcAft>
                <a:spcPts val="0"/>
              </a:spcAft>
              <a:buSzPts val="1400"/>
              <a:buNone/>
            </a:pPr>
            <a:r>
              <a:t>8. Tool requests do not accidentally invoke answer generation. Invalid/disallowed invocations remain blocked.</a:t>
            </a:r>
            <a:endParaRPr/>
          </a:p>
          <a:p xmlns:a="http://schemas.openxmlformats.org/drawingml/2006/main">
            <a:pPr marL="0" lvl="0" indent="0" algn="l">
              <a:lnSpc>
                <a:spcPct val="100000"/>
              </a:lnSpc>
              <a:spcBef>
                <a:spcPts val="0"/>
              </a:spcBef>
              <a:spcAft>
                <a:spcPts val="0"/>
              </a:spcAft>
              <a:buSzPts val="1400"/>
              <a:buNone/>
            </a:pPr>
            <a:r>
              <a:t>9. State versions and task-appropriate memory effects are observable.</a:t>
            </a:r>
            <a:endParaRPr/>
          </a:p>
          <a:p xmlns:a="http://schemas.openxmlformats.org/drawingml/2006/main">
            <a:pPr marL="0" lvl="0" indent="0" algn="l">
              <a:lnSpc>
                <a:spcPct val="100000"/>
              </a:lnSpc>
              <a:spcBef>
                <a:spcPts val="0"/>
              </a:spcBef>
              <a:spcAft>
                <a:spcPts val="0"/>
              </a:spcAft>
              <a:buSzPts val="1400"/>
              <a:buNone/>
            </a:pPr>
            <a:r>
              <a:t>10. Maintenance completes or reports failures explicitly before claiming a completed demo stage.</a:t>
            </a:r>
            <a:endParaRPr/>
          </a:p>
          <a:p xmlns:a="http://schemas.openxmlformats.org/drawingml/2006/main">
            <a:pPr marL="0" lvl="0" indent="0" algn="l">
              <a:lnSpc>
                <a:spcPct val="100000"/>
              </a:lnSpc>
              <a:spcBef>
                <a:spcPts val="0"/>
              </a:spcBef>
              <a:spcAft>
                <a:spcPts val="0"/>
              </a:spcAft>
              <a:buSzPts val="1400"/>
              <a:buNone/>
            </a:pPr>
            <a:r>
              <a:t>11. Provider/schema/store failures do not become invented success.</a:t>
            </a:r>
            <a:endParaRPr/>
          </a:p>
          <a:p xmlns:a="http://schemas.openxmlformats.org/drawingml/2006/main">
            <a:pPr marL="0" lvl="0" indent="0" algn="l">
              <a:lnSpc>
                <a:spcPct val="100000"/>
              </a:lnSpc>
              <a:spcBef>
                <a:spcPts val="0"/>
              </a:spcBef>
              <a:spcAft>
                <a:spcPts val="0"/>
              </a:spcAft>
              <a:buSzPts val="1400"/>
              <a:buNone/>
            </a:pPr>
            <a:r>
              <a:t>12. Gold expectations remain outside inference requests/prompts/telemetry.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scaffolding: runtime integration, release fault injection, correction tests, tool tests, maintenance barriers.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C:/PRIMA_next/tests/integration/test_runtime_pipeline.py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Fair comparison protocols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 Slide 7, part A: one-scenario demonstration and comparison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Status: proposed demo specification, not a completed demo run. The previous panel's suggestion is best satisfied with one connected scenario, several task-appropriate requests, and one exported evidence bundle. A single factual-QA request intentionally cannot exercise ingestion, conversation admission, emotion-only classification, and tool-only execution together.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7.1 Sample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synthetic data so the demo can be shared without exposing personal information. Freeze the wording and stable source IDs before rehearsal.</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Source ID | Synthetic history/document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S1 | [2026-09-01] Alex: I am working on Project Atlas. Mira is my project mentor. Please remember my important goal: finish the Atlas prototype. |</a:t>
            </a:r>
            <a:endParaRPr/>
          </a:p>
          <a:p xmlns:a="http://schemas.openxmlformats.org/drawingml/2006/main">
            <a:pPr marL="0" lvl="0" indent="0" algn="l">
              <a:lnSpc>
                <a:spcPct val="100000"/>
              </a:lnSpc>
              <a:spcBef>
                <a:spcPts val="0"/>
              </a:spcBef>
              <a:spcAft>
                <a:spcPts val="0"/>
              </a:spcAft>
              <a:buSzPts val="1400"/>
              <a:buNone/>
            </a:pPr>
            <a:r>
              <a:t>| S2 | [2026-09-03] Mira's office is in Pune. Mira reviews Project Atlas every Friday. |</a:t>
            </a:r>
            <a:endParaRPr/>
          </a:p>
          <a:p xmlns:a="http://schemas.openxmlformats.org/drawingml/2006/main">
            <a:pPr marL="0" lvl="0" indent="0" algn="l">
              <a:lnSpc>
                <a:spcPct val="100000"/>
              </a:lnSpc>
              <a:spcBef>
                <a:spcPts val="0"/>
              </a:spcBef>
              <a:spcAft>
                <a:spcPts val="0"/>
              </a:spcAft>
              <a:buSzPts val="1400"/>
              <a:buNone/>
            </a:pPr>
            <a:r>
              <a:t>| S3 | [2026-09-05] Alex: I used to prefer long explanations. I now prefer concise summaries for Project Atlas. |</a:t>
            </a:r>
            <a:endParaRPr/>
          </a:p>
          <a:p xmlns:a="http://schemas.openxmlformats.org/drawingml/2006/main">
            <a:pPr marL="0" lvl="0" indent="0" algn="l">
              <a:lnSpc>
                <a:spcPct val="100000"/>
              </a:lnSpc>
              <a:spcBef>
                <a:spcPts val="0"/>
              </a:spcBef>
              <a:spcAft>
                <a:spcPts val="0"/>
              </a:spcAft>
              <a:buSzPts val="1400"/>
              <a:buNone/>
            </a:pPr>
            <a:r>
              <a:t>| S4 | [2026-09-06] Alex: I feel anxious about the Project Atlas review because the prototype is unfinished. |</a:t>
            </a:r>
            <a:endParaRPr/>
          </a:p>
          <a:p xmlns:a="http://schemas.openxmlformats.org/drawingml/2006/main">
            <a:pPr marL="0" lvl="0" indent="0" algn="l">
              <a:lnSpc>
                <a:spcPct val="100000"/>
              </a:lnSpc>
              <a:spcBef>
                <a:spcPts val="0"/>
              </a:spcBef>
              <a:spcAft>
                <a:spcPts val="0"/>
              </a:spcAft>
              <a:buSzPts val="1400"/>
              <a:buNone/>
            </a:pPr>
            <a:r>
              <a:t>| S5 | [2026-09-07] Alex: The Project Atlas prototype passed its local checks. I feel excited and relieved. |</a:t>
            </a:r>
            <a:endParaRPr/>
          </a:p>
          <a:p xmlns:a="http://schemas.openxmlformats.org/drawingml/2006/main">
            <a:pPr marL="0" lvl="0" indent="0" algn="l">
              <a:lnSpc>
                <a:spcPct val="100000"/>
              </a:lnSpc>
              <a:spcBef>
                <a:spcPts val="0"/>
              </a:spcBef>
              <a:spcAft>
                <a:spcPts val="0"/>
              </a:spcAft>
              <a:buSzPts val="1400"/>
              <a:buNone/>
            </a:pPr>
            <a:r>
              <a:t>| D1 | Distractor: Dev mentors Project Beacon from Mumbai. Project Beacon is unrelated to Project Atlas. |</a:t>
            </a:r>
            <a:endParaRPr/>
          </a:p>
          <a:p xmlns:a="http://schemas.openxmlformats.org/drawingml/2006/main">
            <a:pPr marL="0" lvl="0" indent="0" algn="l">
              <a:lnSpc>
                <a:spcPct val="100000"/>
              </a:lnSpc>
              <a:spcBef>
                <a:spcPts val="0"/>
              </a:spcBef>
              <a:spcAft>
                <a:spcPts val="0"/>
              </a:spcAft>
              <a:buSzPts val="1400"/>
              <a:buNone/>
            </a:pPr>
            <a:r>
              <a:t>| D2 | Distractor: An older Atlas travel brochure mentions Mumbai. It does not describe Alex's mentor.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comparison question: "Which city is Alex's Project Atlas mentor based in?"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Evaluator-owned expected answer: Pune, supported by the Alex - Mira link in S1 and Mira - Pune link in S2. Do not add this expected answer or supporting-source IDs to model request metadata. The source records themselves may be supplied as ordinary evidence. S3 - S5 support temporal/preference/affect demonstrations in the same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current lexical sufficiency heuristic may reject this multi-hop wording despite relevant evidence. That is useful failure evidence. Record it, diagnose its stage, and avoid secretly simplifying only the PRIMA question to get a better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7.2 Two demonstration tracks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Functional track: deterministic injected provider and controlled branch conditions prove execution plumbing. Clearly label provider responses and forced uncertainty as synthetic. Existing tests already use injected responses and low-confidence estimators. This track can show error handling even when a real endpoint is unavailable.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Quality track: run the same frozen sample using a configured real model and record actual outputs. Use matched generation settings and native scoring. This track can provide an illustrative baseline comparison, but one scenario is insufficient for a research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Do not mix functional-track scripted answers into the real-model comparison table. A fake provider returning "Pune" does not show the model inferred the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7.3 Demo sequence, visible outputs, and narration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Step | Request / operation | What must be visible | What to say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0. Freeze setup | Record source commit, dependency versions, sample hash, seed, active backends/model/revision. Use isolated demo stores. | A manifest with real/fake provider label, source IDs, settings. | "This is the exact configuration and input used in all comparisons." |</a:t>
            </a:r>
            <a:endParaRPr/>
          </a:p>
          <a:p xmlns:a="http://schemas.openxmlformats.org/drawingml/2006/main">
            <a:pPr marL="0" lvl="0" indent="0" algn="l">
              <a:lnSpc>
                <a:spcPct val="100000"/>
              </a:lnSpc>
              <a:spcBef>
                <a:spcPts val="0"/>
              </a:spcBef>
              <a:spcAft>
                <a:spcPts val="0"/>
              </a:spcAft>
              <a:buSzPts val="1400"/>
              <a:buNone/>
            </a:pPr>
            <a:r>
              <a:t>| 1. Invalid request | Attempt an unsupported task/profile pair and reserved-control metadata. | Validation rejection / typed rejected result, no unintended execution. | "The public boundary rejects incompatible routes and control overrides." |</a:t>
            </a:r>
            <a:endParaRPr/>
          </a:p>
          <a:p xmlns:a="http://schemas.openxmlformats.org/drawingml/2006/main">
            <a:pPr marL="0" lvl="0" indent="0" algn="l">
              <a:lnSpc>
                <a:spcPct val="100000"/>
              </a:lnSpc>
              <a:spcBef>
                <a:spcPts val="0"/>
              </a:spcBef>
              <a:spcAft>
                <a:spcPts val="0"/>
              </a:spcAft>
              <a:buSzPts val="1400"/>
              <a:buNone/>
            </a:pPr>
            <a:r>
              <a:t>| 2. Ingest history | Submit frozen records through DOCUMENT_INGESTION/INGESTION_ONLY for a fixed-store comparison. Separately replay history through HISTORICAL_REPLAY/PRIMA_FULL to show admission/state behavior. | Memory IDs, content provenance, task outcome, no LLM calls during ingestion/replay. | "Explicit ingestion and selective historical admission are different experiments." |</a:t>
            </a:r>
            <a:endParaRPr/>
          </a:p>
          <a:p xmlns:a="http://schemas.openxmlformats.org/drawingml/2006/main">
            <a:pPr marL="0" lvl="0" indent="0" algn="l">
              <a:lnSpc>
                <a:spcPct val="100000"/>
              </a:lnSpc>
              <a:spcBef>
                <a:spcPts val="0"/>
              </a:spcBef>
              <a:spcAft>
                <a:spcPts val="0"/>
              </a:spcAft>
              <a:buSzPts val="1400"/>
              <a:buNone/>
            </a:pPr>
            <a:r>
              <a:t>| 3. Affect | Process S4 then S5 using the same dedicated scenario session. Optionally classify one utterance through AFFECT_ONLY. | Label scores, PAD, temporal momentum/history, active classifier. | "These are text-derived emotional signals. Here is how the signal changes over time." |</a:t>
            </a:r>
            <a:endParaRPr/>
          </a:p>
          <a:p xmlns:a="http://schemas.openxmlformats.org/drawingml/2006/main">
            <a:pPr marL="0" lvl="0" indent="0" algn="l">
              <a:lnSpc>
                <a:spcPct val="100000"/>
              </a:lnSpc>
              <a:spcBef>
                <a:spcPts val="0"/>
              </a:spcBef>
              <a:spcAft>
                <a:spcPts val="0"/>
              </a:spcAft>
              <a:buSzPts val="1400"/>
              <a:buNone/>
            </a:pPr>
            <a:r>
              <a:t>| 4. Admission | Inspect scores/reasons from replay and an additional low-value synthetic turn. | Stored/rejected decision, threshold, component scores, before/after memory counts. | "Useful-memory selection is explicit. We report the actual outcome instead of assuming every turn is stored." |</a:t>
            </a:r>
            <a:endParaRPr/>
          </a:p>
          <a:p xmlns:a="http://schemas.openxmlformats.org/drawingml/2006/main">
            <a:pPr marL="0" lvl="0" indent="0" algn="l">
              <a:lnSpc>
                <a:spcPct val="100000"/>
              </a:lnSpc>
              <a:spcBef>
                <a:spcPts val="0"/>
              </a:spcBef>
              <a:spcAft>
                <a:spcPts val="0"/>
              </a:spcAft>
              <a:buSzPts val="1400"/>
              <a:buNone/>
            </a:pPr>
            <a:r>
              <a:t>| 5. Three-profile QA | Ask the identical primary question in fresh, equivalent runtime/store instances for each profile. | Output, abstention/failure, retrieved IDs, calls, latency, tokens. | "We change the profile while fixing the model and experiment conditions." |</a:t>
            </a:r>
            <a:endParaRPr/>
          </a:p>
          <a:p xmlns:a="http://schemas.openxmlformats.org/drawingml/2006/main">
            <a:pPr marL="0" lvl="0" indent="0" algn="l">
              <a:lnSpc>
                <a:spcPct val="100000"/>
              </a:lnSpc>
              <a:spcBef>
                <a:spcPts val="0"/>
              </a:spcBef>
              <a:spcAft>
                <a:spcPts val="0"/>
              </a:spcAft>
              <a:buSzPts val="1400"/>
              <a:buNone/>
            </a:pPr>
            <a:r>
              <a:t>| 6. Retrieval internals | Expand full-route trace for the QA request. | Dense/sparse/temporal/graph candidates, fusion/reranking, compressed context/source mapping, insufficiency reason if any. | "This shows where the evidence entered or disappeared." |</a:t>
            </a:r>
            <a:endParaRPr/>
          </a:p>
          <a:p xmlns:a="http://schemas.openxmlformats.org/drawingml/2006/main">
            <a:pPr marL="0" lvl="0" indent="0" algn="l">
              <a:lnSpc>
                <a:spcPct val="100000"/>
              </a:lnSpc>
              <a:spcBef>
                <a:spcPts val="0"/>
              </a:spcBef>
              <a:spcAft>
                <a:spcPts val="0"/>
              </a:spcAft>
              <a:buSzPts val="1400"/>
              <a:buNone/>
            </a:pPr>
            <a:r>
              <a:t>| 7. Planning/world/uncertainty | Inspect a full conversation or tool route in this story. | Plan/actions, symbolic predictions, available confidence signals, selected decision. | "These deterministic components expose intended actions and uncertainty. Their scores need empirical validation." |</a:t>
            </a:r>
            <a:endParaRPr/>
          </a:p>
          <a:p xmlns:a="http://schemas.openxmlformats.org/drawingml/2006/main">
            <a:pPr marL="0" lvl="0" indent="0" algn="l">
              <a:lnSpc>
                <a:spcPct val="100000"/>
              </a:lnSpc>
              <a:spcBef>
                <a:spcPts val="0"/>
              </a:spcBef>
              <a:spcAft>
                <a:spcPts val="0"/>
              </a:spcAft>
              <a:buSzPts val="1400"/>
              <a:buNone/>
            </a:pPr>
            <a:r>
              <a:t>| 8. Reflection | First show natural trigger behavior. In functional track only, inject a low-confidence/wrong-query condition with a visible label. | Advice, budget check, accepted/rejected correction, before/after query/evidence/output. | "This branch is conditional. The injected case proves the correction mechanism, not natural-model improvement." |</a:t>
            </a:r>
            <a:endParaRPr/>
          </a:p>
          <a:p xmlns:a="http://schemas.openxmlformats.org/drawingml/2006/main">
            <a:pPr marL="0" lvl="0" indent="0" algn="l">
              <a:lnSpc>
                <a:spcPct val="100000"/>
              </a:lnSpc>
              <a:spcBef>
                <a:spcPts val="0"/>
              </a:spcBef>
              <a:spcAft>
                <a:spcPts val="0"/>
              </a:spcAft>
              <a:buSzPts val="1400"/>
              <a:buNone/>
            </a:pPr>
            <a:r>
              <a:t>| 9. Controlled tool | Register a harmless local calculator/formatter using existing tool contracts. Permit only that tool. Demonstrate valid and blocked/invalid invocations. | Schema checks, policy audit, typed result, no external side effects. | "Only a registered, validated, allowlisted operation runs." |</a:t>
            </a:r>
            <a:endParaRPr/>
          </a:p>
          <a:p xmlns:a="http://schemas.openxmlformats.org/drawingml/2006/main">
            <a:pPr marL="0" lvl="0" indent="0" algn="l">
              <a:lnSpc>
                <a:spcPct val="100000"/>
              </a:lnSpc>
              <a:spcBef>
                <a:spcPts val="0"/>
              </a:spcBef>
              <a:spcAft>
                <a:spcPts val="0"/>
              </a:spcAft>
              <a:buSzPts val="1400"/>
              <a:buNone/>
            </a:pPr>
            <a:r>
              <a:t>| 10. Generation/validation | Show selected evidence labels in request and parsed citations in response. Force malformed output separately in functional track. | Actual generated response or explicit failure, mapped source IDs, no fabricated fallback. | "A failed provider/schema call remains a failure." |</a:t>
            </a:r>
            <a:endParaRPr/>
          </a:p>
          <a:p xmlns:a="http://schemas.openxmlformats.org/drawingml/2006/main">
            <a:pPr marL="0" lvl="0" indent="0" algn="l">
              <a:lnSpc>
                <a:spcPct val="100000"/>
              </a:lnSpc>
              <a:spcBef>
                <a:spcPts val="0"/>
              </a:spcBef>
              <a:spcAft>
                <a:spcPts val="0"/>
              </a:spcAft>
              <a:buSzPts val="1400"/>
              <a:buNone/>
            </a:pPr>
            <a:r>
              <a:t>| 11. State/maintenance | Show version increment and task-appropriate memory changes. Await the existing maintenance barrier. | Pending/completed/failed counts and derived memory/graph changes. | "Admission and completed background work are separate facts." |</a:t>
            </a:r>
            <a:endParaRPr/>
          </a:p>
          <a:p xmlns:a="http://schemas.openxmlformats.org/drawingml/2006/main">
            <a:pPr marL="0" lvl="0" indent="0" algn="l">
              <a:lnSpc>
                <a:spcPct val="100000"/>
              </a:lnSpc>
              <a:spcBef>
                <a:spcPts val="0"/>
              </a:spcBef>
              <a:spcAft>
                <a:spcPts val="0"/>
              </a:spcAft>
              <a:buSzPts val="1400"/>
              <a:buNone/>
            </a:pPr>
            <a:r>
              <a:t>| 12. Export | Save manifest, per-request typed responses, traces, evaluator records, comparison, test output, checksums. | One reproducible demo bundle with no secrets. | "Every claim shown on screen has a corresponding saved artifact."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7.4 Fair comparisons: separate what changes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A, fixed-store retrieval/control: give simple RAG and full PRIMA identical ingested records and compatible backend/settings. Model-only remains the no-retrieval baseline. Its lack of private memory is the intended distinction. If a long-context baseline is desired, give it the same history explicitly and label it separately. This comparison isolates route-level differences more clearly than simultaneously changing memory admission.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B, historical memory formation: replay identical history using declared admission policies, then compare the resulting stores and later QA. This measures the combined effect of admission/maintenance/retrieval. Do not attribute its whole delta only to graph or affect.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C, component ablation: keep all else fixed and disable one component, such as affect modulation, graph retrieval, or reflection. Use development cases and freeze the final settings before held-out evaluation. Existing profiles are not automatically single-component ablations.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Keep model/revision, source IDs/order, seed, generation settings, context limit, retry policy, scorer, and environment fixed. Reset state/stores between variants to prevent earlier answers contaminating later ones. Use one dedicated runtime/store per principal for the demo. Record warm/cold model state when timing.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7.5 Comparison table to fill from actual runs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Item | Model only | Simple RAG | Full PRIMA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Primary answer | PENDING | PENDING | PENDING |</a:t>
            </a:r>
            <a:endParaRPr/>
          </a:p>
          <a:p xmlns:a="http://schemas.openxmlformats.org/drawingml/2006/main">
            <a:pPr marL="0" lvl="0" indent="0" algn="l">
              <a:lnSpc>
                <a:spcPct val="100000"/>
              </a:lnSpc>
              <a:spcBef>
                <a:spcPts val="0"/>
              </a:spcBef>
              <a:spcAft>
                <a:spcPts val="0"/>
              </a:spcAft>
              <a:buSzPts val="1400"/>
              <a:buNone/>
            </a:pPr>
            <a:r>
              <a:t>| Outcome: answered/abstained/failed | PENDING | PENDING | PENDING |</a:t>
            </a:r>
            <a:endParaRPr/>
          </a:p>
          <a:p xmlns:a="http://schemas.openxmlformats.org/drawingml/2006/main">
            <a:pPr marL="0" lvl="0" indent="0" algn="l">
              <a:lnSpc>
                <a:spcPct val="100000"/>
              </a:lnSpc>
              <a:spcBef>
                <a:spcPts val="0"/>
              </a:spcBef>
              <a:spcAft>
                <a:spcPts val="0"/>
              </a:spcAft>
              <a:buSzPts val="1400"/>
              <a:buNone/>
            </a:pPr>
            <a:r>
              <a:t>| Exact match / token F1 | PENDING | PENDING | PENDING |</a:t>
            </a:r>
            <a:endParaRPr/>
          </a:p>
          <a:p xmlns:a="http://schemas.openxmlformats.org/drawingml/2006/main">
            <a:pPr marL="0" lvl="0" indent="0" algn="l">
              <a:lnSpc>
                <a:spcPct val="100000"/>
              </a:lnSpc>
              <a:spcBef>
                <a:spcPts val="0"/>
              </a:spcBef>
              <a:spcAft>
                <a:spcPts val="0"/>
              </a:spcAft>
              <a:buSzPts val="1400"/>
              <a:buNone/>
            </a:pPr>
            <a:r>
              <a:t>| Supporting-source recall | N/A, no retrieval | PENDING | PENDING |</a:t>
            </a:r>
            <a:endParaRPr/>
          </a:p>
          <a:p xmlns:a="http://schemas.openxmlformats.org/drawingml/2006/main">
            <a:pPr marL="0" lvl="0" indent="0" algn="l">
              <a:lnSpc>
                <a:spcPct val="100000"/>
              </a:lnSpc>
              <a:spcBef>
                <a:spcPts val="0"/>
              </a:spcBef>
              <a:spcAft>
                <a:spcPts val="0"/>
              </a:spcAft>
              <a:buSzPts val="1400"/>
              <a:buNone/>
            </a:pPr>
            <a:r>
              <a:t>| Final evidence/citations | N/A or explicitly supplied context | PENDING | PENDING |</a:t>
            </a:r>
            <a:endParaRPr/>
          </a:p>
          <a:p xmlns:a="http://schemas.openxmlformats.org/drawingml/2006/main">
            <a:pPr marL="0" lvl="0" indent="0" algn="l">
              <a:lnSpc>
                <a:spcPct val="100000"/>
              </a:lnSpc>
              <a:spcBef>
                <a:spcPts val="0"/>
              </a:spcBef>
              <a:spcAft>
                <a:spcPts val="0"/>
              </a:spcAft>
              <a:buSzPts val="1400"/>
              <a:buNone/>
            </a:pPr>
            <a:r>
              <a:t>| Retrieval calls / returned sources | Expected zero retrieval | PENDING | PENDING |</a:t>
            </a:r>
            <a:endParaRPr/>
          </a:p>
          <a:p xmlns:a="http://schemas.openxmlformats.org/drawingml/2006/main">
            <a:pPr marL="0" lvl="0" indent="0" algn="l">
              <a:lnSpc>
                <a:spcPct val="100000"/>
              </a:lnSpc>
              <a:spcBef>
                <a:spcPts val="0"/>
              </a:spcBef>
              <a:spcAft>
                <a:spcPts val="0"/>
              </a:spcAft>
              <a:buSzPts val="1400"/>
              <a:buNone/>
            </a:pPr>
            <a:r>
              <a:t>| Model calls / tokens | PENDING | PENDING | PENDING |</a:t>
            </a:r>
            <a:endParaRPr/>
          </a:p>
          <a:p xmlns:a="http://schemas.openxmlformats.org/drawingml/2006/main">
            <a:pPr marL="0" lvl="0" indent="0" algn="l">
              <a:lnSpc>
                <a:spcPct val="100000"/>
              </a:lnSpc>
              <a:spcBef>
                <a:spcPts val="0"/>
              </a:spcBef>
              <a:spcAft>
                <a:spcPts val="0"/>
              </a:spcAft>
              <a:buSzPts val="1400"/>
              <a:buNone/>
            </a:pPr>
            <a:r>
              <a:t>| Wall latency, including barrier if reported | PENDING | PENDING | PENDING |</a:t>
            </a:r>
            <a:endParaRPr/>
          </a:p>
          <a:p xmlns:a="http://schemas.openxmlformats.org/drawingml/2006/main">
            <a:pPr marL="0" lvl="0" indent="0" algn="l">
              <a:lnSpc>
                <a:spcPct val="100000"/>
              </a:lnSpc>
              <a:spcBef>
                <a:spcPts val="0"/>
              </a:spcBef>
              <a:spcAft>
                <a:spcPts val="0"/>
              </a:spcAft>
              <a:buSzPts val="1400"/>
              <a:buNone/>
            </a:pPr>
            <a:r>
              <a:t>| Reflection/corrections | Route excluded | Route dependent | PENDING |</a:t>
            </a:r>
            <a:endParaRPr/>
          </a:p>
          <a:p xmlns:a="http://schemas.openxmlformats.org/drawingml/2006/main">
            <a:pPr marL="0" lvl="0" indent="0" algn="l">
              <a:lnSpc>
                <a:spcPct val="100000"/>
              </a:lnSpc>
              <a:spcBef>
                <a:spcPts val="0"/>
              </a:spcBef>
              <a:spcAft>
                <a:spcPts val="0"/>
              </a:spcAft>
              <a:buSzPts val="1400"/>
              <a:buNone/>
            </a:pPr>
            <a:r>
              <a:t>| Maintenance admitted/completed/failed | Task/policy dependent | Task/policy dependent | PENDING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expected answer belongs to scoring. Every cell above must come from saved outputs rather than a manually scripted demonstration narrative.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7.6 Demo orchestration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freeze synthetic scenario and evaluator-owned expectations</a:t>
            </a:r>
            <a:endParaRPr/>
          </a:p>
          <a:p xmlns:a="http://schemas.openxmlformats.org/drawingml/2006/main">
            <a:pPr marL="0" lvl="0" indent="0" algn="l">
              <a:lnSpc>
                <a:spcPct val="100000"/>
              </a:lnSpc>
              <a:spcBef>
                <a:spcPts val="0"/>
              </a:spcBef>
              <a:spcAft>
                <a:spcPts val="0"/>
              </a:spcAft>
              <a:buSzPts val="1400"/>
              <a:buNone/>
            </a:pPr>
            <a:r>
              <a:t>record source/model/environment identities</a:t>
            </a:r>
            <a:endParaRPr/>
          </a:p>
          <a:p xmlns:a="http://schemas.openxmlformats.org/drawingml/2006/main">
            <a:pPr marL="0" lvl="0" indent="0" algn="l">
              <a:lnSpc>
                <a:spcPct val="100000"/>
              </a:lnSpc>
              <a:spcBef>
                <a:spcPts val="0"/>
              </a:spcBef>
              <a:spcAft>
                <a:spcPts val="0"/>
              </a:spcAft>
              <a:buSzPts val="1400"/>
              <a:buNone/>
            </a:pPr>
            <a:r>
              <a:t>for profile in [model_only, simple_rag, prima_full]:</a:t>
            </a:r>
            <a:endParaRPr/>
          </a:p>
          <a:p xmlns:a="http://schemas.openxmlformats.org/drawingml/2006/main">
            <a:pPr marL="0" lvl="0" indent="0" algn="l">
              <a:lnSpc>
                <a:spcPct val="100000"/>
              </a:lnSpc>
              <a:spcBef>
                <a:spcPts val="0"/>
              </a:spcBef>
              <a:spcAft>
                <a:spcPts val="0"/>
              </a:spcAft>
              <a:buSzPts val="1400"/>
              <a:buNone/>
            </a:pPr>
            <a:r>
              <a:t>    create fresh isolated runtime, repository, and state</a:t>
            </a:r>
            <a:endParaRPr/>
          </a:p>
          <a:p xmlns:a="http://schemas.openxmlformats.org/drawingml/2006/main">
            <a:pPr marL="0" lvl="0" indent="0" algn="l">
              <a:lnSpc>
                <a:spcPct val="100000"/>
              </a:lnSpc>
              <a:spcBef>
                <a:spcPts val="0"/>
              </a:spcBef>
              <a:spcAft>
                <a:spcPts val="0"/>
              </a:spcAft>
              <a:buSzPts val="1400"/>
              <a:buNone/>
            </a:pPr>
            <a:r>
              <a:t>    seed the declared evidence protocol consistently</a:t>
            </a:r>
            <a:endParaRPr/>
          </a:p>
          <a:p xmlns:a="http://schemas.openxmlformats.org/drawingml/2006/main">
            <a:pPr marL="0" lvl="0" indent="0" algn="l">
              <a:lnSpc>
                <a:spcPct val="100000"/>
              </a:lnSpc>
              <a:spcBef>
                <a:spcPts val="0"/>
              </a:spcBef>
              <a:spcAft>
                <a:spcPts val="0"/>
              </a:spcAft>
              <a:buSzPts val="1400"/>
              <a:buNone/>
            </a:pPr>
            <a:r>
              <a:t>    execute identical QA request with fixed budgets/settings</a:t>
            </a:r>
            <a:endParaRPr/>
          </a:p>
          <a:p xmlns:a="http://schemas.openxmlformats.org/drawingml/2006/main">
            <a:pPr marL="0" lvl="0" indent="0" algn="l">
              <a:lnSpc>
                <a:spcPct val="100000"/>
              </a:lnSpc>
              <a:spcBef>
                <a:spcPts val="0"/>
              </a:spcBef>
              <a:spcAft>
                <a:spcPts val="0"/>
              </a:spcAft>
              <a:buSzPts val="1400"/>
              <a:buNone/>
            </a:pPr>
            <a:r>
              <a:t>    await task-appropriate maintenance boundary</a:t>
            </a:r>
            <a:endParaRPr/>
          </a:p>
          <a:p xmlns:a="http://schemas.openxmlformats.org/drawingml/2006/main">
            <a:pPr marL="0" lvl="0" indent="0" algn="l">
              <a:lnSpc>
                <a:spcPct val="100000"/>
              </a:lnSpc>
              <a:spcBef>
                <a:spcPts val="0"/>
              </a:spcBef>
              <a:spcAft>
                <a:spcPts val="0"/>
              </a:spcAft>
              <a:buSzPts val="1400"/>
              <a:buNone/>
            </a:pPr>
            <a:r>
              <a:t>    save full typed response and active backend diagnostics</a:t>
            </a:r>
            <a:endParaRPr/>
          </a:p>
          <a:p xmlns:a="http://schemas.openxmlformats.org/drawingml/2006/main">
            <a:pPr marL="0" lvl="0" indent="0" algn="l">
              <a:lnSpc>
                <a:spcPct val="100000"/>
              </a:lnSpc>
              <a:spcBef>
                <a:spcPts val="0"/>
              </a:spcBef>
              <a:spcAft>
                <a:spcPts val="0"/>
              </a:spcAft>
              <a:buSzPts val="1400"/>
              <a:buNone/>
            </a:pPr>
            <a:r>
              <a:t>    score only after inference using evaluator-owned gold</a:t>
            </a:r>
            <a:endParaRPr/>
          </a:p>
          <a:p xmlns:a="http://schemas.openxmlformats.org/drawingml/2006/main">
            <a:pPr marL="0" lvl="0" indent="0" algn="l">
              <a:lnSpc>
                <a:spcPct val="100000"/>
              </a:lnSpc>
              <a:spcBef>
                <a:spcPts val="0"/>
              </a:spcBef>
              <a:spcAft>
                <a:spcPts val="0"/>
              </a:spcAft>
              <a:buSzPts val="1400"/>
              <a:buNone/>
            </a:pPr>
            <a:r>
              <a:t>run scenario-specific ingestion/replay/affect/tool requests</a:t>
            </a:r>
            <a:endParaRPr/>
          </a:p>
          <a:p xmlns:a="http://schemas.openxmlformats.org/drawingml/2006/main">
            <a:pPr marL="0" lvl="0" indent="0" algn="l">
              <a:lnSpc>
                <a:spcPct val="100000"/>
              </a:lnSpc>
              <a:spcBef>
                <a:spcPts val="0"/>
              </a:spcBef>
              <a:spcAft>
                <a:spcPts val="0"/>
              </a:spcAft>
              <a:buSzPts val="1400"/>
              <a:buNone/>
            </a:pPr>
            <a:r>
              <a:t>run labeled deterministic reflection and fault cases separately</a:t>
            </a:r>
            <a:endParaRPr/>
          </a:p>
          <a:p xmlns:a="http://schemas.openxmlformats.org/drawingml/2006/main">
            <a:pPr marL="0" lvl="0" indent="0" algn="l">
              <a:lnSpc>
                <a:spcPct val="100000"/>
              </a:lnSpc>
              <a:spcBef>
                <a:spcPts val="0"/>
              </a:spcBef>
              <a:spcAft>
                <a:spcPts val="0"/>
              </a:spcAft>
              <a:buSzPts val="1400"/>
              <a:buNone/>
            </a:pPr>
            <a:r>
              <a:t>reconcile planned, executed, not-executed, and skipped components</a:t>
            </a:r>
            <a:endParaRPr/>
          </a:p>
          <a:p xmlns:a="http://schemas.openxmlformats.org/drawingml/2006/main">
            <a:pPr marL="0" lvl="0" indent="0" algn="l">
              <a:lnSpc>
                <a:spcPct val="100000"/>
              </a:lnSpc>
              <a:spcBef>
                <a:spcPts val="0"/>
              </a:spcBef>
              <a:spcAft>
                <a:spcPts val="0"/>
              </a:spcAft>
              <a:buSzPts val="1400"/>
              <a:buNone/>
            </a:pPr>
            <a:r>
              <a:t>validate artifact coverage and redact secrets</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7.7 Assertions required in the eventual runnable script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Unsupported routes/control overrides fail before unintended work.</a:t>
            </a:r>
            <a:endParaRPr/>
          </a:p>
          <a:p xmlns:a="http://schemas.openxmlformats.org/drawingml/2006/main">
            <a:pPr marL="0" lvl="0" indent="0" algn="l">
              <a:lnSpc>
                <a:spcPct val="100000"/>
              </a:lnSpc>
              <a:spcBef>
                <a:spcPts val="0"/>
              </a:spcBef>
              <a:spcAft>
                <a:spcPts val="0"/>
              </a:spcAft>
              <a:buSzPts val="1400"/>
              <a:buNone/>
            </a:pPr>
            <a:r>
              <a:t>2. Ingestion/replay does not call answer generation.</a:t>
            </a:r>
            <a:endParaRPr/>
          </a:p>
          <a:p xmlns:a="http://schemas.openxmlformats.org/drawingml/2006/main">
            <a:pPr marL="0" lvl="0" indent="0" algn="l">
              <a:lnSpc>
                <a:spcPct val="100000"/>
              </a:lnSpc>
              <a:spcBef>
                <a:spcPts val="0"/>
              </a:spcBef>
              <a:spcAft>
                <a:spcPts val="0"/>
              </a:spcAft>
              <a:buSzPts val="1400"/>
              <a:buNone/>
            </a:pPr>
            <a:r>
              <a:t>3. Model-only does not execute retrieval.</a:t>
            </a:r>
            <a:endParaRPr/>
          </a:p>
          <a:p xmlns:a="http://schemas.openxmlformats.org/drawingml/2006/main">
            <a:pPr marL="0" lvl="0" indent="0" algn="l">
              <a:lnSpc>
                <a:spcPct val="100000"/>
              </a:lnSpc>
              <a:spcBef>
                <a:spcPts val="0"/>
              </a:spcBef>
              <a:spcAft>
                <a:spcPts val="0"/>
              </a:spcAft>
              <a:buSzPts val="1400"/>
              <a:buNone/>
            </a:pPr>
            <a:r>
              <a:t>4. Simple RAG excludes temporal/graph responsibilities selected only by full routes.</a:t>
            </a:r>
            <a:endParaRPr/>
          </a:p>
          <a:p xmlns:a="http://schemas.openxmlformats.org/drawingml/2006/main">
            <a:pPr marL="0" lvl="0" indent="0" algn="l">
              <a:lnSpc>
                <a:spcPct val="100000"/>
              </a:lnSpc>
              <a:spcBef>
                <a:spcPts val="0"/>
              </a:spcBef>
              <a:spcAft>
                <a:spcPts val="0"/>
              </a:spcAft>
              <a:buSzPts val="1400"/>
              <a:buNone/>
            </a:pPr>
            <a:r>
              <a:t>5. Planned components reconcile with executed and not-executed components, and execution respects capabilities.</a:t>
            </a:r>
            <a:endParaRPr/>
          </a:p>
          <a:p xmlns:a="http://schemas.openxmlformats.org/drawingml/2006/main">
            <a:pPr marL="0" lvl="0" indent="0" algn="l">
              <a:lnSpc>
                <a:spcPct val="100000"/>
              </a:lnSpc>
              <a:spcBef>
                <a:spcPts val="0"/>
              </a:spcBef>
              <a:spcAft>
                <a:spcPts val="0"/>
              </a:spcAft>
              <a:buSzPts val="1400"/>
              <a:buNone/>
            </a:pPr>
            <a:r>
              <a:t>6. Returned citations map to the actual selected evidence.</a:t>
            </a:r>
            <a:endParaRPr/>
          </a:p>
          <a:p xmlns:a="http://schemas.openxmlformats.org/drawingml/2006/main">
            <a:pPr marL="0" lvl="0" indent="0" algn="l">
              <a:lnSpc>
                <a:spcPct val="100000"/>
              </a:lnSpc>
              <a:spcBef>
                <a:spcPts val="0"/>
              </a:spcBef>
              <a:spcAft>
                <a:spcPts val="0"/>
              </a:spcAft>
              <a:buSzPts val="1400"/>
              <a:buNone/>
            </a:pPr>
            <a:r>
              <a:t>7. Reflection respects correction budgets and records actual changes.</a:t>
            </a:r>
            <a:endParaRPr/>
          </a:p>
          <a:p xmlns:a="http://schemas.openxmlformats.org/drawingml/2006/main">
            <a:pPr marL="0" lvl="0" indent="0" algn="l">
              <a:lnSpc>
                <a:spcPct val="100000"/>
              </a:lnSpc>
              <a:spcBef>
                <a:spcPts val="0"/>
              </a:spcBef>
              <a:spcAft>
                <a:spcPts val="0"/>
              </a:spcAft>
              <a:buSzPts val="1400"/>
              <a:buNone/>
            </a:pPr>
            <a:r>
              <a:t>8. Tool requests do not accidentally invoke answer generation. Invalid/disallowed invocations remain blocked.</a:t>
            </a:r>
            <a:endParaRPr/>
          </a:p>
          <a:p xmlns:a="http://schemas.openxmlformats.org/drawingml/2006/main">
            <a:pPr marL="0" lvl="0" indent="0" algn="l">
              <a:lnSpc>
                <a:spcPct val="100000"/>
              </a:lnSpc>
              <a:spcBef>
                <a:spcPts val="0"/>
              </a:spcBef>
              <a:spcAft>
                <a:spcPts val="0"/>
              </a:spcAft>
              <a:buSzPts val="1400"/>
              <a:buNone/>
            </a:pPr>
            <a:r>
              <a:t>9. State versions and task-appropriate memory effects are observable.</a:t>
            </a:r>
            <a:endParaRPr/>
          </a:p>
          <a:p xmlns:a="http://schemas.openxmlformats.org/drawingml/2006/main">
            <a:pPr marL="0" lvl="0" indent="0" algn="l">
              <a:lnSpc>
                <a:spcPct val="100000"/>
              </a:lnSpc>
              <a:spcBef>
                <a:spcPts val="0"/>
              </a:spcBef>
              <a:spcAft>
                <a:spcPts val="0"/>
              </a:spcAft>
              <a:buSzPts val="1400"/>
              <a:buNone/>
            </a:pPr>
            <a:r>
              <a:t>10. Maintenance completes or reports failures explicitly before claiming a completed demo stage.</a:t>
            </a:r>
            <a:endParaRPr/>
          </a:p>
          <a:p xmlns:a="http://schemas.openxmlformats.org/drawingml/2006/main">
            <a:pPr marL="0" lvl="0" indent="0" algn="l">
              <a:lnSpc>
                <a:spcPct val="100000"/>
              </a:lnSpc>
              <a:spcBef>
                <a:spcPts val="0"/>
              </a:spcBef>
              <a:spcAft>
                <a:spcPts val="0"/>
              </a:spcAft>
              <a:buSzPts val="1400"/>
              <a:buNone/>
            </a:pPr>
            <a:r>
              <a:t>11. Provider/schema/store failures do not become invented success.</a:t>
            </a:r>
            <a:endParaRPr/>
          </a:p>
          <a:p xmlns:a="http://schemas.openxmlformats.org/drawingml/2006/main">
            <a:pPr marL="0" lvl="0" indent="0" algn="l">
              <a:lnSpc>
                <a:spcPct val="100000"/>
              </a:lnSpc>
              <a:spcBef>
                <a:spcPts val="0"/>
              </a:spcBef>
              <a:spcAft>
                <a:spcPts val="0"/>
              </a:spcAft>
              <a:buSzPts val="1400"/>
              <a:buNone/>
            </a:pPr>
            <a:r>
              <a:t>12. Gold expectations remain outside inference requests/prompts/telemetry.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scaffolding: runtime integration, release fault injection, correction tests, tool tests, maintenance barriers.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C:/PRIMA_next/tests/integration/test_runtime_pipeline.py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Paired comparison controls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 Slide 7, part A: one-scenario demonstration and comparison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Status: proposed demo specification, not a completed demo run. The previous panel's suggestion is best satisfied with one connected scenario, several task-appropriate requests, and one exported evidence bundle. A single factual-QA request intentionally cannot exercise ingestion, conversation admission, emotion-only classification, and tool-only execution together.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7.1 Sample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synthetic data so the demo can be shared without exposing personal information. Freeze the wording and stable source IDs before rehearsal.</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Source ID | Synthetic history/document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S1 | [2026-09-01] Alex: I am working on Project Atlas. Mira is my project mentor. Please remember my important goal: finish the Atlas prototype. |</a:t>
            </a:r>
            <a:endParaRPr/>
          </a:p>
          <a:p xmlns:a="http://schemas.openxmlformats.org/drawingml/2006/main">
            <a:pPr marL="0" lvl="0" indent="0" algn="l">
              <a:lnSpc>
                <a:spcPct val="100000"/>
              </a:lnSpc>
              <a:spcBef>
                <a:spcPts val="0"/>
              </a:spcBef>
              <a:spcAft>
                <a:spcPts val="0"/>
              </a:spcAft>
              <a:buSzPts val="1400"/>
              <a:buNone/>
            </a:pPr>
            <a:r>
              <a:t>| S2 | [2026-09-03] Mira's office is in Pune. Mira reviews Project Atlas every Friday. |</a:t>
            </a:r>
            <a:endParaRPr/>
          </a:p>
          <a:p xmlns:a="http://schemas.openxmlformats.org/drawingml/2006/main">
            <a:pPr marL="0" lvl="0" indent="0" algn="l">
              <a:lnSpc>
                <a:spcPct val="100000"/>
              </a:lnSpc>
              <a:spcBef>
                <a:spcPts val="0"/>
              </a:spcBef>
              <a:spcAft>
                <a:spcPts val="0"/>
              </a:spcAft>
              <a:buSzPts val="1400"/>
              <a:buNone/>
            </a:pPr>
            <a:r>
              <a:t>| S3 | [2026-09-05] Alex: I used to prefer long explanations. I now prefer concise summaries for Project Atlas. |</a:t>
            </a:r>
            <a:endParaRPr/>
          </a:p>
          <a:p xmlns:a="http://schemas.openxmlformats.org/drawingml/2006/main">
            <a:pPr marL="0" lvl="0" indent="0" algn="l">
              <a:lnSpc>
                <a:spcPct val="100000"/>
              </a:lnSpc>
              <a:spcBef>
                <a:spcPts val="0"/>
              </a:spcBef>
              <a:spcAft>
                <a:spcPts val="0"/>
              </a:spcAft>
              <a:buSzPts val="1400"/>
              <a:buNone/>
            </a:pPr>
            <a:r>
              <a:t>| S4 | [2026-09-06] Alex: I feel anxious about the Project Atlas review because the prototype is unfinished. |</a:t>
            </a:r>
            <a:endParaRPr/>
          </a:p>
          <a:p xmlns:a="http://schemas.openxmlformats.org/drawingml/2006/main">
            <a:pPr marL="0" lvl="0" indent="0" algn="l">
              <a:lnSpc>
                <a:spcPct val="100000"/>
              </a:lnSpc>
              <a:spcBef>
                <a:spcPts val="0"/>
              </a:spcBef>
              <a:spcAft>
                <a:spcPts val="0"/>
              </a:spcAft>
              <a:buSzPts val="1400"/>
              <a:buNone/>
            </a:pPr>
            <a:r>
              <a:t>| S5 | [2026-09-07] Alex: The Project Atlas prototype passed its local checks. I feel excited and relieved. |</a:t>
            </a:r>
            <a:endParaRPr/>
          </a:p>
          <a:p xmlns:a="http://schemas.openxmlformats.org/drawingml/2006/main">
            <a:pPr marL="0" lvl="0" indent="0" algn="l">
              <a:lnSpc>
                <a:spcPct val="100000"/>
              </a:lnSpc>
              <a:spcBef>
                <a:spcPts val="0"/>
              </a:spcBef>
              <a:spcAft>
                <a:spcPts val="0"/>
              </a:spcAft>
              <a:buSzPts val="1400"/>
              <a:buNone/>
            </a:pPr>
            <a:r>
              <a:t>| D1 | Distractor: Dev mentors Project Beacon from Mumbai. Project Beacon is unrelated to Project Atlas. |</a:t>
            </a:r>
            <a:endParaRPr/>
          </a:p>
          <a:p xmlns:a="http://schemas.openxmlformats.org/drawingml/2006/main">
            <a:pPr marL="0" lvl="0" indent="0" algn="l">
              <a:lnSpc>
                <a:spcPct val="100000"/>
              </a:lnSpc>
              <a:spcBef>
                <a:spcPts val="0"/>
              </a:spcBef>
              <a:spcAft>
                <a:spcPts val="0"/>
              </a:spcAft>
              <a:buSzPts val="1400"/>
              <a:buNone/>
            </a:pPr>
            <a:r>
              <a:t>| D2 | Distractor: An older Atlas travel brochure mentions Mumbai. It does not describe Alex's mentor.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comparison question: "Which city is Alex's Project Atlas mentor based in?"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Evaluator-owned expected answer: Pune, supported by the Alex - Mira link in S1 and Mira - Pune link in S2. Do not add this expected answer or supporting-source IDs to model request metadata. The source records themselves may be supplied as ordinary evidence. S3 - S5 support temporal/preference/affect demonstrations in the same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current lexical sufficiency heuristic may reject this multi-hop wording despite relevant evidence. That is useful failure evidence. Record it, diagnose its stage, and avoid secretly simplifying only the PRIMA question to get a better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7.2 Two demonstration tracks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Functional track: deterministic injected provider and controlled branch conditions prove execution plumbing. Clearly label provider responses and forced uncertainty as synthetic. Existing tests already use injected responses and low-confidence estimators. This track can show error handling even when a real endpoint is unavailable.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Quality track: run the same frozen sample using a configured real model and record actual outputs. Use matched generation settings and native scoring. This track can provide an illustrative baseline comparison, but one scenario is insufficient for a research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Do not mix functional-track scripted answers into the real-model comparison table. A fake provider returning "Pune" does not show the model inferred the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7.3 Demo sequence, visible outputs, and narration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Step | Request / operation | What must be visible | What to say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0. Freeze setup | Record source commit, dependency versions, sample hash, seed, active backends/model/revision. Use isolated demo stores. | A manifest with real/fake provider label, source IDs, settings. | "This is the exact configuration and input used in all comparisons." |</a:t>
            </a:r>
            <a:endParaRPr/>
          </a:p>
          <a:p xmlns:a="http://schemas.openxmlformats.org/drawingml/2006/main">
            <a:pPr marL="0" lvl="0" indent="0" algn="l">
              <a:lnSpc>
                <a:spcPct val="100000"/>
              </a:lnSpc>
              <a:spcBef>
                <a:spcPts val="0"/>
              </a:spcBef>
              <a:spcAft>
                <a:spcPts val="0"/>
              </a:spcAft>
              <a:buSzPts val="1400"/>
              <a:buNone/>
            </a:pPr>
            <a:r>
              <a:t>| 1. Invalid request | Attempt an unsupported task/profile pair and reserved-control metadata. | Validation rejection / typed rejected result, no unintended execution. | "The public boundary rejects incompatible routes and control overrides." |</a:t>
            </a:r>
            <a:endParaRPr/>
          </a:p>
          <a:p xmlns:a="http://schemas.openxmlformats.org/drawingml/2006/main">
            <a:pPr marL="0" lvl="0" indent="0" algn="l">
              <a:lnSpc>
                <a:spcPct val="100000"/>
              </a:lnSpc>
              <a:spcBef>
                <a:spcPts val="0"/>
              </a:spcBef>
              <a:spcAft>
                <a:spcPts val="0"/>
              </a:spcAft>
              <a:buSzPts val="1400"/>
              <a:buNone/>
            </a:pPr>
            <a:r>
              <a:t>| 2. Ingest history | Submit frozen records through DOCUMENT_INGESTION/INGESTION_ONLY for a fixed-store comparison. Separately replay history through HISTORICAL_REPLAY/PRIMA_FULL to show admission/state behavior. | Memory IDs, content provenance, task outcome, no LLM calls during ingestion/replay. | "Explicit ingestion and selective historical admission are different experiments." |</a:t>
            </a:r>
            <a:endParaRPr/>
          </a:p>
          <a:p xmlns:a="http://schemas.openxmlformats.org/drawingml/2006/main">
            <a:pPr marL="0" lvl="0" indent="0" algn="l">
              <a:lnSpc>
                <a:spcPct val="100000"/>
              </a:lnSpc>
              <a:spcBef>
                <a:spcPts val="0"/>
              </a:spcBef>
              <a:spcAft>
                <a:spcPts val="0"/>
              </a:spcAft>
              <a:buSzPts val="1400"/>
              <a:buNone/>
            </a:pPr>
            <a:r>
              <a:t>| 3. Affect | Process S4 then S5 using the same dedicated scenario session. Optionally classify one utterance through AFFECT_ONLY. | Label scores, PAD, temporal momentum/history, active classifier. | "These are text-derived emotional signals. Here is how the signal changes over time." |</a:t>
            </a:r>
            <a:endParaRPr/>
          </a:p>
          <a:p xmlns:a="http://schemas.openxmlformats.org/drawingml/2006/main">
            <a:pPr marL="0" lvl="0" indent="0" algn="l">
              <a:lnSpc>
                <a:spcPct val="100000"/>
              </a:lnSpc>
              <a:spcBef>
                <a:spcPts val="0"/>
              </a:spcBef>
              <a:spcAft>
                <a:spcPts val="0"/>
              </a:spcAft>
              <a:buSzPts val="1400"/>
              <a:buNone/>
            </a:pPr>
            <a:r>
              <a:t>| 4. Admission | Inspect scores/reasons from replay and an additional low-value synthetic turn. | Stored/rejected decision, threshold, component scores, before/after memory counts. | "Useful-memory selection is explicit. We report the actual outcome instead of assuming every turn is stored." |</a:t>
            </a:r>
            <a:endParaRPr/>
          </a:p>
          <a:p xmlns:a="http://schemas.openxmlformats.org/drawingml/2006/main">
            <a:pPr marL="0" lvl="0" indent="0" algn="l">
              <a:lnSpc>
                <a:spcPct val="100000"/>
              </a:lnSpc>
              <a:spcBef>
                <a:spcPts val="0"/>
              </a:spcBef>
              <a:spcAft>
                <a:spcPts val="0"/>
              </a:spcAft>
              <a:buSzPts val="1400"/>
              <a:buNone/>
            </a:pPr>
            <a:r>
              <a:t>| 5. Three-profile QA | Ask the identical primary question in fresh, equivalent runtime/store instances for each profile. | Output, abstention/failure, retrieved IDs, calls, latency, tokens. | "We change the profile while fixing the model and experiment conditions." |</a:t>
            </a:r>
            <a:endParaRPr/>
          </a:p>
          <a:p xmlns:a="http://schemas.openxmlformats.org/drawingml/2006/main">
            <a:pPr marL="0" lvl="0" indent="0" algn="l">
              <a:lnSpc>
                <a:spcPct val="100000"/>
              </a:lnSpc>
              <a:spcBef>
                <a:spcPts val="0"/>
              </a:spcBef>
              <a:spcAft>
                <a:spcPts val="0"/>
              </a:spcAft>
              <a:buSzPts val="1400"/>
              <a:buNone/>
            </a:pPr>
            <a:r>
              <a:t>| 6. Retrieval internals | Expand full-route trace for the QA request. | Dense/sparse/temporal/graph candidates, fusion/reranking, compressed context/source mapping, insufficiency reason if any. | "This shows where the evidence entered or disappeared." |</a:t>
            </a:r>
            <a:endParaRPr/>
          </a:p>
          <a:p xmlns:a="http://schemas.openxmlformats.org/drawingml/2006/main">
            <a:pPr marL="0" lvl="0" indent="0" algn="l">
              <a:lnSpc>
                <a:spcPct val="100000"/>
              </a:lnSpc>
              <a:spcBef>
                <a:spcPts val="0"/>
              </a:spcBef>
              <a:spcAft>
                <a:spcPts val="0"/>
              </a:spcAft>
              <a:buSzPts val="1400"/>
              <a:buNone/>
            </a:pPr>
            <a:r>
              <a:t>| 7. Planning/world/uncertainty | Inspect a full conversation or tool route in this story. | Plan/actions, symbolic predictions, available confidence signals, selected decision. | "These deterministic components expose intended actions and uncertainty. Their scores need empirical validation." |</a:t>
            </a:r>
            <a:endParaRPr/>
          </a:p>
          <a:p xmlns:a="http://schemas.openxmlformats.org/drawingml/2006/main">
            <a:pPr marL="0" lvl="0" indent="0" algn="l">
              <a:lnSpc>
                <a:spcPct val="100000"/>
              </a:lnSpc>
              <a:spcBef>
                <a:spcPts val="0"/>
              </a:spcBef>
              <a:spcAft>
                <a:spcPts val="0"/>
              </a:spcAft>
              <a:buSzPts val="1400"/>
              <a:buNone/>
            </a:pPr>
            <a:r>
              <a:t>| 8. Reflection | First show natural trigger behavior. In functional track only, inject a low-confidence/wrong-query condition with a visible label. | Advice, budget check, accepted/rejected correction, before/after query/evidence/output. | "This branch is conditional. The injected case proves the correction mechanism, not natural-model improvement." |</a:t>
            </a:r>
            <a:endParaRPr/>
          </a:p>
          <a:p xmlns:a="http://schemas.openxmlformats.org/drawingml/2006/main">
            <a:pPr marL="0" lvl="0" indent="0" algn="l">
              <a:lnSpc>
                <a:spcPct val="100000"/>
              </a:lnSpc>
              <a:spcBef>
                <a:spcPts val="0"/>
              </a:spcBef>
              <a:spcAft>
                <a:spcPts val="0"/>
              </a:spcAft>
              <a:buSzPts val="1400"/>
              <a:buNone/>
            </a:pPr>
            <a:r>
              <a:t>| 9. Controlled tool | Register a harmless local calculator/formatter using existing tool contracts. Permit only that tool. Demonstrate valid and blocked/invalid invocations. | Schema checks, policy audit, typed result, no external side effects. | "Only a registered, validated, allowlisted operation runs." |</a:t>
            </a:r>
            <a:endParaRPr/>
          </a:p>
          <a:p xmlns:a="http://schemas.openxmlformats.org/drawingml/2006/main">
            <a:pPr marL="0" lvl="0" indent="0" algn="l">
              <a:lnSpc>
                <a:spcPct val="100000"/>
              </a:lnSpc>
              <a:spcBef>
                <a:spcPts val="0"/>
              </a:spcBef>
              <a:spcAft>
                <a:spcPts val="0"/>
              </a:spcAft>
              <a:buSzPts val="1400"/>
              <a:buNone/>
            </a:pPr>
            <a:r>
              <a:t>| 10. Generation/validation | Show selected evidence labels in request and parsed citations in response. Force malformed output separately in functional track. | Actual generated response or explicit failure, mapped source IDs, no fabricated fallback. | "A failed provider/schema call remains a failure." |</a:t>
            </a:r>
            <a:endParaRPr/>
          </a:p>
          <a:p xmlns:a="http://schemas.openxmlformats.org/drawingml/2006/main">
            <a:pPr marL="0" lvl="0" indent="0" algn="l">
              <a:lnSpc>
                <a:spcPct val="100000"/>
              </a:lnSpc>
              <a:spcBef>
                <a:spcPts val="0"/>
              </a:spcBef>
              <a:spcAft>
                <a:spcPts val="0"/>
              </a:spcAft>
              <a:buSzPts val="1400"/>
              <a:buNone/>
            </a:pPr>
            <a:r>
              <a:t>| 11. State/maintenance | Show version increment and task-appropriate memory changes. Await the existing maintenance barrier. | Pending/completed/failed counts and derived memory/graph changes. | "Admission and completed background work are separate facts." |</a:t>
            </a:r>
            <a:endParaRPr/>
          </a:p>
          <a:p xmlns:a="http://schemas.openxmlformats.org/drawingml/2006/main">
            <a:pPr marL="0" lvl="0" indent="0" algn="l">
              <a:lnSpc>
                <a:spcPct val="100000"/>
              </a:lnSpc>
              <a:spcBef>
                <a:spcPts val="0"/>
              </a:spcBef>
              <a:spcAft>
                <a:spcPts val="0"/>
              </a:spcAft>
              <a:buSzPts val="1400"/>
              <a:buNone/>
            </a:pPr>
            <a:r>
              <a:t>| 12. Export | Save manifest, per-request typed responses, traces, evaluator records, comparison, test output, checksums. | One reproducible demo bundle with no secrets. | "Every claim shown on screen has a corresponding saved artifact."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7.4 Fair comparisons: separate what changes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A, fixed-store retrieval/control: give simple RAG and full PRIMA identical ingested records and compatible backend/settings. Model-only remains the no-retrieval baseline. Its lack of private memory is the intended distinction. If a long-context baseline is desired, give it the same history explicitly and label it separately. This comparison isolates route-level differences more clearly than simultaneously changing memory admission.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B, historical memory formation: replay identical history using declared admission policies, then compare the resulting stores and later QA. This measures the combined effect of admission/maintenance/retrieval. Do not attribute its whole delta only to graph or affect.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C, component ablation: keep all else fixed and disable one component, such as affect modulation, graph retrieval, or reflection. Use development cases and freeze the final settings before held-out evaluation. Existing profiles are not automatically single-component ablations.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Keep model/revision, source IDs/order, seed, generation settings, context limit, retry policy, scorer, and environment fixed. Reset state/stores between variants to prevent earlier answers contaminating later ones. Use one dedicated runtime/store per principal for the demo. Record warm/cold model state when timing.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7.5 Comparison table to fill from actual runs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Item | Model only | Simple RAG | Full PRIMA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Primary answer | PENDING | PENDING | PENDING |</a:t>
            </a:r>
            <a:endParaRPr/>
          </a:p>
          <a:p xmlns:a="http://schemas.openxmlformats.org/drawingml/2006/main">
            <a:pPr marL="0" lvl="0" indent="0" algn="l">
              <a:lnSpc>
                <a:spcPct val="100000"/>
              </a:lnSpc>
              <a:spcBef>
                <a:spcPts val="0"/>
              </a:spcBef>
              <a:spcAft>
                <a:spcPts val="0"/>
              </a:spcAft>
              <a:buSzPts val="1400"/>
              <a:buNone/>
            </a:pPr>
            <a:r>
              <a:t>| Outcome: answered/abstained/failed | PENDING | PENDING | PENDING |</a:t>
            </a:r>
            <a:endParaRPr/>
          </a:p>
          <a:p xmlns:a="http://schemas.openxmlformats.org/drawingml/2006/main">
            <a:pPr marL="0" lvl="0" indent="0" algn="l">
              <a:lnSpc>
                <a:spcPct val="100000"/>
              </a:lnSpc>
              <a:spcBef>
                <a:spcPts val="0"/>
              </a:spcBef>
              <a:spcAft>
                <a:spcPts val="0"/>
              </a:spcAft>
              <a:buSzPts val="1400"/>
              <a:buNone/>
            </a:pPr>
            <a:r>
              <a:t>| Exact match / token F1 | PENDING | PENDING | PENDING |</a:t>
            </a:r>
            <a:endParaRPr/>
          </a:p>
          <a:p xmlns:a="http://schemas.openxmlformats.org/drawingml/2006/main">
            <a:pPr marL="0" lvl="0" indent="0" algn="l">
              <a:lnSpc>
                <a:spcPct val="100000"/>
              </a:lnSpc>
              <a:spcBef>
                <a:spcPts val="0"/>
              </a:spcBef>
              <a:spcAft>
                <a:spcPts val="0"/>
              </a:spcAft>
              <a:buSzPts val="1400"/>
              <a:buNone/>
            </a:pPr>
            <a:r>
              <a:t>| Supporting-source recall | N/A, no retrieval | PENDING | PENDING |</a:t>
            </a:r>
            <a:endParaRPr/>
          </a:p>
          <a:p xmlns:a="http://schemas.openxmlformats.org/drawingml/2006/main">
            <a:pPr marL="0" lvl="0" indent="0" algn="l">
              <a:lnSpc>
                <a:spcPct val="100000"/>
              </a:lnSpc>
              <a:spcBef>
                <a:spcPts val="0"/>
              </a:spcBef>
              <a:spcAft>
                <a:spcPts val="0"/>
              </a:spcAft>
              <a:buSzPts val="1400"/>
              <a:buNone/>
            </a:pPr>
            <a:r>
              <a:t>| Final evidence/citations | N/A or explicitly supplied context | PENDING | PENDING |</a:t>
            </a:r>
            <a:endParaRPr/>
          </a:p>
          <a:p xmlns:a="http://schemas.openxmlformats.org/drawingml/2006/main">
            <a:pPr marL="0" lvl="0" indent="0" algn="l">
              <a:lnSpc>
                <a:spcPct val="100000"/>
              </a:lnSpc>
              <a:spcBef>
                <a:spcPts val="0"/>
              </a:spcBef>
              <a:spcAft>
                <a:spcPts val="0"/>
              </a:spcAft>
              <a:buSzPts val="1400"/>
              <a:buNone/>
            </a:pPr>
            <a:r>
              <a:t>| Retrieval calls / returned sources | Expected zero retrieval | PENDING | PENDING |</a:t>
            </a:r>
            <a:endParaRPr/>
          </a:p>
          <a:p xmlns:a="http://schemas.openxmlformats.org/drawingml/2006/main">
            <a:pPr marL="0" lvl="0" indent="0" algn="l">
              <a:lnSpc>
                <a:spcPct val="100000"/>
              </a:lnSpc>
              <a:spcBef>
                <a:spcPts val="0"/>
              </a:spcBef>
              <a:spcAft>
                <a:spcPts val="0"/>
              </a:spcAft>
              <a:buSzPts val="1400"/>
              <a:buNone/>
            </a:pPr>
            <a:r>
              <a:t>| Model calls / tokens | PENDING | PENDING | PENDING |</a:t>
            </a:r>
            <a:endParaRPr/>
          </a:p>
          <a:p xmlns:a="http://schemas.openxmlformats.org/drawingml/2006/main">
            <a:pPr marL="0" lvl="0" indent="0" algn="l">
              <a:lnSpc>
                <a:spcPct val="100000"/>
              </a:lnSpc>
              <a:spcBef>
                <a:spcPts val="0"/>
              </a:spcBef>
              <a:spcAft>
                <a:spcPts val="0"/>
              </a:spcAft>
              <a:buSzPts val="1400"/>
              <a:buNone/>
            </a:pPr>
            <a:r>
              <a:t>| Wall latency, including barrier if reported | PENDING | PENDING | PENDING |</a:t>
            </a:r>
            <a:endParaRPr/>
          </a:p>
          <a:p xmlns:a="http://schemas.openxmlformats.org/drawingml/2006/main">
            <a:pPr marL="0" lvl="0" indent="0" algn="l">
              <a:lnSpc>
                <a:spcPct val="100000"/>
              </a:lnSpc>
              <a:spcBef>
                <a:spcPts val="0"/>
              </a:spcBef>
              <a:spcAft>
                <a:spcPts val="0"/>
              </a:spcAft>
              <a:buSzPts val="1400"/>
              <a:buNone/>
            </a:pPr>
            <a:r>
              <a:t>| Reflection/corrections | Route excluded | Route dependent | PENDING |</a:t>
            </a:r>
            <a:endParaRPr/>
          </a:p>
          <a:p xmlns:a="http://schemas.openxmlformats.org/drawingml/2006/main">
            <a:pPr marL="0" lvl="0" indent="0" algn="l">
              <a:lnSpc>
                <a:spcPct val="100000"/>
              </a:lnSpc>
              <a:spcBef>
                <a:spcPts val="0"/>
              </a:spcBef>
              <a:spcAft>
                <a:spcPts val="0"/>
              </a:spcAft>
              <a:buSzPts val="1400"/>
              <a:buNone/>
            </a:pPr>
            <a:r>
              <a:t>| Maintenance admitted/completed/failed | Task/policy dependent | Task/policy dependent | PENDING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expected answer belongs to scoring. Every cell above must come from saved outputs rather than a manually scripted demonstration narrative.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7.6 Demo orchestration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freeze synthetic scenario and evaluator-owned expectations</a:t>
            </a:r>
            <a:endParaRPr/>
          </a:p>
          <a:p xmlns:a="http://schemas.openxmlformats.org/drawingml/2006/main">
            <a:pPr marL="0" lvl="0" indent="0" algn="l">
              <a:lnSpc>
                <a:spcPct val="100000"/>
              </a:lnSpc>
              <a:spcBef>
                <a:spcPts val="0"/>
              </a:spcBef>
              <a:spcAft>
                <a:spcPts val="0"/>
              </a:spcAft>
              <a:buSzPts val="1400"/>
              <a:buNone/>
            </a:pPr>
            <a:r>
              <a:t>record source/model/environment identities</a:t>
            </a:r>
            <a:endParaRPr/>
          </a:p>
          <a:p xmlns:a="http://schemas.openxmlformats.org/drawingml/2006/main">
            <a:pPr marL="0" lvl="0" indent="0" algn="l">
              <a:lnSpc>
                <a:spcPct val="100000"/>
              </a:lnSpc>
              <a:spcBef>
                <a:spcPts val="0"/>
              </a:spcBef>
              <a:spcAft>
                <a:spcPts val="0"/>
              </a:spcAft>
              <a:buSzPts val="1400"/>
              <a:buNone/>
            </a:pPr>
            <a:r>
              <a:t>for profile in [model_only, simple_rag, prima_full]:</a:t>
            </a:r>
            <a:endParaRPr/>
          </a:p>
          <a:p xmlns:a="http://schemas.openxmlformats.org/drawingml/2006/main">
            <a:pPr marL="0" lvl="0" indent="0" algn="l">
              <a:lnSpc>
                <a:spcPct val="100000"/>
              </a:lnSpc>
              <a:spcBef>
                <a:spcPts val="0"/>
              </a:spcBef>
              <a:spcAft>
                <a:spcPts val="0"/>
              </a:spcAft>
              <a:buSzPts val="1400"/>
              <a:buNone/>
            </a:pPr>
            <a:r>
              <a:t>    create fresh isolated runtime, repository, and state</a:t>
            </a:r>
            <a:endParaRPr/>
          </a:p>
          <a:p xmlns:a="http://schemas.openxmlformats.org/drawingml/2006/main">
            <a:pPr marL="0" lvl="0" indent="0" algn="l">
              <a:lnSpc>
                <a:spcPct val="100000"/>
              </a:lnSpc>
              <a:spcBef>
                <a:spcPts val="0"/>
              </a:spcBef>
              <a:spcAft>
                <a:spcPts val="0"/>
              </a:spcAft>
              <a:buSzPts val="1400"/>
              <a:buNone/>
            </a:pPr>
            <a:r>
              <a:t>    seed the declared evidence protocol consistently</a:t>
            </a:r>
            <a:endParaRPr/>
          </a:p>
          <a:p xmlns:a="http://schemas.openxmlformats.org/drawingml/2006/main">
            <a:pPr marL="0" lvl="0" indent="0" algn="l">
              <a:lnSpc>
                <a:spcPct val="100000"/>
              </a:lnSpc>
              <a:spcBef>
                <a:spcPts val="0"/>
              </a:spcBef>
              <a:spcAft>
                <a:spcPts val="0"/>
              </a:spcAft>
              <a:buSzPts val="1400"/>
              <a:buNone/>
            </a:pPr>
            <a:r>
              <a:t>    execute identical QA request with fixed budgets/settings</a:t>
            </a:r>
            <a:endParaRPr/>
          </a:p>
          <a:p xmlns:a="http://schemas.openxmlformats.org/drawingml/2006/main">
            <a:pPr marL="0" lvl="0" indent="0" algn="l">
              <a:lnSpc>
                <a:spcPct val="100000"/>
              </a:lnSpc>
              <a:spcBef>
                <a:spcPts val="0"/>
              </a:spcBef>
              <a:spcAft>
                <a:spcPts val="0"/>
              </a:spcAft>
              <a:buSzPts val="1400"/>
              <a:buNone/>
            </a:pPr>
            <a:r>
              <a:t>    await task-appropriate maintenance boundary</a:t>
            </a:r>
            <a:endParaRPr/>
          </a:p>
          <a:p xmlns:a="http://schemas.openxmlformats.org/drawingml/2006/main">
            <a:pPr marL="0" lvl="0" indent="0" algn="l">
              <a:lnSpc>
                <a:spcPct val="100000"/>
              </a:lnSpc>
              <a:spcBef>
                <a:spcPts val="0"/>
              </a:spcBef>
              <a:spcAft>
                <a:spcPts val="0"/>
              </a:spcAft>
              <a:buSzPts val="1400"/>
              <a:buNone/>
            </a:pPr>
            <a:r>
              <a:t>    save full typed response and active backend diagnostics</a:t>
            </a:r>
            <a:endParaRPr/>
          </a:p>
          <a:p xmlns:a="http://schemas.openxmlformats.org/drawingml/2006/main">
            <a:pPr marL="0" lvl="0" indent="0" algn="l">
              <a:lnSpc>
                <a:spcPct val="100000"/>
              </a:lnSpc>
              <a:spcBef>
                <a:spcPts val="0"/>
              </a:spcBef>
              <a:spcAft>
                <a:spcPts val="0"/>
              </a:spcAft>
              <a:buSzPts val="1400"/>
              <a:buNone/>
            </a:pPr>
            <a:r>
              <a:t>    score only after inference using evaluator-owned gold</a:t>
            </a:r>
            <a:endParaRPr/>
          </a:p>
          <a:p xmlns:a="http://schemas.openxmlformats.org/drawingml/2006/main">
            <a:pPr marL="0" lvl="0" indent="0" algn="l">
              <a:lnSpc>
                <a:spcPct val="100000"/>
              </a:lnSpc>
              <a:spcBef>
                <a:spcPts val="0"/>
              </a:spcBef>
              <a:spcAft>
                <a:spcPts val="0"/>
              </a:spcAft>
              <a:buSzPts val="1400"/>
              <a:buNone/>
            </a:pPr>
            <a:r>
              <a:t>run scenario-specific ingestion/replay/affect/tool requests</a:t>
            </a:r>
            <a:endParaRPr/>
          </a:p>
          <a:p xmlns:a="http://schemas.openxmlformats.org/drawingml/2006/main">
            <a:pPr marL="0" lvl="0" indent="0" algn="l">
              <a:lnSpc>
                <a:spcPct val="100000"/>
              </a:lnSpc>
              <a:spcBef>
                <a:spcPts val="0"/>
              </a:spcBef>
              <a:spcAft>
                <a:spcPts val="0"/>
              </a:spcAft>
              <a:buSzPts val="1400"/>
              <a:buNone/>
            </a:pPr>
            <a:r>
              <a:t>run labeled deterministic reflection and fault cases separately</a:t>
            </a:r>
            <a:endParaRPr/>
          </a:p>
          <a:p xmlns:a="http://schemas.openxmlformats.org/drawingml/2006/main">
            <a:pPr marL="0" lvl="0" indent="0" algn="l">
              <a:lnSpc>
                <a:spcPct val="100000"/>
              </a:lnSpc>
              <a:spcBef>
                <a:spcPts val="0"/>
              </a:spcBef>
              <a:spcAft>
                <a:spcPts val="0"/>
              </a:spcAft>
              <a:buSzPts val="1400"/>
              <a:buNone/>
            </a:pPr>
            <a:r>
              <a:t>reconcile planned, executed, not-executed, and skipped components</a:t>
            </a:r>
            <a:endParaRPr/>
          </a:p>
          <a:p xmlns:a="http://schemas.openxmlformats.org/drawingml/2006/main">
            <a:pPr marL="0" lvl="0" indent="0" algn="l">
              <a:lnSpc>
                <a:spcPct val="100000"/>
              </a:lnSpc>
              <a:spcBef>
                <a:spcPts val="0"/>
              </a:spcBef>
              <a:spcAft>
                <a:spcPts val="0"/>
              </a:spcAft>
              <a:buSzPts val="1400"/>
              <a:buNone/>
            </a:pPr>
            <a:r>
              <a:t>validate artifact coverage and redact secrets</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7.7 Assertions required in the eventual runnable script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Unsupported routes/control overrides fail before unintended work.</a:t>
            </a:r>
            <a:endParaRPr/>
          </a:p>
          <a:p xmlns:a="http://schemas.openxmlformats.org/drawingml/2006/main">
            <a:pPr marL="0" lvl="0" indent="0" algn="l">
              <a:lnSpc>
                <a:spcPct val="100000"/>
              </a:lnSpc>
              <a:spcBef>
                <a:spcPts val="0"/>
              </a:spcBef>
              <a:spcAft>
                <a:spcPts val="0"/>
              </a:spcAft>
              <a:buSzPts val="1400"/>
              <a:buNone/>
            </a:pPr>
            <a:r>
              <a:t>2. Ingestion/replay does not call answer generation.</a:t>
            </a:r>
            <a:endParaRPr/>
          </a:p>
          <a:p xmlns:a="http://schemas.openxmlformats.org/drawingml/2006/main">
            <a:pPr marL="0" lvl="0" indent="0" algn="l">
              <a:lnSpc>
                <a:spcPct val="100000"/>
              </a:lnSpc>
              <a:spcBef>
                <a:spcPts val="0"/>
              </a:spcBef>
              <a:spcAft>
                <a:spcPts val="0"/>
              </a:spcAft>
              <a:buSzPts val="1400"/>
              <a:buNone/>
            </a:pPr>
            <a:r>
              <a:t>3. Model-only does not execute retrieval.</a:t>
            </a:r>
            <a:endParaRPr/>
          </a:p>
          <a:p xmlns:a="http://schemas.openxmlformats.org/drawingml/2006/main">
            <a:pPr marL="0" lvl="0" indent="0" algn="l">
              <a:lnSpc>
                <a:spcPct val="100000"/>
              </a:lnSpc>
              <a:spcBef>
                <a:spcPts val="0"/>
              </a:spcBef>
              <a:spcAft>
                <a:spcPts val="0"/>
              </a:spcAft>
              <a:buSzPts val="1400"/>
              <a:buNone/>
            </a:pPr>
            <a:r>
              <a:t>4. Simple RAG excludes temporal/graph responsibilities selected only by full routes.</a:t>
            </a:r>
            <a:endParaRPr/>
          </a:p>
          <a:p xmlns:a="http://schemas.openxmlformats.org/drawingml/2006/main">
            <a:pPr marL="0" lvl="0" indent="0" algn="l">
              <a:lnSpc>
                <a:spcPct val="100000"/>
              </a:lnSpc>
              <a:spcBef>
                <a:spcPts val="0"/>
              </a:spcBef>
              <a:spcAft>
                <a:spcPts val="0"/>
              </a:spcAft>
              <a:buSzPts val="1400"/>
              <a:buNone/>
            </a:pPr>
            <a:r>
              <a:t>5. Planned components reconcile with executed and not-executed components, and execution respects capabilities.</a:t>
            </a:r>
            <a:endParaRPr/>
          </a:p>
          <a:p xmlns:a="http://schemas.openxmlformats.org/drawingml/2006/main">
            <a:pPr marL="0" lvl="0" indent="0" algn="l">
              <a:lnSpc>
                <a:spcPct val="100000"/>
              </a:lnSpc>
              <a:spcBef>
                <a:spcPts val="0"/>
              </a:spcBef>
              <a:spcAft>
                <a:spcPts val="0"/>
              </a:spcAft>
              <a:buSzPts val="1400"/>
              <a:buNone/>
            </a:pPr>
            <a:r>
              <a:t>6. Returned citations map to the actual selected evidence.</a:t>
            </a:r>
            <a:endParaRPr/>
          </a:p>
          <a:p xmlns:a="http://schemas.openxmlformats.org/drawingml/2006/main">
            <a:pPr marL="0" lvl="0" indent="0" algn="l">
              <a:lnSpc>
                <a:spcPct val="100000"/>
              </a:lnSpc>
              <a:spcBef>
                <a:spcPts val="0"/>
              </a:spcBef>
              <a:spcAft>
                <a:spcPts val="0"/>
              </a:spcAft>
              <a:buSzPts val="1400"/>
              <a:buNone/>
            </a:pPr>
            <a:r>
              <a:t>7. Reflection respects correction budgets and records actual changes.</a:t>
            </a:r>
            <a:endParaRPr/>
          </a:p>
          <a:p xmlns:a="http://schemas.openxmlformats.org/drawingml/2006/main">
            <a:pPr marL="0" lvl="0" indent="0" algn="l">
              <a:lnSpc>
                <a:spcPct val="100000"/>
              </a:lnSpc>
              <a:spcBef>
                <a:spcPts val="0"/>
              </a:spcBef>
              <a:spcAft>
                <a:spcPts val="0"/>
              </a:spcAft>
              <a:buSzPts val="1400"/>
              <a:buNone/>
            </a:pPr>
            <a:r>
              <a:t>8. Tool requests do not accidentally invoke answer generation. Invalid/disallowed invocations remain blocked.</a:t>
            </a:r>
            <a:endParaRPr/>
          </a:p>
          <a:p xmlns:a="http://schemas.openxmlformats.org/drawingml/2006/main">
            <a:pPr marL="0" lvl="0" indent="0" algn="l">
              <a:lnSpc>
                <a:spcPct val="100000"/>
              </a:lnSpc>
              <a:spcBef>
                <a:spcPts val="0"/>
              </a:spcBef>
              <a:spcAft>
                <a:spcPts val="0"/>
              </a:spcAft>
              <a:buSzPts val="1400"/>
              <a:buNone/>
            </a:pPr>
            <a:r>
              <a:t>9. State versions and task-appropriate memory effects are observable.</a:t>
            </a:r>
            <a:endParaRPr/>
          </a:p>
          <a:p xmlns:a="http://schemas.openxmlformats.org/drawingml/2006/main">
            <a:pPr marL="0" lvl="0" indent="0" algn="l">
              <a:lnSpc>
                <a:spcPct val="100000"/>
              </a:lnSpc>
              <a:spcBef>
                <a:spcPts val="0"/>
              </a:spcBef>
              <a:spcAft>
                <a:spcPts val="0"/>
              </a:spcAft>
              <a:buSzPts val="1400"/>
              <a:buNone/>
            </a:pPr>
            <a:r>
              <a:t>10. Maintenance completes or reports failures explicitly before claiming a completed demo stage.</a:t>
            </a:r>
            <a:endParaRPr/>
          </a:p>
          <a:p xmlns:a="http://schemas.openxmlformats.org/drawingml/2006/main">
            <a:pPr marL="0" lvl="0" indent="0" algn="l">
              <a:lnSpc>
                <a:spcPct val="100000"/>
              </a:lnSpc>
              <a:spcBef>
                <a:spcPts val="0"/>
              </a:spcBef>
              <a:spcAft>
                <a:spcPts val="0"/>
              </a:spcAft>
              <a:buSzPts val="1400"/>
              <a:buNone/>
            </a:pPr>
            <a:r>
              <a:t>11. Provider/schema/store failures do not become invented success.</a:t>
            </a:r>
            <a:endParaRPr/>
          </a:p>
          <a:p xmlns:a="http://schemas.openxmlformats.org/drawingml/2006/main">
            <a:pPr marL="0" lvl="0" indent="0" algn="l">
              <a:lnSpc>
                <a:spcPct val="100000"/>
              </a:lnSpc>
              <a:spcBef>
                <a:spcPts val="0"/>
              </a:spcBef>
              <a:spcAft>
                <a:spcPts val="0"/>
              </a:spcAft>
              <a:buSzPts val="1400"/>
              <a:buNone/>
            </a:pPr>
            <a:r>
              <a:t>12. Gold expectations remain outside inference requests/prompts/telemetry.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scaffolding: runtime integration, release fault injection, correction tests, tool tests, maintenance barriers.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C:/PRIMA_next/tests/integration/test_runtime_pipeline.py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Demonstration comparison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 Slide 7, part A: one-scenario demonstration and comparison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Status: proposed demo specification, not a completed demo run. The previous panel's suggestion is best satisfied with one connected scenario, several task-appropriate requests, and one exported evidence bundle. A single factual-QA request intentionally cannot exercise ingestion, conversation admission, emotion-only classification, and tool-only execution together.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7.1 Sample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synthetic data so the demo can be shared without exposing personal information. Freeze the wording and stable source IDs before rehearsal.</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Source ID | Synthetic history/document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S1 | [2026-09-01] Alex: I am working on Project Atlas. Mira is my project mentor. Please remember my important goal: finish the Atlas prototype. |</a:t>
            </a:r>
            <a:endParaRPr/>
          </a:p>
          <a:p xmlns:a="http://schemas.openxmlformats.org/drawingml/2006/main">
            <a:pPr marL="0" lvl="0" indent="0" algn="l">
              <a:lnSpc>
                <a:spcPct val="100000"/>
              </a:lnSpc>
              <a:spcBef>
                <a:spcPts val="0"/>
              </a:spcBef>
              <a:spcAft>
                <a:spcPts val="0"/>
              </a:spcAft>
              <a:buSzPts val="1400"/>
              <a:buNone/>
            </a:pPr>
            <a:r>
              <a:t>| S2 | [2026-09-03] Mira's office is in Pune. Mira reviews Project Atlas every Friday. |</a:t>
            </a:r>
            <a:endParaRPr/>
          </a:p>
          <a:p xmlns:a="http://schemas.openxmlformats.org/drawingml/2006/main">
            <a:pPr marL="0" lvl="0" indent="0" algn="l">
              <a:lnSpc>
                <a:spcPct val="100000"/>
              </a:lnSpc>
              <a:spcBef>
                <a:spcPts val="0"/>
              </a:spcBef>
              <a:spcAft>
                <a:spcPts val="0"/>
              </a:spcAft>
              <a:buSzPts val="1400"/>
              <a:buNone/>
            </a:pPr>
            <a:r>
              <a:t>| S3 | [2026-09-05] Alex: I used to prefer long explanations. I now prefer concise summaries for Project Atlas. |</a:t>
            </a:r>
            <a:endParaRPr/>
          </a:p>
          <a:p xmlns:a="http://schemas.openxmlformats.org/drawingml/2006/main">
            <a:pPr marL="0" lvl="0" indent="0" algn="l">
              <a:lnSpc>
                <a:spcPct val="100000"/>
              </a:lnSpc>
              <a:spcBef>
                <a:spcPts val="0"/>
              </a:spcBef>
              <a:spcAft>
                <a:spcPts val="0"/>
              </a:spcAft>
              <a:buSzPts val="1400"/>
              <a:buNone/>
            </a:pPr>
            <a:r>
              <a:t>| S4 | [2026-09-06] Alex: I feel anxious about the Project Atlas review because the prototype is unfinished. |</a:t>
            </a:r>
            <a:endParaRPr/>
          </a:p>
          <a:p xmlns:a="http://schemas.openxmlformats.org/drawingml/2006/main">
            <a:pPr marL="0" lvl="0" indent="0" algn="l">
              <a:lnSpc>
                <a:spcPct val="100000"/>
              </a:lnSpc>
              <a:spcBef>
                <a:spcPts val="0"/>
              </a:spcBef>
              <a:spcAft>
                <a:spcPts val="0"/>
              </a:spcAft>
              <a:buSzPts val="1400"/>
              <a:buNone/>
            </a:pPr>
            <a:r>
              <a:t>| S5 | [2026-09-07] Alex: The Project Atlas prototype passed its local checks. I feel excited and relieved. |</a:t>
            </a:r>
            <a:endParaRPr/>
          </a:p>
          <a:p xmlns:a="http://schemas.openxmlformats.org/drawingml/2006/main">
            <a:pPr marL="0" lvl="0" indent="0" algn="l">
              <a:lnSpc>
                <a:spcPct val="100000"/>
              </a:lnSpc>
              <a:spcBef>
                <a:spcPts val="0"/>
              </a:spcBef>
              <a:spcAft>
                <a:spcPts val="0"/>
              </a:spcAft>
              <a:buSzPts val="1400"/>
              <a:buNone/>
            </a:pPr>
            <a:r>
              <a:t>| D1 | Distractor: Dev mentors Project Beacon from Mumbai. Project Beacon is unrelated to Project Atlas. |</a:t>
            </a:r>
            <a:endParaRPr/>
          </a:p>
          <a:p xmlns:a="http://schemas.openxmlformats.org/drawingml/2006/main">
            <a:pPr marL="0" lvl="0" indent="0" algn="l">
              <a:lnSpc>
                <a:spcPct val="100000"/>
              </a:lnSpc>
              <a:spcBef>
                <a:spcPts val="0"/>
              </a:spcBef>
              <a:spcAft>
                <a:spcPts val="0"/>
              </a:spcAft>
              <a:buSzPts val="1400"/>
              <a:buNone/>
            </a:pPr>
            <a:r>
              <a:t>| D2 | Distractor: An older Atlas travel brochure mentions Mumbai. It does not describe Alex's mentor.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comparison question: "Which city is Alex's Project Atlas mentor based in?"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Evaluator-owned expected answer: Pune, supported by the Alex - Mira link in S1 and Mira - Pune link in S2. Do not add this expected answer or supporting-source IDs to model request metadata. The source records themselves may be supplied as ordinary evidence. S3 - S5 support temporal/preference/affect demonstrations in the same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current lexical sufficiency heuristic may reject this multi-hop wording despite relevant evidence. That is useful failure evidence. Record it, diagnose its stage, and avoid secretly simplifying only the PRIMA question to get a better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7.2 Two demonstration tracks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Functional track: deterministic injected provider and controlled branch conditions prove execution plumbing. Clearly label provider responses and forced uncertainty as synthetic. Existing tests already use injected responses and low-confidence estimators. This track can show error handling even when a real endpoint is unavailable.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Quality track: run the same frozen sample using a configured real model and record actual outputs. Use matched generation settings and native scoring. This track can provide an illustrative baseline comparison, but one scenario is insufficient for a research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Do not mix functional-track scripted answers into the real-model comparison table. A fake provider returning "Pune" does not show the model inferred the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7.3 Demo sequence, visible outputs, and narration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Step | Request / operation | What must be visible | What to say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0. Freeze setup | Record source commit, dependency versions, sample hash, seed, active backends/model/revision. Use isolated demo stores. | A manifest with real/fake provider label, source IDs, settings. | "This is the exact configuration and input used in all comparisons." |</a:t>
            </a:r>
            <a:endParaRPr/>
          </a:p>
          <a:p xmlns:a="http://schemas.openxmlformats.org/drawingml/2006/main">
            <a:pPr marL="0" lvl="0" indent="0" algn="l">
              <a:lnSpc>
                <a:spcPct val="100000"/>
              </a:lnSpc>
              <a:spcBef>
                <a:spcPts val="0"/>
              </a:spcBef>
              <a:spcAft>
                <a:spcPts val="0"/>
              </a:spcAft>
              <a:buSzPts val="1400"/>
              <a:buNone/>
            </a:pPr>
            <a:r>
              <a:t>| 1. Invalid request | Attempt an unsupported task/profile pair and reserved-control metadata. | Validation rejection / typed rejected result, no unintended execution. | "The public boundary rejects incompatible routes and control overrides." |</a:t>
            </a:r>
            <a:endParaRPr/>
          </a:p>
          <a:p xmlns:a="http://schemas.openxmlformats.org/drawingml/2006/main">
            <a:pPr marL="0" lvl="0" indent="0" algn="l">
              <a:lnSpc>
                <a:spcPct val="100000"/>
              </a:lnSpc>
              <a:spcBef>
                <a:spcPts val="0"/>
              </a:spcBef>
              <a:spcAft>
                <a:spcPts val="0"/>
              </a:spcAft>
              <a:buSzPts val="1400"/>
              <a:buNone/>
            </a:pPr>
            <a:r>
              <a:t>| 2. Ingest history | Submit frozen records through DOCUMENT_INGESTION/INGESTION_ONLY for a fixed-store comparison. Separately replay history through HISTORICAL_REPLAY/PRIMA_FULL to show admission/state behavior. | Memory IDs, content provenance, task outcome, no LLM calls during ingestion/replay. | "Explicit ingestion and selective historical admission are different experiments." |</a:t>
            </a:r>
            <a:endParaRPr/>
          </a:p>
          <a:p xmlns:a="http://schemas.openxmlformats.org/drawingml/2006/main">
            <a:pPr marL="0" lvl="0" indent="0" algn="l">
              <a:lnSpc>
                <a:spcPct val="100000"/>
              </a:lnSpc>
              <a:spcBef>
                <a:spcPts val="0"/>
              </a:spcBef>
              <a:spcAft>
                <a:spcPts val="0"/>
              </a:spcAft>
              <a:buSzPts val="1400"/>
              <a:buNone/>
            </a:pPr>
            <a:r>
              <a:t>| 3. Affect | Process S4 then S5 using the same dedicated scenario session. Optionally classify one utterance through AFFECT_ONLY. | Label scores, PAD, temporal momentum/history, active classifier. | "These are text-derived emotional signals. Here is how the signal changes over time." |</a:t>
            </a:r>
            <a:endParaRPr/>
          </a:p>
          <a:p xmlns:a="http://schemas.openxmlformats.org/drawingml/2006/main">
            <a:pPr marL="0" lvl="0" indent="0" algn="l">
              <a:lnSpc>
                <a:spcPct val="100000"/>
              </a:lnSpc>
              <a:spcBef>
                <a:spcPts val="0"/>
              </a:spcBef>
              <a:spcAft>
                <a:spcPts val="0"/>
              </a:spcAft>
              <a:buSzPts val="1400"/>
              <a:buNone/>
            </a:pPr>
            <a:r>
              <a:t>| 4. Admission | Inspect scores/reasons from replay and an additional low-value synthetic turn. | Stored/rejected decision, threshold, component scores, before/after memory counts. | "Useful-memory selection is explicit. We report the actual outcome instead of assuming every turn is stored." |</a:t>
            </a:r>
            <a:endParaRPr/>
          </a:p>
          <a:p xmlns:a="http://schemas.openxmlformats.org/drawingml/2006/main">
            <a:pPr marL="0" lvl="0" indent="0" algn="l">
              <a:lnSpc>
                <a:spcPct val="100000"/>
              </a:lnSpc>
              <a:spcBef>
                <a:spcPts val="0"/>
              </a:spcBef>
              <a:spcAft>
                <a:spcPts val="0"/>
              </a:spcAft>
              <a:buSzPts val="1400"/>
              <a:buNone/>
            </a:pPr>
            <a:r>
              <a:t>| 5. Three-profile QA | Ask the identical primary question in fresh, equivalent runtime/store instances for each profile. | Output, abstention/failure, retrieved IDs, calls, latency, tokens. | "We change the profile while fixing the model and experiment conditions." |</a:t>
            </a:r>
            <a:endParaRPr/>
          </a:p>
          <a:p xmlns:a="http://schemas.openxmlformats.org/drawingml/2006/main">
            <a:pPr marL="0" lvl="0" indent="0" algn="l">
              <a:lnSpc>
                <a:spcPct val="100000"/>
              </a:lnSpc>
              <a:spcBef>
                <a:spcPts val="0"/>
              </a:spcBef>
              <a:spcAft>
                <a:spcPts val="0"/>
              </a:spcAft>
              <a:buSzPts val="1400"/>
              <a:buNone/>
            </a:pPr>
            <a:r>
              <a:t>| 6. Retrieval internals | Expand full-route trace for the QA request. | Dense/sparse/temporal/graph candidates, fusion/reranking, compressed context/source mapping, insufficiency reason if any. | "This shows where the evidence entered or disappeared." |</a:t>
            </a:r>
            <a:endParaRPr/>
          </a:p>
          <a:p xmlns:a="http://schemas.openxmlformats.org/drawingml/2006/main">
            <a:pPr marL="0" lvl="0" indent="0" algn="l">
              <a:lnSpc>
                <a:spcPct val="100000"/>
              </a:lnSpc>
              <a:spcBef>
                <a:spcPts val="0"/>
              </a:spcBef>
              <a:spcAft>
                <a:spcPts val="0"/>
              </a:spcAft>
              <a:buSzPts val="1400"/>
              <a:buNone/>
            </a:pPr>
            <a:r>
              <a:t>| 7. Planning/world/uncertainty | Inspect a full conversation or tool route in this story. | Plan/actions, symbolic predictions, available confidence signals, selected decision. | "These deterministic components expose intended actions and uncertainty. Their scores need empirical validation." |</a:t>
            </a:r>
            <a:endParaRPr/>
          </a:p>
          <a:p xmlns:a="http://schemas.openxmlformats.org/drawingml/2006/main">
            <a:pPr marL="0" lvl="0" indent="0" algn="l">
              <a:lnSpc>
                <a:spcPct val="100000"/>
              </a:lnSpc>
              <a:spcBef>
                <a:spcPts val="0"/>
              </a:spcBef>
              <a:spcAft>
                <a:spcPts val="0"/>
              </a:spcAft>
              <a:buSzPts val="1400"/>
              <a:buNone/>
            </a:pPr>
            <a:r>
              <a:t>| 8. Reflection | First show natural trigger behavior. In functional track only, inject a low-confidence/wrong-query condition with a visible label. | Advice, budget check, accepted/rejected correction, before/after query/evidence/output. | "This branch is conditional. The injected case proves the correction mechanism, not natural-model improvement." |</a:t>
            </a:r>
            <a:endParaRPr/>
          </a:p>
          <a:p xmlns:a="http://schemas.openxmlformats.org/drawingml/2006/main">
            <a:pPr marL="0" lvl="0" indent="0" algn="l">
              <a:lnSpc>
                <a:spcPct val="100000"/>
              </a:lnSpc>
              <a:spcBef>
                <a:spcPts val="0"/>
              </a:spcBef>
              <a:spcAft>
                <a:spcPts val="0"/>
              </a:spcAft>
              <a:buSzPts val="1400"/>
              <a:buNone/>
            </a:pPr>
            <a:r>
              <a:t>| 9. Controlled tool | Register a harmless local calculator/formatter using existing tool contracts. Permit only that tool. Demonstrate valid and blocked/invalid invocations. | Schema checks, policy audit, typed result, no external side effects. | "Only a registered, validated, allowlisted operation runs." |</a:t>
            </a:r>
            <a:endParaRPr/>
          </a:p>
          <a:p xmlns:a="http://schemas.openxmlformats.org/drawingml/2006/main">
            <a:pPr marL="0" lvl="0" indent="0" algn="l">
              <a:lnSpc>
                <a:spcPct val="100000"/>
              </a:lnSpc>
              <a:spcBef>
                <a:spcPts val="0"/>
              </a:spcBef>
              <a:spcAft>
                <a:spcPts val="0"/>
              </a:spcAft>
              <a:buSzPts val="1400"/>
              <a:buNone/>
            </a:pPr>
            <a:r>
              <a:t>| 10. Generation/validation | Show selected evidence labels in request and parsed citations in response. Force malformed output separately in functional track. | Actual generated response or explicit failure, mapped source IDs, no fabricated fallback. | "A failed provider/schema call remains a failure." |</a:t>
            </a:r>
            <a:endParaRPr/>
          </a:p>
          <a:p xmlns:a="http://schemas.openxmlformats.org/drawingml/2006/main">
            <a:pPr marL="0" lvl="0" indent="0" algn="l">
              <a:lnSpc>
                <a:spcPct val="100000"/>
              </a:lnSpc>
              <a:spcBef>
                <a:spcPts val="0"/>
              </a:spcBef>
              <a:spcAft>
                <a:spcPts val="0"/>
              </a:spcAft>
              <a:buSzPts val="1400"/>
              <a:buNone/>
            </a:pPr>
            <a:r>
              <a:t>| 11. State/maintenance | Show version increment and task-appropriate memory changes. Await the existing maintenance barrier. | Pending/completed/failed counts and derived memory/graph changes. | "Admission and completed background work are separate facts." |</a:t>
            </a:r>
            <a:endParaRPr/>
          </a:p>
          <a:p xmlns:a="http://schemas.openxmlformats.org/drawingml/2006/main">
            <a:pPr marL="0" lvl="0" indent="0" algn="l">
              <a:lnSpc>
                <a:spcPct val="100000"/>
              </a:lnSpc>
              <a:spcBef>
                <a:spcPts val="0"/>
              </a:spcBef>
              <a:spcAft>
                <a:spcPts val="0"/>
              </a:spcAft>
              <a:buSzPts val="1400"/>
              <a:buNone/>
            </a:pPr>
            <a:r>
              <a:t>| 12. Export | Save manifest, per-request typed responses, traces, evaluator records, comparison, test output, checksums. | One reproducible demo bundle with no secrets. | "Every claim shown on screen has a corresponding saved artifact."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7.4 Fair comparisons: separate what changes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A, fixed-store retrieval/control: give simple RAG and full PRIMA identical ingested records and compatible backend/settings. Model-only remains the no-retrieval baseline. Its lack of private memory is the intended distinction. If a long-context baseline is desired, give it the same history explicitly and label it separately. This comparison isolates route-level differences more clearly than simultaneously changing memory admission.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B, historical memory formation: replay identical history using declared admission policies, then compare the resulting stores and later QA. This measures the combined effect of admission/maintenance/retrieval. Do not attribute its whole delta only to graph or affect.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C, component ablation: keep all else fixed and disable one component, such as affect modulation, graph retrieval, or reflection. Use development cases and freeze the final settings before held-out evaluation. Existing profiles are not automatically single-component ablations.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Keep model/revision, source IDs/order, seed, generation settings, context limit, retry policy, scorer, and environment fixed. Reset state/stores between variants to prevent earlier answers contaminating later ones. Use one dedicated runtime/store per principal for the demo. Record warm/cold model state when timing.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7.5 Comparison table to fill from actual runs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Item | Model only | Simple RAG | Full PRIMA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Primary answer | PENDING | PENDING | PENDING |</a:t>
            </a:r>
            <a:endParaRPr/>
          </a:p>
          <a:p xmlns:a="http://schemas.openxmlformats.org/drawingml/2006/main">
            <a:pPr marL="0" lvl="0" indent="0" algn="l">
              <a:lnSpc>
                <a:spcPct val="100000"/>
              </a:lnSpc>
              <a:spcBef>
                <a:spcPts val="0"/>
              </a:spcBef>
              <a:spcAft>
                <a:spcPts val="0"/>
              </a:spcAft>
              <a:buSzPts val="1400"/>
              <a:buNone/>
            </a:pPr>
            <a:r>
              <a:t>| Outcome: answered/abstained/failed | PENDING | PENDING | PENDING |</a:t>
            </a:r>
            <a:endParaRPr/>
          </a:p>
          <a:p xmlns:a="http://schemas.openxmlformats.org/drawingml/2006/main">
            <a:pPr marL="0" lvl="0" indent="0" algn="l">
              <a:lnSpc>
                <a:spcPct val="100000"/>
              </a:lnSpc>
              <a:spcBef>
                <a:spcPts val="0"/>
              </a:spcBef>
              <a:spcAft>
                <a:spcPts val="0"/>
              </a:spcAft>
              <a:buSzPts val="1400"/>
              <a:buNone/>
            </a:pPr>
            <a:r>
              <a:t>| Exact match / token F1 | PENDING | PENDING | PENDING |</a:t>
            </a:r>
            <a:endParaRPr/>
          </a:p>
          <a:p xmlns:a="http://schemas.openxmlformats.org/drawingml/2006/main">
            <a:pPr marL="0" lvl="0" indent="0" algn="l">
              <a:lnSpc>
                <a:spcPct val="100000"/>
              </a:lnSpc>
              <a:spcBef>
                <a:spcPts val="0"/>
              </a:spcBef>
              <a:spcAft>
                <a:spcPts val="0"/>
              </a:spcAft>
              <a:buSzPts val="1400"/>
              <a:buNone/>
            </a:pPr>
            <a:r>
              <a:t>| Supporting-source recall | N/A, no retrieval | PENDING | PENDING |</a:t>
            </a:r>
            <a:endParaRPr/>
          </a:p>
          <a:p xmlns:a="http://schemas.openxmlformats.org/drawingml/2006/main">
            <a:pPr marL="0" lvl="0" indent="0" algn="l">
              <a:lnSpc>
                <a:spcPct val="100000"/>
              </a:lnSpc>
              <a:spcBef>
                <a:spcPts val="0"/>
              </a:spcBef>
              <a:spcAft>
                <a:spcPts val="0"/>
              </a:spcAft>
              <a:buSzPts val="1400"/>
              <a:buNone/>
            </a:pPr>
            <a:r>
              <a:t>| Final evidence/citations | N/A or explicitly supplied context | PENDING | PENDING |</a:t>
            </a:r>
            <a:endParaRPr/>
          </a:p>
          <a:p xmlns:a="http://schemas.openxmlformats.org/drawingml/2006/main">
            <a:pPr marL="0" lvl="0" indent="0" algn="l">
              <a:lnSpc>
                <a:spcPct val="100000"/>
              </a:lnSpc>
              <a:spcBef>
                <a:spcPts val="0"/>
              </a:spcBef>
              <a:spcAft>
                <a:spcPts val="0"/>
              </a:spcAft>
              <a:buSzPts val="1400"/>
              <a:buNone/>
            </a:pPr>
            <a:r>
              <a:t>| Retrieval calls / returned sources | Expected zero retrieval | PENDING | PENDING |</a:t>
            </a:r>
            <a:endParaRPr/>
          </a:p>
          <a:p xmlns:a="http://schemas.openxmlformats.org/drawingml/2006/main">
            <a:pPr marL="0" lvl="0" indent="0" algn="l">
              <a:lnSpc>
                <a:spcPct val="100000"/>
              </a:lnSpc>
              <a:spcBef>
                <a:spcPts val="0"/>
              </a:spcBef>
              <a:spcAft>
                <a:spcPts val="0"/>
              </a:spcAft>
              <a:buSzPts val="1400"/>
              <a:buNone/>
            </a:pPr>
            <a:r>
              <a:t>| Model calls / tokens | PENDING | PENDING | PENDING |</a:t>
            </a:r>
            <a:endParaRPr/>
          </a:p>
          <a:p xmlns:a="http://schemas.openxmlformats.org/drawingml/2006/main">
            <a:pPr marL="0" lvl="0" indent="0" algn="l">
              <a:lnSpc>
                <a:spcPct val="100000"/>
              </a:lnSpc>
              <a:spcBef>
                <a:spcPts val="0"/>
              </a:spcBef>
              <a:spcAft>
                <a:spcPts val="0"/>
              </a:spcAft>
              <a:buSzPts val="1400"/>
              <a:buNone/>
            </a:pPr>
            <a:r>
              <a:t>| Wall latency, including barrier if reported | PENDING | PENDING | PENDING |</a:t>
            </a:r>
            <a:endParaRPr/>
          </a:p>
          <a:p xmlns:a="http://schemas.openxmlformats.org/drawingml/2006/main">
            <a:pPr marL="0" lvl="0" indent="0" algn="l">
              <a:lnSpc>
                <a:spcPct val="100000"/>
              </a:lnSpc>
              <a:spcBef>
                <a:spcPts val="0"/>
              </a:spcBef>
              <a:spcAft>
                <a:spcPts val="0"/>
              </a:spcAft>
              <a:buSzPts val="1400"/>
              <a:buNone/>
            </a:pPr>
            <a:r>
              <a:t>| Reflection/corrections | Route excluded | Route dependent | PENDING |</a:t>
            </a:r>
            <a:endParaRPr/>
          </a:p>
          <a:p xmlns:a="http://schemas.openxmlformats.org/drawingml/2006/main">
            <a:pPr marL="0" lvl="0" indent="0" algn="l">
              <a:lnSpc>
                <a:spcPct val="100000"/>
              </a:lnSpc>
              <a:spcBef>
                <a:spcPts val="0"/>
              </a:spcBef>
              <a:spcAft>
                <a:spcPts val="0"/>
              </a:spcAft>
              <a:buSzPts val="1400"/>
              <a:buNone/>
            </a:pPr>
            <a:r>
              <a:t>| Maintenance admitted/completed/failed | Task/policy dependent | Task/policy dependent | PENDING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expected answer belongs to scoring. Every cell above must come from saved outputs rather than a manually scripted demonstration narrative.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7.6 Demo orchestration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freeze synthetic scenario and evaluator-owned expectations</a:t>
            </a:r>
            <a:endParaRPr/>
          </a:p>
          <a:p xmlns:a="http://schemas.openxmlformats.org/drawingml/2006/main">
            <a:pPr marL="0" lvl="0" indent="0" algn="l">
              <a:lnSpc>
                <a:spcPct val="100000"/>
              </a:lnSpc>
              <a:spcBef>
                <a:spcPts val="0"/>
              </a:spcBef>
              <a:spcAft>
                <a:spcPts val="0"/>
              </a:spcAft>
              <a:buSzPts val="1400"/>
              <a:buNone/>
            </a:pPr>
            <a:r>
              <a:t>record source/model/environment identities</a:t>
            </a:r>
            <a:endParaRPr/>
          </a:p>
          <a:p xmlns:a="http://schemas.openxmlformats.org/drawingml/2006/main">
            <a:pPr marL="0" lvl="0" indent="0" algn="l">
              <a:lnSpc>
                <a:spcPct val="100000"/>
              </a:lnSpc>
              <a:spcBef>
                <a:spcPts val="0"/>
              </a:spcBef>
              <a:spcAft>
                <a:spcPts val="0"/>
              </a:spcAft>
              <a:buSzPts val="1400"/>
              <a:buNone/>
            </a:pPr>
            <a:r>
              <a:t>for profile in [model_only, simple_rag, prima_full]:</a:t>
            </a:r>
            <a:endParaRPr/>
          </a:p>
          <a:p xmlns:a="http://schemas.openxmlformats.org/drawingml/2006/main">
            <a:pPr marL="0" lvl="0" indent="0" algn="l">
              <a:lnSpc>
                <a:spcPct val="100000"/>
              </a:lnSpc>
              <a:spcBef>
                <a:spcPts val="0"/>
              </a:spcBef>
              <a:spcAft>
                <a:spcPts val="0"/>
              </a:spcAft>
              <a:buSzPts val="1400"/>
              <a:buNone/>
            </a:pPr>
            <a:r>
              <a:t>    create fresh isolated runtime, repository, and state</a:t>
            </a:r>
            <a:endParaRPr/>
          </a:p>
          <a:p xmlns:a="http://schemas.openxmlformats.org/drawingml/2006/main">
            <a:pPr marL="0" lvl="0" indent="0" algn="l">
              <a:lnSpc>
                <a:spcPct val="100000"/>
              </a:lnSpc>
              <a:spcBef>
                <a:spcPts val="0"/>
              </a:spcBef>
              <a:spcAft>
                <a:spcPts val="0"/>
              </a:spcAft>
              <a:buSzPts val="1400"/>
              <a:buNone/>
            </a:pPr>
            <a:r>
              <a:t>    seed the declared evidence protocol consistently</a:t>
            </a:r>
            <a:endParaRPr/>
          </a:p>
          <a:p xmlns:a="http://schemas.openxmlformats.org/drawingml/2006/main">
            <a:pPr marL="0" lvl="0" indent="0" algn="l">
              <a:lnSpc>
                <a:spcPct val="100000"/>
              </a:lnSpc>
              <a:spcBef>
                <a:spcPts val="0"/>
              </a:spcBef>
              <a:spcAft>
                <a:spcPts val="0"/>
              </a:spcAft>
              <a:buSzPts val="1400"/>
              <a:buNone/>
            </a:pPr>
            <a:r>
              <a:t>    execute identical QA request with fixed budgets/settings</a:t>
            </a:r>
            <a:endParaRPr/>
          </a:p>
          <a:p xmlns:a="http://schemas.openxmlformats.org/drawingml/2006/main">
            <a:pPr marL="0" lvl="0" indent="0" algn="l">
              <a:lnSpc>
                <a:spcPct val="100000"/>
              </a:lnSpc>
              <a:spcBef>
                <a:spcPts val="0"/>
              </a:spcBef>
              <a:spcAft>
                <a:spcPts val="0"/>
              </a:spcAft>
              <a:buSzPts val="1400"/>
              <a:buNone/>
            </a:pPr>
            <a:r>
              <a:t>    await task-appropriate maintenance boundary</a:t>
            </a:r>
            <a:endParaRPr/>
          </a:p>
          <a:p xmlns:a="http://schemas.openxmlformats.org/drawingml/2006/main">
            <a:pPr marL="0" lvl="0" indent="0" algn="l">
              <a:lnSpc>
                <a:spcPct val="100000"/>
              </a:lnSpc>
              <a:spcBef>
                <a:spcPts val="0"/>
              </a:spcBef>
              <a:spcAft>
                <a:spcPts val="0"/>
              </a:spcAft>
              <a:buSzPts val="1400"/>
              <a:buNone/>
            </a:pPr>
            <a:r>
              <a:t>    save full typed response and active backend diagnostics</a:t>
            </a:r>
            <a:endParaRPr/>
          </a:p>
          <a:p xmlns:a="http://schemas.openxmlformats.org/drawingml/2006/main">
            <a:pPr marL="0" lvl="0" indent="0" algn="l">
              <a:lnSpc>
                <a:spcPct val="100000"/>
              </a:lnSpc>
              <a:spcBef>
                <a:spcPts val="0"/>
              </a:spcBef>
              <a:spcAft>
                <a:spcPts val="0"/>
              </a:spcAft>
              <a:buSzPts val="1400"/>
              <a:buNone/>
            </a:pPr>
            <a:r>
              <a:t>    score only after inference using evaluator-owned gold</a:t>
            </a:r>
            <a:endParaRPr/>
          </a:p>
          <a:p xmlns:a="http://schemas.openxmlformats.org/drawingml/2006/main">
            <a:pPr marL="0" lvl="0" indent="0" algn="l">
              <a:lnSpc>
                <a:spcPct val="100000"/>
              </a:lnSpc>
              <a:spcBef>
                <a:spcPts val="0"/>
              </a:spcBef>
              <a:spcAft>
                <a:spcPts val="0"/>
              </a:spcAft>
              <a:buSzPts val="1400"/>
              <a:buNone/>
            </a:pPr>
            <a:r>
              <a:t>run scenario-specific ingestion/replay/affect/tool requests</a:t>
            </a:r>
            <a:endParaRPr/>
          </a:p>
          <a:p xmlns:a="http://schemas.openxmlformats.org/drawingml/2006/main">
            <a:pPr marL="0" lvl="0" indent="0" algn="l">
              <a:lnSpc>
                <a:spcPct val="100000"/>
              </a:lnSpc>
              <a:spcBef>
                <a:spcPts val="0"/>
              </a:spcBef>
              <a:spcAft>
                <a:spcPts val="0"/>
              </a:spcAft>
              <a:buSzPts val="1400"/>
              <a:buNone/>
            </a:pPr>
            <a:r>
              <a:t>run labeled deterministic reflection and fault cases separately</a:t>
            </a:r>
            <a:endParaRPr/>
          </a:p>
          <a:p xmlns:a="http://schemas.openxmlformats.org/drawingml/2006/main">
            <a:pPr marL="0" lvl="0" indent="0" algn="l">
              <a:lnSpc>
                <a:spcPct val="100000"/>
              </a:lnSpc>
              <a:spcBef>
                <a:spcPts val="0"/>
              </a:spcBef>
              <a:spcAft>
                <a:spcPts val="0"/>
              </a:spcAft>
              <a:buSzPts val="1400"/>
              <a:buNone/>
            </a:pPr>
            <a:r>
              <a:t>reconcile planned, executed, not-executed, and skipped components</a:t>
            </a:r>
            <a:endParaRPr/>
          </a:p>
          <a:p xmlns:a="http://schemas.openxmlformats.org/drawingml/2006/main">
            <a:pPr marL="0" lvl="0" indent="0" algn="l">
              <a:lnSpc>
                <a:spcPct val="100000"/>
              </a:lnSpc>
              <a:spcBef>
                <a:spcPts val="0"/>
              </a:spcBef>
              <a:spcAft>
                <a:spcPts val="0"/>
              </a:spcAft>
              <a:buSzPts val="1400"/>
              <a:buNone/>
            </a:pPr>
            <a:r>
              <a:t>validate artifact coverage and redact secrets</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7.7 Assertions required in the eventual runnable script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Unsupported routes/control overrides fail before unintended work.</a:t>
            </a:r>
            <a:endParaRPr/>
          </a:p>
          <a:p xmlns:a="http://schemas.openxmlformats.org/drawingml/2006/main">
            <a:pPr marL="0" lvl="0" indent="0" algn="l">
              <a:lnSpc>
                <a:spcPct val="100000"/>
              </a:lnSpc>
              <a:spcBef>
                <a:spcPts val="0"/>
              </a:spcBef>
              <a:spcAft>
                <a:spcPts val="0"/>
              </a:spcAft>
              <a:buSzPts val="1400"/>
              <a:buNone/>
            </a:pPr>
            <a:r>
              <a:t>2. Ingestion/replay does not call answer generation.</a:t>
            </a:r>
            <a:endParaRPr/>
          </a:p>
          <a:p xmlns:a="http://schemas.openxmlformats.org/drawingml/2006/main">
            <a:pPr marL="0" lvl="0" indent="0" algn="l">
              <a:lnSpc>
                <a:spcPct val="100000"/>
              </a:lnSpc>
              <a:spcBef>
                <a:spcPts val="0"/>
              </a:spcBef>
              <a:spcAft>
                <a:spcPts val="0"/>
              </a:spcAft>
              <a:buSzPts val="1400"/>
              <a:buNone/>
            </a:pPr>
            <a:r>
              <a:t>3. Model-only does not execute retrieval.</a:t>
            </a:r>
            <a:endParaRPr/>
          </a:p>
          <a:p xmlns:a="http://schemas.openxmlformats.org/drawingml/2006/main">
            <a:pPr marL="0" lvl="0" indent="0" algn="l">
              <a:lnSpc>
                <a:spcPct val="100000"/>
              </a:lnSpc>
              <a:spcBef>
                <a:spcPts val="0"/>
              </a:spcBef>
              <a:spcAft>
                <a:spcPts val="0"/>
              </a:spcAft>
              <a:buSzPts val="1400"/>
              <a:buNone/>
            </a:pPr>
            <a:r>
              <a:t>4. Simple RAG excludes temporal/graph responsibilities selected only by full routes.</a:t>
            </a:r>
            <a:endParaRPr/>
          </a:p>
          <a:p xmlns:a="http://schemas.openxmlformats.org/drawingml/2006/main">
            <a:pPr marL="0" lvl="0" indent="0" algn="l">
              <a:lnSpc>
                <a:spcPct val="100000"/>
              </a:lnSpc>
              <a:spcBef>
                <a:spcPts val="0"/>
              </a:spcBef>
              <a:spcAft>
                <a:spcPts val="0"/>
              </a:spcAft>
              <a:buSzPts val="1400"/>
              <a:buNone/>
            </a:pPr>
            <a:r>
              <a:t>5. Planned components reconcile with executed and not-executed components, and execution respects capabilities.</a:t>
            </a:r>
            <a:endParaRPr/>
          </a:p>
          <a:p xmlns:a="http://schemas.openxmlformats.org/drawingml/2006/main">
            <a:pPr marL="0" lvl="0" indent="0" algn="l">
              <a:lnSpc>
                <a:spcPct val="100000"/>
              </a:lnSpc>
              <a:spcBef>
                <a:spcPts val="0"/>
              </a:spcBef>
              <a:spcAft>
                <a:spcPts val="0"/>
              </a:spcAft>
              <a:buSzPts val="1400"/>
              <a:buNone/>
            </a:pPr>
            <a:r>
              <a:t>6. Returned citations map to the actual selected evidence.</a:t>
            </a:r>
            <a:endParaRPr/>
          </a:p>
          <a:p xmlns:a="http://schemas.openxmlformats.org/drawingml/2006/main">
            <a:pPr marL="0" lvl="0" indent="0" algn="l">
              <a:lnSpc>
                <a:spcPct val="100000"/>
              </a:lnSpc>
              <a:spcBef>
                <a:spcPts val="0"/>
              </a:spcBef>
              <a:spcAft>
                <a:spcPts val="0"/>
              </a:spcAft>
              <a:buSzPts val="1400"/>
              <a:buNone/>
            </a:pPr>
            <a:r>
              <a:t>7. Reflection respects correction budgets and records actual changes.</a:t>
            </a:r>
            <a:endParaRPr/>
          </a:p>
          <a:p xmlns:a="http://schemas.openxmlformats.org/drawingml/2006/main">
            <a:pPr marL="0" lvl="0" indent="0" algn="l">
              <a:lnSpc>
                <a:spcPct val="100000"/>
              </a:lnSpc>
              <a:spcBef>
                <a:spcPts val="0"/>
              </a:spcBef>
              <a:spcAft>
                <a:spcPts val="0"/>
              </a:spcAft>
              <a:buSzPts val="1400"/>
              <a:buNone/>
            </a:pPr>
            <a:r>
              <a:t>8. Tool requests do not accidentally invoke answer generation. Invalid/disallowed invocations remain blocked.</a:t>
            </a:r>
            <a:endParaRPr/>
          </a:p>
          <a:p xmlns:a="http://schemas.openxmlformats.org/drawingml/2006/main">
            <a:pPr marL="0" lvl="0" indent="0" algn="l">
              <a:lnSpc>
                <a:spcPct val="100000"/>
              </a:lnSpc>
              <a:spcBef>
                <a:spcPts val="0"/>
              </a:spcBef>
              <a:spcAft>
                <a:spcPts val="0"/>
              </a:spcAft>
              <a:buSzPts val="1400"/>
              <a:buNone/>
            </a:pPr>
            <a:r>
              <a:t>9. State versions and task-appropriate memory effects are observable.</a:t>
            </a:r>
            <a:endParaRPr/>
          </a:p>
          <a:p xmlns:a="http://schemas.openxmlformats.org/drawingml/2006/main">
            <a:pPr marL="0" lvl="0" indent="0" algn="l">
              <a:lnSpc>
                <a:spcPct val="100000"/>
              </a:lnSpc>
              <a:spcBef>
                <a:spcPts val="0"/>
              </a:spcBef>
              <a:spcAft>
                <a:spcPts val="0"/>
              </a:spcAft>
              <a:buSzPts val="1400"/>
              <a:buNone/>
            </a:pPr>
            <a:r>
              <a:t>10. Maintenance completes or reports failures explicitly before claiming a completed demo stage.</a:t>
            </a:r>
            <a:endParaRPr/>
          </a:p>
          <a:p xmlns:a="http://schemas.openxmlformats.org/drawingml/2006/main">
            <a:pPr marL="0" lvl="0" indent="0" algn="l">
              <a:lnSpc>
                <a:spcPct val="100000"/>
              </a:lnSpc>
              <a:spcBef>
                <a:spcPts val="0"/>
              </a:spcBef>
              <a:spcAft>
                <a:spcPts val="0"/>
              </a:spcAft>
              <a:buSzPts val="1400"/>
              <a:buNone/>
            </a:pPr>
            <a:r>
              <a:t>11. Provider/schema/store failures do not become invented success.</a:t>
            </a:r>
            <a:endParaRPr/>
          </a:p>
          <a:p xmlns:a="http://schemas.openxmlformats.org/drawingml/2006/main">
            <a:pPr marL="0" lvl="0" indent="0" algn="l">
              <a:lnSpc>
                <a:spcPct val="100000"/>
              </a:lnSpc>
              <a:spcBef>
                <a:spcPts val="0"/>
              </a:spcBef>
              <a:spcAft>
                <a:spcPts val="0"/>
              </a:spcAft>
              <a:buSzPts val="1400"/>
              <a:buNone/>
            </a:pPr>
            <a:r>
              <a:t>12. Gold expectations remain outside inference requests/prompts/telemetry.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scaffolding: runtime integration, release fault injection, correction tests, tool tests, maintenance barriers.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C:/PRIMA_next/tests/integration/test_runtime_pipeline.py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Demo orchestration and assertions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 Slide 7, part A: one-scenario demonstration and comparison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Status: proposed demo specification, not a completed demo run. The previous panel's suggestion is best satisfied with one connected scenario, several task-appropriate requests, and one exported evidence bundle. A single factual-QA request intentionally cannot exercise ingestion, conversation admission, emotion-only classification, and tool-only execution together.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7.1 Sample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synthetic data so the demo can be shared without exposing personal information. Freeze the wording and stable source IDs before rehearsal.</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Source ID | Synthetic history/document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S1 | [2026-09-01] Alex: I am working on Project Atlas. Mira is my project mentor. Please remember my important goal: finish the Atlas prototype. |</a:t>
            </a:r>
            <a:endParaRPr/>
          </a:p>
          <a:p xmlns:a="http://schemas.openxmlformats.org/drawingml/2006/main">
            <a:pPr marL="0" lvl="0" indent="0" algn="l">
              <a:lnSpc>
                <a:spcPct val="100000"/>
              </a:lnSpc>
              <a:spcBef>
                <a:spcPts val="0"/>
              </a:spcBef>
              <a:spcAft>
                <a:spcPts val="0"/>
              </a:spcAft>
              <a:buSzPts val="1400"/>
              <a:buNone/>
            </a:pPr>
            <a:r>
              <a:t>| S2 | [2026-09-03] Mira's office is in Pune. Mira reviews Project Atlas every Friday. |</a:t>
            </a:r>
            <a:endParaRPr/>
          </a:p>
          <a:p xmlns:a="http://schemas.openxmlformats.org/drawingml/2006/main">
            <a:pPr marL="0" lvl="0" indent="0" algn="l">
              <a:lnSpc>
                <a:spcPct val="100000"/>
              </a:lnSpc>
              <a:spcBef>
                <a:spcPts val="0"/>
              </a:spcBef>
              <a:spcAft>
                <a:spcPts val="0"/>
              </a:spcAft>
              <a:buSzPts val="1400"/>
              <a:buNone/>
            </a:pPr>
            <a:r>
              <a:t>| S3 | [2026-09-05] Alex: I used to prefer long explanations. I now prefer concise summaries for Project Atlas. |</a:t>
            </a:r>
            <a:endParaRPr/>
          </a:p>
          <a:p xmlns:a="http://schemas.openxmlformats.org/drawingml/2006/main">
            <a:pPr marL="0" lvl="0" indent="0" algn="l">
              <a:lnSpc>
                <a:spcPct val="100000"/>
              </a:lnSpc>
              <a:spcBef>
                <a:spcPts val="0"/>
              </a:spcBef>
              <a:spcAft>
                <a:spcPts val="0"/>
              </a:spcAft>
              <a:buSzPts val="1400"/>
              <a:buNone/>
            </a:pPr>
            <a:r>
              <a:t>| S4 | [2026-09-06] Alex: I feel anxious about the Project Atlas review because the prototype is unfinished. |</a:t>
            </a:r>
            <a:endParaRPr/>
          </a:p>
          <a:p xmlns:a="http://schemas.openxmlformats.org/drawingml/2006/main">
            <a:pPr marL="0" lvl="0" indent="0" algn="l">
              <a:lnSpc>
                <a:spcPct val="100000"/>
              </a:lnSpc>
              <a:spcBef>
                <a:spcPts val="0"/>
              </a:spcBef>
              <a:spcAft>
                <a:spcPts val="0"/>
              </a:spcAft>
              <a:buSzPts val="1400"/>
              <a:buNone/>
            </a:pPr>
            <a:r>
              <a:t>| S5 | [2026-09-07] Alex: The Project Atlas prototype passed its local checks. I feel excited and relieved. |</a:t>
            </a:r>
            <a:endParaRPr/>
          </a:p>
          <a:p xmlns:a="http://schemas.openxmlformats.org/drawingml/2006/main">
            <a:pPr marL="0" lvl="0" indent="0" algn="l">
              <a:lnSpc>
                <a:spcPct val="100000"/>
              </a:lnSpc>
              <a:spcBef>
                <a:spcPts val="0"/>
              </a:spcBef>
              <a:spcAft>
                <a:spcPts val="0"/>
              </a:spcAft>
              <a:buSzPts val="1400"/>
              <a:buNone/>
            </a:pPr>
            <a:r>
              <a:t>| D1 | Distractor: Dev mentors Project Beacon from Mumbai. Project Beacon is unrelated to Project Atlas. |</a:t>
            </a:r>
            <a:endParaRPr/>
          </a:p>
          <a:p xmlns:a="http://schemas.openxmlformats.org/drawingml/2006/main">
            <a:pPr marL="0" lvl="0" indent="0" algn="l">
              <a:lnSpc>
                <a:spcPct val="100000"/>
              </a:lnSpc>
              <a:spcBef>
                <a:spcPts val="0"/>
              </a:spcBef>
              <a:spcAft>
                <a:spcPts val="0"/>
              </a:spcAft>
              <a:buSzPts val="1400"/>
              <a:buNone/>
            </a:pPr>
            <a:r>
              <a:t>| D2 | Distractor: An older Atlas travel brochure mentions Mumbai. It does not describe Alex's mentor.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comparison question: "Which city is Alex's Project Atlas mentor based in?"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Evaluator-owned expected answer: Pune, supported by the Alex - Mira link in S1 and Mira - Pune link in S2. Do not add this expected answer or supporting-source IDs to model request metadata. The source records themselves may be supplied as ordinary evidence. S3 - S5 support temporal/preference/affect demonstrations in the same 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current lexical sufficiency heuristic may reject this multi-hop wording despite relevant evidence. That is useful failure evidence. Record it, diagnose its stage, and avoid secretly simplifying only the PRIMA question to get a better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7.2 Two demonstration tracks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Functional track: deterministic injected provider and controlled branch conditions prove execution plumbing. Clearly label provider responses and forced uncertainty as synthetic. Existing tests already use injected responses and low-confidence estimators. This track can show error handling even when a real endpoint is unavailable.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Quality track: run the same frozen sample using a configured real model and record actual outputs. Use matched generation settings and native scoring. This track can provide an illustrative baseline comparison, but one scenario is insufficient for a research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Do not mix functional-track scripted answers into the real-model comparison table. A fake provider returning "Pune" does not show the model inferred the answer.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7.3 Demo sequence, visible outputs, and narration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Step | Request / operation | What must be visible | What to say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0. Freeze setup | Record source commit, dependency versions, sample hash, seed, active backends/model/revision. Use isolated demo stores. | A manifest with real/fake provider label, source IDs, settings. | "This is the exact configuration and input used in all comparisons." |</a:t>
            </a:r>
            <a:endParaRPr/>
          </a:p>
          <a:p xmlns:a="http://schemas.openxmlformats.org/drawingml/2006/main">
            <a:pPr marL="0" lvl="0" indent="0" algn="l">
              <a:lnSpc>
                <a:spcPct val="100000"/>
              </a:lnSpc>
              <a:spcBef>
                <a:spcPts val="0"/>
              </a:spcBef>
              <a:spcAft>
                <a:spcPts val="0"/>
              </a:spcAft>
              <a:buSzPts val="1400"/>
              <a:buNone/>
            </a:pPr>
            <a:r>
              <a:t>| 1. Invalid request | Attempt an unsupported task/profile pair and reserved-control metadata. | Validation rejection / typed rejected result, no unintended execution. | "The public boundary rejects incompatible routes and control overrides." |</a:t>
            </a:r>
            <a:endParaRPr/>
          </a:p>
          <a:p xmlns:a="http://schemas.openxmlformats.org/drawingml/2006/main">
            <a:pPr marL="0" lvl="0" indent="0" algn="l">
              <a:lnSpc>
                <a:spcPct val="100000"/>
              </a:lnSpc>
              <a:spcBef>
                <a:spcPts val="0"/>
              </a:spcBef>
              <a:spcAft>
                <a:spcPts val="0"/>
              </a:spcAft>
              <a:buSzPts val="1400"/>
              <a:buNone/>
            </a:pPr>
            <a:r>
              <a:t>| 2. Ingest history | Submit frozen records through DOCUMENT_INGESTION/INGESTION_ONLY for a fixed-store comparison. Separately replay history through HISTORICAL_REPLAY/PRIMA_FULL to show admission/state behavior. | Memory IDs, content provenance, task outcome, no LLM calls during ingestion/replay. | "Explicit ingestion and selective historical admission are different experiments." |</a:t>
            </a:r>
            <a:endParaRPr/>
          </a:p>
          <a:p xmlns:a="http://schemas.openxmlformats.org/drawingml/2006/main">
            <a:pPr marL="0" lvl="0" indent="0" algn="l">
              <a:lnSpc>
                <a:spcPct val="100000"/>
              </a:lnSpc>
              <a:spcBef>
                <a:spcPts val="0"/>
              </a:spcBef>
              <a:spcAft>
                <a:spcPts val="0"/>
              </a:spcAft>
              <a:buSzPts val="1400"/>
              <a:buNone/>
            </a:pPr>
            <a:r>
              <a:t>| 3. Affect | Process S4 then S5 using the same dedicated scenario session. Optionally classify one utterance through AFFECT_ONLY. | Label scores, PAD, temporal momentum/history, active classifier. | "These are text-derived emotional signals. Here is how the signal changes over time." |</a:t>
            </a:r>
            <a:endParaRPr/>
          </a:p>
          <a:p xmlns:a="http://schemas.openxmlformats.org/drawingml/2006/main">
            <a:pPr marL="0" lvl="0" indent="0" algn="l">
              <a:lnSpc>
                <a:spcPct val="100000"/>
              </a:lnSpc>
              <a:spcBef>
                <a:spcPts val="0"/>
              </a:spcBef>
              <a:spcAft>
                <a:spcPts val="0"/>
              </a:spcAft>
              <a:buSzPts val="1400"/>
              <a:buNone/>
            </a:pPr>
            <a:r>
              <a:t>| 4. Admission | Inspect scores/reasons from replay and an additional low-value synthetic turn. | Stored/rejected decision, threshold, component scores, before/after memory counts. | "Useful-memory selection is explicit. We report the actual outcome instead of assuming every turn is stored." |</a:t>
            </a:r>
            <a:endParaRPr/>
          </a:p>
          <a:p xmlns:a="http://schemas.openxmlformats.org/drawingml/2006/main">
            <a:pPr marL="0" lvl="0" indent="0" algn="l">
              <a:lnSpc>
                <a:spcPct val="100000"/>
              </a:lnSpc>
              <a:spcBef>
                <a:spcPts val="0"/>
              </a:spcBef>
              <a:spcAft>
                <a:spcPts val="0"/>
              </a:spcAft>
              <a:buSzPts val="1400"/>
              <a:buNone/>
            </a:pPr>
            <a:r>
              <a:t>| 5. Three-profile QA | Ask the identical primary question in fresh, equivalent runtime/store instances for each profile. | Output, abstention/failure, retrieved IDs, calls, latency, tokens. | "We change the profile while fixing the model and experiment conditions." |</a:t>
            </a:r>
            <a:endParaRPr/>
          </a:p>
          <a:p xmlns:a="http://schemas.openxmlformats.org/drawingml/2006/main">
            <a:pPr marL="0" lvl="0" indent="0" algn="l">
              <a:lnSpc>
                <a:spcPct val="100000"/>
              </a:lnSpc>
              <a:spcBef>
                <a:spcPts val="0"/>
              </a:spcBef>
              <a:spcAft>
                <a:spcPts val="0"/>
              </a:spcAft>
              <a:buSzPts val="1400"/>
              <a:buNone/>
            </a:pPr>
            <a:r>
              <a:t>| 6. Retrieval internals | Expand full-route trace for the QA request. | Dense/sparse/temporal/graph candidates, fusion/reranking, compressed context/source mapping, insufficiency reason if any. | "This shows where the evidence entered or disappeared." |</a:t>
            </a:r>
            <a:endParaRPr/>
          </a:p>
          <a:p xmlns:a="http://schemas.openxmlformats.org/drawingml/2006/main">
            <a:pPr marL="0" lvl="0" indent="0" algn="l">
              <a:lnSpc>
                <a:spcPct val="100000"/>
              </a:lnSpc>
              <a:spcBef>
                <a:spcPts val="0"/>
              </a:spcBef>
              <a:spcAft>
                <a:spcPts val="0"/>
              </a:spcAft>
              <a:buSzPts val="1400"/>
              <a:buNone/>
            </a:pPr>
            <a:r>
              <a:t>| 7. Planning/world/uncertainty | Inspect a full conversation or tool route in this story. | Plan/actions, symbolic predictions, available confidence signals, selected decision. | "These deterministic components expose intended actions and uncertainty. Their scores need empirical validation." |</a:t>
            </a:r>
            <a:endParaRPr/>
          </a:p>
          <a:p xmlns:a="http://schemas.openxmlformats.org/drawingml/2006/main">
            <a:pPr marL="0" lvl="0" indent="0" algn="l">
              <a:lnSpc>
                <a:spcPct val="100000"/>
              </a:lnSpc>
              <a:spcBef>
                <a:spcPts val="0"/>
              </a:spcBef>
              <a:spcAft>
                <a:spcPts val="0"/>
              </a:spcAft>
              <a:buSzPts val="1400"/>
              <a:buNone/>
            </a:pPr>
            <a:r>
              <a:t>| 8. Reflection | First show natural trigger behavior. In functional track only, inject a low-confidence/wrong-query condition with a visible label. | Advice, budget check, accepted/rejected correction, before/after query/evidence/output. | "This branch is conditional. The injected case proves the correction mechanism, not natural-model improvement." |</a:t>
            </a:r>
            <a:endParaRPr/>
          </a:p>
          <a:p xmlns:a="http://schemas.openxmlformats.org/drawingml/2006/main">
            <a:pPr marL="0" lvl="0" indent="0" algn="l">
              <a:lnSpc>
                <a:spcPct val="100000"/>
              </a:lnSpc>
              <a:spcBef>
                <a:spcPts val="0"/>
              </a:spcBef>
              <a:spcAft>
                <a:spcPts val="0"/>
              </a:spcAft>
              <a:buSzPts val="1400"/>
              <a:buNone/>
            </a:pPr>
            <a:r>
              <a:t>| 9. Controlled tool | Register a harmless local calculator/formatter using existing tool contracts. Permit only that tool. Demonstrate valid and blocked/invalid invocations. | Schema checks, policy audit, typed result, no external side effects. | "Only a registered, validated, allowlisted operation runs." |</a:t>
            </a:r>
            <a:endParaRPr/>
          </a:p>
          <a:p xmlns:a="http://schemas.openxmlformats.org/drawingml/2006/main">
            <a:pPr marL="0" lvl="0" indent="0" algn="l">
              <a:lnSpc>
                <a:spcPct val="100000"/>
              </a:lnSpc>
              <a:spcBef>
                <a:spcPts val="0"/>
              </a:spcBef>
              <a:spcAft>
                <a:spcPts val="0"/>
              </a:spcAft>
              <a:buSzPts val="1400"/>
              <a:buNone/>
            </a:pPr>
            <a:r>
              <a:t>| 10. Generation/validation | Show selected evidence labels in request and parsed citations in response. Force malformed output separately in functional track. | Actual generated response or explicit failure, mapped source IDs, no fabricated fallback. | "A failed provider/schema call remains a failure." |</a:t>
            </a:r>
            <a:endParaRPr/>
          </a:p>
          <a:p xmlns:a="http://schemas.openxmlformats.org/drawingml/2006/main">
            <a:pPr marL="0" lvl="0" indent="0" algn="l">
              <a:lnSpc>
                <a:spcPct val="100000"/>
              </a:lnSpc>
              <a:spcBef>
                <a:spcPts val="0"/>
              </a:spcBef>
              <a:spcAft>
                <a:spcPts val="0"/>
              </a:spcAft>
              <a:buSzPts val="1400"/>
              <a:buNone/>
            </a:pPr>
            <a:r>
              <a:t>| 11. State/maintenance | Show version increment and task-appropriate memory changes. Await the existing maintenance barrier. | Pending/completed/failed counts and derived memory/graph changes. | "Admission and completed background work are separate facts." |</a:t>
            </a:r>
            <a:endParaRPr/>
          </a:p>
          <a:p xmlns:a="http://schemas.openxmlformats.org/drawingml/2006/main">
            <a:pPr marL="0" lvl="0" indent="0" algn="l">
              <a:lnSpc>
                <a:spcPct val="100000"/>
              </a:lnSpc>
              <a:spcBef>
                <a:spcPts val="0"/>
              </a:spcBef>
              <a:spcAft>
                <a:spcPts val="0"/>
              </a:spcAft>
              <a:buSzPts val="1400"/>
              <a:buNone/>
            </a:pPr>
            <a:r>
              <a:t>| 12. Export | Save manifest, per-request typed responses, traces, evaluator records, comparison, test output, checksums. | One reproducible demo bundle with no secrets. | "Every claim shown on screen has a corresponding saved artifact."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7.4 Fair comparisons: separate what changes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A, fixed-store retrieval/control: give simple RAG and full PRIMA identical ingested records and compatible backend/settings. Model-only remains the no-retrieval baseline. Its lack of private memory is the intended distinction. If a long-context baseline is desired, give it the same history explicitly and label it separately. This comparison isolates route-level differences more clearly than simultaneously changing memory admission.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B, historical memory formation: replay identical history using declared admission policies, then compare the resulting stores and later QA. This measures the combined effect of admission/maintenance/retrieval. Do not attribute its whole delta only to graph or affect.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Comparison C, component ablation: keep all else fixed and disable one component, such as affect modulation, graph retrieval, or reflection. Use development cases and freeze the final settings before held-out evaluation. Existing profiles are not automatically single-component ablations.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Keep model/revision, source IDs/order, seed, generation settings, context limit, retry policy, scorer, and environment fixed. Reset state/stores between variants to prevent earlier answers contaminating later ones. Use one dedicated runtime/store per principal for the demo. Record warm/cold model state when timing.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7.5 Comparison table to fill from actual runs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Item | Model only | Simple RAG | Full PRIMA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Primary answer | PENDING | PENDING | PENDING |</a:t>
            </a:r>
            <a:endParaRPr/>
          </a:p>
          <a:p xmlns:a="http://schemas.openxmlformats.org/drawingml/2006/main">
            <a:pPr marL="0" lvl="0" indent="0" algn="l">
              <a:lnSpc>
                <a:spcPct val="100000"/>
              </a:lnSpc>
              <a:spcBef>
                <a:spcPts val="0"/>
              </a:spcBef>
              <a:spcAft>
                <a:spcPts val="0"/>
              </a:spcAft>
              <a:buSzPts val="1400"/>
              <a:buNone/>
            </a:pPr>
            <a:r>
              <a:t>| Outcome: answered/abstained/failed | PENDING | PENDING | PENDING |</a:t>
            </a:r>
            <a:endParaRPr/>
          </a:p>
          <a:p xmlns:a="http://schemas.openxmlformats.org/drawingml/2006/main">
            <a:pPr marL="0" lvl="0" indent="0" algn="l">
              <a:lnSpc>
                <a:spcPct val="100000"/>
              </a:lnSpc>
              <a:spcBef>
                <a:spcPts val="0"/>
              </a:spcBef>
              <a:spcAft>
                <a:spcPts val="0"/>
              </a:spcAft>
              <a:buSzPts val="1400"/>
              <a:buNone/>
            </a:pPr>
            <a:r>
              <a:t>| Exact match / token F1 | PENDING | PENDING | PENDING |</a:t>
            </a:r>
            <a:endParaRPr/>
          </a:p>
          <a:p xmlns:a="http://schemas.openxmlformats.org/drawingml/2006/main">
            <a:pPr marL="0" lvl="0" indent="0" algn="l">
              <a:lnSpc>
                <a:spcPct val="100000"/>
              </a:lnSpc>
              <a:spcBef>
                <a:spcPts val="0"/>
              </a:spcBef>
              <a:spcAft>
                <a:spcPts val="0"/>
              </a:spcAft>
              <a:buSzPts val="1400"/>
              <a:buNone/>
            </a:pPr>
            <a:r>
              <a:t>| Supporting-source recall | N/A, no retrieval | PENDING | PENDING |</a:t>
            </a:r>
            <a:endParaRPr/>
          </a:p>
          <a:p xmlns:a="http://schemas.openxmlformats.org/drawingml/2006/main">
            <a:pPr marL="0" lvl="0" indent="0" algn="l">
              <a:lnSpc>
                <a:spcPct val="100000"/>
              </a:lnSpc>
              <a:spcBef>
                <a:spcPts val="0"/>
              </a:spcBef>
              <a:spcAft>
                <a:spcPts val="0"/>
              </a:spcAft>
              <a:buSzPts val="1400"/>
              <a:buNone/>
            </a:pPr>
            <a:r>
              <a:t>| Final evidence/citations | N/A or explicitly supplied context | PENDING | PENDING |</a:t>
            </a:r>
            <a:endParaRPr/>
          </a:p>
          <a:p xmlns:a="http://schemas.openxmlformats.org/drawingml/2006/main">
            <a:pPr marL="0" lvl="0" indent="0" algn="l">
              <a:lnSpc>
                <a:spcPct val="100000"/>
              </a:lnSpc>
              <a:spcBef>
                <a:spcPts val="0"/>
              </a:spcBef>
              <a:spcAft>
                <a:spcPts val="0"/>
              </a:spcAft>
              <a:buSzPts val="1400"/>
              <a:buNone/>
            </a:pPr>
            <a:r>
              <a:t>| Retrieval calls / returned sources | Expected zero retrieval | PENDING | PENDING |</a:t>
            </a:r>
            <a:endParaRPr/>
          </a:p>
          <a:p xmlns:a="http://schemas.openxmlformats.org/drawingml/2006/main">
            <a:pPr marL="0" lvl="0" indent="0" algn="l">
              <a:lnSpc>
                <a:spcPct val="100000"/>
              </a:lnSpc>
              <a:spcBef>
                <a:spcPts val="0"/>
              </a:spcBef>
              <a:spcAft>
                <a:spcPts val="0"/>
              </a:spcAft>
              <a:buSzPts val="1400"/>
              <a:buNone/>
            </a:pPr>
            <a:r>
              <a:t>| Model calls / tokens | PENDING | PENDING | PENDING |</a:t>
            </a:r>
            <a:endParaRPr/>
          </a:p>
          <a:p xmlns:a="http://schemas.openxmlformats.org/drawingml/2006/main">
            <a:pPr marL="0" lvl="0" indent="0" algn="l">
              <a:lnSpc>
                <a:spcPct val="100000"/>
              </a:lnSpc>
              <a:spcBef>
                <a:spcPts val="0"/>
              </a:spcBef>
              <a:spcAft>
                <a:spcPts val="0"/>
              </a:spcAft>
              <a:buSzPts val="1400"/>
              <a:buNone/>
            </a:pPr>
            <a:r>
              <a:t>| Wall latency, including barrier if reported | PENDING | PENDING | PENDING |</a:t>
            </a:r>
            <a:endParaRPr/>
          </a:p>
          <a:p xmlns:a="http://schemas.openxmlformats.org/drawingml/2006/main">
            <a:pPr marL="0" lvl="0" indent="0" algn="l">
              <a:lnSpc>
                <a:spcPct val="100000"/>
              </a:lnSpc>
              <a:spcBef>
                <a:spcPts val="0"/>
              </a:spcBef>
              <a:spcAft>
                <a:spcPts val="0"/>
              </a:spcAft>
              <a:buSzPts val="1400"/>
              <a:buNone/>
            </a:pPr>
            <a:r>
              <a:t>| Reflection/corrections | Route excluded | Route dependent | PENDING |</a:t>
            </a:r>
            <a:endParaRPr/>
          </a:p>
          <a:p xmlns:a="http://schemas.openxmlformats.org/drawingml/2006/main">
            <a:pPr marL="0" lvl="0" indent="0" algn="l">
              <a:lnSpc>
                <a:spcPct val="100000"/>
              </a:lnSpc>
              <a:spcBef>
                <a:spcPts val="0"/>
              </a:spcBef>
              <a:spcAft>
                <a:spcPts val="0"/>
              </a:spcAft>
              <a:buSzPts val="1400"/>
              <a:buNone/>
            </a:pPr>
            <a:r>
              <a:t>| Maintenance admitted/completed/failed | Task/policy dependent | Task/policy dependent | PENDING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expected answer belongs to scoring. Every cell above must come from saved outputs rather than a manually scripted demonstration narrative.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7.6 Demo orchestration pseudocode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``text</a:t>
            </a:r>
            <a:endParaRPr/>
          </a:p>
          <a:p xmlns:a="http://schemas.openxmlformats.org/drawingml/2006/main">
            <a:pPr marL="0" lvl="0" indent="0" algn="l">
              <a:lnSpc>
                <a:spcPct val="100000"/>
              </a:lnSpc>
              <a:spcBef>
                <a:spcPts val="0"/>
              </a:spcBef>
              <a:spcAft>
                <a:spcPts val="0"/>
              </a:spcAft>
              <a:buSzPts val="1400"/>
              <a:buNone/>
            </a:pPr>
            <a:r>
              <a:t>freeze synthetic scenario and evaluator-owned expectations</a:t>
            </a:r>
            <a:endParaRPr/>
          </a:p>
          <a:p xmlns:a="http://schemas.openxmlformats.org/drawingml/2006/main">
            <a:pPr marL="0" lvl="0" indent="0" algn="l">
              <a:lnSpc>
                <a:spcPct val="100000"/>
              </a:lnSpc>
              <a:spcBef>
                <a:spcPts val="0"/>
              </a:spcBef>
              <a:spcAft>
                <a:spcPts val="0"/>
              </a:spcAft>
              <a:buSzPts val="1400"/>
              <a:buNone/>
            </a:pPr>
            <a:r>
              <a:t>record source/model/environment identities</a:t>
            </a:r>
            <a:endParaRPr/>
          </a:p>
          <a:p xmlns:a="http://schemas.openxmlformats.org/drawingml/2006/main">
            <a:pPr marL="0" lvl="0" indent="0" algn="l">
              <a:lnSpc>
                <a:spcPct val="100000"/>
              </a:lnSpc>
              <a:spcBef>
                <a:spcPts val="0"/>
              </a:spcBef>
              <a:spcAft>
                <a:spcPts val="0"/>
              </a:spcAft>
              <a:buSzPts val="1400"/>
              <a:buNone/>
            </a:pPr>
            <a:r>
              <a:t>for profile in [model_only, simple_rag, prima_full]:</a:t>
            </a:r>
            <a:endParaRPr/>
          </a:p>
          <a:p xmlns:a="http://schemas.openxmlformats.org/drawingml/2006/main">
            <a:pPr marL="0" lvl="0" indent="0" algn="l">
              <a:lnSpc>
                <a:spcPct val="100000"/>
              </a:lnSpc>
              <a:spcBef>
                <a:spcPts val="0"/>
              </a:spcBef>
              <a:spcAft>
                <a:spcPts val="0"/>
              </a:spcAft>
              <a:buSzPts val="1400"/>
              <a:buNone/>
            </a:pPr>
            <a:r>
              <a:t>    create fresh isolated runtime, repository, and state</a:t>
            </a:r>
            <a:endParaRPr/>
          </a:p>
          <a:p xmlns:a="http://schemas.openxmlformats.org/drawingml/2006/main">
            <a:pPr marL="0" lvl="0" indent="0" algn="l">
              <a:lnSpc>
                <a:spcPct val="100000"/>
              </a:lnSpc>
              <a:spcBef>
                <a:spcPts val="0"/>
              </a:spcBef>
              <a:spcAft>
                <a:spcPts val="0"/>
              </a:spcAft>
              <a:buSzPts val="1400"/>
              <a:buNone/>
            </a:pPr>
            <a:r>
              <a:t>    seed the declared evidence protocol consistently</a:t>
            </a:r>
            <a:endParaRPr/>
          </a:p>
          <a:p xmlns:a="http://schemas.openxmlformats.org/drawingml/2006/main">
            <a:pPr marL="0" lvl="0" indent="0" algn="l">
              <a:lnSpc>
                <a:spcPct val="100000"/>
              </a:lnSpc>
              <a:spcBef>
                <a:spcPts val="0"/>
              </a:spcBef>
              <a:spcAft>
                <a:spcPts val="0"/>
              </a:spcAft>
              <a:buSzPts val="1400"/>
              <a:buNone/>
            </a:pPr>
            <a:r>
              <a:t>    execute identical QA request with fixed budgets/settings</a:t>
            </a:r>
            <a:endParaRPr/>
          </a:p>
          <a:p xmlns:a="http://schemas.openxmlformats.org/drawingml/2006/main">
            <a:pPr marL="0" lvl="0" indent="0" algn="l">
              <a:lnSpc>
                <a:spcPct val="100000"/>
              </a:lnSpc>
              <a:spcBef>
                <a:spcPts val="0"/>
              </a:spcBef>
              <a:spcAft>
                <a:spcPts val="0"/>
              </a:spcAft>
              <a:buSzPts val="1400"/>
              <a:buNone/>
            </a:pPr>
            <a:r>
              <a:t>    await task-appropriate maintenance boundary</a:t>
            </a:r>
            <a:endParaRPr/>
          </a:p>
          <a:p xmlns:a="http://schemas.openxmlformats.org/drawingml/2006/main">
            <a:pPr marL="0" lvl="0" indent="0" algn="l">
              <a:lnSpc>
                <a:spcPct val="100000"/>
              </a:lnSpc>
              <a:spcBef>
                <a:spcPts val="0"/>
              </a:spcBef>
              <a:spcAft>
                <a:spcPts val="0"/>
              </a:spcAft>
              <a:buSzPts val="1400"/>
              <a:buNone/>
            </a:pPr>
            <a:r>
              <a:t>    save full typed response and active backend diagnostics</a:t>
            </a:r>
            <a:endParaRPr/>
          </a:p>
          <a:p xmlns:a="http://schemas.openxmlformats.org/drawingml/2006/main">
            <a:pPr marL="0" lvl="0" indent="0" algn="l">
              <a:lnSpc>
                <a:spcPct val="100000"/>
              </a:lnSpc>
              <a:spcBef>
                <a:spcPts val="0"/>
              </a:spcBef>
              <a:spcAft>
                <a:spcPts val="0"/>
              </a:spcAft>
              <a:buSzPts val="1400"/>
              <a:buNone/>
            </a:pPr>
            <a:r>
              <a:t>    score only after inference using evaluator-owned gold</a:t>
            </a:r>
            <a:endParaRPr/>
          </a:p>
          <a:p xmlns:a="http://schemas.openxmlformats.org/drawingml/2006/main">
            <a:pPr marL="0" lvl="0" indent="0" algn="l">
              <a:lnSpc>
                <a:spcPct val="100000"/>
              </a:lnSpc>
              <a:spcBef>
                <a:spcPts val="0"/>
              </a:spcBef>
              <a:spcAft>
                <a:spcPts val="0"/>
              </a:spcAft>
              <a:buSzPts val="1400"/>
              <a:buNone/>
            </a:pPr>
            <a:r>
              <a:t>run scenario-specific ingestion/replay/affect/tool requests</a:t>
            </a:r>
            <a:endParaRPr/>
          </a:p>
          <a:p xmlns:a="http://schemas.openxmlformats.org/drawingml/2006/main">
            <a:pPr marL="0" lvl="0" indent="0" algn="l">
              <a:lnSpc>
                <a:spcPct val="100000"/>
              </a:lnSpc>
              <a:spcBef>
                <a:spcPts val="0"/>
              </a:spcBef>
              <a:spcAft>
                <a:spcPts val="0"/>
              </a:spcAft>
              <a:buSzPts val="1400"/>
              <a:buNone/>
            </a:pPr>
            <a:r>
              <a:t>run labeled deterministic reflection and fault cases separately</a:t>
            </a:r>
            <a:endParaRPr/>
          </a:p>
          <a:p xmlns:a="http://schemas.openxmlformats.org/drawingml/2006/main">
            <a:pPr marL="0" lvl="0" indent="0" algn="l">
              <a:lnSpc>
                <a:spcPct val="100000"/>
              </a:lnSpc>
              <a:spcBef>
                <a:spcPts val="0"/>
              </a:spcBef>
              <a:spcAft>
                <a:spcPts val="0"/>
              </a:spcAft>
              <a:buSzPts val="1400"/>
              <a:buNone/>
            </a:pPr>
            <a:r>
              <a:t>reconcile planned, executed, not-executed, and skipped components</a:t>
            </a:r>
            <a:endParaRPr/>
          </a:p>
          <a:p xmlns:a="http://schemas.openxmlformats.org/drawingml/2006/main">
            <a:pPr marL="0" lvl="0" indent="0" algn="l">
              <a:lnSpc>
                <a:spcPct val="100000"/>
              </a:lnSpc>
              <a:spcBef>
                <a:spcPts val="0"/>
              </a:spcBef>
              <a:spcAft>
                <a:spcPts val="0"/>
              </a:spcAft>
              <a:buSzPts val="1400"/>
              <a:buNone/>
            </a:pPr>
            <a:r>
              <a:t>validate artifact coverage and redact secrets</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7.7 Assertions required in the eventual runnable script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Unsupported routes/control overrides fail before unintended work.</a:t>
            </a:r>
            <a:endParaRPr/>
          </a:p>
          <a:p xmlns:a="http://schemas.openxmlformats.org/drawingml/2006/main">
            <a:pPr marL="0" lvl="0" indent="0" algn="l">
              <a:lnSpc>
                <a:spcPct val="100000"/>
              </a:lnSpc>
              <a:spcBef>
                <a:spcPts val="0"/>
              </a:spcBef>
              <a:spcAft>
                <a:spcPts val="0"/>
              </a:spcAft>
              <a:buSzPts val="1400"/>
              <a:buNone/>
            </a:pPr>
            <a:r>
              <a:t>2. Ingestion/replay does not call answer generation.</a:t>
            </a:r>
            <a:endParaRPr/>
          </a:p>
          <a:p xmlns:a="http://schemas.openxmlformats.org/drawingml/2006/main">
            <a:pPr marL="0" lvl="0" indent="0" algn="l">
              <a:lnSpc>
                <a:spcPct val="100000"/>
              </a:lnSpc>
              <a:spcBef>
                <a:spcPts val="0"/>
              </a:spcBef>
              <a:spcAft>
                <a:spcPts val="0"/>
              </a:spcAft>
              <a:buSzPts val="1400"/>
              <a:buNone/>
            </a:pPr>
            <a:r>
              <a:t>3. Model-only does not execute retrieval.</a:t>
            </a:r>
            <a:endParaRPr/>
          </a:p>
          <a:p xmlns:a="http://schemas.openxmlformats.org/drawingml/2006/main">
            <a:pPr marL="0" lvl="0" indent="0" algn="l">
              <a:lnSpc>
                <a:spcPct val="100000"/>
              </a:lnSpc>
              <a:spcBef>
                <a:spcPts val="0"/>
              </a:spcBef>
              <a:spcAft>
                <a:spcPts val="0"/>
              </a:spcAft>
              <a:buSzPts val="1400"/>
              <a:buNone/>
            </a:pPr>
            <a:r>
              <a:t>4. Simple RAG excludes temporal/graph responsibilities selected only by full routes.</a:t>
            </a:r>
            <a:endParaRPr/>
          </a:p>
          <a:p xmlns:a="http://schemas.openxmlformats.org/drawingml/2006/main">
            <a:pPr marL="0" lvl="0" indent="0" algn="l">
              <a:lnSpc>
                <a:spcPct val="100000"/>
              </a:lnSpc>
              <a:spcBef>
                <a:spcPts val="0"/>
              </a:spcBef>
              <a:spcAft>
                <a:spcPts val="0"/>
              </a:spcAft>
              <a:buSzPts val="1400"/>
              <a:buNone/>
            </a:pPr>
            <a:r>
              <a:t>5. Planned components reconcile with executed and not-executed components, and execution respects capabilities.</a:t>
            </a:r>
            <a:endParaRPr/>
          </a:p>
          <a:p xmlns:a="http://schemas.openxmlformats.org/drawingml/2006/main">
            <a:pPr marL="0" lvl="0" indent="0" algn="l">
              <a:lnSpc>
                <a:spcPct val="100000"/>
              </a:lnSpc>
              <a:spcBef>
                <a:spcPts val="0"/>
              </a:spcBef>
              <a:spcAft>
                <a:spcPts val="0"/>
              </a:spcAft>
              <a:buSzPts val="1400"/>
              <a:buNone/>
            </a:pPr>
            <a:r>
              <a:t>6. Returned citations map to the actual selected evidence.</a:t>
            </a:r>
            <a:endParaRPr/>
          </a:p>
          <a:p xmlns:a="http://schemas.openxmlformats.org/drawingml/2006/main">
            <a:pPr marL="0" lvl="0" indent="0" algn="l">
              <a:lnSpc>
                <a:spcPct val="100000"/>
              </a:lnSpc>
              <a:spcBef>
                <a:spcPts val="0"/>
              </a:spcBef>
              <a:spcAft>
                <a:spcPts val="0"/>
              </a:spcAft>
              <a:buSzPts val="1400"/>
              <a:buNone/>
            </a:pPr>
            <a:r>
              <a:t>7. Reflection respects correction budgets and records actual changes.</a:t>
            </a:r>
            <a:endParaRPr/>
          </a:p>
          <a:p xmlns:a="http://schemas.openxmlformats.org/drawingml/2006/main">
            <a:pPr marL="0" lvl="0" indent="0" algn="l">
              <a:lnSpc>
                <a:spcPct val="100000"/>
              </a:lnSpc>
              <a:spcBef>
                <a:spcPts val="0"/>
              </a:spcBef>
              <a:spcAft>
                <a:spcPts val="0"/>
              </a:spcAft>
              <a:buSzPts val="1400"/>
              <a:buNone/>
            </a:pPr>
            <a:r>
              <a:t>8. Tool requests do not accidentally invoke answer generation. Invalid/disallowed invocations remain blocked.</a:t>
            </a:r>
            <a:endParaRPr/>
          </a:p>
          <a:p xmlns:a="http://schemas.openxmlformats.org/drawingml/2006/main">
            <a:pPr marL="0" lvl="0" indent="0" algn="l">
              <a:lnSpc>
                <a:spcPct val="100000"/>
              </a:lnSpc>
              <a:spcBef>
                <a:spcPts val="0"/>
              </a:spcBef>
              <a:spcAft>
                <a:spcPts val="0"/>
              </a:spcAft>
              <a:buSzPts val="1400"/>
              <a:buNone/>
            </a:pPr>
            <a:r>
              <a:t>9. State versions and task-appropriate memory effects are observable.</a:t>
            </a:r>
            <a:endParaRPr/>
          </a:p>
          <a:p xmlns:a="http://schemas.openxmlformats.org/drawingml/2006/main">
            <a:pPr marL="0" lvl="0" indent="0" algn="l">
              <a:lnSpc>
                <a:spcPct val="100000"/>
              </a:lnSpc>
              <a:spcBef>
                <a:spcPts val="0"/>
              </a:spcBef>
              <a:spcAft>
                <a:spcPts val="0"/>
              </a:spcAft>
              <a:buSzPts val="1400"/>
              <a:buNone/>
            </a:pPr>
            <a:r>
              <a:t>10. Maintenance completes or reports failures explicitly before claiming a completed demo stage.</a:t>
            </a:r>
            <a:endParaRPr/>
          </a:p>
          <a:p xmlns:a="http://schemas.openxmlformats.org/drawingml/2006/main">
            <a:pPr marL="0" lvl="0" indent="0" algn="l">
              <a:lnSpc>
                <a:spcPct val="100000"/>
              </a:lnSpc>
              <a:spcBef>
                <a:spcPts val="0"/>
              </a:spcBef>
              <a:spcAft>
                <a:spcPts val="0"/>
              </a:spcAft>
              <a:buSzPts val="1400"/>
              <a:buNone/>
            </a:pPr>
            <a:r>
              <a:t>11. Provider/schema/store failures do not become invented success.</a:t>
            </a:r>
            <a:endParaRPr/>
          </a:p>
          <a:p xmlns:a="http://schemas.openxmlformats.org/drawingml/2006/main">
            <a:pPr marL="0" lvl="0" indent="0" algn="l">
              <a:lnSpc>
                <a:spcPct val="100000"/>
              </a:lnSpc>
              <a:spcBef>
                <a:spcPts val="0"/>
              </a:spcBef>
              <a:spcAft>
                <a:spcPts val="0"/>
              </a:spcAft>
              <a:buSzPts val="1400"/>
              <a:buNone/>
            </a:pPr>
            <a:r>
              <a:t>12. Gold expectations remain outside inference requests/prompts/telemetry.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scaffolding: runtime integration, release fault injection, correction tests, tool tests, maintenance barriers.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C:/PRIMA_next/tests/integration/test_runtime_pipeline.py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Completed modules: runtime and memory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 Slide 7, part B: completed modules and testing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8.1 Completion matrix</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"Implemented" below means source/test scaffolding exists. It does not mean every path passed a fresh run or has demonstrated a benchmark improvement.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Module group | Implementation status | Existing verification to show | Remaining validation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Typed runtime/routes | Implemented | Contract tests, principal/control tests. | Fresh full route sweep and exported demo trace. |</a:t>
            </a:r>
            <a:endParaRPr/>
          </a:p>
          <a:p xmlns:a="http://schemas.openxmlformats.org/drawingml/2006/main">
            <a:pPr marL="0" lvl="0" indent="0" algn="l">
              <a:lnSpc>
                <a:spcPct val="100000"/>
              </a:lnSpc>
              <a:spcBef>
                <a:spcPts val="0"/>
              </a:spcBef>
              <a:spcAft>
                <a:spcPts val="0"/>
              </a:spcAft>
              <a:buSzPts val="1400"/>
              <a:buNone/>
            </a:pPr>
            <a:r>
              <a:t>| State management | Implemented | State ownership. | Cross-process persistence/commit-failure contract for service use. |</a:t>
            </a:r>
            <a:endParaRPr/>
          </a:p>
          <a:p xmlns:a="http://schemas.openxmlformats.org/drawingml/2006/main">
            <a:pPr marL="0" lvl="0" indent="0" algn="l">
              <a:lnSpc>
                <a:spcPct val="100000"/>
              </a:lnSpc>
              <a:spcBef>
                <a:spcPts val="0"/>
              </a:spcBef>
              <a:spcAft>
                <a:spcPts val="0"/>
              </a:spcAft>
              <a:buSzPts val="1400"/>
              <a:buNone/>
            </a:pPr>
            <a:r>
              <a:t>| Affect/PAD/history | Implemented; optional learned backend | Affect tests, history/prior tests. These are within the fresh passing subset. | Learned classifier quality and effect on agent outcomes. |</a:t>
            </a:r>
            <a:endParaRPr/>
          </a:p>
          <a:p xmlns:a="http://schemas.openxmlformats.org/drawingml/2006/main">
            <a:pPr marL="0" lvl="0" indent="0" algn="l">
              <a:lnSpc>
                <a:spcPct val="100000"/>
              </a:lnSpc>
              <a:spcBef>
                <a:spcPts val="0"/>
              </a:spcBef>
              <a:spcAft>
                <a:spcPts val="0"/>
              </a:spcAft>
              <a:buSzPts val="1400"/>
              <a:buNone/>
            </a:pPr>
            <a:r>
              <a:t>| Memory/storage/admission | Implemented | Memory formation, admission, importance. | Useful retention under real histories and isolation requirements. |</a:t>
            </a:r>
            <a:endParaRPr/>
          </a:p>
          <a:p xmlns:a="http://schemas.openxmlformats.org/drawingml/2006/main">
            <a:pPr marL="0" lvl="0" indent="0" algn="l">
              <a:lnSpc>
                <a:spcPct val="100000"/>
              </a:lnSpc>
              <a:spcBef>
                <a:spcPts val="0"/>
              </a:spcBef>
              <a:spcAft>
                <a:spcPts val="0"/>
              </a:spcAft>
              <a:buSzPts val="1400"/>
              <a:buNone/>
            </a:pPr>
            <a:r>
              <a:t>| Hybrid retrieval/reranking/compression | Implemented | Retrieval alignment, temporal. Saved subset metrics in E07/E08. | Fresh complete held-out retrieval/QA results with fixed provenance. |</a:t>
            </a:r>
            <a:endParaRPr/>
          </a:p>
          <a:p xmlns:a="http://schemas.openxmlformats.org/drawingml/2006/main">
            <a:pPr marL="0" lvl="0" indent="0" algn="l">
              <a:lnSpc>
                <a:spcPct val="100000"/>
              </a:lnSpc>
              <a:spcBef>
                <a:spcPts val="0"/>
              </a:spcBef>
              <a:spcAft>
                <a:spcPts val="0"/>
              </a:spcAft>
              <a:buSzPts val="1400"/>
              <a:buNone/>
            </a:pPr>
            <a:r>
              <a:t>| Graph/index/evolution/lineage | Implemented | Graph tests, evolution, lineage. | Repeated derivation idempotency and stale-edge correction noted in E04. |</a:t>
            </a:r>
            <a:endParaRPr/>
          </a:p>
          <a:p xmlns:a="http://schemas.openxmlformats.org/drawingml/2006/main">
            <a:pPr marL="0" lvl="0" indent="0" algn="l">
              <a:lnSpc>
                <a:spcPct val="100000"/>
              </a:lnSpc>
              <a:spcBef>
                <a:spcPts val="0"/>
              </a:spcBef>
              <a:spcAft>
                <a:spcPts val="0"/>
              </a:spcAft>
              <a:buSzPts val="1400"/>
              <a:buNone/>
            </a:pPr>
            <a:r>
              <a:t>| Reasoning/sufficiency | Implemented, bounded heuristic | Controller, boundaries. | False abstention and unsupported-answer rates on held-out relation/paraphrase cases. |</a:t>
            </a:r>
            <a:endParaRPr/>
          </a:p>
          <a:p xmlns:a="http://schemas.openxmlformats.org/drawingml/2006/main">
            <a:pPr marL="0" lvl="0" indent="0" algn="l">
              <a:lnSpc>
                <a:spcPct val="100000"/>
              </a:lnSpc>
              <a:spcBef>
                <a:spcPts val="0"/>
              </a:spcBef>
              <a:spcAft>
                <a:spcPts val="0"/>
              </a:spcAft>
              <a:buSzPts val="1400"/>
              <a:buNone/>
            </a:pPr>
            <a:r>
              <a:t>| Planning/world | Implemented symbolic path | Planning tests, full trace assertions in release tests. | Prediction usefulness against actual outcomes. |</a:t>
            </a:r>
            <a:endParaRPr/>
          </a:p>
          <a:p xmlns:a="http://schemas.openxmlformats.org/drawingml/2006/main">
            <a:pPr marL="0" lvl="0" indent="0" algn="l">
              <a:lnSpc>
                <a:spcPct val="100000"/>
              </a:lnSpc>
              <a:spcBef>
                <a:spcPts val="0"/>
              </a:spcBef>
              <a:spcAft>
                <a:spcPts val="0"/>
              </a:spcAft>
              <a:buSzPts val="1400"/>
              <a:buNone/>
            </a:pPr>
            <a:r>
              <a:t>| Uncertainty/reflection | Implemented, bounded corrections | Confidence branch, correction loop, reflection. | Calibrated confidence, actual helped/harmed answer counts. |</a:t>
            </a:r>
            <a:endParaRPr/>
          </a:p>
          <a:p xmlns:a="http://schemas.openxmlformats.org/drawingml/2006/main">
            <a:pPr marL="0" lvl="0" indent="0" algn="l">
              <a:lnSpc>
                <a:spcPct val="100000"/>
              </a:lnSpc>
              <a:spcBef>
                <a:spcPts val="0"/>
              </a:spcBef>
              <a:spcAft>
                <a:spcPts val="0"/>
              </a:spcAft>
              <a:buSzPts val="1400"/>
              <a:buNone/>
            </a:pPr>
            <a:r>
              <a:t>| Tools/actions | Implemented application policy | Action/tool tests. | Real handler timeout/idempotency/isolation guarantees where needed. |</a:t>
            </a:r>
            <a:endParaRPr/>
          </a:p>
          <a:p xmlns:a="http://schemas.openxmlformats.org/drawingml/2006/main">
            <a:pPr marL="0" lvl="0" indent="0" algn="l">
              <a:lnSpc>
                <a:spcPct val="100000"/>
              </a:lnSpc>
              <a:spcBef>
                <a:spcPts val="0"/>
              </a:spcBef>
              <a:spcAft>
                <a:spcPts val="0"/>
              </a:spcAft>
              <a:buSzPts val="1400"/>
              <a:buNone/>
            </a:pPr>
            <a:r>
              <a:t>| Generation/schema/output | Implemented provider boundary | Structured output, prompt identity, release fault cases. | Endpoint-specific integration and evidence support quality. |</a:t>
            </a:r>
            <a:endParaRPr/>
          </a:p>
          <a:p xmlns:a="http://schemas.openxmlformats.org/drawingml/2006/main">
            <a:pPr marL="0" lvl="0" indent="0" algn="l">
              <a:lnSpc>
                <a:spcPct val="100000"/>
              </a:lnSpc>
              <a:spcBef>
                <a:spcPts val="0"/>
              </a:spcBef>
              <a:spcAft>
                <a:spcPts val="0"/>
              </a:spcAft>
              <a:buSzPts val="1400"/>
              <a:buNone/>
            </a:pPr>
            <a:r>
              <a:t>| Events/maintenance | Implemented bounded cold path | Background maintenance, events, barriers. | Recovery of admitted work after process crash. |</a:t>
            </a:r>
            <a:endParaRPr/>
          </a:p>
          <a:p xmlns:a="http://schemas.openxmlformats.org/drawingml/2006/main">
            <a:pPr marL="0" lvl="0" indent="0" algn="l">
              <a:lnSpc>
                <a:spcPct val="100000"/>
              </a:lnSpc>
              <a:spcBef>
                <a:spcPts val="0"/>
              </a:spcBef>
              <a:spcAft>
                <a:spcPts val="0"/>
              </a:spcAft>
              <a:buSzPts val="1400"/>
              <a:buNone/>
            </a:pPr>
            <a:r>
              <a:t>| Benchmark campaigns | Implemented adapters/checkpoints/comparison | Campaign, comparison hardening, Kaggle smoke. | Complete real-provider source coverage and validated archives.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8.2 Fresh checks performed for this document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10 October 2026 the following command completed: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``powershell</a:t>
            </a:r>
            <a:endParaRPr/>
          </a:p>
          <a:p xmlns:a="http://schemas.openxmlformats.org/drawingml/2006/main">
            <a:pPr marL="0" lvl="0" indent="0" algn="l">
              <a:lnSpc>
                <a:spcPct val="100000"/>
              </a:lnSpc>
              <a:spcBef>
                <a:spcPts val="0"/>
              </a:spcBef>
              <a:spcAft>
                <a:spcPts val="0"/>
              </a:spcAft>
              <a:buSzPts val="1400"/>
              <a:buNone/>
            </a:pPr>
            <a:r>
              <a:t>Set-Location C:\PRIMA_next</a:t>
            </a:r>
            <a:endParaRPr/>
          </a:p>
          <a:p xmlns:a="http://schemas.openxmlformats.org/drawingml/2006/main">
            <a:pPr marL="0" lvl="0" indent="0" algn="l">
              <a:lnSpc>
                <a:spcPct val="100000"/>
              </a:lnSpc>
              <a:spcBef>
                <a:spcPts val="0"/>
              </a:spcBef>
              <a:spcAft>
                <a:spcPts val="0"/>
              </a:spcAft>
              <a:buSzPts val="1400"/>
              <a:buNone/>
            </a:pPr>
            <a:r>
              <a:t>.\.venv\Scripts\python.exe -m pytest tests/affect tests/test_goemotions_benchmark.py tests/retrieval/test_recall_metrics.py tests/retrieval/test_mrr_metrics.py tests/retrieval/test_ndcg_metrics.py -q --basetemp=C:/PRIMA_next/pytest-tmp/mentor-review-sync</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Observed output: 25 passed in 1.87s`. The launcher also printed a warning that it could not find the real base-interpreter location. Tests still completed. These tests establish their covered affect/data/metric behavior, not end-to-end QA quality.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 broader selected run covering runtime, workflow, integration, memory, retrieval, planning, reasoning, reflection, tools, and events did not finish. It printed five progress dots without a final summary and was interrupted. No new whole-suite pass is claimed. The earlier October 7 audit reports Windows asyncio socket-pair stalls, but this preparation did not capture a fresh stack trace to independently assign the same cause. [E04]</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Historical lint/type/complexity/security results in E04/E09 remain dated evidence. CI configuration exists, but its current remote status was not queried. Fresh Ruff/Mypy/Bandit/Xenon checks were not run for this documentation-only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8.3 Metrics to explain accurately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Metric | Meaning and suitable use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Exact match | Normalized predicted answer equals an accepted reference answer. |</a:t>
            </a:r>
            <a:endParaRPr/>
          </a:p>
          <a:p xmlns:a="http://schemas.openxmlformats.org/drawingml/2006/main">
            <a:pPr marL="0" lvl="0" indent="0" algn="l">
              <a:lnSpc>
                <a:spcPct val="100000"/>
              </a:lnSpc>
              <a:spcBef>
                <a:spcPts val="0"/>
              </a:spcBef>
              <a:spcAft>
                <a:spcPts val="0"/>
              </a:spcAft>
              <a:buSzPts val="1400"/>
              <a:buNone/>
            </a:pPr>
            <a:r>
              <a:t>| Token F1 | Harmonic mean of token precision/recall against references under the benchmark's scorer. |</a:t>
            </a:r>
            <a:endParaRPr/>
          </a:p>
          <a:p xmlns:a="http://schemas.openxmlformats.org/drawingml/2006/main">
            <a:pPr marL="0" lvl="0" indent="0" algn="l">
              <a:lnSpc>
                <a:spcPct val="100000"/>
              </a:lnSpc>
              <a:spcBef>
                <a:spcPts val="0"/>
              </a:spcBef>
              <a:spcAft>
                <a:spcPts val="0"/>
              </a:spcAft>
              <a:buSzPts val="1400"/>
              <a:buNone/>
            </a:pPr>
            <a:r>
              <a:t>| Recall@k | Fraction of required relevant evidence recovered in the top k, according to the evaluator's relevance definition. |</a:t>
            </a:r>
            <a:endParaRPr/>
          </a:p>
          <a:p xmlns:a="http://schemas.openxmlformats.org/drawingml/2006/main">
            <a:pPr marL="0" lvl="0" indent="0" algn="l">
              <a:lnSpc>
                <a:spcPct val="100000"/>
              </a:lnSpc>
              <a:spcBef>
                <a:spcPts val="0"/>
              </a:spcBef>
              <a:spcAft>
                <a:spcPts val="0"/>
              </a:spcAft>
              <a:buSzPts val="1400"/>
              <a:buNone/>
            </a:pPr>
            <a:r>
              <a:t>| MRR | Mean reciprocal rank of the first relevant result. |</a:t>
            </a:r>
            <a:endParaRPr/>
          </a:p>
          <a:p xmlns:a="http://schemas.openxmlformats.org/drawingml/2006/main">
            <a:pPr marL="0" lvl="0" indent="0" algn="l">
              <a:lnSpc>
                <a:spcPct val="100000"/>
              </a:lnSpc>
              <a:spcBef>
                <a:spcPts val="0"/>
              </a:spcBef>
              <a:spcAft>
                <a:spcPts val="0"/>
              </a:spcAft>
              <a:buSzPts val="1400"/>
              <a:buNone/>
            </a:pPr>
            <a:r>
              <a:t>| nDCG@k | Ranking quality using discounted relevance, normalized by the ideal ranking. |</a:t>
            </a:r>
            <a:endParaRPr/>
          </a:p>
          <a:p xmlns:a="http://schemas.openxmlformats.org/drawingml/2006/main">
            <a:pPr marL="0" lvl="0" indent="0" algn="l">
              <a:lnSpc>
                <a:spcPct val="100000"/>
              </a:lnSpc>
              <a:spcBef>
                <a:spcPts val="0"/>
              </a:spcBef>
              <a:spcAft>
                <a:spcPts val="0"/>
              </a:spcAft>
              <a:buSzPts val="1400"/>
              <a:buNone/>
            </a:pPr>
            <a:r>
              <a:t>| Candidate success | Whether required evidence entered the candidate set, under that runner's definition. Distinct from final evidence recall. |</a:t>
            </a:r>
            <a:endParaRPr/>
          </a:p>
          <a:p xmlns:a="http://schemas.openxmlformats.org/drawingml/2006/main">
            <a:pPr marL="0" lvl="0" indent="0" algn="l">
              <a:lnSpc>
                <a:spcPct val="100000"/>
              </a:lnSpc>
              <a:spcBef>
                <a:spcPts val="0"/>
              </a:spcBef>
              <a:spcAft>
                <a:spcPts val="0"/>
              </a:spcAft>
              <a:buSzPts val="1400"/>
              <a:buNone/>
            </a:pPr>
            <a:r>
              <a:t>| Emotion micro/macro F1 | Aggregate label decisions / equally weighted per-label performance in a multilabel task. |</a:t>
            </a:r>
            <a:endParaRPr/>
          </a:p>
          <a:p xmlns:a="http://schemas.openxmlformats.org/drawingml/2006/main">
            <a:pPr marL="0" lvl="0" indent="0" algn="l">
              <a:lnSpc>
                <a:spcPct val="100000"/>
              </a:lnSpc>
              <a:spcBef>
                <a:spcPts val="0"/>
              </a:spcBef>
              <a:spcAft>
                <a:spcPts val="0"/>
              </a:spcAft>
              <a:buSzPts val="1400"/>
              <a:buNone/>
            </a:pPr>
            <a:r>
              <a:t>| Coverage / abstention | How often the system answers versus declines, alongside error among answered cases. |</a:t>
            </a:r>
            <a:endParaRPr/>
          </a:p>
          <a:p xmlns:a="http://schemas.openxmlformats.org/drawingml/2006/main">
            <a:pPr marL="0" lvl="0" indent="0" algn="l">
              <a:lnSpc>
                <a:spcPct val="100000"/>
              </a:lnSpc>
              <a:spcBef>
                <a:spcPts val="0"/>
              </a:spcBef>
              <a:spcAft>
                <a:spcPts val="0"/>
              </a:spcAft>
              <a:buSzPts val="1400"/>
              <a:buNone/>
            </a:pPr>
            <a:r>
              <a:t>| Calibration | Whether confidence aligns with empirical correctness. Report the exact calibration metric and fitted split. |</a:t>
            </a:r>
            <a:endParaRPr/>
          </a:p>
          <a:p xmlns:a="http://schemas.openxmlformats.org/drawingml/2006/main">
            <a:pPr marL="0" lvl="0" indent="0" algn="l">
              <a:lnSpc>
                <a:spcPct val="100000"/>
              </a:lnSpc>
              <a:spcBef>
                <a:spcPts val="0"/>
              </a:spcBef>
              <a:spcAft>
                <a:spcPts val="0"/>
              </a:spcAft>
              <a:buSzPts val="1400"/>
              <a:buNone/>
            </a:pPr>
            <a:r>
              <a:t>| Reflection help/harm | Incorrect-to-correct and correct-to-incorrect changes from actual interventions. |</a:t>
            </a:r>
            <a:endParaRPr/>
          </a:p>
          <a:p xmlns:a="http://schemas.openxmlformats.org/drawingml/2006/main">
            <a:pPr marL="0" lvl="0" indent="0" algn="l">
              <a:lnSpc>
                <a:spcPct val="100000"/>
              </a:lnSpc>
              <a:spcBef>
                <a:spcPts val="0"/>
              </a:spcBef>
              <a:spcAft>
                <a:spcPts val="0"/>
              </a:spcAft>
              <a:buSzPts val="1400"/>
              <a:buNone/>
            </a:pPr>
            <a:r>
              <a:t>| Cost | Calls, tokens, latency, model/device load, memory/storage, and maintenance work.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HotpotQA use its native answer and supporting-fact metrics, including joint metrics where the runner supports them. For LoCoMo retain native category/answer/evidence accounting. GoEmotions measures the classification component, not the full QA wrapper. [E05, benchmark READMEs]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8.4 Avoid misleading result slides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Memory quality comparison has zero benchmark queries. Its zero metrics establish no retrieval improvement or preserved quality.</a:t>
            </a:r>
            <a:endParaRPr/>
          </a:p>
          <a:p xmlns:a="http://schemas.openxmlformats.org/drawingml/2006/main">
            <a:pPr marL="0" lvl="0" indent="0" algn="l">
              <a:lnSpc>
                <a:spcPct val="100000"/>
              </a:lnSpc>
              <a:spcBef>
                <a:spcPts val="0"/>
              </a:spcBef>
              <a:spcAft>
                <a:spcPts val="0"/>
              </a:spcAft>
              <a:buSzPts val="1400"/>
              <a:buNone/>
            </a:pPr>
            <a:r>
              <a:t>Memory formation report contains only two interactions, zero stored memories, two rejected memories. It is a narrow saved example, not retention-performance evidence.</a:t>
            </a:r>
            <a:endParaRPr/>
          </a:p>
          <a:p xmlns:a="http://schemas.openxmlformats.org/drawingml/2006/main">
            <a:pPr marL="0" lvl="0" indent="0" algn="l">
              <a:lnSpc>
                <a:spcPct val="100000"/>
              </a:lnSpc>
              <a:spcBef>
                <a:spcPts val="0"/>
              </a:spcBef>
              <a:spcAft>
                <a:spcPts val="0"/>
              </a:spcAft>
              <a:buSzPts val="1400"/>
              <a:buNone/>
            </a:pPr>
            <a:r>
              <a:t>A smoke fixture passing shows wiring/accounting. A sampled mode finishing shows completion only for its declared selection.</a:t>
            </a:r>
            <a:endParaRPr/>
          </a:p>
          <a:p xmlns:a="http://schemas.openxmlformats.org/drawingml/2006/main">
            <a:pPr marL="0" lvl="0" indent="0" algn="l">
              <a:lnSpc>
                <a:spcPct val="100000"/>
              </a:lnSpc>
              <a:spcBef>
                <a:spcPts val="0"/>
              </a:spcBef>
              <a:spcAft>
                <a:spcPts val="0"/>
              </a:spcAft>
              <a:buSzPts val="1400"/>
              <a:buNone/>
            </a:pPr>
            <a:r>
              <a:t>A passing launch estimate does not show that the full benchmark finished. A complete run can still have poor answer quality.</a:t>
            </a:r>
            <a:endParaRPr/>
          </a:p>
          <a:p xmlns:a="http://schemas.openxmlformats.org/drawingml/2006/main">
            <a:pPr marL="0" lvl="0" indent="0" algn="l">
              <a:lnSpc>
                <a:spcPct val="100000"/>
              </a:lnSpc>
              <a:spcBef>
                <a:spcPts val="0"/>
              </a:spcBef>
              <a:spcAft>
                <a:spcPts val="0"/>
              </a:spcAft>
              <a:buSzPts val="1400"/>
              <a:buNone/>
            </a:pPr>
            <a:r>
              <a:t>Package availability, module imports, and an architecture diagram do not prove the component ran.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8.5 How to address the template's 50% demonstration requirement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Agree on a finite module/demo checklist before assigning a percentage. Mark each item rehearsed with artifact, implemented but not rehearsed, or pending. Compute demonstrated coverage only from that agreed list. This document establishes preparation and evidence mapping, not a fabricated "50% complete" status. The previous review request requires the runnable scenario and visible comparison before marking the demonstration delivered.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C:/PRIMA_next/tests/runtime/test_canonical_contract.py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C:/PRIMA_next/tests/affect/test_affect_engine.py</a:t>
            </a:r>
            <a:endParaRPr/>
          </a:p>
          <a:p xmlns:a="http://schemas.openxmlformats.org/drawingml/2006/main">
            <a:pPr marL="0" lvl="0" indent="0" algn="l">
              <a:lnSpc>
                <a:spcPct val="100000"/>
              </a:lnSpc>
              <a:spcBef>
                <a:spcPts val="0"/>
              </a:spcBef>
              <a:spcAft>
                <a:spcPts val="0"/>
              </a:spcAft>
              <a:buSzPts val="1400"/>
              <a:buNone/>
            </a:pPr>
            <a:r>
              <a:t>C:/PRIMA_next/tests/affect/test_history_and_priors.py</a:t>
            </a:r>
            <a:endParaRPr/>
          </a:p>
          <a:p xmlns:a="http://schemas.openxmlformats.org/drawingml/2006/main">
            <a:pPr marL="0" lvl="0" indent="0" algn="l">
              <a:lnSpc>
                <a:spcPct val="100000"/>
              </a:lnSpc>
              <a:spcBef>
                <a:spcPts val="0"/>
              </a:spcBef>
              <a:spcAft>
                <a:spcPts val="0"/>
              </a:spcAft>
              <a:buSzPts val="1400"/>
              <a:buNone/>
            </a:pPr>
            <a:r>
              <a:t>C:/PRIMA_next/tests/memory/test_memory_formation.py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C:/PRIMA_next/tests/memory/test_importance_scoring.py</a:t>
            </a:r>
            <a:endParaRPr/>
          </a:p>
          <a:p xmlns:a="http://schemas.openxmlformats.org/drawingml/2006/main">
            <a:pPr marL="0" lvl="0" indent="0" algn="l">
              <a:lnSpc>
                <a:spcPct val="100000"/>
              </a:lnSpc>
              <a:spcBef>
                <a:spcPts val="0"/>
              </a:spcBef>
              <a:spcAft>
                <a:spcPts val="0"/>
              </a:spcAft>
              <a:buSzPts val="1400"/>
              <a:buNone/>
            </a:pPr>
            <a:r>
              <a:t>C:/PRIMA_next/tests/retrieval/test_phase07_retrieval_alignment.py</a:t>
            </a:r>
            <a:endParaRPr/>
          </a:p>
          <a:p xmlns:a="http://schemas.openxmlformats.org/drawingml/2006/main">
            <a:pPr marL="0" lvl="0" indent="0" algn="l">
              <a:lnSpc>
                <a:spcPct val="100000"/>
              </a:lnSpc>
              <a:spcBef>
                <a:spcPts val="0"/>
              </a:spcBef>
              <a:spcAft>
                <a:spcPts val="0"/>
              </a:spcAft>
              <a:buSzPts val="1400"/>
              <a:buNone/>
            </a:pPr>
            <a:r>
              <a:t>C:/PRIMA_next/tests/retrieval/test_temporal_routing.py</a:t>
            </a:r>
            <a:endParaRPr/>
          </a:p>
          <a:p xmlns:a="http://schemas.openxmlformats.org/drawingml/2006/main">
            <a:pPr marL="0" lvl="0" indent="0" algn="l">
              <a:lnSpc>
                <a:spcPct val="100000"/>
              </a:lnSpc>
              <a:spcBef>
                <a:spcPts val="0"/>
              </a:spcBef>
              <a:spcAft>
                <a:spcPts val="0"/>
              </a:spcAft>
              <a:buSzPts val="1400"/>
              <a:buNone/>
            </a:pPr>
            <a:r>
              <a:t>C:/PRIMA_next/tests/graph/test_graph_phase3.py</a:t>
            </a:r>
            <a:endParaRPr/>
          </a:p>
          <a:p xmlns:a="http://schemas.openxmlformats.org/drawingml/2006/main">
            <a:pPr marL="0" lvl="0" indent="0" algn="l">
              <a:lnSpc>
                <a:spcPct val="100000"/>
              </a:lnSpc>
              <a:spcBef>
                <a:spcPts val="0"/>
              </a:spcBef>
              <a:spcAft>
                <a:spcPts val="0"/>
              </a:spcAft>
              <a:buSzPts val="1400"/>
              <a:buNone/>
            </a:pPr>
            <a:r>
              <a:t>C:/PRIMA_next/tests/evolution/test_evolution_phase4.py</a:t>
            </a:r>
            <a:endParaRPr/>
          </a:p>
          <a:p xmlns:a="http://schemas.openxmlformats.org/drawingml/2006/main">
            <a:pPr marL="0" lvl="0" indent="0" algn="l">
              <a:lnSpc>
                <a:spcPct val="100000"/>
              </a:lnSpc>
              <a:spcBef>
                <a:spcPts val="0"/>
              </a:spcBef>
              <a:spcAft>
                <a:spcPts val="0"/>
              </a:spcAft>
              <a:buSzPts val="1400"/>
              <a:buNone/>
            </a:pPr>
            <a:r>
              <a:t>C:/PRIMA_next/tests/lineage/test_maintenance_phase5.py</a:t>
            </a:r>
            <a:endParaRPr/>
          </a:p>
          <a:p xmlns:a="http://schemas.openxmlformats.org/drawingml/2006/main">
            <a:pPr marL="0" lvl="0" indent="0" algn="l">
              <a:lnSpc>
                <a:spcPct val="100000"/>
              </a:lnSpc>
              <a:spcBef>
                <a:spcPts val="0"/>
              </a:spcBef>
              <a:spcAft>
                <a:spcPts val="0"/>
              </a:spcAft>
              <a:buSzPts val="1400"/>
              <a:buNone/>
            </a:pPr>
            <a:r>
              <a:t>C:/PRIMA_next/tests/reasoning/test_controller.py</a:t>
            </a:r>
            <a:endParaRPr/>
          </a:p>
          <a:p xmlns:a="http://schemas.openxmlformats.org/drawingml/2006/main">
            <a:pPr marL="0" lvl="0" indent="0" algn="l">
              <a:lnSpc>
                <a:spcPct val="100000"/>
              </a:lnSpc>
              <a:spcBef>
                <a:spcPts val="0"/>
              </a:spcBef>
              <a:spcAft>
                <a:spcPts val="0"/>
              </a:spcAft>
              <a:buSzPts val="1400"/>
              <a:buNone/>
            </a:pPr>
            <a:r>
              <a:t>C:/PRIMA_next/tests/reasoning/test_controller_boundaries.py</a:t>
            </a:r>
            <a:endParaRPr/>
          </a:p>
          <a:p xmlns:a="http://schemas.openxmlformats.org/drawingml/2006/main">
            <a:pPr marL="0" lvl="0" indent="0" algn="l">
              <a:lnSpc>
                <a:spcPct val="100000"/>
              </a:lnSpc>
              <a:spcBef>
                <a:spcPts val="0"/>
              </a:spcBef>
              <a:spcAft>
                <a:spcPts val="0"/>
              </a:spcAft>
              <a:buSzPts val="1400"/>
              <a:buNone/>
            </a:pPr>
            <a:r>
              <a:t>C:/PRIMA_next/tests/planning/test_planning_phase2.py</a:t>
            </a:r>
            <a:endParaRPr/>
          </a:p>
          <a:p xmlns:a="http://schemas.openxmlformats.org/drawingml/2006/main">
            <a:pPr marL="0" lvl="0" indent="0" algn="l">
              <a:lnSpc>
                <a:spcPct val="100000"/>
              </a:lnSpc>
              <a:spcBef>
                <a:spcPts val="0"/>
              </a:spcBef>
              <a:spcAft>
                <a:spcPts val="0"/>
              </a:spcAft>
              <a:buSzPts val="1400"/>
              <a:buNone/>
            </a:pPr>
            <a:r>
              <a:t>C:/PRIMA_next/tests/workflow/test_phase05_confidence_branch.py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C:/PRIMA_next/tests/reflection/test_reflection_pillar.py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C:/PRIMA_next/tests/test_llm_structured_output.py</a:t>
            </a:r>
            <a:endParaRPr/>
          </a:p>
          <a:p xmlns:a="http://schemas.openxmlformats.org/drawingml/2006/main">
            <a:pPr marL="0" lvl="0" indent="0" algn="l">
              <a:lnSpc>
                <a:spcPct val="100000"/>
              </a:lnSpc>
              <a:spcBef>
                <a:spcPts val="0"/>
              </a:spcBef>
              <a:spcAft>
                <a:spcPts val="0"/>
              </a:spcAft>
              <a:buSzPts val="1400"/>
              <a:buNone/>
            </a:pPr>
            <a:r>
              <a:t>C:/PRIMA_next/tests/test_answer_prompt_identity.py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a:p xmlns:a="http://schemas.openxmlformats.org/drawingml/2006/main">
            <a:pPr marL="0" lvl="0" indent="0" algn="l">
              <a:lnSpc>
                <a:spcPct val="100000"/>
              </a:lnSpc>
              <a:spcBef>
                <a:spcPts val="0"/>
              </a:spcBef>
              <a:spcAft>
                <a:spcPts val="0"/>
              </a:spcAft>
              <a:buSzPts val="1400"/>
              <a:buNone/>
            </a:pPr>
            <a:r>
              <a:t>C:/PRIMA_next/tests/benchmarks/test_campaign.py</a:t>
            </a:r>
            <a:endParaRPr/>
          </a:p>
          <a:p xmlns:a="http://schemas.openxmlformats.org/drawingml/2006/main">
            <a:pPr marL="0" lvl="0" indent="0" algn="l">
              <a:lnSpc>
                <a:spcPct val="100000"/>
              </a:lnSpc>
              <a:spcBef>
                <a:spcPts val="0"/>
              </a:spcBef>
              <a:spcAft>
                <a:spcPts val="0"/>
              </a:spcAft>
              <a:buSzPts val="1400"/>
              <a:buNone/>
            </a:pPr>
            <a:r>
              <a:t>C:/PRIMA_next/tests/benchmarks/test_campaign_comparison_hardening.py</a:t>
            </a:r>
            <a:endParaRPr/>
          </a:p>
          <a:p xmlns:a="http://schemas.openxmlformats.org/drawingml/2006/main">
            <a:pPr marL="0" lvl="0" indent="0" algn="l">
              <a:lnSpc>
                <a:spcPct val="100000"/>
              </a:lnSpc>
              <a:spcBef>
                <a:spcPts val="0"/>
              </a:spcBef>
              <a:spcAft>
                <a:spcPts val="0"/>
              </a:spcAft>
              <a:buSzPts val="1400"/>
              <a:buNone/>
            </a:pPr>
            <a:r>
              <a:t>C:/PRIMA_next/tests/benchmarks/test_kaggle_smoke.py</a:t>
            </a:r>
            <a:endParaRPr/>
          </a:p>
          <a:p xmlns:a="http://schemas.openxmlformats.org/drawingml/2006/main">
            <a:pPr marL="0" lvl="0" indent="0" algn="l">
              <a:lnSpc>
                <a:spcPct val="100000"/>
              </a:lnSpc>
              <a:spcBef>
                <a:spcPts val="0"/>
              </a:spcBef>
              <a:spcAft>
                <a:spcPts val="0"/>
              </a:spcAft>
              <a:buSzPts val="1400"/>
              <a:buNone/>
            </a:pPr>
            <a:r>
              <a:t>C:/PRIMA_next/evaluation/results/memory_quality_comparison.json</a:t>
            </a:r>
            <a:endParaRPr/>
          </a:p>
          <a:p xmlns:a="http://schemas.openxmlformats.org/drawingml/2006/main">
            <a:pPr marL="0" lvl="0" indent="0" algn="l">
              <a:lnSpc>
                <a:spcPct val="100000"/>
              </a:lnSpc>
              <a:spcBef>
                <a:spcPts val="0"/>
              </a:spcBef>
              <a:spcAft>
                <a:spcPts val="0"/>
              </a:spcAft>
              <a:buSzPts val="1400"/>
              <a:buNone/>
            </a:pPr>
            <a:r>
              <a:t>C:/PRIMA_next/evaluation/results/memory_formation_report.json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Completed modules: cognition and execution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 Slide 7, part B: completed modules and testing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8.1 Completion matrix</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"Implemented" below means source/test scaffolding exists. It does not mean every path passed a fresh run or has demonstrated a benchmark improvement.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Module group | Implementation status | Existing verification to show | Remaining validation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Typed runtime/routes | Implemented | Contract tests, principal/control tests. | Fresh full route sweep and exported demo trace. |</a:t>
            </a:r>
            <a:endParaRPr/>
          </a:p>
          <a:p xmlns:a="http://schemas.openxmlformats.org/drawingml/2006/main">
            <a:pPr marL="0" lvl="0" indent="0" algn="l">
              <a:lnSpc>
                <a:spcPct val="100000"/>
              </a:lnSpc>
              <a:spcBef>
                <a:spcPts val="0"/>
              </a:spcBef>
              <a:spcAft>
                <a:spcPts val="0"/>
              </a:spcAft>
              <a:buSzPts val="1400"/>
              <a:buNone/>
            </a:pPr>
            <a:r>
              <a:t>| State management | Implemented | State ownership. | Cross-process persistence/commit-failure contract for service use. |</a:t>
            </a:r>
            <a:endParaRPr/>
          </a:p>
          <a:p xmlns:a="http://schemas.openxmlformats.org/drawingml/2006/main">
            <a:pPr marL="0" lvl="0" indent="0" algn="l">
              <a:lnSpc>
                <a:spcPct val="100000"/>
              </a:lnSpc>
              <a:spcBef>
                <a:spcPts val="0"/>
              </a:spcBef>
              <a:spcAft>
                <a:spcPts val="0"/>
              </a:spcAft>
              <a:buSzPts val="1400"/>
              <a:buNone/>
            </a:pPr>
            <a:r>
              <a:t>| Affect/PAD/history | Implemented; optional learned backend | Affect tests, history/prior tests. These are within the fresh passing subset. | Learned classifier quality and effect on agent outcomes. |</a:t>
            </a:r>
            <a:endParaRPr/>
          </a:p>
          <a:p xmlns:a="http://schemas.openxmlformats.org/drawingml/2006/main">
            <a:pPr marL="0" lvl="0" indent="0" algn="l">
              <a:lnSpc>
                <a:spcPct val="100000"/>
              </a:lnSpc>
              <a:spcBef>
                <a:spcPts val="0"/>
              </a:spcBef>
              <a:spcAft>
                <a:spcPts val="0"/>
              </a:spcAft>
              <a:buSzPts val="1400"/>
              <a:buNone/>
            </a:pPr>
            <a:r>
              <a:t>| Memory/storage/admission | Implemented | Memory formation, admission, importance. | Useful retention under real histories and isolation requirements. |</a:t>
            </a:r>
            <a:endParaRPr/>
          </a:p>
          <a:p xmlns:a="http://schemas.openxmlformats.org/drawingml/2006/main">
            <a:pPr marL="0" lvl="0" indent="0" algn="l">
              <a:lnSpc>
                <a:spcPct val="100000"/>
              </a:lnSpc>
              <a:spcBef>
                <a:spcPts val="0"/>
              </a:spcBef>
              <a:spcAft>
                <a:spcPts val="0"/>
              </a:spcAft>
              <a:buSzPts val="1400"/>
              <a:buNone/>
            </a:pPr>
            <a:r>
              <a:t>| Hybrid retrieval/reranking/compression | Implemented | Retrieval alignment, temporal. Saved subset metrics in E07/E08. | Fresh complete held-out retrieval/QA results with fixed provenance. |</a:t>
            </a:r>
            <a:endParaRPr/>
          </a:p>
          <a:p xmlns:a="http://schemas.openxmlformats.org/drawingml/2006/main">
            <a:pPr marL="0" lvl="0" indent="0" algn="l">
              <a:lnSpc>
                <a:spcPct val="100000"/>
              </a:lnSpc>
              <a:spcBef>
                <a:spcPts val="0"/>
              </a:spcBef>
              <a:spcAft>
                <a:spcPts val="0"/>
              </a:spcAft>
              <a:buSzPts val="1400"/>
              <a:buNone/>
            </a:pPr>
            <a:r>
              <a:t>| Graph/index/evolution/lineage | Implemented | Graph tests, evolution, lineage. | Repeated derivation idempotency and stale-edge correction noted in E04. |</a:t>
            </a:r>
            <a:endParaRPr/>
          </a:p>
          <a:p xmlns:a="http://schemas.openxmlformats.org/drawingml/2006/main">
            <a:pPr marL="0" lvl="0" indent="0" algn="l">
              <a:lnSpc>
                <a:spcPct val="100000"/>
              </a:lnSpc>
              <a:spcBef>
                <a:spcPts val="0"/>
              </a:spcBef>
              <a:spcAft>
                <a:spcPts val="0"/>
              </a:spcAft>
              <a:buSzPts val="1400"/>
              <a:buNone/>
            </a:pPr>
            <a:r>
              <a:t>| Reasoning/sufficiency | Implemented, bounded heuristic | Controller, boundaries. | False abstention and unsupported-answer rates on held-out relation/paraphrase cases. |</a:t>
            </a:r>
            <a:endParaRPr/>
          </a:p>
          <a:p xmlns:a="http://schemas.openxmlformats.org/drawingml/2006/main">
            <a:pPr marL="0" lvl="0" indent="0" algn="l">
              <a:lnSpc>
                <a:spcPct val="100000"/>
              </a:lnSpc>
              <a:spcBef>
                <a:spcPts val="0"/>
              </a:spcBef>
              <a:spcAft>
                <a:spcPts val="0"/>
              </a:spcAft>
              <a:buSzPts val="1400"/>
              <a:buNone/>
            </a:pPr>
            <a:r>
              <a:t>| Planning/world | Implemented symbolic path | Planning tests, full trace assertions in release tests. | Prediction usefulness against actual outcomes. |</a:t>
            </a:r>
            <a:endParaRPr/>
          </a:p>
          <a:p xmlns:a="http://schemas.openxmlformats.org/drawingml/2006/main">
            <a:pPr marL="0" lvl="0" indent="0" algn="l">
              <a:lnSpc>
                <a:spcPct val="100000"/>
              </a:lnSpc>
              <a:spcBef>
                <a:spcPts val="0"/>
              </a:spcBef>
              <a:spcAft>
                <a:spcPts val="0"/>
              </a:spcAft>
              <a:buSzPts val="1400"/>
              <a:buNone/>
            </a:pPr>
            <a:r>
              <a:t>| Uncertainty/reflection | Implemented, bounded corrections | Confidence branch, correction loop, reflection. | Calibrated confidence, actual helped/harmed answer counts. |</a:t>
            </a:r>
            <a:endParaRPr/>
          </a:p>
          <a:p xmlns:a="http://schemas.openxmlformats.org/drawingml/2006/main">
            <a:pPr marL="0" lvl="0" indent="0" algn="l">
              <a:lnSpc>
                <a:spcPct val="100000"/>
              </a:lnSpc>
              <a:spcBef>
                <a:spcPts val="0"/>
              </a:spcBef>
              <a:spcAft>
                <a:spcPts val="0"/>
              </a:spcAft>
              <a:buSzPts val="1400"/>
              <a:buNone/>
            </a:pPr>
            <a:r>
              <a:t>| Tools/actions | Implemented application policy | Action/tool tests. | Real handler timeout/idempotency/isolation guarantees where needed. |</a:t>
            </a:r>
            <a:endParaRPr/>
          </a:p>
          <a:p xmlns:a="http://schemas.openxmlformats.org/drawingml/2006/main">
            <a:pPr marL="0" lvl="0" indent="0" algn="l">
              <a:lnSpc>
                <a:spcPct val="100000"/>
              </a:lnSpc>
              <a:spcBef>
                <a:spcPts val="0"/>
              </a:spcBef>
              <a:spcAft>
                <a:spcPts val="0"/>
              </a:spcAft>
              <a:buSzPts val="1400"/>
              <a:buNone/>
            </a:pPr>
            <a:r>
              <a:t>| Generation/schema/output | Implemented provider boundary | Structured output, prompt identity, release fault cases. | Endpoint-specific integration and evidence support quality. |</a:t>
            </a:r>
            <a:endParaRPr/>
          </a:p>
          <a:p xmlns:a="http://schemas.openxmlformats.org/drawingml/2006/main">
            <a:pPr marL="0" lvl="0" indent="0" algn="l">
              <a:lnSpc>
                <a:spcPct val="100000"/>
              </a:lnSpc>
              <a:spcBef>
                <a:spcPts val="0"/>
              </a:spcBef>
              <a:spcAft>
                <a:spcPts val="0"/>
              </a:spcAft>
              <a:buSzPts val="1400"/>
              <a:buNone/>
            </a:pPr>
            <a:r>
              <a:t>| Events/maintenance | Implemented bounded cold path | Background maintenance, events, barriers. | Recovery of admitted work after process crash. |</a:t>
            </a:r>
            <a:endParaRPr/>
          </a:p>
          <a:p xmlns:a="http://schemas.openxmlformats.org/drawingml/2006/main">
            <a:pPr marL="0" lvl="0" indent="0" algn="l">
              <a:lnSpc>
                <a:spcPct val="100000"/>
              </a:lnSpc>
              <a:spcBef>
                <a:spcPts val="0"/>
              </a:spcBef>
              <a:spcAft>
                <a:spcPts val="0"/>
              </a:spcAft>
              <a:buSzPts val="1400"/>
              <a:buNone/>
            </a:pPr>
            <a:r>
              <a:t>| Benchmark campaigns | Implemented adapters/checkpoints/comparison | Campaign, comparison hardening, Kaggle smoke. | Complete real-provider source coverage and validated archives.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8.2 Fresh checks performed for this document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10 October 2026 the following command completed: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``powershell</a:t>
            </a:r>
            <a:endParaRPr/>
          </a:p>
          <a:p xmlns:a="http://schemas.openxmlformats.org/drawingml/2006/main">
            <a:pPr marL="0" lvl="0" indent="0" algn="l">
              <a:lnSpc>
                <a:spcPct val="100000"/>
              </a:lnSpc>
              <a:spcBef>
                <a:spcPts val="0"/>
              </a:spcBef>
              <a:spcAft>
                <a:spcPts val="0"/>
              </a:spcAft>
              <a:buSzPts val="1400"/>
              <a:buNone/>
            </a:pPr>
            <a:r>
              <a:t>Set-Location C:\PRIMA_next</a:t>
            </a:r>
            <a:endParaRPr/>
          </a:p>
          <a:p xmlns:a="http://schemas.openxmlformats.org/drawingml/2006/main">
            <a:pPr marL="0" lvl="0" indent="0" algn="l">
              <a:lnSpc>
                <a:spcPct val="100000"/>
              </a:lnSpc>
              <a:spcBef>
                <a:spcPts val="0"/>
              </a:spcBef>
              <a:spcAft>
                <a:spcPts val="0"/>
              </a:spcAft>
              <a:buSzPts val="1400"/>
              <a:buNone/>
            </a:pPr>
            <a:r>
              <a:t>.\.venv\Scripts\python.exe -m pytest tests/affect tests/test_goemotions_benchmark.py tests/retrieval/test_recall_metrics.py tests/retrieval/test_mrr_metrics.py tests/retrieval/test_ndcg_metrics.py -q --basetemp=C:/PRIMA_next/pytest-tmp/mentor-review-sync</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Observed output: 25 passed in 1.87s`. The launcher also printed a warning that it could not find the real base-interpreter location. Tests still completed. These tests establish their covered affect/data/metric behavior, not end-to-end QA quality.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 broader selected run covering runtime, workflow, integration, memory, retrieval, planning, reasoning, reflection, tools, and events did not finish. It printed five progress dots without a final summary and was interrupted. No new whole-suite pass is claimed. The earlier October 7 audit reports Windows asyncio socket-pair stalls, but this preparation did not capture a fresh stack trace to independently assign the same cause. [E04]</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Historical lint/type/complexity/security results in E04/E09 remain dated evidence. CI configuration exists, but its current remote status was not queried. Fresh Ruff/Mypy/Bandit/Xenon checks were not run for this documentation-only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8.3 Metrics to explain accurately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Metric | Meaning and suitable use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Exact match | Normalized predicted answer equals an accepted reference answer. |</a:t>
            </a:r>
            <a:endParaRPr/>
          </a:p>
          <a:p xmlns:a="http://schemas.openxmlformats.org/drawingml/2006/main">
            <a:pPr marL="0" lvl="0" indent="0" algn="l">
              <a:lnSpc>
                <a:spcPct val="100000"/>
              </a:lnSpc>
              <a:spcBef>
                <a:spcPts val="0"/>
              </a:spcBef>
              <a:spcAft>
                <a:spcPts val="0"/>
              </a:spcAft>
              <a:buSzPts val="1400"/>
              <a:buNone/>
            </a:pPr>
            <a:r>
              <a:t>| Token F1 | Harmonic mean of token precision/recall against references under the benchmark's scorer. |</a:t>
            </a:r>
            <a:endParaRPr/>
          </a:p>
          <a:p xmlns:a="http://schemas.openxmlformats.org/drawingml/2006/main">
            <a:pPr marL="0" lvl="0" indent="0" algn="l">
              <a:lnSpc>
                <a:spcPct val="100000"/>
              </a:lnSpc>
              <a:spcBef>
                <a:spcPts val="0"/>
              </a:spcBef>
              <a:spcAft>
                <a:spcPts val="0"/>
              </a:spcAft>
              <a:buSzPts val="1400"/>
              <a:buNone/>
            </a:pPr>
            <a:r>
              <a:t>| Recall@k | Fraction of required relevant evidence recovered in the top k, according to the evaluator's relevance definition. |</a:t>
            </a:r>
            <a:endParaRPr/>
          </a:p>
          <a:p xmlns:a="http://schemas.openxmlformats.org/drawingml/2006/main">
            <a:pPr marL="0" lvl="0" indent="0" algn="l">
              <a:lnSpc>
                <a:spcPct val="100000"/>
              </a:lnSpc>
              <a:spcBef>
                <a:spcPts val="0"/>
              </a:spcBef>
              <a:spcAft>
                <a:spcPts val="0"/>
              </a:spcAft>
              <a:buSzPts val="1400"/>
              <a:buNone/>
            </a:pPr>
            <a:r>
              <a:t>| MRR | Mean reciprocal rank of the first relevant result. |</a:t>
            </a:r>
            <a:endParaRPr/>
          </a:p>
          <a:p xmlns:a="http://schemas.openxmlformats.org/drawingml/2006/main">
            <a:pPr marL="0" lvl="0" indent="0" algn="l">
              <a:lnSpc>
                <a:spcPct val="100000"/>
              </a:lnSpc>
              <a:spcBef>
                <a:spcPts val="0"/>
              </a:spcBef>
              <a:spcAft>
                <a:spcPts val="0"/>
              </a:spcAft>
              <a:buSzPts val="1400"/>
              <a:buNone/>
            </a:pPr>
            <a:r>
              <a:t>| nDCG@k | Ranking quality using discounted relevance, normalized by the ideal ranking. |</a:t>
            </a:r>
            <a:endParaRPr/>
          </a:p>
          <a:p xmlns:a="http://schemas.openxmlformats.org/drawingml/2006/main">
            <a:pPr marL="0" lvl="0" indent="0" algn="l">
              <a:lnSpc>
                <a:spcPct val="100000"/>
              </a:lnSpc>
              <a:spcBef>
                <a:spcPts val="0"/>
              </a:spcBef>
              <a:spcAft>
                <a:spcPts val="0"/>
              </a:spcAft>
              <a:buSzPts val="1400"/>
              <a:buNone/>
            </a:pPr>
            <a:r>
              <a:t>| Candidate success | Whether required evidence entered the candidate set, under that runner's definition. Distinct from final evidence recall. |</a:t>
            </a:r>
            <a:endParaRPr/>
          </a:p>
          <a:p xmlns:a="http://schemas.openxmlformats.org/drawingml/2006/main">
            <a:pPr marL="0" lvl="0" indent="0" algn="l">
              <a:lnSpc>
                <a:spcPct val="100000"/>
              </a:lnSpc>
              <a:spcBef>
                <a:spcPts val="0"/>
              </a:spcBef>
              <a:spcAft>
                <a:spcPts val="0"/>
              </a:spcAft>
              <a:buSzPts val="1400"/>
              <a:buNone/>
            </a:pPr>
            <a:r>
              <a:t>| Emotion micro/macro F1 | Aggregate label decisions / equally weighted per-label performance in a multilabel task. |</a:t>
            </a:r>
            <a:endParaRPr/>
          </a:p>
          <a:p xmlns:a="http://schemas.openxmlformats.org/drawingml/2006/main">
            <a:pPr marL="0" lvl="0" indent="0" algn="l">
              <a:lnSpc>
                <a:spcPct val="100000"/>
              </a:lnSpc>
              <a:spcBef>
                <a:spcPts val="0"/>
              </a:spcBef>
              <a:spcAft>
                <a:spcPts val="0"/>
              </a:spcAft>
              <a:buSzPts val="1400"/>
              <a:buNone/>
            </a:pPr>
            <a:r>
              <a:t>| Coverage / abstention | How often the system answers versus declines, alongside error among answered cases. |</a:t>
            </a:r>
            <a:endParaRPr/>
          </a:p>
          <a:p xmlns:a="http://schemas.openxmlformats.org/drawingml/2006/main">
            <a:pPr marL="0" lvl="0" indent="0" algn="l">
              <a:lnSpc>
                <a:spcPct val="100000"/>
              </a:lnSpc>
              <a:spcBef>
                <a:spcPts val="0"/>
              </a:spcBef>
              <a:spcAft>
                <a:spcPts val="0"/>
              </a:spcAft>
              <a:buSzPts val="1400"/>
              <a:buNone/>
            </a:pPr>
            <a:r>
              <a:t>| Calibration | Whether confidence aligns with empirical correctness. Report the exact calibration metric and fitted split. |</a:t>
            </a:r>
            <a:endParaRPr/>
          </a:p>
          <a:p xmlns:a="http://schemas.openxmlformats.org/drawingml/2006/main">
            <a:pPr marL="0" lvl="0" indent="0" algn="l">
              <a:lnSpc>
                <a:spcPct val="100000"/>
              </a:lnSpc>
              <a:spcBef>
                <a:spcPts val="0"/>
              </a:spcBef>
              <a:spcAft>
                <a:spcPts val="0"/>
              </a:spcAft>
              <a:buSzPts val="1400"/>
              <a:buNone/>
            </a:pPr>
            <a:r>
              <a:t>| Reflection help/harm | Incorrect-to-correct and correct-to-incorrect changes from actual interventions. |</a:t>
            </a:r>
            <a:endParaRPr/>
          </a:p>
          <a:p xmlns:a="http://schemas.openxmlformats.org/drawingml/2006/main">
            <a:pPr marL="0" lvl="0" indent="0" algn="l">
              <a:lnSpc>
                <a:spcPct val="100000"/>
              </a:lnSpc>
              <a:spcBef>
                <a:spcPts val="0"/>
              </a:spcBef>
              <a:spcAft>
                <a:spcPts val="0"/>
              </a:spcAft>
              <a:buSzPts val="1400"/>
              <a:buNone/>
            </a:pPr>
            <a:r>
              <a:t>| Cost | Calls, tokens, latency, model/device load, memory/storage, and maintenance work.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HotpotQA use its native answer and supporting-fact metrics, including joint metrics where the runner supports them. For LoCoMo retain native category/answer/evidence accounting. GoEmotions measures the classification component, not the full QA wrapper. [E05, benchmark READMEs]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8.4 Avoid misleading result slides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Memory quality comparison has zero benchmark queries. Its zero metrics establish no retrieval improvement or preserved quality.</a:t>
            </a:r>
            <a:endParaRPr/>
          </a:p>
          <a:p xmlns:a="http://schemas.openxmlformats.org/drawingml/2006/main">
            <a:pPr marL="0" lvl="0" indent="0" algn="l">
              <a:lnSpc>
                <a:spcPct val="100000"/>
              </a:lnSpc>
              <a:spcBef>
                <a:spcPts val="0"/>
              </a:spcBef>
              <a:spcAft>
                <a:spcPts val="0"/>
              </a:spcAft>
              <a:buSzPts val="1400"/>
              <a:buNone/>
            </a:pPr>
            <a:r>
              <a:t>Memory formation report contains only two interactions, zero stored memories, two rejected memories. It is a narrow saved example, not retention-performance evidence.</a:t>
            </a:r>
            <a:endParaRPr/>
          </a:p>
          <a:p xmlns:a="http://schemas.openxmlformats.org/drawingml/2006/main">
            <a:pPr marL="0" lvl="0" indent="0" algn="l">
              <a:lnSpc>
                <a:spcPct val="100000"/>
              </a:lnSpc>
              <a:spcBef>
                <a:spcPts val="0"/>
              </a:spcBef>
              <a:spcAft>
                <a:spcPts val="0"/>
              </a:spcAft>
              <a:buSzPts val="1400"/>
              <a:buNone/>
            </a:pPr>
            <a:r>
              <a:t>A smoke fixture passing shows wiring/accounting. A sampled mode finishing shows completion only for its declared selection.</a:t>
            </a:r>
            <a:endParaRPr/>
          </a:p>
          <a:p xmlns:a="http://schemas.openxmlformats.org/drawingml/2006/main">
            <a:pPr marL="0" lvl="0" indent="0" algn="l">
              <a:lnSpc>
                <a:spcPct val="100000"/>
              </a:lnSpc>
              <a:spcBef>
                <a:spcPts val="0"/>
              </a:spcBef>
              <a:spcAft>
                <a:spcPts val="0"/>
              </a:spcAft>
              <a:buSzPts val="1400"/>
              <a:buNone/>
            </a:pPr>
            <a:r>
              <a:t>A passing launch estimate does not show that the full benchmark finished. A complete run can still have poor answer quality.</a:t>
            </a:r>
            <a:endParaRPr/>
          </a:p>
          <a:p xmlns:a="http://schemas.openxmlformats.org/drawingml/2006/main">
            <a:pPr marL="0" lvl="0" indent="0" algn="l">
              <a:lnSpc>
                <a:spcPct val="100000"/>
              </a:lnSpc>
              <a:spcBef>
                <a:spcPts val="0"/>
              </a:spcBef>
              <a:spcAft>
                <a:spcPts val="0"/>
              </a:spcAft>
              <a:buSzPts val="1400"/>
              <a:buNone/>
            </a:pPr>
            <a:r>
              <a:t>Package availability, module imports, and an architecture diagram do not prove the component ran.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8.5 How to address the template's 50% demonstration requirement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Agree on a finite module/demo checklist before assigning a percentage. Mark each item rehearsed with artifact, implemented but not rehearsed, or pending. Compute demonstrated coverage only from that agreed list. This document establishes preparation and evidence mapping, not a fabricated "50% complete" status. The previous review request requires the runnable scenario and visible comparison before marking the demonstration delivered.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C:/PRIMA_next/tests/runtime/test_canonical_contract.py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C:/PRIMA_next/tests/affect/test_affect_engine.py</a:t>
            </a:r>
            <a:endParaRPr/>
          </a:p>
          <a:p xmlns:a="http://schemas.openxmlformats.org/drawingml/2006/main">
            <a:pPr marL="0" lvl="0" indent="0" algn="l">
              <a:lnSpc>
                <a:spcPct val="100000"/>
              </a:lnSpc>
              <a:spcBef>
                <a:spcPts val="0"/>
              </a:spcBef>
              <a:spcAft>
                <a:spcPts val="0"/>
              </a:spcAft>
              <a:buSzPts val="1400"/>
              <a:buNone/>
            </a:pPr>
            <a:r>
              <a:t>C:/PRIMA_next/tests/affect/test_history_and_priors.py</a:t>
            </a:r>
            <a:endParaRPr/>
          </a:p>
          <a:p xmlns:a="http://schemas.openxmlformats.org/drawingml/2006/main">
            <a:pPr marL="0" lvl="0" indent="0" algn="l">
              <a:lnSpc>
                <a:spcPct val="100000"/>
              </a:lnSpc>
              <a:spcBef>
                <a:spcPts val="0"/>
              </a:spcBef>
              <a:spcAft>
                <a:spcPts val="0"/>
              </a:spcAft>
              <a:buSzPts val="1400"/>
              <a:buNone/>
            </a:pPr>
            <a:r>
              <a:t>C:/PRIMA_next/tests/memory/test_memory_formation.py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C:/PRIMA_next/tests/memory/test_importance_scoring.py</a:t>
            </a:r>
            <a:endParaRPr/>
          </a:p>
          <a:p xmlns:a="http://schemas.openxmlformats.org/drawingml/2006/main">
            <a:pPr marL="0" lvl="0" indent="0" algn="l">
              <a:lnSpc>
                <a:spcPct val="100000"/>
              </a:lnSpc>
              <a:spcBef>
                <a:spcPts val="0"/>
              </a:spcBef>
              <a:spcAft>
                <a:spcPts val="0"/>
              </a:spcAft>
              <a:buSzPts val="1400"/>
              <a:buNone/>
            </a:pPr>
            <a:r>
              <a:t>C:/PRIMA_next/tests/retrieval/test_phase07_retrieval_alignment.py</a:t>
            </a:r>
            <a:endParaRPr/>
          </a:p>
          <a:p xmlns:a="http://schemas.openxmlformats.org/drawingml/2006/main">
            <a:pPr marL="0" lvl="0" indent="0" algn="l">
              <a:lnSpc>
                <a:spcPct val="100000"/>
              </a:lnSpc>
              <a:spcBef>
                <a:spcPts val="0"/>
              </a:spcBef>
              <a:spcAft>
                <a:spcPts val="0"/>
              </a:spcAft>
              <a:buSzPts val="1400"/>
              <a:buNone/>
            </a:pPr>
            <a:r>
              <a:t>C:/PRIMA_next/tests/retrieval/test_temporal_routing.py</a:t>
            </a:r>
            <a:endParaRPr/>
          </a:p>
          <a:p xmlns:a="http://schemas.openxmlformats.org/drawingml/2006/main">
            <a:pPr marL="0" lvl="0" indent="0" algn="l">
              <a:lnSpc>
                <a:spcPct val="100000"/>
              </a:lnSpc>
              <a:spcBef>
                <a:spcPts val="0"/>
              </a:spcBef>
              <a:spcAft>
                <a:spcPts val="0"/>
              </a:spcAft>
              <a:buSzPts val="1400"/>
              <a:buNone/>
            </a:pPr>
            <a:r>
              <a:t>C:/PRIMA_next/tests/graph/test_graph_phase3.py</a:t>
            </a:r>
            <a:endParaRPr/>
          </a:p>
          <a:p xmlns:a="http://schemas.openxmlformats.org/drawingml/2006/main">
            <a:pPr marL="0" lvl="0" indent="0" algn="l">
              <a:lnSpc>
                <a:spcPct val="100000"/>
              </a:lnSpc>
              <a:spcBef>
                <a:spcPts val="0"/>
              </a:spcBef>
              <a:spcAft>
                <a:spcPts val="0"/>
              </a:spcAft>
              <a:buSzPts val="1400"/>
              <a:buNone/>
            </a:pPr>
            <a:r>
              <a:t>C:/PRIMA_next/tests/evolution/test_evolution_phase4.py</a:t>
            </a:r>
            <a:endParaRPr/>
          </a:p>
          <a:p xmlns:a="http://schemas.openxmlformats.org/drawingml/2006/main">
            <a:pPr marL="0" lvl="0" indent="0" algn="l">
              <a:lnSpc>
                <a:spcPct val="100000"/>
              </a:lnSpc>
              <a:spcBef>
                <a:spcPts val="0"/>
              </a:spcBef>
              <a:spcAft>
                <a:spcPts val="0"/>
              </a:spcAft>
              <a:buSzPts val="1400"/>
              <a:buNone/>
            </a:pPr>
            <a:r>
              <a:t>C:/PRIMA_next/tests/lineage/test_maintenance_phase5.py</a:t>
            </a:r>
            <a:endParaRPr/>
          </a:p>
          <a:p xmlns:a="http://schemas.openxmlformats.org/drawingml/2006/main">
            <a:pPr marL="0" lvl="0" indent="0" algn="l">
              <a:lnSpc>
                <a:spcPct val="100000"/>
              </a:lnSpc>
              <a:spcBef>
                <a:spcPts val="0"/>
              </a:spcBef>
              <a:spcAft>
                <a:spcPts val="0"/>
              </a:spcAft>
              <a:buSzPts val="1400"/>
              <a:buNone/>
            </a:pPr>
            <a:r>
              <a:t>C:/PRIMA_next/tests/reasoning/test_controller.py</a:t>
            </a:r>
            <a:endParaRPr/>
          </a:p>
          <a:p xmlns:a="http://schemas.openxmlformats.org/drawingml/2006/main">
            <a:pPr marL="0" lvl="0" indent="0" algn="l">
              <a:lnSpc>
                <a:spcPct val="100000"/>
              </a:lnSpc>
              <a:spcBef>
                <a:spcPts val="0"/>
              </a:spcBef>
              <a:spcAft>
                <a:spcPts val="0"/>
              </a:spcAft>
              <a:buSzPts val="1400"/>
              <a:buNone/>
            </a:pPr>
            <a:r>
              <a:t>C:/PRIMA_next/tests/reasoning/test_controller_boundaries.py</a:t>
            </a:r>
            <a:endParaRPr/>
          </a:p>
          <a:p xmlns:a="http://schemas.openxmlformats.org/drawingml/2006/main">
            <a:pPr marL="0" lvl="0" indent="0" algn="l">
              <a:lnSpc>
                <a:spcPct val="100000"/>
              </a:lnSpc>
              <a:spcBef>
                <a:spcPts val="0"/>
              </a:spcBef>
              <a:spcAft>
                <a:spcPts val="0"/>
              </a:spcAft>
              <a:buSzPts val="1400"/>
              <a:buNone/>
            </a:pPr>
            <a:r>
              <a:t>C:/PRIMA_next/tests/planning/test_planning_phase2.py</a:t>
            </a:r>
            <a:endParaRPr/>
          </a:p>
          <a:p xmlns:a="http://schemas.openxmlformats.org/drawingml/2006/main">
            <a:pPr marL="0" lvl="0" indent="0" algn="l">
              <a:lnSpc>
                <a:spcPct val="100000"/>
              </a:lnSpc>
              <a:spcBef>
                <a:spcPts val="0"/>
              </a:spcBef>
              <a:spcAft>
                <a:spcPts val="0"/>
              </a:spcAft>
              <a:buSzPts val="1400"/>
              <a:buNone/>
            </a:pPr>
            <a:r>
              <a:t>C:/PRIMA_next/tests/workflow/test_phase05_confidence_branch.py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C:/PRIMA_next/tests/reflection/test_reflection_pillar.py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C:/PRIMA_next/tests/test_llm_structured_output.py</a:t>
            </a:r>
            <a:endParaRPr/>
          </a:p>
          <a:p xmlns:a="http://schemas.openxmlformats.org/drawingml/2006/main">
            <a:pPr marL="0" lvl="0" indent="0" algn="l">
              <a:lnSpc>
                <a:spcPct val="100000"/>
              </a:lnSpc>
              <a:spcBef>
                <a:spcPts val="0"/>
              </a:spcBef>
              <a:spcAft>
                <a:spcPts val="0"/>
              </a:spcAft>
              <a:buSzPts val="1400"/>
              <a:buNone/>
            </a:pPr>
            <a:r>
              <a:t>C:/PRIMA_next/tests/test_answer_prompt_identity.py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a:p xmlns:a="http://schemas.openxmlformats.org/drawingml/2006/main">
            <a:pPr marL="0" lvl="0" indent="0" algn="l">
              <a:lnSpc>
                <a:spcPct val="100000"/>
              </a:lnSpc>
              <a:spcBef>
                <a:spcPts val="0"/>
              </a:spcBef>
              <a:spcAft>
                <a:spcPts val="0"/>
              </a:spcAft>
              <a:buSzPts val="1400"/>
              <a:buNone/>
            </a:pPr>
            <a:r>
              <a:t>C:/PRIMA_next/tests/benchmarks/test_campaign.py</a:t>
            </a:r>
            <a:endParaRPr/>
          </a:p>
          <a:p xmlns:a="http://schemas.openxmlformats.org/drawingml/2006/main">
            <a:pPr marL="0" lvl="0" indent="0" algn="l">
              <a:lnSpc>
                <a:spcPct val="100000"/>
              </a:lnSpc>
              <a:spcBef>
                <a:spcPts val="0"/>
              </a:spcBef>
              <a:spcAft>
                <a:spcPts val="0"/>
              </a:spcAft>
              <a:buSzPts val="1400"/>
              <a:buNone/>
            </a:pPr>
            <a:r>
              <a:t>C:/PRIMA_next/tests/benchmarks/test_campaign_comparison_hardening.py</a:t>
            </a:r>
            <a:endParaRPr/>
          </a:p>
          <a:p xmlns:a="http://schemas.openxmlformats.org/drawingml/2006/main">
            <a:pPr marL="0" lvl="0" indent="0" algn="l">
              <a:lnSpc>
                <a:spcPct val="100000"/>
              </a:lnSpc>
              <a:spcBef>
                <a:spcPts val="0"/>
              </a:spcBef>
              <a:spcAft>
                <a:spcPts val="0"/>
              </a:spcAft>
              <a:buSzPts val="1400"/>
              <a:buNone/>
            </a:pPr>
            <a:r>
              <a:t>C:/PRIMA_next/tests/benchmarks/test_kaggle_smoke.py</a:t>
            </a:r>
            <a:endParaRPr/>
          </a:p>
          <a:p xmlns:a="http://schemas.openxmlformats.org/drawingml/2006/main">
            <a:pPr marL="0" lvl="0" indent="0" algn="l">
              <a:lnSpc>
                <a:spcPct val="100000"/>
              </a:lnSpc>
              <a:spcBef>
                <a:spcPts val="0"/>
              </a:spcBef>
              <a:spcAft>
                <a:spcPts val="0"/>
              </a:spcAft>
              <a:buSzPts val="1400"/>
              <a:buNone/>
            </a:pPr>
            <a:r>
              <a:t>C:/PRIMA_next/evaluation/results/memory_quality_comparison.json</a:t>
            </a:r>
            <a:endParaRPr/>
          </a:p>
          <a:p xmlns:a="http://schemas.openxmlformats.org/drawingml/2006/main">
            <a:pPr marL="0" lvl="0" indent="0" algn="l">
              <a:lnSpc>
                <a:spcPct val="100000"/>
              </a:lnSpc>
              <a:spcBef>
                <a:spcPts val="0"/>
              </a:spcBef>
              <a:spcAft>
                <a:spcPts val="0"/>
              </a:spcAft>
              <a:buSzPts val="1400"/>
              <a:buNone/>
            </a:pPr>
            <a:r>
              <a:t>C:/PRIMA_next/evaluation/results/memory_formation_report.json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Testing evidence and completion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 Slide 7, part B: completed modules and testing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8.1 Completion matrix</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"Implemented" below means source/test scaffolding exists. It does not mean every path passed a fresh run or has demonstrated a benchmark improvement.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Module group | Implementation status | Existing verification to show | Remaining validation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Typed runtime/routes | Implemented | Contract tests, principal/control tests. | Fresh full route sweep and exported demo trace. |</a:t>
            </a:r>
            <a:endParaRPr/>
          </a:p>
          <a:p xmlns:a="http://schemas.openxmlformats.org/drawingml/2006/main">
            <a:pPr marL="0" lvl="0" indent="0" algn="l">
              <a:lnSpc>
                <a:spcPct val="100000"/>
              </a:lnSpc>
              <a:spcBef>
                <a:spcPts val="0"/>
              </a:spcBef>
              <a:spcAft>
                <a:spcPts val="0"/>
              </a:spcAft>
              <a:buSzPts val="1400"/>
              <a:buNone/>
            </a:pPr>
            <a:r>
              <a:t>| State management | Implemented | State ownership. | Cross-process persistence/commit-failure contract for service use. |</a:t>
            </a:r>
            <a:endParaRPr/>
          </a:p>
          <a:p xmlns:a="http://schemas.openxmlformats.org/drawingml/2006/main">
            <a:pPr marL="0" lvl="0" indent="0" algn="l">
              <a:lnSpc>
                <a:spcPct val="100000"/>
              </a:lnSpc>
              <a:spcBef>
                <a:spcPts val="0"/>
              </a:spcBef>
              <a:spcAft>
                <a:spcPts val="0"/>
              </a:spcAft>
              <a:buSzPts val="1400"/>
              <a:buNone/>
            </a:pPr>
            <a:r>
              <a:t>| Affect/PAD/history | Implemented; optional learned backend | Affect tests, history/prior tests. These are within the fresh passing subset. | Learned classifier quality and effect on agent outcomes. |</a:t>
            </a:r>
            <a:endParaRPr/>
          </a:p>
          <a:p xmlns:a="http://schemas.openxmlformats.org/drawingml/2006/main">
            <a:pPr marL="0" lvl="0" indent="0" algn="l">
              <a:lnSpc>
                <a:spcPct val="100000"/>
              </a:lnSpc>
              <a:spcBef>
                <a:spcPts val="0"/>
              </a:spcBef>
              <a:spcAft>
                <a:spcPts val="0"/>
              </a:spcAft>
              <a:buSzPts val="1400"/>
              <a:buNone/>
            </a:pPr>
            <a:r>
              <a:t>| Memory/storage/admission | Implemented | Memory formation, admission, importance. | Useful retention under real histories and isolation requirements. |</a:t>
            </a:r>
            <a:endParaRPr/>
          </a:p>
          <a:p xmlns:a="http://schemas.openxmlformats.org/drawingml/2006/main">
            <a:pPr marL="0" lvl="0" indent="0" algn="l">
              <a:lnSpc>
                <a:spcPct val="100000"/>
              </a:lnSpc>
              <a:spcBef>
                <a:spcPts val="0"/>
              </a:spcBef>
              <a:spcAft>
                <a:spcPts val="0"/>
              </a:spcAft>
              <a:buSzPts val="1400"/>
              <a:buNone/>
            </a:pPr>
            <a:r>
              <a:t>| Hybrid retrieval/reranking/compression | Implemented | Retrieval alignment, temporal. Saved subset metrics in E07/E08. | Fresh complete held-out retrieval/QA results with fixed provenance. |</a:t>
            </a:r>
            <a:endParaRPr/>
          </a:p>
          <a:p xmlns:a="http://schemas.openxmlformats.org/drawingml/2006/main">
            <a:pPr marL="0" lvl="0" indent="0" algn="l">
              <a:lnSpc>
                <a:spcPct val="100000"/>
              </a:lnSpc>
              <a:spcBef>
                <a:spcPts val="0"/>
              </a:spcBef>
              <a:spcAft>
                <a:spcPts val="0"/>
              </a:spcAft>
              <a:buSzPts val="1400"/>
              <a:buNone/>
            </a:pPr>
            <a:r>
              <a:t>| Graph/index/evolution/lineage | Implemented | Graph tests, evolution, lineage. | Repeated derivation idempotency and stale-edge correction noted in E04. |</a:t>
            </a:r>
            <a:endParaRPr/>
          </a:p>
          <a:p xmlns:a="http://schemas.openxmlformats.org/drawingml/2006/main">
            <a:pPr marL="0" lvl="0" indent="0" algn="l">
              <a:lnSpc>
                <a:spcPct val="100000"/>
              </a:lnSpc>
              <a:spcBef>
                <a:spcPts val="0"/>
              </a:spcBef>
              <a:spcAft>
                <a:spcPts val="0"/>
              </a:spcAft>
              <a:buSzPts val="1400"/>
              <a:buNone/>
            </a:pPr>
            <a:r>
              <a:t>| Reasoning/sufficiency | Implemented, bounded heuristic | Controller, boundaries. | False abstention and unsupported-answer rates on held-out relation/paraphrase cases. |</a:t>
            </a:r>
            <a:endParaRPr/>
          </a:p>
          <a:p xmlns:a="http://schemas.openxmlformats.org/drawingml/2006/main">
            <a:pPr marL="0" lvl="0" indent="0" algn="l">
              <a:lnSpc>
                <a:spcPct val="100000"/>
              </a:lnSpc>
              <a:spcBef>
                <a:spcPts val="0"/>
              </a:spcBef>
              <a:spcAft>
                <a:spcPts val="0"/>
              </a:spcAft>
              <a:buSzPts val="1400"/>
              <a:buNone/>
            </a:pPr>
            <a:r>
              <a:t>| Planning/world | Implemented symbolic path | Planning tests, full trace assertions in release tests. | Prediction usefulness against actual outcomes. |</a:t>
            </a:r>
            <a:endParaRPr/>
          </a:p>
          <a:p xmlns:a="http://schemas.openxmlformats.org/drawingml/2006/main">
            <a:pPr marL="0" lvl="0" indent="0" algn="l">
              <a:lnSpc>
                <a:spcPct val="100000"/>
              </a:lnSpc>
              <a:spcBef>
                <a:spcPts val="0"/>
              </a:spcBef>
              <a:spcAft>
                <a:spcPts val="0"/>
              </a:spcAft>
              <a:buSzPts val="1400"/>
              <a:buNone/>
            </a:pPr>
            <a:r>
              <a:t>| Uncertainty/reflection | Implemented, bounded corrections | Confidence branch, correction loop, reflection. | Calibrated confidence, actual helped/harmed answer counts. |</a:t>
            </a:r>
            <a:endParaRPr/>
          </a:p>
          <a:p xmlns:a="http://schemas.openxmlformats.org/drawingml/2006/main">
            <a:pPr marL="0" lvl="0" indent="0" algn="l">
              <a:lnSpc>
                <a:spcPct val="100000"/>
              </a:lnSpc>
              <a:spcBef>
                <a:spcPts val="0"/>
              </a:spcBef>
              <a:spcAft>
                <a:spcPts val="0"/>
              </a:spcAft>
              <a:buSzPts val="1400"/>
              <a:buNone/>
            </a:pPr>
            <a:r>
              <a:t>| Tools/actions | Implemented application policy | Action/tool tests. | Real handler timeout/idempotency/isolation guarantees where needed. |</a:t>
            </a:r>
            <a:endParaRPr/>
          </a:p>
          <a:p xmlns:a="http://schemas.openxmlformats.org/drawingml/2006/main">
            <a:pPr marL="0" lvl="0" indent="0" algn="l">
              <a:lnSpc>
                <a:spcPct val="100000"/>
              </a:lnSpc>
              <a:spcBef>
                <a:spcPts val="0"/>
              </a:spcBef>
              <a:spcAft>
                <a:spcPts val="0"/>
              </a:spcAft>
              <a:buSzPts val="1400"/>
              <a:buNone/>
            </a:pPr>
            <a:r>
              <a:t>| Generation/schema/output | Implemented provider boundary | Structured output, prompt identity, release fault cases. | Endpoint-specific integration and evidence support quality. |</a:t>
            </a:r>
            <a:endParaRPr/>
          </a:p>
          <a:p xmlns:a="http://schemas.openxmlformats.org/drawingml/2006/main">
            <a:pPr marL="0" lvl="0" indent="0" algn="l">
              <a:lnSpc>
                <a:spcPct val="100000"/>
              </a:lnSpc>
              <a:spcBef>
                <a:spcPts val="0"/>
              </a:spcBef>
              <a:spcAft>
                <a:spcPts val="0"/>
              </a:spcAft>
              <a:buSzPts val="1400"/>
              <a:buNone/>
            </a:pPr>
            <a:r>
              <a:t>| Events/maintenance | Implemented bounded cold path | Background maintenance, events, barriers. | Recovery of admitted work after process crash. |</a:t>
            </a:r>
            <a:endParaRPr/>
          </a:p>
          <a:p xmlns:a="http://schemas.openxmlformats.org/drawingml/2006/main">
            <a:pPr marL="0" lvl="0" indent="0" algn="l">
              <a:lnSpc>
                <a:spcPct val="100000"/>
              </a:lnSpc>
              <a:spcBef>
                <a:spcPts val="0"/>
              </a:spcBef>
              <a:spcAft>
                <a:spcPts val="0"/>
              </a:spcAft>
              <a:buSzPts val="1400"/>
              <a:buNone/>
            </a:pPr>
            <a:r>
              <a:t>| Benchmark campaigns | Implemented adapters/checkpoints/comparison | Campaign, comparison hardening, Kaggle smoke. | Complete real-provider source coverage and validated archives.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8.2 Fresh checks performed for this document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10 October 2026 the following command completed: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``powershell</a:t>
            </a:r>
            <a:endParaRPr/>
          </a:p>
          <a:p xmlns:a="http://schemas.openxmlformats.org/drawingml/2006/main">
            <a:pPr marL="0" lvl="0" indent="0" algn="l">
              <a:lnSpc>
                <a:spcPct val="100000"/>
              </a:lnSpc>
              <a:spcBef>
                <a:spcPts val="0"/>
              </a:spcBef>
              <a:spcAft>
                <a:spcPts val="0"/>
              </a:spcAft>
              <a:buSzPts val="1400"/>
              <a:buNone/>
            </a:pPr>
            <a:r>
              <a:t>Set-Location C:\PRIMA_next</a:t>
            </a:r>
            <a:endParaRPr/>
          </a:p>
          <a:p xmlns:a="http://schemas.openxmlformats.org/drawingml/2006/main">
            <a:pPr marL="0" lvl="0" indent="0" algn="l">
              <a:lnSpc>
                <a:spcPct val="100000"/>
              </a:lnSpc>
              <a:spcBef>
                <a:spcPts val="0"/>
              </a:spcBef>
              <a:spcAft>
                <a:spcPts val="0"/>
              </a:spcAft>
              <a:buSzPts val="1400"/>
              <a:buNone/>
            </a:pPr>
            <a:r>
              <a:t>.\.venv\Scripts\python.exe -m pytest tests/affect tests/test_goemotions_benchmark.py tests/retrieval/test_recall_metrics.py tests/retrieval/test_mrr_metrics.py tests/retrieval/test_ndcg_metrics.py -q --basetemp=C:/PRIMA_next/pytest-tmp/mentor-review-sync</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Observed output: 25 passed in 1.87s`. The launcher also printed a warning that it could not find the real base-interpreter location. Tests still completed. These tests establish their covered affect/data/metric behavior, not end-to-end QA quality.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 broader selected run covering runtime, workflow, integration, memory, retrieval, planning, reasoning, reflection, tools, and events did not finish. It printed five progress dots without a final summary and was interrupted. No new whole-suite pass is claimed. The earlier October 7 audit reports Windows asyncio socket-pair stalls, but this preparation did not capture a fresh stack trace to independently assign the same cause. [E04]</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Historical lint/type/complexity/security results in E04/E09 remain dated evidence. CI configuration exists, but its current remote status was not queried. Fresh Ruff/Mypy/Bandit/Xenon checks were not run for this documentation-only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8.3 Metrics to explain accurately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Metric | Meaning and suitable use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Exact match | Normalized predicted answer equals an accepted reference answer. |</a:t>
            </a:r>
            <a:endParaRPr/>
          </a:p>
          <a:p xmlns:a="http://schemas.openxmlformats.org/drawingml/2006/main">
            <a:pPr marL="0" lvl="0" indent="0" algn="l">
              <a:lnSpc>
                <a:spcPct val="100000"/>
              </a:lnSpc>
              <a:spcBef>
                <a:spcPts val="0"/>
              </a:spcBef>
              <a:spcAft>
                <a:spcPts val="0"/>
              </a:spcAft>
              <a:buSzPts val="1400"/>
              <a:buNone/>
            </a:pPr>
            <a:r>
              <a:t>| Token F1 | Harmonic mean of token precision/recall against references under the benchmark's scorer. |</a:t>
            </a:r>
            <a:endParaRPr/>
          </a:p>
          <a:p xmlns:a="http://schemas.openxmlformats.org/drawingml/2006/main">
            <a:pPr marL="0" lvl="0" indent="0" algn="l">
              <a:lnSpc>
                <a:spcPct val="100000"/>
              </a:lnSpc>
              <a:spcBef>
                <a:spcPts val="0"/>
              </a:spcBef>
              <a:spcAft>
                <a:spcPts val="0"/>
              </a:spcAft>
              <a:buSzPts val="1400"/>
              <a:buNone/>
            </a:pPr>
            <a:r>
              <a:t>| Recall@k | Fraction of required relevant evidence recovered in the top k, according to the evaluator's relevance definition. |</a:t>
            </a:r>
            <a:endParaRPr/>
          </a:p>
          <a:p xmlns:a="http://schemas.openxmlformats.org/drawingml/2006/main">
            <a:pPr marL="0" lvl="0" indent="0" algn="l">
              <a:lnSpc>
                <a:spcPct val="100000"/>
              </a:lnSpc>
              <a:spcBef>
                <a:spcPts val="0"/>
              </a:spcBef>
              <a:spcAft>
                <a:spcPts val="0"/>
              </a:spcAft>
              <a:buSzPts val="1400"/>
              <a:buNone/>
            </a:pPr>
            <a:r>
              <a:t>| MRR | Mean reciprocal rank of the first relevant result. |</a:t>
            </a:r>
            <a:endParaRPr/>
          </a:p>
          <a:p xmlns:a="http://schemas.openxmlformats.org/drawingml/2006/main">
            <a:pPr marL="0" lvl="0" indent="0" algn="l">
              <a:lnSpc>
                <a:spcPct val="100000"/>
              </a:lnSpc>
              <a:spcBef>
                <a:spcPts val="0"/>
              </a:spcBef>
              <a:spcAft>
                <a:spcPts val="0"/>
              </a:spcAft>
              <a:buSzPts val="1400"/>
              <a:buNone/>
            </a:pPr>
            <a:r>
              <a:t>| nDCG@k | Ranking quality using discounted relevance, normalized by the ideal ranking. |</a:t>
            </a:r>
            <a:endParaRPr/>
          </a:p>
          <a:p xmlns:a="http://schemas.openxmlformats.org/drawingml/2006/main">
            <a:pPr marL="0" lvl="0" indent="0" algn="l">
              <a:lnSpc>
                <a:spcPct val="100000"/>
              </a:lnSpc>
              <a:spcBef>
                <a:spcPts val="0"/>
              </a:spcBef>
              <a:spcAft>
                <a:spcPts val="0"/>
              </a:spcAft>
              <a:buSzPts val="1400"/>
              <a:buNone/>
            </a:pPr>
            <a:r>
              <a:t>| Candidate success | Whether required evidence entered the candidate set, under that runner's definition. Distinct from final evidence recall. |</a:t>
            </a:r>
            <a:endParaRPr/>
          </a:p>
          <a:p xmlns:a="http://schemas.openxmlformats.org/drawingml/2006/main">
            <a:pPr marL="0" lvl="0" indent="0" algn="l">
              <a:lnSpc>
                <a:spcPct val="100000"/>
              </a:lnSpc>
              <a:spcBef>
                <a:spcPts val="0"/>
              </a:spcBef>
              <a:spcAft>
                <a:spcPts val="0"/>
              </a:spcAft>
              <a:buSzPts val="1400"/>
              <a:buNone/>
            </a:pPr>
            <a:r>
              <a:t>| Emotion micro/macro F1 | Aggregate label decisions / equally weighted per-label performance in a multilabel task. |</a:t>
            </a:r>
            <a:endParaRPr/>
          </a:p>
          <a:p xmlns:a="http://schemas.openxmlformats.org/drawingml/2006/main">
            <a:pPr marL="0" lvl="0" indent="0" algn="l">
              <a:lnSpc>
                <a:spcPct val="100000"/>
              </a:lnSpc>
              <a:spcBef>
                <a:spcPts val="0"/>
              </a:spcBef>
              <a:spcAft>
                <a:spcPts val="0"/>
              </a:spcAft>
              <a:buSzPts val="1400"/>
              <a:buNone/>
            </a:pPr>
            <a:r>
              <a:t>| Coverage / abstention | How often the system answers versus declines, alongside error among answered cases. |</a:t>
            </a:r>
            <a:endParaRPr/>
          </a:p>
          <a:p xmlns:a="http://schemas.openxmlformats.org/drawingml/2006/main">
            <a:pPr marL="0" lvl="0" indent="0" algn="l">
              <a:lnSpc>
                <a:spcPct val="100000"/>
              </a:lnSpc>
              <a:spcBef>
                <a:spcPts val="0"/>
              </a:spcBef>
              <a:spcAft>
                <a:spcPts val="0"/>
              </a:spcAft>
              <a:buSzPts val="1400"/>
              <a:buNone/>
            </a:pPr>
            <a:r>
              <a:t>| Calibration | Whether confidence aligns with empirical correctness. Report the exact calibration metric and fitted split. |</a:t>
            </a:r>
            <a:endParaRPr/>
          </a:p>
          <a:p xmlns:a="http://schemas.openxmlformats.org/drawingml/2006/main">
            <a:pPr marL="0" lvl="0" indent="0" algn="l">
              <a:lnSpc>
                <a:spcPct val="100000"/>
              </a:lnSpc>
              <a:spcBef>
                <a:spcPts val="0"/>
              </a:spcBef>
              <a:spcAft>
                <a:spcPts val="0"/>
              </a:spcAft>
              <a:buSzPts val="1400"/>
              <a:buNone/>
            </a:pPr>
            <a:r>
              <a:t>| Reflection help/harm | Incorrect-to-correct and correct-to-incorrect changes from actual interventions. |</a:t>
            </a:r>
            <a:endParaRPr/>
          </a:p>
          <a:p xmlns:a="http://schemas.openxmlformats.org/drawingml/2006/main">
            <a:pPr marL="0" lvl="0" indent="0" algn="l">
              <a:lnSpc>
                <a:spcPct val="100000"/>
              </a:lnSpc>
              <a:spcBef>
                <a:spcPts val="0"/>
              </a:spcBef>
              <a:spcAft>
                <a:spcPts val="0"/>
              </a:spcAft>
              <a:buSzPts val="1400"/>
              <a:buNone/>
            </a:pPr>
            <a:r>
              <a:t>| Cost | Calls, tokens, latency, model/device load, memory/storage, and maintenance work.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HotpotQA use its native answer and supporting-fact metrics, including joint metrics where the runner supports them. For LoCoMo retain native category/answer/evidence accounting. GoEmotions measures the classification component, not the full QA wrapper. [E05, benchmark READMEs]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8.4 Avoid misleading result slides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Memory quality comparison has zero benchmark queries. Its zero metrics establish no retrieval improvement or preserved quality.</a:t>
            </a:r>
            <a:endParaRPr/>
          </a:p>
          <a:p xmlns:a="http://schemas.openxmlformats.org/drawingml/2006/main">
            <a:pPr marL="0" lvl="0" indent="0" algn="l">
              <a:lnSpc>
                <a:spcPct val="100000"/>
              </a:lnSpc>
              <a:spcBef>
                <a:spcPts val="0"/>
              </a:spcBef>
              <a:spcAft>
                <a:spcPts val="0"/>
              </a:spcAft>
              <a:buSzPts val="1400"/>
              <a:buNone/>
            </a:pPr>
            <a:r>
              <a:t>Memory formation report contains only two interactions, zero stored memories, two rejected memories. It is a narrow saved example, not retention-performance evidence.</a:t>
            </a:r>
            <a:endParaRPr/>
          </a:p>
          <a:p xmlns:a="http://schemas.openxmlformats.org/drawingml/2006/main">
            <a:pPr marL="0" lvl="0" indent="0" algn="l">
              <a:lnSpc>
                <a:spcPct val="100000"/>
              </a:lnSpc>
              <a:spcBef>
                <a:spcPts val="0"/>
              </a:spcBef>
              <a:spcAft>
                <a:spcPts val="0"/>
              </a:spcAft>
              <a:buSzPts val="1400"/>
              <a:buNone/>
            </a:pPr>
            <a:r>
              <a:t>A smoke fixture passing shows wiring/accounting. A sampled mode finishing shows completion only for its declared selection.</a:t>
            </a:r>
            <a:endParaRPr/>
          </a:p>
          <a:p xmlns:a="http://schemas.openxmlformats.org/drawingml/2006/main">
            <a:pPr marL="0" lvl="0" indent="0" algn="l">
              <a:lnSpc>
                <a:spcPct val="100000"/>
              </a:lnSpc>
              <a:spcBef>
                <a:spcPts val="0"/>
              </a:spcBef>
              <a:spcAft>
                <a:spcPts val="0"/>
              </a:spcAft>
              <a:buSzPts val="1400"/>
              <a:buNone/>
            </a:pPr>
            <a:r>
              <a:t>A passing launch estimate does not show that the full benchmark finished. A complete run can still have poor answer quality.</a:t>
            </a:r>
            <a:endParaRPr/>
          </a:p>
          <a:p xmlns:a="http://schemas.openxmlformats.org/drawingml/2006/main">
            <a:pPr marL="0" lvl="0" indent="0" algn="l">
              <a:lnSpc>
                <a:spcPct val="100000"/>
              </a:lnSpc>
              <a:spcBef>
                <a:spcPts val="0"/>
              </a:spcBef>
              <a:spcAft>
                <a:spcPts val="0"/>
              </a:spcAft>
              <a:buSzPts val="1400"/>
              <a:buNone/>
            </a:pPr>
            <a:r>
              <a:t>Package availability, module imports, and an architecture diagram do not prove the component ran.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8.5 How to address the template's 50% demonstration requirement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Agree on a finite module/demo checklist before assigning a percentage. Mark each item rehearsed with artifact, implemented but not rehearsed, or pending. Compute demonstrated coverage only from that agreed list. This document establishes preparation and evidence mapping, not a fabricated "50% complete" status. The previous review request requires the runnable scenario and visible comparison before marking the demonstration delivered.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C:/PRIMA_next/tests/runtime/test_canonical_contract.py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C:/PRIMA_next/tests/affect/test_affect_engine.py</a:t>
            </a:r>
            <a:endParaRPr/>
          </a:p>
          <a:p xmlns:a="http://schemas.openxmlformats.org/drawingml/2006/main">
            <a:pPr marL="0" lvl="0" indent="0" algn="l">
              <a:lnSpc>
                <a:spcPct val="100000"/>
              </a:lnSpc>
              <a:spcBef>
                <a:spcPts val="0"/>
              </a:spcBef>
              <a:spcAft>
                <a:spcPts val="0"/>
              </a:spcAft>
              <a:buSzPts val="1400"/>
              <a:buNone/>
            </a:pPr>
            <a:r>
              <a:t>C:/PRIMA_next/tests/affect/test_history_and_priors.py</a:t>
            </a:r>
            <a:endParaRPr/>
          </a:p>
          <a:p xmlns:a="http://schemas.openxmlformats.org/drawingml/2006/main">
            <a:pPr marL="0" lvl="0" indent="0" algn="l">
              <a:lnSpc>
                <a:spcPct val="100000"/>
              </a:lnSpc>
              <a:spcBef>
                <a:spcPts val="0"/>
              </a:spcBef>
              <a:spcAft>
                <a:spcPts val="0"/>
              </a:spcAft>
              <a:buSzPts val="1400"/>
              <a:buNone/>
            </a:pPr>
            <a:r>
              <a:t>C:/PRIMA_next/tests/memory/test_memory_formation.py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C:/PRIMA_next/tests/memory/test_importance_scoring.py</a:t>
            </a:r>
            <a:endParaRPr/>
          </a:p>
          <a:p xmlns:a="http://schemas.openxmlformats.org/drawingml/2006/main">
            <a:pPr marL="0" lvl="0" indent="0" algn="l">
              <a:lnSpc>
                <a:spcPct val="100000"/>
              </a:lnSpc>
              <a:spcBef>
                <a:spcPts val="0"/>
              </a:spcBef>
              <a:spcAft>
                <a:spcPts val="0"/>
              </a:spcAft>
              <a:buSzPts val="1400"/>
              <a:buNone/>
            </a:pPr>
            <a:r>
              <a:t>C:/PRIMA_next/tests/retrieval/test_phase07_retrieval_alignment.py</a:t>
            </a:r>
            <a:endParaRPr/>
          </a:p>
          <a:p xmlns:a="http://schemas.openxmlformats.org/drawingml/2006/main">
            <a:pPr marL="0" lvl="0" indent="0" algn="l">
              <a:lnSpc>
                <a:spcPct val="100000"/>
              </a:lnSpc>
              <a:spcBef>
                <a:spcPts val="0"/>
              </a:spcBef>
              <a:spcAft>
                <a:spcPts val="0"/>
              </a:spcAft>
              <a:buSzPts val="1400"/>
              <a:buNone/>
            </a:pPr>
            <a:r>
              <a:t>C:/PRIMA_next/tests/retrieval/test_temporal_routing.py</a:t>
            </a:r>
            <a:endParaRPr/>
          </a:p>
          <a:p xmlns:a="http://schemas.openxmlformats.org/drawingml/2006/main">
            <a:pPr marL="0" lvl="0" indent="0" algn="l">
              <a:lnSpc>
                <a:spcPct val="100000"/>
              </a:lnSpc>
              <a:spcBef>
                <a:spcPts val="0"/>
              </a:spcBef>
              <a:spcAft>
                <a:spcPts val="0"/>
              </a:spcAft>
              <a:buSzPts val="1400"/>
              <a:buNone/>
            </a:pPr>
            <a:r>
              <a:t>C:/PRIMA_next/tests/graph/test_graph_phase3.py</a:t>
            </a:r>
            <a:endParaRPr/>
          </a:p>
          <a:p xmlns:a="http://schemas.openxmlformats.org/drawingml/2006/main">
            <a:pPr marL="0" lvl="0" indent="0" algn="l">
              <a:lnSpc>
                <a:spcPct val="100000"/>
              </a:lnSpc>
              <a:spcBef>
                <a:spcPts val="0"/>
              </a:spcBef>
              <a:spcAft>
                <a:spcPts val="0"/>
              </a:spcAft>
              <a:buSzPts val="1400"/>
              <a:buNone/>
            </a:pPr>
            <a:r>
              <a:t>C:/PRIMA_next/tests/evolution/test_evolution_phase4.py</a:t>
            </a:r>
            <a:endParaRPr/>
          </a:p>
          <a:p xmlns:a="http://schemas.openxmlformats.org/drawingml/2006/main">
            <a:pPr marL="0" lvl="0" indent="0" algn="l">
              <a:lnSpc>
                <a:spcPct val="100000"/>
              </a:lnSpc>
              <a:spcBef>
                <a:spcPts val="0"/>
              </a:spcBef>
              <a:spcAft>
                <a:spcPts val="0"/>
              </a:spcAft>
              <a:buSzPts val="1400"/>
              <a:buNone/>
            </a:pPr>
            <a:r>
              <a:t>C:/PRIMA_next/tests/lineage/test_maintenance_phase5.py</a:t>
            </a:r>
            <a:endParaRPr/>
          </a:p>
          <a:p xmlns:a="http://schemas.openxmlformats.org/drawingml/2006/main">
            <a:pPr marL="0" lvl="0" indent="0" algn="l">
              <a:lnSpc>
                <a:spcPct val="100000"/>
              </a:lnSpc>
              <a:spcBef>
                <a:spcPts val="0"/>
              </a:spcBef>
              <a:spcAft>
                <a:spcPts val="0"/>
              </a:spcAft>
              <a:buSzPts val="1400"/>
              <a:buNone/>
            </a:pPr>
            <a:r>
              <a:t>C:/PRIMA_next/tests/reasoning/test_controller.py</a:t>
            </a:r>
            <a:endParaRPr/>
          </a:p>
          <a:p xmlns:a="http://schemas.openxmlformats.org/drawingml/2006/main">
            <a:pPr marL="0" lvl="0" indent="0" algn="l">
              <a:lnSpc>
                <a:spcPct val="100000"/>
              </a:lnSpc>
              <a:spcBef>
                <a:spcPts val="0"/>
              </a:spcBef>
              <a:spcAft>
                <a:spcPts val="0"/>
              </a:spcAft>
              <a:buSzPts val="1400"/>
              <a:buNone/>
            </a:pPr>
            <a:r>
              <a:t>C:/PRIMA_next/tests/reasoning/test_controller_boundaries.py</a:t>
            </a:r>
            <a:endParaRPr/>
          </a:p>
          <a:p xmlns:a="http://schemas.openxmlformats.org/drawingml/2006/main">
            <a:pPr marL="0" lvl="0" indent="0" algn="l">
              <a:lnSpc>
                <a:spcPct val="100000"/>
              </a:lnSpc>
              <a:spcBef>
                <a:spcPts val="0"/>
              </a:spcBef>
              <a:spcAft>
                <a:spcPts val="0"/>
              </a:spcAft>
              <a:buSzPts val="1400"/>
              <a:buNone/>
            </a:pPr>
            <a:r>
              <a:t>C:/PRIMA_next/tests/planning/test_planning_phase2.py</a:t>
            </a:r>
            <a:endParaRPr/>
          </a:p>
          <a:p xmlns:a="http://schemas.openxmlformats.org/drawingml/2006/main">
            <a:pPr marL="0" lvl="0" indent="0" algn="l">
              <a:lnSpc>
                <a:spcPct val="100000"/>
              </a:lnSpc>
              <a:spcBef>
                <a:spcPts val="0"/>
              </a:spcBef>
              <a:spcAft>
                <a:spcPts val="0"/>
              </a:spcAft>
              <a:buSzPts val="1400"/>
              <a:buNone/>
            </a:pPr>
            <a:r>
              <a:t>C:/PRIMA_next/tests/workflow/test_phase05_confidence_branch.py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C:/PRIMA_next/tests/reflection/test_reflection_pillar.py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C:/PRIMA_next/tests/test_llm_structured_output.py</a:t>
            </a:r>
            <a:endParaRPr/>
          </a:p>
          <a:p xmlns:a="http://schemas.openxmlformats.org/drawingml/2006/main">
            <a:pPr marL="0" lvl="0" indent="0" algn="l">
              <a:lnSpc>
                <a:spcPct val="100000"/>
              </a:lnSpc>
              <a:spcBef>
                <a:spcPts val="0"/>
              </a:spcBef>
              <a:spcAft>
                <a:spcPts val="0"/>
              </a:spcAft>
              <a:buSzPts val="1400"/>
              <a:buNone/>
            </a:pPr>
            <a:r>
              <a:t>C:/PRIMA_next/tests/test_answer_prompt_identity.py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a:p xmlns:a="http://schemas.openxmlformats.org/drawingml/2006/main">
            <a:pPr marL="0" lvl="0" indent="0" algn="l">
              <a:lnSpc>
                <a:spcPct val="100000"/>
              </a:lnSpc>
              <a:spcBef>
                <a:spcPts val="0"/>
              </a:spcBef>
              <a:spcAft>
                <a:spcPts val="0"/>
              </a:spcAft>
              <a:buSzPts val="1400"/>
              <a:buNone/>
            </a:pPr>
            <a:r>
              <a:t>C:/PRIMA_next/tests/benchmarks/test_campaign.py</a:t>
            </a:r>
            <a:endParaRPr/>
          </a:p>
          <a:p xmlns:a="http://schemas.openxmlformats.org/drawingml/2006/main">
            <a:pPr marL="0" lvl="0" indent="0" algn="l">
              <a:lnSpc>
                <a:spcPct val="100000"/>
              </a:lnSpc>
              <a:spcBef>
                <a:spcPts val="0"/>
              </a:spcBef>
              <a:spcAft>
                <a:spcPts val="0"/>
              </a:spcAft>
              <a:buSzPts val="1400"/>
              <a:buNone/>
            </a:pPr>
            <a:r>
              <a:t>C:/PRIMA_next/tests/benchmarks/test_campaign_comparison_hardening.py</a:t>
            </a:r>
            <a:endParaRPr/>
          </a:p>
          <a:p xmlns:a="http://schemas.openxmlformats.org/drawingml/2006/main">
            <a:pPr marL="0" lvl="0" indent="0" algn="l">
              <a:lnSpc>
                <a:spcPct val="100000"/>
              </a:lnSpc>
              <a:spcBef>
                <a:spcPts val="0"/>
              </a:spcBef>
              <a:spcAft>
                <a:spcPts val="0"/>
              </a:spcAft>
              <a:buSzPts val="1400"/>
              <a:buNone/>
            </a:pPr>
            <a:r>
              <a:t>C:/PRIMA_next/tests/benchmarks/test_kaggle_smoke.py</a:t>
            </a:r>
            <a:endParaRPr/>
          </a:p>
          <a:p xmlns:a="http://schemas.openxmlformats.org/drawingml/2006/main">
            <a:pPr marL="0" lvl="0" indent="0" algn="l">
              <a:lnSpc>
                <a:spcPct val="100000"/>
              </a:lnSpc>
              <a:spcBef>
                <a:spcPts val="0"/>
              </a:spcBef>
              <a:spcAft>
                <a:spcPts val="0"/>
              </a:spcAft>
              <a:buSzPts val="1400"/>
              <a:buNone/>
            </a:pPr>
            <a:r>
              <a:t>C:/PRIMA_next/evaluation/results/memory_quality_comparison.json</a:t>
            </a:r>
            <a:endParaRPr/>
          </a:p>
          <a:p xmlns:a="http://schemas.openxmlformats.org/drawingml/2006/main">
            <a:pPr marL="0" lvl="0" indent="0" algn="l">
              <a:lnSpc>
                <a:spcPct val="100000"/>
              </a:lnSpc>
              <a:spcBef>
                <a:spcPts val="0"/>
              </a:spcBef>
              <a:spcAft>
                <a:spcPts val="0"/>
              </a:spcAft>
              <a:buSzPts val="1400"/>
              <a:buNone/>
            </a:pPr>
            <a:r>
              <a:t>C:/PRIMA_next/evaluation/results/memory_formation_report.json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Evaluation metrics (1/2)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 Slide 7, part B: completed modules and testing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8.1 Completion matrix</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"Implemented" below means source/test scaffolding exists. It does not mean every path passed a fresh run or has demonstrated a benchmark improvement.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Module group | Implementation status | Existing verification to show | Remaining validation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Typed runtime/routes | Implemented | Contract tests, principal/control tests. | Fresh full route sweep and exported demo trace. |</a:t>
            </a:r>
            <a:endParaRPr/>
          </a:p>
          <a:p xmlns:a="http://schemas.openxmlformats.org/drawingml/2006/main">
            <a:pPr marL="0" lvl="0" indent="0" algn="l">
              <a:lnSpc>
                <a:spcPct val="100000"/>
              </a:lnSpc>
              <a:spcBef>
                <a:spcPts val="0"/>
              </a:spcBef>
              <a:spcAft>
                <a:spcPts val="0"/>
              </a:spcAft>
              <a:buSzPts val="1400"/>
              <a:buNone/>
            </a:pPr>
            <a:r>
              <a:t>| State management | Implemented | State ownership. | Cross-process persistence/commit-failure contract for service use. |</a:t>
            </a:r>
            <a:endParaRPr/>
          </a:p>
          <a:p xmlns:a="http://schemas.openxmlformats.org/drawingml/2006/main">
            <a:pPr marL="0" lvl="0" indent="0" algn="l">
              <a:lnSpc>
                <a:spcPct val="100000"/>
              </a:lnSpc>
              <a:spcBef>
                <a:spcPts val="0"/>
              </a:spcBef>
              <a:spcAft>
                <a:spcPts val="0"/>
              </a:spcAft>
              <a:buSzPts val="1400"/>
              <a:buNone/>
            </a:pPr>
            <a:r>
              <a:t>| Affect/PAD/history | Implemented; optional learned backend | Affect tests, history/prior tests. These are within the fresh passing subset. | Learned classifier quality and effect on agent outcomes. |</a:t>
            </a:r>
            <a:endParaRPr/>
          </a:p>
          <a:p xmlns:a="http://schemas.openxmlformats.org/drawingml/2006/main">
            <a:pPr marL="0" lvl="0" indent="0" algn="l">
              <a:lnSpc>
                <a:spcPct val="100000"/>
              </a:lnSpc>
              <a:spcBef>
                <a:spcPts val="0"/>
              </a:spcBef>
              <a:spcAft>
                <a:spcPts val="0"/>
              </a:spcAft>
              <a:buSzPts val="1400"/>
              <a:buNone/>
            </a:pPr>
            <a:r>
              <a:t>| Memory/storage/admission | Implemented | Memory formation, admission, importance. | Useful retention under real histories and isolation requirements. |</a:t>
            </a:r>
            <a:endParaRPr/>
          </a:p>
          <a:p xmlns:a="http://schemas.openxmlformats.org/drawingml/2006/main">
            <a:pPr marL="0" lvl="0" indent="0" algn="l">
              <a:lnSpc>
                <a:spcPct val="100000"/>
              </a:lnSpc>
              <a:spcBef>
                <a:spcPts val="0"/>
              </a:spcBef>
              <a:spcAft>
                <a:spcPts val="0"/>
              </a:spcAft>
              <a:buSzPts val="1400"/>
              <a:buNone/>
            </a:pPr>
            <a:r>
              <a:t>| Hybrid retrieval/reranking/compression | Implemented | Retrieval alignment, temporal. Saved subset metrics in E07/E08. | Fresh complete held-out retrieval/QA results with fixed provenance. |</a:t>
            </a:r>
            <a:endParaRPr/>
          </a:p>
          <a:p xmlns:a="http://schemas.openxmlformats.org/drawingml/2006/main">
            <a:pPr marL="0" lvl="0" indent="0" algn="l">
              <a:lnSpc>
                <a:spcPct val="100000"/>
              </a:lnSpc>
              <a:spcBef>
                <a:spcPts val="0"/>
              </a:spcBef>
              <a:spcAft>
                <a:spcPts val="0"/>
              </a:spcAft>
              <a:buSzPts val="1400"/>
              <a:buNone/>
            </a:pPr>
            <a:r>
              <a:t>| Graph/index/evolution/lineage | Implemented | Graph tests, evolution, lineage. | Repeated derivation idempotency and stale-edge correction noted in E04. |</a:t>
            </a:r>
            <a:endParaRPr/>
          </a:p>
          <a:p xmlns:a="http://schemas.openxmlformats.org/drawingml/2006/main">
            <a:pPr marL="0" lvl="0" indent="0" algn="l">
              <a:lnSpc>
                <a:spcPct val="100000"/>
              </a:lnSpc>
              <a:spcBef>
                <a:spcPts val="0"/>
              </a:spcBef>
              <a:spcAft>
                <a:spcPts val="0"/>
              </a:spcAft>
              <a:buSzPts val="1400"/>
              <a:buNone/>
            </a:pPr>
            <a:r>
              <a:t>| Reasoning/sufficiency | Implemented, bounded heuristic | Controller, boundaries. | False abstention and unsupported-answer rates on held-out relation/paraphrase cases. |</a:t>
            </a:r>
            <a:endParaRPr/>
          </a:p>
          <a:p xmlns:a="http://schemas.openxmlformats.org/drawingml/2006/main">
            <a:pPr marL="0" lvl="0" indent="0" algn="l">
              <a:lnSpc>
                <a:spcPct val="100000"/>
              </a:lnSpc>
              <a:spcBef>
                <a:spcPts val="0"/>
              </a:spcBef>
              <a:spcAft>
                <a:spcPts val="0"/>
              </a:spcAft>
              <a:buSzPts val="1400"/>
              <a:buNone/>
            </a:pPr>
            <a:r>
              <a:t>| Planning/world | Implemented symbolic path | Planning tests, full trace assertions in release tests. | Prediction usefulness against actual outcomes. |</a:t>
            </a:r>
            <a:endParaRPr/>
          </a:p>
          <a:p xmlns:a="http://schemas.openxmlformats.org/drawingml/2006/main">
            <a:pPr marL="0" lvl="0" indent="0" algn="l">
              <a:lnSpc>
                <a:spcPct val="100000"/>
              </a:lnSpc>
              <a:spcBef>
                <a:spcPts val="0"/>
              </a:spcBef>
              <a:spcAft>
                <a:spcPts val="0"/>
              </a:spcAft>
              <a:buSzPts val="1400"/>
              <a:buNone/>
            </a:pPr>
            <a:r>
              <a:t>| Uncertainty/reflection | Implemented, bounded corrections | Confidence branch, correction loop, reflection. | Calibrated confidence, actual helped/harmed answer counts. |</a:t>
            </a:r>
            <a:endParaRPr/>
          </a:p>
          <a:p xmlns:a="http://schemas.openxmlformats.org/drawingml/2006/main">
            <a:pPr marL="0" lvl="0" indent="0" algn="l">
              <a:lnSpc>
                <a:spcPct val="100000"/>
              </a:lnSpc>
              <a:spcBef>
                <a:spcPts val="0"/>
              </a:spcBef>
              <a:spcAft>
                <a:spcPts val="0"/>
              </a:spcAft>
              <a:buSzPts val="1400"/>
              <a:buNone/>
            </a:pPr>
            <a:r>
              <a:t>| Tools/actions | Implemented application policy | Action/tool tests. | Real handler timeout/idempotency/isolation guarantees where needed. |</a:t>
            </a:r>
            <a:endParaRPr/>
          </a:p>
          <a:p xmlns:a="http://schemas.openxmlformats.org/drawingml/2006/main">
            <a:pPr marL="0" lvl="0" indent="0" algn="l">
              <a:lnSpc>
                <a:spcPct val="100000"/>
              </a:lnSpc>
              <a:spcBef>
                <a:spcPts val="0"/>
              </a:spcBef>
              <a:spcAft>
                <a:spcPts val="0"/>
              </a:spcAft>
              <a:buSzPts val="1400"/>
              <a:buNone/>
            </a:pPr>
            <a:r>
              <a:t>| Generation/schema/output | Implemented provider boundary | Structured output, prompt identity, release fault cases. | Endpoint-specific integration and evidence support quality. |</a:t>
            </a:r>
            <a:endParaRPr/>
          </a:p>
          <a:p xmlns:a="http://schemas.openxmlformats.org/drawingml/2006/main">
            <a:pPr marL="0" lvl="0" indent="0" algn="l">
              <a:lnSpc>
                <a:spcPct val="100000"/>
              </a:lnSpc>
              <a:spcBef>
                <a:spcPts val="0"/>
              </a:spcBef>
              <a:spcAft>
                <a:spcPts val="0"/>
              </a:spcAft>
              <a:buSzPts val="1400"/>
              <a:buNone/>
            </a:pPr>
            <a:r>
              <a:t>| Events/maintenance | Implemented bounded cold path | Background maintenance, events, barriers. | Recovery of admitted work after process crash. |</a:t>
            </a:r>
            <a:endParaRPr/>
          </a:p>
          <a:p xmlns:a="http://schemas.openxmlformats.org/drawingml/2006/main">
            <a:pPr marL="0" lvl="0" indent="0" algn="l">
              <a:lnSpc>
                <a:spcPct val="100000"/>
              </a:lnSpc>
              <a:spcBef>
                <a:spcPts val="0"/>
              </a:spcBef>
              <a:spcAft>
                <a:spcPts val="0"/>
              </a:spcAft>
              <a:buSzPts val="1400"/>
              <a:buNone/>
            </a:pPr>
            <a:r>
              <a:t>| Benchmark campaigns | Implemented adapters/checkpoints/comparison | Campaign, comparison hardening, Kaggle smoke. | Complete real-provider source coverage and validated archives.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8.2 Fresh checks performed for this document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10 October 2026 the following command completed: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``powershell</a:t>
            </a:r>
            <a:endParaRPr/>
          </a:p>
          <a:p xmlns:a="http://schemas.openxmlformats.org/drawingml/2006/main">
            <a:pPr marL="0" lvl="0" indent="0" algn="l">
              <a:lnSpc>
                <a:spcPct val="100000"/>
              </a:lnSpc>
              <a:spcBef>
                <a:spcPts val="0"/>
              </a:spcBef>
              <a:spcAft>
                <a:spcPts val="0"/>
              </a:spcAft>
              <a:buSzPts val="1400"/>
              <a:buNone/>
            </a:pPr>
            <a:r>
              <a:t>Set-Location C:\PRIMA_next</a:t>
            </a:r>
            <a:endParaRPr/>
          </a:p>
          <a:p xmlns:a="http://schemas.openxmlformats.org/drawingml/2006/main">
            <a:pPr marL="0" lvl="0" indent="0" algn="l">
              <a:lnSpc>
                <a:spcPct val="100000"/>
              </a:lnSpc>
              <a:spcBef>
                <a:spcPts val="0"/>
              </a:spcBef>
              <a:spcAft>
                <a:spcPts val="0"/>
              </a:spcAft>
              <a:buSzPts val="1400"/>
              <a:buNone/>
            </a:pPr>
            <a:r>
              <a:t>.\.venv\Scripts\python.exe -m pytest tests/affect tests/test_goemotions_benchmark.py tests/retrieval/test_recall_metrics.py tests/retrieval/test_mrr_metrics.py tests/retrieval/test_ndcg_metrics.py -q --basetemp=C:/PRIMA_next/pytest-tmp/mentor-review-sync</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Observed output: 25 passed in 1.87s`. The launcher also printed a warning that it could not find the real base-interpreter location. Tests still completed. These tests establish their covered affect/data/metric behavior, not end-to-end QA quality.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 broader selected run covering runtime, workflow, integration, memory, retrieval, planning, reasoning, reflection, tools, and events did not finish. It printed five progress dots without a final summary and was interrupted. No new whole-suite pass is claimed. The earlier October 7 audit reports Windows asyncio socket-pair stalls, but this preparation did not capture a fresh stack trace to independently assign the same cause. [E04]</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Historical lint/type/complexity/security results in E04/E09 remain dated evidence. CI configuration exists, but its current remote status was not queried. Fresh Ruff/Mypy/Bandit/Xenon checks were not run for this documentation-only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8.3 Metrics to explain accurately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Metric | Meaning and suitable use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Exact match | Normalized predicted answer equals an accepted reference answer. |</a:t>
            </a:r>
            <a:endParaRPr/>
          </a:p>
          <a:p xmlns:a="http://schemas.openxmlformats.org/drawingml/2006/main">
            <a:pPr marL="0" lvl="0" indent="0" algn="l">
              <a:lnSpc>
                <a:spcPct val="100000"/>
              </a:lnSpc>
              <a:spcBef>
                <a:spcPts val="0"/>
              </a:spcBef>
              <a:spcAft>
                <a:spcPts val="0"/>
              </a:spcAft>
              <a:buSzPts val="1400"/>
              <a:buNone/>
            </a:pPr>
            <a:r>
              <a:t>| Token F1 | Harmonic mean of token precision/recall against references under the benchmark's scorer. |</a:t>
            </a:r>
            <a:endParaRPr/>
          </a:p>
          <a:p xmlns:a="http://schemas.openxmlformats.org/drawingml/2006/main">
            <a:pPr marL="0" lvl="0" indent="0" algn="l">
              <a:lnSpc>
                <a:spcPct val="100000"/>
              </a:lnSpc>
              <a:spcBef>
                <a:spcPts val="0"/>
              </a:spcBef>
              <a:spcAft>
                <a:spcPts val="0"/>
              </a:spcAft>
              <a:buSzPts val="1400"/>
              <a:buNone/>
            </a:pPr>
            <a:r>
              <a:t>| Recall@k | Fraction of required relevant evidence recovered in the top k, according to the evaluator's relevance definition. |</a:t>
            </a:r>
            <a:endParaRPr/>
          </a:p>
          <a:p xmlns:a="http://schemas.openxmlformats.org/drawingml/2006/main">
            <a:pPr marL="0" lvl="0" indent="0" algn="l">
              <a:lnSpc>
                <a:spcPct val="100000"/>
              </a:lnSpc>
              <a:spcBef>
                <a:spcPts val="0"/>
              </a:spcBef>
              <a:spcAft>
                <a:spcPts val="0"/>
              </a:spcAft>
              <a:buSzPts val="1400"/>
              <a:buNone/>
            </a:pPr>
            <a:r>
              <a:t>| MRR | Mean reciprocal rank of the first relevant result. |</a:t>
            </a:r>
            <a:endParaRPr/>
          </a:p>
          <a:p xmlns:a="http://schemas.openxmlformats.org/drawingml/2006/main">
            <a:pPr marL="0" lvl="0" indent="0" algn="l">
              <a:lnSpc>
                <a:spcPct val="100000"/>
              </a:lnSpc>
              <a:spcBef>
                <a:spcPts val="0"/>
              </a:spcBef>
              <a:spcAft>
                <a:spcPts val="0"/>
              </a:spcAft>
              <a:buSzPts val="1400"/>
              <a:buNone/>
            </a:pPr>
            <a:r>
              <a:t>| nDCG@k | Ranking quality using discounted relevance, normalized by the ideal ranking. |</a:t>
            </a:r>
            <a:endParaRPr/>
          </a:p>
          <a:p xmlns:a="http://schemas.openxmlformats.org/drawingml/2006/main">
            <a:pPr marL="0" lvl="0" indent="0" algn="l">
              <a:lnSpc>
                <a:spcPct val="100000"/>
              </a:lnSpc>
              <a:spcBef>
                <a:spcPts val="0"/>
              </a:spcBef>
              <a:spcAft>
                <a:spcPts val="0"/>
              </a:spcAft>
              <a:buSzPts val="1400"/>
              <a:buNone/>
            </a:pPr>
            <a:r>
              <a:t>| Candidate success | Whether required evidence entered the candidate set, under that runner's definition. Distinct from final evidence recall. |</a:t>
            </a:r>
            <a:endParaRPr/>
          </a:p>
          <a:p xmlns:a="http://schemas.openxmlformats.org/drawingml/2006/main">
            <a:pPr marL="0" lvl="0" indent="0" algn="l">
              <a:lnSpc>
                <a:spcPct val="100000"/>
              </a:lnSpc>
              <a:spcBef>
                <a:spcPts val="0"/>
              </a:spcBef>
              <a:spcAft>
                <a:spcPts val="0"/>
              </a:spcAft>
              <a:buSzPts val="1400"/>
              <a:buNone/>
            </a:pPr>
            <a:r>
              <a:t>| Emotion micro/macro F1 | Aggregate label decisions / equally weighted per-label performance in a multilabel task. |</a:t>
            </a:r>
            <a:endParaRPr/>
          </a:p>
          <a:p xmlns:a="http://schemas.openxmlformats.org/drawingml/2006/main">
            <a:pPr marL="0" lvl="0" indent="0" algn="l">
              <a:lnSpc>
                <a:spcPct val="100000"/>
              </a:lnSpc>
              <a:spcBef>
                <a:spcPts val="0"/>
              </a:spcBef>
              <a:spcAft>
                <a:spcPts val="0"/>
              </a:spcAft>
              <a:buSzPts val="1400"/>
              <a:buNone/>
            </a:pPr>
            <a:r>
              <a:t>| Coverage / abstention | How often the system answers versus declines, alongside error among answered cases. |</a:t>
            </a:r>
            <a:endParaRPr/>
          </a:p>
          <a:p xmlns:a="http://schemas.openxmlformats.org/drawingml/2006/main">
            <a:pPr marL="0" lvl="0" indent="0" algn="l">
              <a:lnSpc>
                <a:spcPct val="100000"/>
              </a:lnSpc>
              <a:spcBef>
                <a:spcPts val="0"/>
              </a:spcBef>
              <a:spcAft>
                <a:spcPts val="0"/>
              </a:spcAft>
              <a:buSzPts val="1400"/>
              <a:buNone/>
            </a:pPr>
            <a:r>
              <a:t>| Calibration | Whether confidence aligns with empirical correctness. Report the exact calibration metric and fitted split. |</a:t>
            </a:r>
            <a:endParaRPr/>
          </a:p>
          <a:p xmlns:a="http://schemas.openxmlformats.org/drawingml/2006/main">
            <a:pPr marL="0" lvl="0" indent="0" algn="l">
              <a:lnSpc>
                <a:spcPct val="100000"/>
              </a:lnSpc>
              <a:spcBef>
                <a:spcPts val="0"/>
              </a:spcBef>
              <a:spcAft>
                <a:spcPts val="0"/>
              </a:spcAft>
              <a:buSzPts val="1400"/>
              <a:buNone/>
            </a:pPr>
            <a:r>
              <a:t>| Reflection help/harm | Incorrect-to-correct and correct-to-incorrect changes from actual interventions. |</a:t>
            </a:r>
            <a:endParaRPr/>
          </a:p>
          <a:p xmlns:a="http://schemas.openxmlformats.org/drawingml/2006/main">
            <a:pPr marL="0" lvl="0" indent="0" algn="l">
              <a:lnSpc>
                <a:spcPct val="100000"/>
              </a:lnSpc>
              <a:spcBef>
                <a:spcPts val="0"/>
              </a:spcBef>
              <a:spcAft>
                <a:spcPts val="0"/>
              </a:spcAft>
              <a:buSzPts val="1400"/>
              <a:buNone/>
            </a:pPr>
            <a:r>
              <a:t>| Cost | Calls, tokens, latency, model/device load, memory/storage, and maintenance work.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HotpotQA use its native answer and supporting-fact metrics, including joint metrics where the runner supports them. For LoCoMo retain native category/answer/evidence accounting. GoEmotions measures the classification component, not the full QA wrapper. [E05, benchmark READMEs]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8.4 Avoid misleading result slides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Memory quality comparison has zero benchmark queries. Its zero metrics establish no retrieval improvement or preserved quality.</a:t>
            </a:r>
            <a:endParaRPr/>
          </a:p>
          <a:p xmlns:a="http://schemas.openxmlformats.org/drawingml/2006/main">
            <a:pPr marL="0" lvl="0" indent="0" algn="l">
              <a:lnSpc>
                <a:spcPct val="100000"/>
              </a:lnSpc>
              <a:spcBef>
                <a:spcPts val="0"/>
              </a:spcBef>
              <a:spcAft>
                <a:spcPts val="0"/>
              </a:spcAft>
              <a:buSzPts val="1400"/>
              <a:buNone/>
            </a:pPr>
            <a:r>
              <a:t>Memory formation report contains only two interactions, zero stored memories, two rejected memories. It is a narrow saved example, not retention-performance evidence.</a:t>
            </a:r>
            <a:endParaRPr/>
          </a:p>
          <a:p xmlns:a="http://schemas.openxmlformats.org/drawingml/2006/main">
            <a:pPr marL="0" lvl="0" indent="0" algn="l">
              <a:lnSpc>
                <a:spcPct val="100000"/>
              </a:lnSpc>
              <a:spcBef>
                <a:spcPts val="0"/>
              </a:spcBef>
              <a:spcAft>
                <a:spcPts val="0"/>
              </a:spcAft>
              <a:buSzPts val="1400"/>
              <a:buNone/>
            </a:pPr>
            <a:r>
              <a:t>A smoke fixture passing shows wiring/accounting. A sampled mode finishing shows completion only for its declared selection.</a:t>
            </a:r>
            <a:endParaRPr/>
          </a:p>
          <a:p xmlns:a="http://schemas.openxmlformats.org/drawingml/2006/main">
            <a:pPr marL="0" lvl="0" indent="0" algn="l">
              <a:lnSpc>
                <a:spcPct val="100000"/>
              </a:lnSpc>
              <a:spcBef>
                <a:spcPts val="0"/>
              </a:spcBef>
              <a:spcAft>
                <a:spcPts val="0"/>
              </a:spcAft>
              <a:buSzPts val="1400"/>
              <a:buNone/>
            </a:pPr>
            <a:r>
              <a:t>A passing launch estimate does not show that the full benchmark finished. A complete run can still have poor answer quality.</a:t>
            </a:r>
            <a:endParaRPr/>
          </a:p>
          <a:p xmlns:a="http://schemas.openxmlformats.org/drawingml/2006/main">
            <a:pPr marL="0" lvl="0" indent="0" algn="l">
              <a:lnSpc>
                <a:spcPct val="100000"/>
              </a:lnSpc>
              <a:spcBef>
                <a:spcPts val="0"/>
              </a:spcBef>
              <a:spcAft>
                <a:spcPts val="0"/>
              </a:spcAft>
              <a:buSzPts val="1400"/>
              <a:buNone/>
            </a:pPr>
            <a:r>
              <a:t>Package availability, module imports, and an architecture diagram do not prove the component ran.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8.5 How to address the template's 50% demonstration requirement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Agree on a finite module/demo checklist before assigning a percentage. Mark each item rehearsed with artifact, implemented but not rehearsed, or pending. Compute demonstrated coverage only from that agreed list. This document establishes preparation and evidence mapping, not a fabricated "50% complete" status. The previous review request requires the runnable scenario and visible comparison before marking the demonstration delivered.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C:/PRIMA_next/tests/runtime/test_canonical_contract.py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C:/PRIMA_next/tests/affect/test_affect_engine.py</a:t>
            </a:r>
            <a:endParaRPr/>
          </a:p>
          <a:p xmlns:a="http://schemas.openxmlformats.org/drawingml/2006/main">
            <a:pPr marL="0" lvl="0" indent="0" algn="l">
              <a:lnSpc>
                <a:spcPct val="100000"/>
              </a:lnSpc>
              <a:spcBef>
                <a:spcPts val="0"/>
              </a:spcBef>
              <a:spcAft>
                <a:spcPts val="0"/>
              </a:spcAft>
              <a:buSzPts val="1400"/>
              <a:buNone/>
            </a:pPr>
            <a:r>
              <a:t>C:/PRIMA_next/tests/affect/test_history_and_priors.py</a:t>
            </a:r>
            <a:endParaRPr/>
          </a:p>
          <a:p xmlns:a="http://schemas.openxmlformats.org/drawingml/2006/main">
            <a:pPr marL="0" lvl="0" indent="0" algn="l">
              <a:lnSpc>
                <a:spcPct val="100000"/>
              </a:lnSpc>
              <a:spcBef>
                <a:spcPts val="0"/>
              </a:spcBef>
              <a:spcAft>
                <a:spcPts val="0"/>
              </a:spcAft>
              <a:buSzPts val="1400"/>
              <a:buNone/>
            </a:pPr>
            <a:r>
              <a:t>C:/PRIMA_next/tests/memory/test_memory_formation.py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C:/PRIMA_next/tests/memory/test_importance_scoring.py</a:t>
            </a:r>
            <a:endParaRPr/>
          </a:p>
          <a:p xmlns:a="http://schemas.openxmlformats.org/drawingml/2006/main">
            <a:pPr marL="0" lvl="0" indent="0" algn="l">
              <a:lnSpc>
                <a:spcPct val="100000"/>
              </a:lnSpc>
              <a:spcBef>
                <a:spcPts val="0"/>
              </a:spcBef>
              <a:spcAft>
                <a:spcPts val="0"/>
              </a:spcAft>
              <a:buSzPts val="1400"/>
              <a:buNone/>
            </a:pPr>
            <a:r>
              <a:t>C:/PRIMA_next/tests/retrieval/test_phase07_retrieval_alignment.py</a:t>
            </a:r>
            <a:endParaRPr/>
          </a:p>
          <a:p xmlns:a="http://schemas.openxmlformats.org/drawingml/2006/main">
            <a:pPr marL="0" lvl="0" indent="0" algn="l">
              <a:lnSpc>
                <a:spcPct val="100000"/>
              </a:lnSpc>
              <a:spcBef>
                <a:spcPts val="0"/>
              </a:spcBef>
              <a:spcAft>
                <a:spcPts val="0"/>
              </a:spcAft>
              <a:buSzPts val="1400"/>
              <a:buNone/>
            </a:pPr>
            <a:r>
              <a:t>C:/PRIMA_next/tests/retrieval/test_temporal_routing.py</a:t>
            </a:r>
            <a:endParaRPr/>
          </a:p>
          <a:p xmlns:a="http://schemas.openxmlformats.org/drawingml/2006/main">
            <a:pPr marL="0" lvl="0" indent="0" algn="l">
              <a:lnSpc>
                <a:spcPct val="100000"/>
              </a:lnSpc>
              <a:spcBef>
                <a:spcPts val="0"/>
              </a:spcBef>
              <a:spcAft>
                <a:spcPts val="0"/>
              </a:spcAft>
              <a:buSzPts val="1400"/>
              <a:buNone/>
            </a:pPr>
            <a:r>
              <a:t>C:/PRIMA_next/tests/graph/test_graph_phase3.py</a:t>
            </a:r>
            <a:endParaRPr/>
          </a:p>
          <a:p xmlns:a="http://schemas.openxmlformats.org/drawingml/2006/main">
            <a:pPr marL="0" lvl="0" indent="0" algn="l">
              <a:lnSpc>
                <a:spcPct val="100000"/>
              </a:lnSpc>
              <a:spcBef>
                <a:spcPts val="0"/>
              </a:spcBef>
              <a:spcAft>
                <a:spcPts val="0"/>
              </a:spcAft>
              <a:buSzPts val="1400"/>
              <a:buNone/>
            </a:pPr>
            <a:r>
              <a:t>C:/PRIMA_next/tests/evolution/test_evolution_phase4.py</a:t>
            </a:r>
            <a:endParaRPr/>
          </a:p>
          <a:p xmlns:a="http://schemas.openxmlformats.org/drawingml/2006/main">
            <a:pPr marL="0" lvl="0" indent="0" algn="l">
              <a:lnSpc>
                <a:spcPct val="100000"/>
              </a:lnSpc>
              <a:spcBef>
                <a:spcPts val="0"/>
              </a:spcBef>
              <a:spcAft>
                <a:spcPts val="0"/>
              </a:spcAft>
              <a:buSzPts val="1400"/>
              <a:buNone/>
            </a:pPr>
            <a:r>
              <a:t>C:/PRIMA_next/tests/lineage/test_maintenance_phase5.py</a:t>
            </a:r>
            <a:endParaRPr/>
          </a:p>
          <a:p xmlns:a="http://schemas.openxmlformats.org/drawingml/2006/main">
            <a:pPr marL="0" lvl="0" indent="0" algn="l">
              <a:lnSpc>
                <a:spcPct val="100000"/>
              </a:lnSpc>
              <a:spcBef>
                <a:spcPts val="0"/>
              </a:spcBef>
              <a:spcAft>
                <a:spcPts val="0"/>
              </a:spcAft>
              <a:buSzPts val="1400"/>
              <a:buNone/>
            </a:pPr>
            <a:r>
              <a:t>C:/PRIMA_next/tests/reasoning/test_controller.py</a:t>
            </a:r>
            <a:endParaRPr/>
          </a:p>
          <a:p xmlns:a="http://schemas.openxmlformats.org/drawingml/2006/main">
            <a:pPr marL="0" lvl="0" indent="0" algn="l">
              <a:lnSpc>
                <a:spcPct val="100000"/>
              </a:lnSpc>
              <a:spcBef>
                <a:spcPts val="0"/>
              </a:spcBef>
              <a:spcAft>
                <a:spcPts val="0"/>
              </a:spcAft>
              <a:buSzPts val="1400"/>
              <a:buNone/>
            </a:pPr>
            <a:r>
              <a:t>C:/PRIMA_next/tests/reasoning/test_controller_boundaries.py</a:t>
            </a:r>
            <a:endParaRPr/>
          </a:p>
          <a:p xmlns:a="http://schemas.openxmlformats.org/drawingml/2006/main">
            <a:pPr marL="0" lvl="0" indent="0" algn="l">
              <a:lnSpc>
                <a:spcPct val="100000"/>
              </a:lnSpc>
              <a:spcBef>
                <a:spcPts val="0"/>
              </a:spcBef>
              <a:spcAft>
                <a:spcPts val="0"/>
              </a:spcAft>
              <a:buSzPts val="1400"/>
              <a:buNone/>
            </a:pPr>
            <a:r>
              <a:t>C:/PRIMA_next/tests/planning/test_planning_phase2.py</a:t>
            </a:r>
            <a:endParaRPr/>
          </a:p>
          <a:p xmlns:a="http://schemas.openxmlformats.org/drawingml/2006/main">
            <a:pPr marL="0" lvl="0" indent="0" algn="l">
              <a:lnSpc>
                <a:spcPct val="100000"/>
              </a:lnSpc>
              <a:spcBef>
                <a:spcPts val="0"/>
              </a:spcBef>
              <a:spcAft>
                <a:spcPts val="0"/>
              </a:spcAft>
              <a:buSzPts val="1400"/>
              <a:buNone/>
            </a:pPr>
            <a:r>
              <a:t>C:/PRIMA_next/tests/workflow/test_phase05_confidence_branch.py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C:/PRIMA_next/tests/reflection/test_reflection_pillar.py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C:/PRIMA_next/tests/test_llm_structured_output.py</a:t>
            </a:r>
            <a:endParaRPr/>
          </a:p>
          <a:p xmlns:a="http://schemas.openxmlformats.org/drawingml/2006/main">
            <a:pPr marL="0" lvl="0" indent="0" algn="l">
              <a:lnSpc>
                <a:spcPct val="100000"/>
              </a:lnSpc>
              <a:spcBef>
                <a:spcPts val="0"/>
              </a:spcBef>
              <a:spcAft>
                <a:spcPts val="0"/>
              </a:spcAft>
              <a:buSzPts val="1400"/>
              <a:buNone/>
            </a:pPr>
            <a:r>
              <a:t>C:/PRIMA_next/tests/test_answer_prompt_identity.py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a:p xmlns:a="http://schemas.openxmlformats.org/drawingml/2006/main">
            <a:pPr marL="0" lvl="0" indent="0" algn="l">
              <a:lnSpc>
                <a:spcPct val="100000"/>
              </a:lnSpc>
              <a:spcBef>
                <a:spcPts val="0"/>
              </a:spcBef>
              <a:spcAft>
                <a:spcPts val="0"/>
              </a:spcAft>
              <a:buSzPts val="1400"/>
              <a:buNone/>
            </a:pPr>
            <a:r>
              <a:t>C:/PRIMA_next/tests/benchmarks/test_campaign.py</a:t>
            </a:r>
            <a:endParaRPr/>
          </a:p>
          <a:p xmlns:a="http://schemas.openxmlformats.org/drawingml/2006/main">
            <a:pPr marL="0" lvl="0" indent="0" algn="l">
              <a:lnSpc>
                <a:spcPct val="100000"/>
              </a:lnSpc>
              <a:spcBef>
                <a:spcPts val="0"/>
              </a:spcBef>
              <a:spcAft>
                <a:spcPts val="0"/>
              </a:spcAft>
              <a:buSzPts val="1400"/>
              <a:buNone/>
            </a:pPr>
            <a:r>
              <a:t>C:/PRIMA_next/tests/benchmarks/test_campaign_comparison_hardening.py</a:t>
            </a:r>
            <a:endParaRPr/>
          </a:p>
          <a:p xmlns:a="http://schemas.openxmlformats.org/drawingml/2006/main">
            <a:pPr marL="0" lvl="0" indent="0" algn="l">
              <a:lnSpc>
                <a:spcPct val="100000"/>
              </a:lnSpc>
              <a:spcBef>
                <a:spcPts val="0"/>
              </a:spcBef>
              <a:spcAft>
                <a:spcPts val="0"/>
              </a:spcAft>
              <a:buSzPts val="1400"/>
              <a:buNone/>
            </a:pPr>
            <a:r>
              <a:t>C:/PRIMA_next/tests/benchmarks/test_kaggle_smoke.py</a:t>
            </a:r>
            <a:endParaRPr/>
          </a:p>
          <a:p xmlns:a="http://schemas.openxmlformats.org/drawingml/2006/main">
            <a:pPr marL="0" lvl="0" indent="0" algn="l">
              <a:lnSpc>
                <a:spcPct val="100000"/>
              </a:lnSpc>
              <a:spcBef>
                <a:spcPts val="0"/>
              </a:spcBef>
              <a:spcAft>
                <a:spcPts val="0"/>
              </a:spcAft>
              <a:buSzPts val="1400"/>
              <a:buNone/>
            </a:pPr>
            <a:r>
              <a:t>C:/PRIMA_next/evaluation/results/memory_quality_comparison.json</a:t>
            </a:r>
            <a:endParaRPr/>
          </a:p>
          <a:p xmlns:a="http://schemas.openxmlformats.org/drawingml/2006/main">
            <a:pPr marL="0" lvl="0" indent="0" algn="l">
              <a:lnSpc>
                <a:spcPct val="100000"/>
              </a:lnSpc>
              <a:spcBef>
                <a:spcPts val="0"/>
              </a:spcBef>
              <a:spcAft>
                <a:spcPts val="0"/>
              </a:spcAft>
              <a:buSzPts val="1400"/>
              <a:buNone/>
            </a:pPr>
            <a:r>
              <a:t>C:/PRIMA_next/evaluation/results/memory_formation_report.json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Evaluation metrics (2/2)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 Slide 7, part B: completed modules and testing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8.1 Completion matrix</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"Implemented" below means source/test scaffolding exists. It does not mean every path passed a fresh run or has demonstrated a benchmark improvement.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Module group | Implementation status | Existing verification to show | Remaining validation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Typed runtime/routes | Implemented | Contract tests, principal/control tests. | Fresh full route sweep and exported demo trace. |</a:t>
            </a:r>
            <a:endParaRPr/>
          </a:p>
          <a:p xmlns:a="http://schemas.openxmlformats.org/drawingml/2006/main">
            <a:pPr marL="0" lvl="0" indent="0" algn="l">
              <a:lnSpc>
                <a:spcPct val="100000"/>
              </a:lnSpc>
              <a:spcBef>
                <a:spcPts val="0"/>
              </a:spcBef>
              <a:spcAft>
                <a:spcPts val="0"/>
              </a:spcAft>
              <a:buSzPts val="1400"/>
              <a:buNone/>
            </a:pPr>
            <a:r>
              <a:t>| State management | Implemented | State ownership. | Cross-process persistence/commit-failure contract for service use. |</a:t>
            </a:r>
            <a:endParaRPr/>
          </a:p>
          <a:p xmlns:a="http://schemas.openxmlformats.org/drawingml/2006/main">
            <a:pPr marL="0" lvl="0" indent="0" algn="l">
              <a:lnSpc>
                <a:spcPct val="100000"/>
              </a:lnSpc>
              <a:spcBef>
                <a:spcPts val="0"/>
              </a:spcBef>
              <a:spcAft>
                <a:spcPts val="0"/>
              </a:spcAft>
              <a:buSzPts val="1400"/>
              <a:buNone/>
            </a:pPr>
            <a:r>
              <a:t>| Affect/PAD/history | Implemented; optional learned backend | Affect tests, history/prior tests. These are within the fresh passing subset. | Learned classifier quality and effect on agent outcomes. |</a:t>
            </a:r>
            <a:endParaRPr/>
          </a:p>
          <a:p xmlns:a="http://schemas.openxmlformats.org/drawingml/2006/main">
            <a:pPr marL="0" lvl="0" indent="0" algn="l">
              <a:lnSpc>
                <a:spcPct val="100000"/>
              </a:lnSpc>
              <a:spcBef>
                <a:spcPts val="0"/>
              </a:spcBef>
              <a:spcAft>
                <a:spcPts val="0"/>
              </a:spcAft>
              <a:buSzPts val="1400"/>
              <a:buNone/>
            </a:pPr>
            <a:r>
              <a:t>| Memory/storage/admission | Implemented | Memory formation, admission, importance. | Useful retention under real histories and isolation requirements. |</a:t>
            </a:r>
            <a:endParaRPr/>
          </a:p>
          <a:p xmlns:a="http://schemas.openxmlformats.org/drawingml/2006/main">
            <a:pPr marL="0" lvl="0" indent="0" algn="l">
              <a:lnSpc>
                <a:spcPct val="100000"/>
              </a:lnSpc>
              <a:spcBef>
                <a:spcPts val="0"/>
              </a:spcBef>
              <a:spcAft>
                <a:spcPts val="0"/>
              </a:spcAft>
              <a:buSzPts val="1400"/>
              <a:buNone/>
            </a:pPr>
            <a:r>
              <a:t>| Hybrid retrieval/reranking/compression | Implemented | Retrieval alignment, temporal. Saved subset metrics in E07/E08. | Fresh complete held-out retrieval/QA results with fixed provenance. |</a:t>
            </a:r>
            <a:endParaRPr/>
          </a:p>
          <a:p xmlns:a="http://schemas.openxmlformats.org/drawingml/2006/main">
            <a:pPr marL="0" lvl="0" indent="0" algn="l">
              <a:lnSpc>
                <a:spcPct val="100000"/>
              </a:lnSpc>
              <a:spcBef>
                <a:spcPts val="0"/>
              </a:spcBef>
              <a:spcAft>
                <a:spcPts val="0"/>
              </a:spcAft>
              <a:buSzPts val="1400"/>
              <a:buNone/>
            </a:pPr>
            <a:r>
              <a:t>| Graph/index/evolution/lineage | Implemented | Graph tests, evolution, lineage. | Repeated derivation idempotency and stale-edge correction noted in E04. |</a:t>
            </a:r>
            <a:endParaRPr/>
          </a:p>
          <a:p xmlns:a="http://schemas.openxmlformats.org/drawingml/2006/main">
            <a:pPr marL="0" lvl="0" indent="0" algn="l">
              <a:lnSpc>
                <a:spcPct val="100000"/>
              </a:lnSpc>
              <a:spcBef>
                <a:spcPts val="0"/>
              </a:spcBef>
              <a:spcAft>
                <a:spcPts val="0"/>
              </a:spcAft>
              <a:buSzPts val="1400"/>
              <a:buNone/>
            </a:pPr>
            <a:r>
              <a:t>| Reasoning/sufficiency | Implemented, bounded heuristic | Controller, boundaries. | False abstention and unsupported-answer rates on held-out relation/paraphrase cases. |</a:t>
            </a:r>
            <a:endParaRPr/>
          </a:p>
          <a:p xmlns:a="http://schemas.openxmlformats.org/drawingml/2006/main">
            <a:pPr marL="0" lvl="0" indent="0" algn="l">
              <a:lnSpc>
                <a:spcPct val="100000"/>
              </a:lnSpc>
              <a:spcBef>
                <a:spcPts val="0"/>
              </a:spcBef>
              <a:spcAft>
                <a:spcPts val="0"/>
              </a:spcAft>
              <a:buSzPts val="1400"/>
              <a:buNone/>
            </a:pPr>
            <a:r>
              <a:t>| Planning/world | Implemented symbolic path | Planning tests, full trace assertions in release tests. | Prediction usefulness against actual outcomes. |</a:t>
            </a:r>
            <a:endParaRPr/>
          </a:p>
          <a:p xmlns:a="http://schemas.openxmlformats.org/drawingml/2006/main">
            <a:pPr marL="0" lvl="0" indent="0" algn="l">
              <a:lnSpc>
                <a:spcPct val="100000"/>
              </a:lnSpc>
              <a:spcBef>
                <a:spcPts val="0"/>
              </a:spcBef>
              <a:spcAft>
                <a:spcPts val="0"/>
              </a:spcAft>
              <a:buSzPts val="1400"/>
              <a:buNone/>
            </a:pPr>
            <a:r>
              <a:t>| Uncertainty/reflection | Implemented, bounded corrections | Confidence branch, correction loop, reflection. | Calibrated confidence, actual helped/harmed answer counts. |</a:t>
            </a:r>
            <a:endParaRPr/>
          </a:p>
          <a:p xmlns:a="http://schemas.openxmlformats.org/drawingml/2006/main">
            <a:pPr marL="0" lvl="0" indent="0" algn="l">
              <a:lnSpc>
                <a:spcPct val="100000"/>
              </a:lnSpc>
              <a:spcBef>
                <a:spcPts val="0"/>
              </a:spcBef>
              <a:spcAft>
                <a:spcPts val="0"/>
              </a:spcAft>
              <a:buSzPts val="1400"/>
              <a:buNone/>
            </a:pPr>
            <a:r>
              <a:t>| Tools/actions | Implemented application policy | Action/tool tests. | Real handler timeout/idempotency/isolation guarantees where needed. |</a:t>
            </a:r>
            <a:endParaRPr/>
          </a:p>
          <a:p xmlns:a="http://schemas.openxmlformats.org/drawingml/2006/main">
            <a:pPr marL="0" lvl="0" indent="0" algn="l">
              <a:lnSpc>
                <a:spcPct val="100000"/>
              </a:lnSpc>
              <a:spcBef>
                <a:spcPts val="0"/>
              </a:spcBef>
              <a:spcAft>
                <a:spcPts val="0"/>
              </a:spcAft>
              <a:buSzPts val="1400"/>
              <a:buNone/>
            </a:pPr>
            <a:r>
              <a:t>| Generation/schema/output | Implemented provider boundary | Structured output, prompt identity, release fault cases. | Endpoint-specific integration and evidence support quality. |</a:t>
            </a:r>
            <a:endParaRPr/>
          </a:p>
          <a:p xmlns:a="http://schemas.openxmlformats.org/drawingml/2006/main">
            <a:pPr marL="0" lvl="0" indent="0" algn="l">
              <a:lnSpc>
                <a:spcPct val="100000"/>
              </a:lnSpc>
              <a:spcBef>
                <a:spcPts val="0"/>
              </a:spcBef>
              <a:spcAft>
                <a:spcPts val="0"/>
              </a:spcAft>
              <a:buSzPts val="1400"/>
              <a:buNone/>
            </a:pPr>
            <a:r>
              <a:t>| Events/maintenance | Implemented bounded cold path | Background maintenance, events, barriers. | Recovery of admitted work after process crash. |</a:t>
            </a:r>
            <a:endParaRPr/>
          </a:p>
          <a:p xmlns:a="http://schemas.openxmlformats.org/drawingml/2006/main">
            <a:pPr marL="0" lvl="0" indent="0" algn="l">
              <a:lnSpc>
                <a:spcPct val="100000"/>
              </a:lnSpc>
              <a:spcBef>
                <a:spcPts val="0"/>
              </a:spcBef>
              <a:spcAft>
                <a:spcPts val="0"/>
              </a:spcAft>
              <a:buSzPts val="1400"/>
              <a:buNone/>
            </a:pPr>
            <a:r>
              <a:t>| Benchmark campaigns | Implemented adapters/checkpoints/comparison | Campaign, comparison hardening, Kaggle smoke. | Complete real-provider source coverage and validated archives.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8.2 Fresh checks performed for this document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10 October 2026 the following command completed: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``powershell</a:t>
            </a:r>
            <a:endParaRPr/>
          </a:p>
          <a:p xmlns:a="http://schemas.openxmlformats.org/drawingml/2006/main">
            <a:pPr marL="0" lvl="0" indent="0" algn="l">
              <a:lnSpc>
                <a:spcPct val="100000"/>
              </a:lnSpc>
              <a:spcBef>
                <a:spcPts val="0"/>
              </a:spcBef>
              <a:spcAft>
                <a:spcPts val="0"/>
              </a:spcAft>
              <a:buSzPts val="1400"/>
              <a:buNone/>
            </a:pPr>
            <a:r>
              <a:t>Set-Location C:\PRIMA_next</a:t>
            </a:r>
            <a:endParaRPr/>
          </a:p>
          <a:p xmlns:a="http://schemas.openxmlformats.org/drawingml/2006/main">
            <a:pPr marL="0" lvl="0" indent="0" algn="l">
              <a:lnSpc>
                <a:spcPct val="100000"/>
              </a:lnSpc>
              <a:spcBef>
                <a:spcPts val="0"/>
              </a:spcBef>
              <a:spcAft>
                <a:spcPts val="0"/>
              </a:spcAft>
              <a:buSzPts val="1400"/>
              <a:buNone/>
            </a:pPr>
            <a:r>
              <a:t>.\.venv\Scripts\python.exe -m pytest tests/affect tests/test_goemotions_benchmark.py tests/retrieval/test_recall_metrics.py tests/retrieval/test_mrr_metrics.py tests/retrieval/test_ndcg_metrics.py -q --basetemp=C:/PRIMA_next/pytest-tmp/mentor-review-sync</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Observed output: 25 passed in 1.87s`. The launcher also printed a warning that it could not find the real base-interpreter location. Tests still completed. These tests establish their covered affect/data/metric behavior, not end-to-end QA quality.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 broader selected run covering runtime, workflow, integration, memory, retrieval, planning, reasoning, reflection, tools, and events did not finish. It printed five progress dots without a final summary and was interrupted. No new whole-suite pass is claimed. The earlier October 7 audit reports Windows asyncio socket-pair stalls, but this preparation did not capture a fresh stack trace to independently assign the same cause. [E04]</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Historical lint/type/complexity/security results in E04/E09 remain dated evidence. CI configuration exists, but its current remote status was not queried. Fresh Ruff/Mypy/Bandit/Xenon checks were not run for this documentation-only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8.3 Metrics to explain accurately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Metric | Meaning and suitable use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Exact match | Normalized predicted answer equals an accepted reference answer. |</a:t>
            </a:r>
            <a:endParaRPr/>
          </a:p>
          <a:p xmlns:a="http://schemas.openxmlformats.org/drawingml/2006/main">
            <a:pPr marL="0" lvl="0" indent="0" algn="l">
              <a:lnSpc>
                <a:spcPct val="100000"/>
              </a:lnSpc>
              <a:spcBef>
                <a:spcPts val="0"/>
              </a:spcBef>
              <a:spcAft>
                <a:spcPts val="0"/>
              </a:spcAft>
              <a:buSzPts val="1400"/>
              <a:buNone/>
            </a:pPr>
            <a:r>
              <a:t>| Token F1 | Harmonic mean of token precision/recall against references under the benchmark's scorer. |</a:t>
            </a:r>
            <a:endParaRPr/>
          </a:p>
          <a:p xmlns:a="http://schemas.openxmlformats.org/drawingml/2006/main">
            <a:pPr marL="0" lvl="0" indent="0" algn="l">
              <a:lnSpc>
                <a:spcPct val="100000"/>
              </a:lnSpc>
              <a:spcBef>
                <a:spcPts val="0"/>
              </a:spcBef>
              <a:spcAft>
                <a:spcPts val="0"/>
              </a:spcAft>
              <a:buSzPts val="1400"/>
              <a:buNone/>
            </a:pPr>
            <a:r>
              <a:t>| Recall@k | Fraction of required relevant evidence recovered in the top k, according to the evaluator's relevance definition. |</a:t>
            </a:r>
            <a:endParaRPr/>
          </a:p>
          <a:p xmlns:a="http://schemas.openxmlformats.org/drawingml/2006/main">
            <a:pPr marL="0" lvl="0" indent="0" algn="l">
              <a:lnSpc>
                <a:spcPct val="100000"/>
              </a:lnSpc>
              <a:spcBef>
                <a:spcPts val="0"/>
              </a:spcBef>
              <a:spcAft>
                <a:spcPts val="0"/>
              </a:spcAft>
              <a:buSzPts val="1400"/>
              <a:buNone/>
            </a:pPr>
            <a:r>
              <a:t>| MRR | Mean reciprocal rank of the first relevant result. |</a:t>
            </a:r>
            <a:endParaRPr/>
          </a:p>
          <a:p xmlns:a="http://schemas.openxmlformats.org/drawingml/2006/main">
            <a:pPr marL="0" lvl="0" indent="0" algn="l">
              <a:lnSpc>
                <a:spcPct val="100000"/>
              </a:lnSpc>
              <a:spcBef>
                <a:spcPts val="0"/>
              </a:spcBef>
              <a:spcAft>
                <a:spcPts val="0"/>
              </a:spcAft>
              <a:buSzPts val="1400"/>
              <a:buNone/>
            </a:pPr>
            <a:r>
              <a:t>| nDCG@k | Ranking quality using discounted relevance, normalized by the ideal ranking. |</a:t>
            </a:r>
            <a:endParaRPr/>
          </a:p>
          <a:p xmlns:a="http://schemas.openxmlformats.org/drawingml/2006/main">
            <a:pPr marL="0" lvl="0" indent="0" algn="l">
              <a:lnSpc>
                <a:spcPct val="100000"/>
              </a:lnSpc>
              <a:spcBef>
                <a:spcPts val="0"/>
              </a:spcBef>
              <a:spcAft>
                <a:spcPts val="0"/>
              </a:spcAft>
              <a:buSzPts val="1400"/>
              <a:buNone/>
            </a:pPr>
            <a:r>
              <a:t>| Candidate success | Whether required evidence entered the candidate set, under that runner's definition. Distinct from final evidence recall. |</a:t>
            </a:r>
            <a:endParaRPr/>
          </a:p>
          <a:p xmlns:a="http://schemas.openxmlformats.org/drawingml/2006/main">
            <a:pPr marL="0" lvl="0" indent="0" algn="l">
              <a:lnSpc>
                <a:spcPct val="100000"/>
              </a:lnSpc>
              <a:spcBef>
                <a:spcPts val="0"/>
              </a:spcBef>
              <a:spcAft>
                <a:spcPts val="0"/>
              </a:spcAft>
              <a:buSzPts val="1400"/>
              <a:buNone/>
            </a:pPr>
            <a:r>
              <a:t>| Emotion micro/macro F1 | Aggregate label decisions / equally weighted per-label performance in a multilabel task. |</a:t>
            </a:r>
            <a:endParaRPr/>
          </a:p>
          <a:p xmlns:a="http://schemas.openxmlformats.org/drawingml/2006/main">
            <a:pPr marL="0" lvl="0" indent="0" algn="l">
              <a:lnSpc>
                <a:spcPct val="100000"/>
              </a:lnSpc>
              <a:spcBef>
                <a:spcPts val="0"/>
              </a:spcBef>
              <a:spcAft>
                <a:spcPts val="0"/>
              </a:spcAft>
              <a:buSzPts val="1400"/>
              <a:buNone/>
            </a:pPr>
            <a:r>
              <a:t>| Coverage / abstention | How often the system answers versus declines, alongside error among answered cases. |</a:t>
            </a:r>
            <a:endParaRPr/>
          </a:p>
          <a:p xmlns:a="http://schemas.openxmlformats.org/drawingml/2006/main">
            <a:pPr marL="0" lvl="0" indent="0" algn="l">
              <a:lnSpc>
                <a:spcPct val="100000"/>
              </a:lnSpc>
              <a:spcBef>
                <a:spcPts val="0"/>
              </a:spcBef>
              <a:spcAft>
                <a:spcPts val="0"/>
              </a:spcAft>
              <a:buSzPts val="1400"/>
              <a:buNone/>
            </a:pPr>
            <a:r>
              <a:t>| Calibration | Whether confidence aligns with empirical correctness. Report the exact calibration metric and fitted split. |</a:t>
            </a:r>
            <a:endParaRPr/>
          </a:p>
          <a:p xmlns:a="http://schemas.openxmlformats.org/drawingml/2006/main">
            <a:pPr marL="0" lvl="0" indent="0" algn="l">
              <a:lnSpc>
                <a:spcPct val="100000"/>
              </a:lnSpc>
              <a:spcBef>
                <a:spcPts val="0"/>
              </a:spcBef>
              <a:spcAft>
                <a:spcPts val="0"/>
              </a:spcAft>
              <a:buSzPts val="1400"/>
              <a:buNone/>
            </a:pPr>
            <a:r>
              <a:t>| Reflection help/harm | Incorrect-to-correct and correct-to-incorrect changes from actual interventions. |</a:t>
            </a:r>
            <a:endParaRPr/>
          </a:p>
          <a:p xmlns:a="http://schemas.openxmlformats.org/drawingml/2006/main">
            <a:pPr marL="0" lvl="0" indent="0" algn="l">
              <a:lnSpc>
                <a:spcPct val="100000"/>
              </a:lnSpc>
              <a:spcBef>
                <a:spcPts val="0"/>
              </a:spcBef>
              <a:spcAft>
                <a:spcPts val="0"/>
              </a:spcAft>
              <a:buSzPts val="1400"/>
              <a:buNone/>
            </a:pPr>
            <a:r>
              <a:t>| Cost | Calls, tokens, latency, model/device load, memory/storage, and maintenance work.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HotpotQA use its native answer and supporting-fact metrics, including joint metrics where the runner supports them. For LoCoMo retain native category/answer/evidence accounting. GoEmotions measures the classification component, not the full QA wrapper. [E05, benchmark READMEs]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8.4 Avoid misleading result slides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Memory quality comparison has zero benchmark queries. Its zero metrics establish no retrieval improvement or preserved quality.</a:t>
            </a:r>
            <a:endParaRPr/>
          </a:p>
          <a:p xmlns:a="http://schemas.openxmlformats.org/drawingml/2006/main">
            <a:pPr marL="0" lvl="0" indent="0" algn="l">
              <a:lnSpc>
                <a:spcPct val="100000"/>
              </a:lnSpc>
              <a:spcBef>
                <a:spcPts val="0"/>
              </a:spcBef>
              <a:spcAft>
                <a:spcPts val="0"/>
              </a:spcAft>
              <a:buSzPts val="1400"/>
              <a:buNone/>
            </a:pPr>
            <a:r>
              <a:t>Memory formation report contains only two interactions, zero stored memories, two rejected memories. It is a narrow saved example, not retention-performance evidence.</a:t>
            </a:r>
            <a:endParaRPr/>
          </a:p>
          <a:p xmlns:a="http://schemas.openxmlformats.org/drawingml/2006/main">
            <a:pPr marL="0" lvl="0" indent="0" algn="l">
              <a:lnSpc>
                <a:spcPct val="100000"/>
              </a:lnSpc>
              <a:spcBef>
                <a:spcPts val="0"/>
              </a:spcBef>
              <a:spcAft>
                <a:spcPts val="0"/>
              </a:spcAft>
              <a:buSzPts val="1400"/>
              <a:buNone/>
            </a:pPr>
            <a:r>
              <a:t>A smoke fixture passing shows wiring/accounting. A sampled mode finishing shows completion only for its declared selection.</a:t>
            </a:r>
            <a:endParaRPr/>
          </a:p>
          <a:p xmlns:a="http://schemas.openxmlformats.org/drawingml/2006/main">
            <a:pPr marL="0" lvl="0" indent="0" algn="l">
              <a:lnSpc>
                <a:spcPct val="100000"/>
              </a:lnSpc>
              <a:spcBef>
                <a:spcPts val="0"/>
              </a:spcBef>
              <a:spcAft>
                <a:spcPts val="0"/>
              </a:spcAft>
              <a:buSzPts val="1400"/>
              <a:buNone/>
            </a:pPr>
            <a:r>
              <a:t>A passing launch estimate does not show that the full benchmark finished. A complete run can still have poor answer quality.</a:t>
            </a:r>
            <a:endParaRPr/>
          </a:p>
          <a:p xmlns:a="http://schemas.openxmlformats.org/drawingml/2006/main">
            <a:pPr marL="0" lvl="0" indent="0" algn="l">
              <a:lnSpc>
                <a:spcPct val="100000"/>
              </a:lnSpc>
              <a:spcBef>
                <a:spcPts val="0"/>
              </a:spcBef>
              <a:spcAft>
                <a:spcPts val="0"/>
              </a:spcAft>
              <a:buSzPts val="1400"/>
              <a:buNone/>
            </a:pPr>
            <a:r>
              <a:t>Package availability, module imports, and an architecture diagram do not prove the component ran.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8.5 How to address the template's 50% demonstration requirement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Agree on a finite module/demo checklist before assigning a percentage. Mark each item rehearsed with artifact, implemented but not rehearsed, or pending. Compute demonstrated coverage only from that agreed list. This document establishes preparation and evidence mapping, not a fabricated "50% complete" status. The previous review request requires the runnable scenario and visible comparison before marking the demonstration delivered.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C:/PRIMA_next/tests/runtime/test_canonical_contract.py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C:/PRIMA_next/tests/affect/test_affect_engine.py</a:t>
            </a:r>
            <a:endParaRPr/>
          </a:p>
          <a:p xmlns:a="http://schemas.openxmlformats.org/drawingml/2006/main">
            <a:pPr marL="0" lvl="0" indent="0" algn="l">
              <a:lnSpc>
                <a:spcPct val="100000"/>
              </a:lnSpc>
              <a:spcBef>
                <a:spcPts val="0"/>
              </a:spcBef>
              <a:spcAft>
                <a:spcPts val="0"/>
              </a:spcAft>
              <a:buSzPts val="1400"/>
              <a:buNone/>
            </a:pPr>
            <a:r>
              <a:t>C:/PRIMA_next/tests/affect/test_history_and_priors.py</a:t>
            </a:r>
            <a:endParaRPr/>
          </a:p>
          <a:p xmlns:a="http://schemas.openxmlformats.org/drawingml/2006/main">
            <a:pPr marL="0" lvl="0" indent="0" algn="l">
              <a:lnSpc>
                <a:spcPct val="100000"/>
              </a:lnSpc>
              <a:spcBef>
                <a:spcPts val="0"/>
              </a:spcBef>
              <a:spcAft>
                <a:spcPts val="0"/>
              </a:spcAft>
              <a:buSzPts val="1400"/>
              <a:buNone/>
            </a:pPr>
            <a:r>
              <a:t>C:/PRIMA_next/tests/memory/test_memory_formation.py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C:/PRIMA_next/tests/memory/test_importance_scoring.py</a:t>
            </a:r>
            <a:endParaRPr/>
          </a:p>
          <a:p xmlns:a="http://schemas.openxmlformats.org/drawingml/2006/main">
            <a:pPr marL="0" lvl="0" indent="0" algn="l">
              <a:lnSpc>
                <a:spcPct val="100000"/>
              </a:lnSpc>
              <a:spcBef>
                <a:spcPts val="0"/>
              </a:spcBef>
              <a:spcAft>
                <a:spcPts val="0"/>
              </a:spcAft>
              <a:buSzPts val="1400"/>
              <a:buNone/>
            </a:pPr>
            <a:r>
              <a:t>C:/PRIMA_next/tests/retrieval/test_phase07_retrieval_alignment.py</a:t>
            </a:r>
            <a:endParaRPr/>
          </a:p>
          <a:p xmlns:a="http://schemas.openxmlformats.org/drawingml/2006/main">
            <a:pPr marL="0" lvl="0" indent="0" algn="l">
              <a:lnSpc>
                <a:spcPct val="100000"/>
              </a:lnSpc>
              <a:spcBef>
                <a:spcPts val="0"/>
              </a:spcBef>
              <a:spcAft>
                <a:spcPts val="0"/>
              </a:spcAft>
              <a:buSzPts val="1400"/>
              <a:buNone/>
            </a:pPr>
            <a:r>
              <a:t>C:/PRIMA_next/tests/retrieval/test_temporal_routing.py</a:t>
            </a:r>
            <a:endParaRPr/>
          </a:p>
          <a:p xmlns:a="http://schemas.openxmlformats.org/drawingml/2006/main">
            <a:pPr marL="0" lvl="0" indent="0" algn="l">
              <a:lnSpc>
                <a:spcPct val="100000"/>
              </a:lnSpc>
              <a:spcBef>
                <a:spcPts val="0"/>
              </a:spcBef>
              <a:spcAft>
                <a:spcPts val="0"/>
              </a:spcAft>
              <a:buSzPts val="1400"/>
              <a:buNone/>
            </a:pPr>
            <a:r>
              <a:t>C:/PRIMA_next/tests/graph/test_graph_phase3.py</a:t>
            </a:r>
            <a:endParaRPr/>
          </a:p>
          <a:p xmlns:a="http://schemas.openxmlformats.org/drawingml/2006/main">
            <a:pPr marL="0" lvl="0" indent="0" algn="l">
              <a:lnSpc>
                <a:spcPct val="100000"/>
              </a:lnSpc>
              <a:spcBef>
                <a:spcPts val="0"/>
              </a:spcBef>
              <a:spcAft>
                <a:spcPts val="0"/>
              </a:spcAft>
              <a:buSzPts val="1400"/>
              <a:buNone/>
            </a:pPr>
            <a:r>
              <a:t>C:/PRIMA_next/tests/evolution/test_evolution_phase4.py</a:t>
            </a:r>
            <a:endParaRPr/>
          </a:p>
          <a:p xmlns:a="http://schemas.openxmlformats.org/drawingml/2006/main">
            <a:pPr marL="0" lvl="0" indent="0" algn="l">
              <a:lnSpc>
                <a:spcPct val="100000"/>
              </a:lnSpc>
              <a:spcBef>
                <a:spcPts val="0"/>
              </a:spcBef>
              <a:spcAft>
                <a:spcPts val="0"/>
              </a:spcAft>
              <a:buSzPts val="1400"/>
              <a:buNone/>
            </a:pPr>
            <a:r>
              <a:t>C:/PRIMA_next/tests/lineage/test_maintenance_phase5.py</a:t>
            </a:r>
            <a:endParaRPr/>
          </a:p>
          <a:p xmlns:a="http://schemas.openxmlformats.org/drawingml/2006/main">
            <a:pPr marL="0" lvl="0" indent="0" algn="l">
              <a:lnSpc>
                <a:spcPct val="100000"/>
              </a:lnSpc>
              <a:spcBef>
                <a:spcPts val="0"/>
              </a:spcBef>
              <a:spcAft>
                <a:spcPts val="0"/>
              </a:spcAft>
              <a:buSzPts val="1400"/>
              <a:buNone/>
            </a:pPr>
            <a:r>
              <a:t>C:/PRIMA_next/tests/reasoning/test_controller.py</a:t>
            </a:r>
            <a:endParaRPr/>
          </a:p>
          <a:p xmlns:a="http://schemas.openxmlformats.org/drawingml/2006/main">
            <a:pPr marL="0" lvl="0" indent="0" algn="l">
              <a:lnSpc>
                <a:spcPct val="100000"/>
              </a:lnSpc>
              <a:spcBef>
                <a:spcPts val="0"/>
              </a:spcBef>
              <a:spcAft>
                <a:spcPts val="0"/>
              </a:spcAft>
              <a:buSzPts val="1400"/>
              <a:buNone/>
            </a:pPr>
            <a:r>
              <a:t>C:/PRIMA_next/tests/reasoning/test_controller_boundaries.py</a:t>
            </a:r>
            <a:endParaRPr/>
          </a:p>
          <a:p xmlns:a="http://schemas.openxmlformats.org/drawingml/2006/main">
            <a:pPr marL="0" lvl="0" indent="0" algn="l">
              <a:lnSpc>
                <a:spcPct val="100000"/>
              </a:lnSpc>
              <a:spcBef>
                <a:spcPts val="0"/>
              </a:spcBef>
              <a:spcAft>
                <a:spcPts val="0"/>
              </a:spcAft>
              <a:buSzPts val="1400"/>
              <a:buNone/>
            </a:pPr>
            <a:r>
              <a:t>C:/PRIMA_next/tests/planning/test_planning_phase2.py</a:t>
            </a:r>
            <a:endParaRPr/>
          </a:p>
          <a:p xmlns:a="http://schemas.openxmlformats.org/drawingml/2006/main">
            <a:pPr marL="0" lvl="0" indent="0" algn="l">
              <a:lnSpc>
                <a:spcPct val="100000"/>
              </a:lnSpc>
              <a:spcBef>
                <a:spcPts val="0"/>
              </a:spcBef>
              <a:spcAft>
                <a:spcPts val="0"/>
              </a:spcAft>
              <a:buSzPts val="1400"/>
              <a:buNone/>
            </a:pPr>
            <a:r>
              <a:t>C:/PRIMA_next/tests/workflow/test_phase05_confidence_branch.py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C:/PRIMA_next/tests/reflection/test_reflection_pillar.py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C:/PRIMA_next/tests/test_llm_structured_output.py</a:t>
            </a:r>
            <a:endParaRPr/>
          </a:p>
          <a:p xmlns:a="http://schemas.openxmlformats.org/drawingml/2006/main">
            <a:pPr marL="0" lvl="0" indent="0" algn="l">
              <a:lnSpc>
                <a:spcPct val="100000"/>
              </a:lnSpc>
              <a:spcBef>
                <a:spcPts val="0"/>
              </a:spcBef>
              <a:spcAft>
                <a:spcPts val="0"/>
              </a:spcAft>
              <a:buSzPts val="1400"/>
              <a:buNone/>
            </a:pPr>
            <a:r>
              <a:t>C:/PRIMA_next/tests/test_answer_prompt_identity.py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a:p xmlns:a="http://schemas.openxmlformats.org/drawingml/2006/main">
            <a:pPr marL="0" lvl="0" indent="0" algn="l">
              <a:lnSpc>
                <a:spcPct val="100000"/>
              </a:lnSpc>
              <a:spcBef>
                <a:spcPts val="0"/>
              </a:spcBef>
              <a:spcAft>
                <a:spcPts val="0"/>
              </a:spcAft>
              <a:buSzPts val="1400"/>
              <a:buNone/>
            </a:pPr>
            <a:r>
              <a:t>C:/PRIMA_next/tests/benchmarks/test_campaign.py</a:t>
            </a:r>
            <a:endParaRPr/>
          </a:p>
          <a:p xmlns:a="http://schemas.openxmlformats.org/drawingml/2006/main">
            <a:pPr marL="0" lvl="0" indent="0" algn="l">
              <a:lnSpc>
                <a:spcPct val="100000"/>
              </a:lnSpc>
              <a:spcBef>
                <a:spcPts val="0"/>
              </a:spcBef>
              <a:spcAft>
                <a:spcPts val="0"/>
              </a:spcAft>
              <a:buSzPts val="1400"/>
              <a:buNone/>
            </a:pPr>
            <a:r>
              <a:t>C:/PRIMA_next/tests/benchmarks/test_campaign_comparison_hardening.py</a:t>
            </a:r>
            <a:endParaRPr/>
          </a:p>
          <a:p xmlns:a="http://schemas.openxmlformats.org/drawingml/2006/main">
            <a:pPr marL="0" lvl="0" indent="0" algn="l">
              <a:lnSpc>
                <a:spcPct val="100000"/>
              </a:lnSpc>
              <a:spcBef>
                <a:spcPts val="0"/>
              </a:spcBef>
              <a:spcAft>
                <a:spcPts val="0"/>
              </a:spcAft>
              <a:buSzPts val="1400"/>
              <a:buNone/>
            </a:pPr>
            <a:r>
              <a:t>C:/PRIMA_next/tests/benchmarks/test_kaggle_smoke.py</a:t>
            </a:r>
            <a:endParaRPr/>
          </a:p>
          <a:p xmlns:a="http://schemas.openxmlformats.org/drawingml/2006/main">
            <a:pPr marL="0" lvl="0" indent="0" algn="l">
              <a:lnSpc>
                <a:spcPct val="100000"/>
              </a:lnSpc>
              <a:spcBef>
                <a:spcPts val="0"/>
              </a:spcBef>
              <a:spcAft>
                <a:spcPts val="0"/>
              </a:spcAft>
              <a:buSzPts val="1400"/>
              <a:buNone/>
            </a:pPr>
            <a:r>
              <a:t>C:/PRIMA_next/evaluation/results/memory_quality_comparison.json</a:t>
            </a:r>
            <a:endParaRPr/>
          </a:p>
          <a:p xmlns:a="http://schemas.openxmlformats.org/drawingml/2006/main">
            <a:pPr marL="0" lvl="0" indent="0" algn="l">
              <a:lnSpc>
                <a:spcPct val="100000"/>
              </a:lnSpc>
              <a:spcBef>
                <a:spcPts val="0"/>
              </a:spcBef>
              <a:spcAft>
                <a:spcPts val="0"/>
              </a:spcAft>
              <a:buSzPts val="1400"/>
              <a:buNone/>
            </a:pPr>
            <a:r>
              <a:t>C:/PRIMA_next/evaluation/results/memory_formation_report.json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Benchmark attribution and demonstration coverage (1/2)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 Slide 7, part B: completed modules and testing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8.1 Completion matrix</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"Implemented" below means source/test scaffolding exists. It does not mean every path passed a fresh run or has demonstrated a benchmark improvement.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Module group | Implementation status | Existing verification to show | Remaining validation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Typed runtime/routes | Implemented | Contract tests, principal/control tests. | Fresh full route sweep and exported demo trace. |</a:t>
            </a:r>
            <a:endParaRPr/>
          </a:p>
          <a:p xmlns:a="http://schemas.openxmlformats.org/drawingml/2006/main">
            <a:pPr marL="0" lvl="0" indent="0" algn="l">
              <a:lnSpc>
                <a:spcPct val="100000"/>
              </a:lnSpc>
              <a:spcBef>
                <a:spcPts val="0"/>
              </a:spcBef>
              <a:spcAft>
                <a:spcPts val="0"/>
              </a:spcAft>
              <a:buSzPts val="1400"/>
              <a:buNone/>
            </a:pPr>
            <a:r>
              <a:t>| State management | Implemented | State ownership. | Cross-process persistence/commit-failure contract for service use. |</a:t>
            </a:r>
            <a:endParaRPr/>
          </a:p>
          <a:p xmlns:a="http://schemas.openxmlformats.org/drawingml/2006/main">
            <a:pPr marL="0" lvl="0" indent="0" algn="l">
              <a:lnSpc>
                <a:spcPct val="100000"/>
              </a:lnSpc>
              <a:spcBef>
                <a:spcPts val="0"/>
              </a:spcBef>
              <a:spcAft>
                <a:spcPts val="0"/>
              </a:spcAft>
              <a:buSzPts val="1400"/>
              <a:buNone/>
            </a:pPr>
            <a:r>
              <a:t>| Affect/PAD/history | Implemented; optional learned backend | Affect tests, history/prior tests. These are within the fresh passing subset. | Learned classifier quality and effect on agent outcomes. |</a:t>
            </a:r>
            <a:endParaRPr/>
          </a:p>
          <a:p xmlns:a="http://schemas.openxmlformats.org/drawingml/2006/main">
            <a:pPr marL="0" lvl="0" indent="0" algn="l">
              <a:lnSpc>
                <a:spcPct val="100000"/>
              </a:lnSpc>
              <a:spcBef>
                <a:spcPts val="0"/>
              </a:spcBef>
              <a:spcAft>
                <a:spcPts val="0"/>
              </a:spcAft>
              <a:buSzPts val="1400"/>
              <a:buNone/>
            </a:pPr>
            <a:r>
              <a:t>| Memory/storage/admission | Implemented | Memory formation, admission, importance. | Useful retention under real histories and isolation requirements. |</a:t>
            </a:r>
            <a:endParaRPr/>
          </a:p>
          <a:p xmlns:a="http://schemas.openxmlformats.org/drawingml/2006/main">
            <a:pPr marL="0" lvl="0" indent="0" algn="l">
              <a:lnSpc>
                <a:spcPct val="100000"/>
              </a:lnSpc>
              <a:spcBef>
                <a:spcPts val="0"/>
              </a:spcBef>
              <a:spcAft>
                <a:spcPts val="0"/>
              </a:spcAft>
              <a:buSzPts val="1400"/>
              <a:buNone/>
            </a:pPr>
            <a:r>
              <a:t>| Hybrid retrieval/reranking/compression | Implemented | Retrieval alignment, temporal. Saved subset metrics in E07/E08. | Fresh complete held-out retrieval/QA results with fixed provenance. |</a:t>
            </a:r>
            <a:endParaRPr/>
          </a:p>
          <a:p xmlns:a="http://schemas.openxmlformats.org/drawingml/2006/main">
            <a:pPr marL="0" lvl="0" indent="0" algn="l">
              <a:lnSpc>
                <a:spcPct val="100000"/>
              </a:lnSpc>
              <a:spcBef>
                <a:spcPts val="0"/>
              </a:spcBef>
              <a:spcAft>
                <a:spcPts val="0"/>
              </a:spcAft>
              <a:buSzPts val="1400"/>
              <a:buNone/>
            </a:pPr>
            <a:r>
              <a:t>| Graph/index/evolution/lineage | Implemented | Graph tests, evolution, lineage. | Repeated derivation idempotency and stale-edge correction noted in E04. |</a:t>
            </a:r>
            <a:endParaRPr/>
          </a:p>
          <a:p xmlns:a="http://schemas.openxmlformats.org/drawingml/2006/main">
            <a:pPr marL="0" lvl="0" indent="0" algn="l">
              <a:lnSpc>
                <a:spcPct val="100000"/>
              </a:lnSpc>
              <a:spcBef>
                <a:spcPts val="0"/>
              </a:spcBef>
              <a:spcAft>
                <a:spcPts val="0"/>
              </a:spcAft>
              <a:buSzPts val="1400"/>
              <a:buNone/>
            </a:pPr>
            <a:r>
              <a:t>| Reasoning/sufficiency | Implemented, bounded heuristic | Controller, boundaries. | False abstention and unsupported-answer rates on held-out relation/paraphrase cases. |</a:t>
            </a:r>
            <a:endParaRPr/>
          </a:p>
          <a:p xmlns:a="http://schemas.openxmlformats.org/drawingml/2006/main">
            <a:pPr marL="0" lvl="0" indent="0" algn="l">
              <a:lnSpc>
                <a:spcPct val="100000"/>
              </a:lnSpc>
              <a:spcBef>
                <a:spcPts val="0"/>
              </a:spcBef>
              <a:spcAft>
                <a:spcPts val="0"/>
              </a:spcAft>
              <a:buSzPts val="1400"/>
              <a:buNone/>
            </a:pPr>
            <a:r>
              <a:t>| Planning/world | Implemented symbolic path | Planning tests, full trace assertions in release tests. | Prediction usefulness against actual outcomes. |</a:t>
            </a:r>
            <a:endParaRPr/>
          </a:p>
          <a:p xmlns:a="http://schemas.openxmlformats.org/drawingml/2006/main">
            <a:pPr marL="0" lvl="0" indent="0" algn="l">
              <a:lnSpc>
                <a:spcPct val="100000"/>
              </a:lnSpc>
              <a:spcBef>
                <a:spcPts val="0"/>
              </a:spcBef>
              <a:spcAft>
                <a:spcPts val="0"/>
              </a:spcAft>
              <a:buSzPts val="1400"/>
              <a:buNone/>
            </a:pPr>
            <a:r>
              <a:t>| Uncertainty/reflection | Implemented, bounded corrections | Confidence branch, correction loop, reflection. | Calibrated confidence, actual helped/harmed answer counts. |</a:t>
            </a:r>
            <a:endParaRPr/>
          </a:p>
          <a:p xmlns:a="http://schemas.openxmlformats.org/drawingml/2006/main">
            <a:pPr marL="0" lvl="0" indent="0" algn="l">
              <a:lnSpc>
                <a:spcPct val="100000"/>
              </a:lnSpc>
              <a:spcBef>
                <a:spcPts val="0"/>
              </a:spcBef>
              <a:spcAft>
                <a:spcPts val="0"/>
              </a:spcAft>
              <a:buSzPts val="1400"/>
              <a:buNone/>
            </a:pPr>
            <a:r>
              <a:t>| Tools/actions | Implemented application policy | Action/tool tests. | Real handler timeout/idempotency/isolation guarantees where needed. |</a:t>
            </a:r>
            <a:endParaRPr/>
          </a:p>
          <a:p xmlns:a="http://schemas.openxmlformats.org/drawingml/2006/main">
            <a:pPr marL="0" lvl="0" indent="0" algn="l">
              <a:lnSpc>
                <a:spcPct val="100000"/>
              </a:lnSpc>
              <a:spcBef>
                <a:spcPts val="0"/>
              </a:spcBef>
              <a:spcAft>
                <a:spcPts val="0"/>
              </a:spcAft>
              <a:buSzPts val="1400"/>
              <a:buNone/>
            </a:pPr>
            <a:r>
              <a:t>| Generation/schema/output | Implemented provider boundary | Structured output, prompt identity, release fault cases. | Endpoint-specific integration and evidence support quality. |</a:t>
            </a:r>
            <a:endParaRPr/>
          </a:p>
          <a:p xmlns:a="http://schemas.openxmlformats.org/drawingml/2006/main">
            <a:pPr marL="0" lvl="0" indent="0" algn="l">
              <a:lnSpc>
                <a:spcPct val="100000"/>
              </a:lnSpc>
              <a:spcBef>
                <a:spcPts val="0"/>
              </a:spcBef>
              <a:spcAft>
                <a:spcPts val="0"/>
              </a:spcAft>
              <a:buSzPts val="1400"/>
              <a:buNone/>
            </a:pPr>
            <a:r>
              <a:t>| Events/maintenance | Implemented bounded cold path | Background maintenance, events, barriers. | Recovery of admitted work after process crash. |</a:t>
            </a:r>
            <a:endParaRPr/>
          </a:p>
          <a:p xmlns:a="http://schemas.openxmlformats.org/drawingml/2006/main">
            <a:pPr marL="0" lvl="0" indent="0" algn="l">
              <a:lnSpc>
                <a:spcPct val="100000"/>
              </a:lnSpc>
              <a:spcBef>
                <a:spcPts val="0"/>
              </a:spcBef>
              <a:spcAft>
                <a:spcPts val="0"/>
              </a:spcAft>
              <a:buSzPts val="1400"/>
              <a:buNone/>
            </a:pPr>
            <a:r>
              <a:t>| Benchmark campaigns | Implemented adapters/checkpoints/comparison | Campaign, comparison hardening, Kaggle smoke. | Complete real-provider source coverage and validated archives.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8.2 Fresh checks performed for this document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10 October 2026 the following command completed: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``powershell</a:t>
            </a:r>
            <a:endParaRPr/>
          </a:p>
          <a:p xmlns:a="http://schemas.openxmlformats.org/drawingml/2006/main">
            <a:pPr marL="0" lvl="0" indent="0" algn="l">
              <a:lnSpc>
                <a:spcPct val="100000"/>
              </a:lnSpc>
              <a:spcBef>
                <a:spcPts val="0"/>
              </a:spcBef>
              <a:spcAft>
                <a:spcPts val="0"/>
              </a:spcAft>
              <a:buSzPts val="1400"/>
              <a:buNone/>
            </a:pPr>
            <a:r>
              <a:t>Set-Location C:\PRIMA_next</a:t>
            </a:r>
            <a:endParaRPr/>
          </a:p>
          <a:p xmlns:a="http://schemas.openxmlformats.org/drawingml/2006/main">
            <a:pPr marL="0" lvl="0" indent="0" algn="l">
              <a:lnSpc>
                <a:spcPct val="100000"/>
              </a:lnSpc>
              <a:spcBef>
                <a:spcPts val="0"/>
              </a:spcBef>
              <a:spcAft>
                <a:spcPts val="0"/>
              </a:spcAft>
              <a:buSzPts val="1400"/>
              <a:buNone/>
            </a:pPr>
            <a:r>
              <a:t>.\.venv\Scripts\python.exe -m pytest tests/affect tests/test_goemotions_benchmark.py tests/retrieval/test_recall_metrics.py tests/retrieval/test_mrr_metrics.py tests/retrieval/test_ndcg_metrics.py -q --basetemp=C:/PRIMA_next/pytest-tmp/mentor-review-sync</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Observed output: 25 passed in 1.87s`. The launcher also printed a warning that it could not find the real base-interpreter location. Tests still completed. These tests establish their covered affect/data/metric behavior, not end-to-end QA quality.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 broader selected run covering runtime, workflow, integration, memory, retrieval, planning, reasoning, reflection, tools, and events did not finish. It printed five progress dots without a final summary and was interrupted. No new whole-suite pass is claimed. The earlier October 7 audit reports Windows asyncio socket-pair stalls, but this preparation did not capture a fresh stack trace to independently assign the same cause. [E04]</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Historical lint/type/complexity/security results in E04/E09 remain dated evidence. CI configuration exists, but its current remote status was not queried. Fresh Ruff/Mypy/Bandit/Xenon checks were not run for this documentation-only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8.3 Metrics to explain accurately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Metric | Meaning and suitable use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Exact match | Normalized predicted answer equals an accepted reference answer. |</a:t>
            </a:r>
            <a:endParaRPr/>
          </a:p>
          <a:p xmlns:a="http://schemas.openxmlformats.org/drawingml/2006/main">
            <a:pPr marL="0" lvl="0" indent="0" algn="l">
              <a:lnSpc>
                <a:spcPct val="100000"/>
              </a:lnSpc>
              <a:spcBef>
                <a:spcPts val="0"/>
              </a:spcBef>
              <a:spcAft>
                <a:spcPts val="0"/>
              </a:spcAft>
              <a:buSzPts val="1400"/>
              <a:buNone/>
            </a:pPr>
            <a:r>
              <a:t>| Token F1 | Harmonic mean of token precision/recall against references under the benchmark's scorer. |</a:t>
            </a:r>
            <a:endParaRPr/>
          </a:p>
          <a:p xmlns:a="http://schemas.openxmlformats.org/drawingml/2006/main">
            <a:pPr marL="0" lvl="0" indent="0" algn="l">
              <a:lnSpc>
                <a:spcPct val="100000"/>
              </a:lnSpc>
              <a:spcBef>
                <a:spcPts val="0"/>
              </a:spcBef>
              <a:spcAft>
                <a:spcPts val="0"/>
              </a:spcAft>
              <a:buSzPts val="1400"/>
              <a:buNone/>
            </a:pPr>
            <a:r>
              <a:t>| Recall@k | Fraction of required relevant evidence recovered in the top k, according to the evaluator's relevance definition. |</a:t>
            </a:r>
            <a:endParaRPr/>
          </a:p>
          <a:p xmlns:a="http://schemas.openxmlformats.org/drawingml/2006/main">
            <a:pPr marL="0" lvl="0" indent="0" algn="l">
              <a:lnSpc>
                <a:spcPct val="100000"/>
              </a:lnSpc>
              <a:spcBef>
                <a:spcPts val="0"/>
              </a:spcBef>
              <a:spcAft>
                <a:spcPts val="0"/>
              </a:spcAft>
              <a:buSzPts val="1400"/>
              <a:buNone/>
            </a:pPr>
            <a:r>
              <a:t>| MRR | Mean reciprocal rank of the first relevant result. |</a:t>
            </a:r>
            <a:endParaRPr/>
          </a:p>
          <a:p xmlns:a="http://schemas.openxmlformats.org/drawingml/2006/main">
            <a:pPr marL="0" lvl="0" indent="0" algn="l">
              <a:lnSpc>
                <a:spcPct val="100000"/>
              </a:lnSpc>
              <a:spcBef>
                <a:spcPts val="0"/>
              </a:spcBef>
              <a:spcAft>
                <a:spcPts val="0"/>
              </a:spcAft>
              <a:buSzPts val="1400"/>
              <a:buNone/>
            </a:pPr>
            <a:r>
              <a:t>| nDCG@k | Ranking quality using discounted relevance, normalized by the ideal ranking. |</a:t>
            </a:r>
            <a:endParaRPr/>
          </a:p>
          <a:p xmlns:a="http://schemas.openxmlformats.org/drawingml/2006/main">
            <a:pPr marL="0" lvl="0" indent="0" algn="l">
              <a:lnSpc>
                <a:spcPct val="100000"/>
              </a:lnSpc>
              <a:spcBef>
                <a:spcPts val="0"/>
              </a:spcBef>
              <a:spcAft>
                <a:spcPts val="0"/>
              </a:spcAft>
              <a:buSzPts val="1400"/>
              <a:buNone/>
            </a:pPr>
            <a:r>
              <a:t>| Candidate success | Whether required evidence entered the candidate set, under that runner's definition. Distinct from final evidence recall. |</a:t>
            </a:r>
            <a:endParaRPr/>
          </a:p>
          <a:p xmlns:a="http://schemas.openxmlformats.org/drawingml/2006/main">
            <a:pPr marL="0" lvl="0" indent="0" algn="l">
              <a:lnSpc>
                <a:spcPct val="100000"/>
              </a:lnSpc>
              <a:spcBef>
                <a:spcPts val="0"/>
              </a:spcBef>
              <a:spcAft>
                <a:spcPts val="0"/>
              </a:spcAft>
              <a:buSzPts val="1400"/>
              <a:buNone/>
            </a:pPr>
            <a:r>
              <a:t>| Emotion micro/macro F1 | Aggregate label decisions / equally weighted per-label performance in a multilabel task. |</a:t>
            </a:r>
            <a:endParaRPr/>
          </a:p>
          <a:p xmlns:a="http://schemas.openxmlformats.org/drawingml/2006/main">
            <a:pPr marL="0" lvl="0" indent="0" algn="l">
              <a:lnSpc>
                <a:spcPct val="100000"/>
              </a:lnSpc>
              <a:spcBef>
                <a:spcPts val="0"/>
              </a:spcBef>
              <a:spcAft>
                <a:spcPts val="0"/>
              </a:spcAft>
              <a:buSzPts val="1400"/>
              <a:buNone/>
            </a:pPr>
            <a:r>
              <a:t>| Coverage / abstention | How often the system answers versus declines, alongside error among answered cases. |</a:t>
            </a:r>
            <a:endParaRPr/>
          </a:p>
          <a:p xmlns:a="http://schemas.openxmlformats.org/drawingml/2006/main">
            <a:pPr marL="0" lvl="0" indent="0" algn="l">
              <a:lnSpc>
                <a:spcPct val="100000"/>
              </a:lnSpc>
              <a:spcBef>
                <a:spcPts val="0"/>
              </a:spcBef>
              <a:spcAft>
                <a:spcPts val="0"/>
              </a:spcAft>
              <a:buSzPts val="1400"/>
              <a:buNone/>
            </a:pPr>
            <a:r>
              <a:t>| Calibration | Whether confidence aligns with empirical correctness. Report the exact calibration metric and fitted split. |</a:t>
            </a:r>
            <a:endParaRPr/>
          </a:p>
          <a:p xmlns:a="http://schemas.openxmlformats.org/drawingml/2006/main">
            <a:pPr marL="0" lvl="0" indent="0" algn="l">
              <a:lnSpc>
                <a:spcPct val="100000"/>
              </a:lnSpc>
              <a:spcBef>
                <a:spcPts val="0"/>
              </a:spcBef>
              <a:spcAft>
                <a:spcPts val="0"/>
              </a:spcAft>
              <a:buSzPts val="1400"/>
              <a:buNone/>
            </a:pPr>
            <a:r>
              <a:t>| Reflection help/harm | Incorrect-to-correct and correct-to-incorrect changes from actual interventions. |</a:t>
            </a:r>
            <a:endParaRPr/>
          </a:p>
          <a:p xmlns:a="http://schemas.openxmlformats.org/drawingml/2006/main">
            <a:pPr marL="0" lvl="0" indent="0" algn="l">
              <a:lnSpc>
                <a:spcPct val="100000"/>
              </a:lnSpc>
              <a:spcBef>
                <a:spcPts val="0"/>
              </a:spcBef>
              <a:spcAft>
                <a:spcPts val="0"/>
              </a:spcAft>
              <a:buSzPts val="1400"/>
              <a:buNone/>
            </a:pPr>
            <a:r>
              <a:t>| Cost | Calls, tokens, latency, model/device load, memory/storage, and maintenance work.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HotpotQA use its native answer and supporting-fact metrics, including joint metrics where the runner supports them. For LoCoMo retain native category/answer/evidence accounting. GoEmotions measures the classification component, not the full QA wrapper. [E05, benchmark READMEs]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8.4 Avoid misleading result slides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Memory quality comparison has zero benchmark queries. Its zero metrics establish no retrieval improvement or preserved quality.</a:t>
            </a:r>
            <a:endParaRPr/>
          </a:p>
          <a:p xmlns:a="http://schemas.openxmlformats.org/drawingml/2006/main">
            <a:pPr marL="0" lvl="0" indent="0" algn="l">
              <a:lnSpc>
                <a:spcPct val="100000"/>
              </a:lnSpc>
              <a:spcBef>
                <a:spcPts val="0"/>
              </a:spcBef>
              <a:spcAft>
                <a:spcPts val="0"/>
              </a:spcAft>
              <a:buSzPts val="1400"/>
              <a:buNone/>
            </a:pPr>
            <a:r>
              <a:t>Memory formation report contains only two interactions, zero stored memories, two rejected memories. It is a narrow saved example, not retention-performance evidence.</a:t>
            </a:r>
            <a:endParaRPr/>
          </a:p>
          <a:p xmlns:a="http://schemas.openxmlformats.org/drawingml/2006/main">
            <a:pPr marL="0" lvl="0" indent="0" algn="l">
              <a:lnSpc>
                <a:spcPct val="100000"/>
              </a:lnSpc>
              <a:spcBef>
                <a:spcPts val="0"/>
              </a:spcBef>
              <a:spcAft>
                <a:spcPts val="0"/>
              </a:spcAft>
              <a:buSzPts val="1400"/>
              <a:buNone/>
            </a:pPr>
            <a:r>
              <a:t>A smoke fixture passing shows wiring/accounting. A sampled mode finishing shows completion only for its declared selection.</a:t>
            </a:r>
            <a:endParaRPr/>
          </a:p>
          <a:p xmlns:a="http://schemas.openxmlformats.org/drawingml/2006/main">
            <a:pPr marL="0" lvl="0" indent="0" algn="l">
              <a:lnSpc>
                <a:spcPct val="100000"/>
              </a:lnSpc>
              <a:spcBef>
                <a:spcPts val="0"/>
              </a:spcBef>
              <a:spcAft>
                <a:spcPts val="0"/>
              </a:spcAft>
              <a:buSzPts val="1400"/>
              <a:buNone/>
            </a:pPr>
            <a:r>
              <a:t>A passing launch estimate does not show that the full benchmark finished. A complete run can still have poor answer quality.</a:t>
            </a:r>
            <a:endParaRPr/>
          </a:p>
          <a:p xmlns:a="http://schemas.openxmlformats.org/drawingml/2006/main">
            <a:pPr marL="0" lvl="0" indent="0" algn="l">
              <a:lnSpc>
                <a:spcPct val="100000"/>
              </a:lnSpc>
              <a:spcBef>
                <a:spcPts val="0"/>
              </a:spcBef>
              <a:spcAft>
                <a:spcPts val="0"/>
              </a:spcAft>
              <a:buSzPts val="1400"/>
              <a:buNone/>
            </a:pPr>
            <a:r>
              <a:t>Package availability, module imports, and an architecture diagram do not prove the component ran.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8.5 How to address the template's 50% demonstration requirement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Agree on a finite module/demo checklist before assigning a percentage. Mark each item rehearsed with artifact, implemented but not rehearsed, or pending. Compute demonstrated coverage only from that agreed list. This document establishes preparation and evidence mapping, not a fabricated "50% complete" status. The previous review request requires the runnable scenario and visible comparison before marking the demonstration delivered.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C:/PRIMA_next/tests/runtime/test_canonical_contract.py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C:/PRIMA_next/tests/affect/test_affect_engine.py</a:t>
            </a:r>
            <a:endParaRPr/>
          </a:p>
          <a:p xmlns:a="http://schemas.openxmlformats.org/drawingml/2006/main">
            <a:pPr marL="0" lvl="0" indent="0" algn="l">
              <a:lnSpc>
                <a:spcPct val="100000"/>
              </a:lnSpc>
              <a:spcBef>
                <a:spcPts val="0"/>
              </a:spcBef>
              <a:spcAft>
                <a:spcPts val="0"/>
              </a:spcAft>
              <a:buSzPts val="1400"/>
              <a:buNone/>
            </a:pPr>
            <a:r>
              <a:t>C:/PRIMA_next/tests/affect/test_history_and_priors.py</a:t>
            </a:r>
            <a:endParaRPr/>
          </a:p>
          <a:p xmlns:a="http://schemas.openxmlformats.org/drawingml/2006/main">
            <a:pPr marL="0" lvl="0" indent="0" algn="l">
              <a:lnSpc>
                <a:spcPct val="100000"/>
              </a:lnSpc>
              <a:spcBef>
                <a:spcPts val="0"/>
              </a:spcBef>
              <a:spcAft>
                <a:spcPts val="0"/>
              </a:spcAft>
              <a:buSzPts val="1400"/>
              <a:buNone/>
            </a:pPr>
            <a:r>
              <a:t>C:/PRIMA_next/tests/memory/test_memory_formation.py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C:/PRIMA_next/tests/memory/test_importance_scoring.py</a:t>
            </a:r>
            <a:endParaRPr/>
          </a:p>
          <a:p xmlns:a="http://schemas.openxmlformats.org/drawingml/2006/main">
            <a:pPr marL="0" lvl="0" indent="0" algn="l">
              <a:lnSpc>
                <a:spcPct val="100000"/>
              </a:lnSpc>
              <a:spcBef>
                <a:spcPts val="0"/>
              </a:spcBef>
              <a:spcAft>
                <a:spcPts val="0"/>
              </a:spcAft>
              <a:buSzPts val="1400"/>
              <a:buNone/>
            </a:pPr>
            <a:r>
              <a:t>C:/PRIMA_next/tests/retrieval/test_phase07_retrieval_alignment.py</a:t>
            </a:r>
            <a:endParaRPr/>
          </a:p>
          <a:p xmlns:a="http://schemas.openxmlformats.org/drawingml/2006/main">
            <a:pPr marL="0" lvl="0" indent="0" algn="l">
              <a:lnSpc>
                <a:spcPct val="100000"/>
              </a:lnSpc>
              <a:spcBef>
                <a:spcPts val="0"/>
              </a:spcBef>
              <a:spcAft>
                <a:spcPts val="0"/>
              </a:spcAft>
              <a:buSzPts val="1400"/>
              <a:buNone/>
            </a:pPr>
            <a:r>
              <a:t>C:/PRIMA_next/tests/retrieval/test_temporal_routing.py</a:t>
            </a:r>
            <a:endParaRPr/>
          </a:p>
          <a:p xmlns:a="http://schemas.openxmlformats.org/drawingml/2006/main">
            <a:pPr marL="0" lvl="0" indent="0" algn="l">
              <a:lnSpc>
                <a:spcPct val="100000"/>
              </a:lnSpc>
              <a:spcBef>
                <a:spcPts val="0"/>
              </a:spcBef>
              <a:spcAft>
                <a:spcPts val="0"/>
              </a:spcAft>
              <a:buSzPts val="1400"/>
              <a:buNone/>
            </a:pPr>
            <a:r>
              <a:t>C:/PRIMA_next/tests/graph/test_graph_phase3.py</a:t>
            </a:r>
            <a:endParaRPr/>
          </a:p>
          <a:p xmlns:a="http://schemas.openxmlformats.org/drawingml/2006/main">
            <a:pPr marL="0" lvl="0" indent="0" algn="l">
              <a:lnSpc>
                <a:spcPct val="100000"/>
              </a:lnSpc>
              <a:spcBef>
                <a:spcPts val="0"/>
              </a:spcBef>
              <a:spcAft>
                <a:spcPts val="0"/>
              </a:spcAft>
              <a:buSzPts val="1400"/>
              <a:buNone/>
            </a:pPr>
            <a:r>
              <a:t>C:/PRIMA_next/tests/evolution/test_evolution_phase4.py</a:t>
            </a:r>
            <a:endParaRPr/>
          </a:p>
          <a:p xmlns:a="http://schemas.openxmlformats.org/drawingml/2006/main">
            <a:pPr marL="0" lvl="0" indent="0" algn="l">
              <a:lnSpc>
                <a:spcPct val="100000"/>
              </a:lnSpc>
              <a:spcBef>
                <a:spcPts val="0"/>
              </a:spcBef>
              <a:spcAft>
                <a:spcPts val="0"/>
              </a:spcAft>
              <a:buSzPts val="1400"/>
              <a:buNone/>
            </a:pPr>
            <a:r>
              <a:t>C:/PRIMA_next/tests/lineage/test_maintenance_phase5.py</a:t>
            </a:r>
            <a:endParaRPr/>
          </a:p>
          <a:p xmlns:a="http://schemas.openxmlformats.org/drawingml/2006/main">
            <a:pPr marL="0" lvl="0" indent="0" algn="l">
              <a:lnSpc>
                <a:spcPct val="100000"/>
              </a:lnSpc>
              <a:spcBef>
                <a:spcPts val="0"/>
              </a:spcBef>
              <a:spcAft>
                <a:spcPts val="0"/>
              </a:spcAft>
              <a:buSzPts val="1400"/>
              <a:buNone/>
            </a:pPr>
            <a:r>
              <a:t>C:/PRIMA_next/tests/reasoning/test_controller.py</a:t>
            </a:r>
            <a:endParaRPr/>
          </a:p>
          <a:p xmlns:a="http://schemas.openxmlformats.org/drawingml/2006/main">
            <a:pPr marL="0" lvl="0" indent="0" algn="l">
              <a:lnSpc>
                <a:spcPct val="100000"/>
              </a:lnSpc>
              <a:spcBef>
                <a:spcPts val="0"/>
              </a:spcBef>
              <a:spcAft>
                <a:spcPts val="0"/>
              </a:spcAft>
              <a:buSzPts val="1400"/>
              <a:buNone/>
            </a:pPr>
            <a:r>
              <a:t>C:/PRIMA_next/tests/reasoning/test_controller_boundaries.py</a:t>
            </a:r>
            <a:endParaRPr/>
          </a:p>
          <a:p xmlns:a="http://schemas.openxmlformats.org/drawingml/2006/main">
            <a:pPr marL="0" lvl="0" indent="0" algn="l">
              <a:lnSpc>
                <a:spcPct val="100000"/>
              </a:lnSpc>
              <a:spcBef>
                <a:spcPts val="0"/>
              </a:spcBef>
              <a:spcAft>
                <a:spcPts val="0"/>
              </a:spcAft>
              <a:buSzPts val="1400"/>
              <a:buNone/>
            </a:pPr>
            <a:r>
              <a:t>C:/PRIMA_next/tests/planning/test_planning_phase2.py</a:t>
            </a:r>
            <a:endParaRPr/>
          </a:p>
          <a:p xmlns:a="http://schemas.openxmlformats.org/drawingml/2006/main">
            <a:pPr marL="0" lvl="0" indent="0" algn="l">
              <a:lnSpc>
                <a:spcPct val="100000"/>
              </a:lnSpc>
              <a:spcBef>
                <a:spcPts val="0"/>
              </a:spcBef>
              <a:spcAft>
                <a:spcPts val="0"/>
              </a:spcAft>
              <a:buSzPts val="1400"/>
              <a:buNone/>
            </a:pPr>
            <a:r>
              <a:t>C:/PRIMA_next/tests/workflow/test_phase05_confidence_branch.py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C:/PRIMA_next/tests/reflection/test_reflection_pillar.py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C:/PRIMA_next/tests/test_llm_structured_output.py</a:t>
            </a:r>
            <a:endParaRPr/>
          </a:p>
          <a:p xmlns:a="http://schemas.openxmlformats.org/drawingml/2006/main">
            <a:pPr marL="0" lvl="0" indent="0" algn="l">
              <a:lnSpc>
                <a:spcPct val="100000"/>
              </a:lnSpc>
              <a:spcBef>
                <a:spcPts val="0"/>
              </a:spcBef>
              <a:spcAft>
                <a:spcPts val="0"/>
              </a:spcAft>
              <a:buSzPts val="1400"/>
              <a:buNone/>
            </a:pPr>
            <a:r>
              <a:t>C:/PRIMA_next/tests/test_answer_prompt_identity.py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a:p xmlns:a="http://schemas.openxmlformats.org/drawingml/2006/main">
            <a:pPr marL="0" lvl="0" indent="0" algn="l">
              <a:lnSpc>
                <a:spcPct val="100000"/>
              </a:lnSpc>
              <a:spcBef>
                <a:spcPts val="0"/>
              </a:spcBef>
              <a:spcAft>
                <a:spcPts val="0"/>
              </a:spcAft>
              <a:buSzPts val="1400"/>
              <a:buNone/>
            </a:pPr>
            <a:r>
              <a:t>C:/PRIMA_next/tests/benchmarks/test_campaign.py</a:t>
            </a:r>
            <a:endParaRPr/>
          </a:p>
          <a:p xmlns:a="http://schemas.openxmlformats.org/drawingml/2006/main">
            <a:pPr marL="0" lvl="0" indent="0" algn="l">
              <a:lnSpc>
                <a:spcPct val="100000"/>
              </a:lnSpc>
              <a:spcBef>
                <a:spcPts val="0"/>
              </a:spcBef>
              <a:spcAft>
                <a:spcPts val="0"/>
              </a:spcAft>
              <a:buSzPts val="1400"/>
              <a:buNone/>
            </a:pPr>
            <a:r>
              <a:t>C:/PRIMA_next/tests/benchmarks/test_campaign_comparison_hardening.py</a:t>
            </a:r>
            <a:endParaRPr/>
          </a:p>
          <a:p xmlns:a="http://schemas.openxmlformats.org/drawingml/2006/main">
            <a:pPr marL="0" lvl="0" indent="0" algn="l">
              <a:lnSpc>
                <a:spcPct val="100000"/>
              </a:lnSpc>
              <a:spcBef>
                <a:spcPts val="0"/>
              </a:spcBef>
              <a:spcAft>
                <a:spcPts val="0"/>
              </a:spcAft>
              <a:buSzPts val="1400"/>
              <a:buNone/>
            </a:pPr>
            <a:r>
              <a:t>C:/PRIMA_next/tests/benchmarks/test_kaggle_smoke.py</a:t>
            </a:r>
            <a:endParaRPr/>
          </a:p>
          <a:p xmlns:a="http://schemas.openxmlformats.org/drawingml/2006/main">
            <a:pPr marL="0" lvl="0" indent="0" algn="l">
              <a:lnSpc>
                <a:spcPct val="100000"/>
              </a:lnSpc>
              <a:spcBef>
                <a:spcPts val="0"/>
              </a:spcBef>
              <a:spcAft>
                <a:spcPts val="0"/>
              </a:spcAft>
              <a:buSzPts val="1400"/>
              <a:buNone/>
            </a:pPr>
            <a:r>
              <a:t>C:/PRIMA_next/evaluation/results/memory_quality_comparison.json</a:t>
            </a:r>
            <a:endParaRPr/>
          </a:p>
          <a:p xmlns:a="http://schemas.openxmlformats.org/drawingml/2006/main">
            <a:pPr marL="0" lvl="0" indent="0" algn="l">
              <a:lnSpc>
                <a:spcPct val="100000"/>
              </a:lnSpc>
              <a:spcBef>
                <a:spcPts val="0"/>
              </a:spcBef>
              <a:spcAft>
                <a:spcPts val="0"/>
              </a:spcAft>
              <a:buSzPts val="1400"/>
              <a:buNone/>
            </a:pPr>
            <a:r>
              <a:t>C:/PRIMA_next/evaluation/results/memory_formation_report.json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Benchmark attribution and demonstration coverage (2/2)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 Slide 7, part B: completed modules and testing evidence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8.1 Completion matrix</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"Implemented" below means source/test scaffolding exists. It does not mean every path passed a fresh run or has demonstrated a benchmark improvement.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Module group | Implementation status | Existing verification to show | Remaining validation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Typed runtime/routes | Implemented | Contract tests, principal/control tests. | Fresh full route sweep and exported demo trace. |</a:t>
            </a:r>
            <a:endParaRPr/>
          </a:p>
          <a:p xmlns:a="http://schemas.openxmlformats.org/drawingml/2006/main">
            <a:pPr marL="0" lvl="0" indent="0" algn="l">
              <a:lnSpc>
                <a:spcPct val="100000"/>
              </a:lnSpc>
              <a:spcBef>
                <a:spcPts val="0"/>
              </a:spcBef>
              <a:spcAft>
                <a:spcPts val="0"/>
              </a:spcAft>
              <a:buSzPts val="1400"/>
              <a:buNone/>
            </a:pPr>
            <a:r>
              <a:t>| State management | Implemented | State ownership. | Cross-process persistence/commit-failure contract for service use. |</a:t>
            </a:r>
            <a:endParaRPr/>
          </a:p>
          <a:p xmlns:a="http://schemas.openxmlformats.org/drawingml/2006/main">
            <a:pPr marL="0" lvl="0" indent="0" algn="l">
              <a:lnSpc>
                <a:spcPct val="100000"/>
              </a:lnSpc>
              <a:spcBef>
                <a:spcPts val="0"/>
              </a:spcBef>
              <a:spcAft>
                <a:spcPts val="0"/>
              </a:spcAft>
              <a:buSzPts val="1400"/>
              <a:buNone/>
            </a:pPr>
            <a:r>
              <a:t>| Affect/PAD/history | Implemented; optional learned backend | Affect tests, history/prior tests. These are within the fresh passing subset. | Learned classifier quality and effect on agent outcomes. |</a:t>
            </a:r>
            <a:endParaRPr/>
          </a:p>
          <a:p xmlns:a="http://schemas.openxmlformats.org/drawingml/2006/main">
            <a:pPr marL="0" lvl="0" indent="0" algn="l">
              <a:lnSpc>
                <a:spcPct val="100000"/>
              </a:lnSpc>
              <a:spcBef>
                <a:spcPts val="0"/>
              </a:spcBef>
              <a:spcAft>
                <a:spcPts val="0"/>
              </a:spcAft>
              <a:buSzPts val="1400"/>
              <a:buNone/>
            </a:pPr>
            <a:r>
              <a:t>| Memory/storage/admission | Implemented | Memory formation, admission, importance. | Useful retention under real histories and isolation requirements. |</a:t>
            </a:r>
            <a:endParaRPr/>
          </a:p>
          <a:p xmlns:a="http://schemas.openxmlformats.org/drawingml/2006/main">
            <a:pPr marL="0" lvl="0" indent="0" algn="l">
              <a:lnSpc>
                <a:spcPct val="100000"/>
              </a:lnSpc>
              <a:spcBef>
                <a:spcPts val="0"/>
              </a:spcBef>
              <a:spcAft>
                <a:spcPts val="0"/>
              </a:spcAft>
              <a:buSzPts val="1400"/>
              <a:buNone/>
            </a:pPr>
            <a:r>
              <a:t>| Hybrid retrieval/reranking/compression | Implemented | Retrieval alignment, temporal. Saved subset metrics in E07/E08. | Fresh complete held-out retrieval/QA results with fixed provenance. |</a:t>
            </a:r>
            <a:endParaRPr/>
          </a:p>
          <a:p xmlns:a="http://schemas.openxmlformats.org/drawingml/2006/main">
            <a:pPr marL="0" lvl="0" indent="0" algn="l">
              <a:lnSpc>
                <a:spcPct val="100000"/>
              </a:lnSpc>
              <a:spcBef>
                <a:spcPts val="0"/>
              </a:spcBef>
              <a:spcAft>
                <a:spcPts val="0"/>
              </a:spcAft>
              <a:buSzPts val="1400"/>
              <a:buNone/>
            </a:pPr>
            <a:r>
              <a:t>| Graph/index/evolution/lineage | Implemented | Graph tests, evolution, lineage. | Repeated derivation idempotency and stale-edge correction noted in E04. |</a:t>
            </a:r>
            <a:endParaRPr/>
          </a:p>
          <a:p xmlns:a="http://schemas.openxmlformats.org/drawingml/2006/main">
            <a:pPr marL="0" lvl="0" indent="0" algn="l">
              <a:lnSpc>
                <a:spcPct val="100000"/>
              </a:lnSpc>
              <a:spcBef>
                <a:spcPts val="0"/>
              </a:spcBef>
              <a:spcAft>
                <a:spcPts val="0"/>
              </a:spcAft>
              <a:buSzPts val="1400"/>
              <a:buNone/>
            </a:pPr>
            <a:r>
              <a:t>| Reasoning/sufficiency | Implemented, bounded heuristic | Controller, boundaries. | False abstention and unsupported-answer rates on held-out relation/paraphrase cases. |</a:t>
            </a:r>
            <a:endParaRPr/>
          </a:p>
          <a:p xmlns:a="http://schemas.openxmlformats.org/drawingml/2006/main">
            <a:pPr marL="0" lvl="0" indent="0" algn="l">
              <a:lnSpc>
                <a:spcPct val="100000"/>
              </a:lnSpc>
              <a:spcBef>
                <a:spcPts val="0"/>
              </a:spcBef>
              <a:spcAft>
                <a:spcPts val="0"/>
              </a:spcAft>
              <a:buSzPts val="1400"/>
              <a:buNone/>
            </a:pPr>
            <a:r>
              <a:t>| Planning/world | Implemented symbolic path | Planning tests, full trace assertions in release tests. | Prediction usefulness against actual outcomes. |</a:t>
            </a:r>
            <a:endParaRPr/>
          </a:p>
          <a:p xmlns:a="http://schemas.openxmlformats.org/drawingml/2006/main">
            <a:pPr marL="0" lvl="0" indent="0" algn="l">
              <a:lnSpc>
                <a:spcPct val="100000"/>
              </a:lnSpc>
              <a:spcBef>
                <a:spcPts val="0"/>
              </a:spcBef>
              <a:spcAft>
                <a:spcPts val="0"/>
              </a:spcAft>
              <a:buSzPts val="1400"/>
              <a:buNone/>
            </a:pPr>
            <a:r>
              <a:t>| Uncertainty/reflection | Implemented, bounded corrections | Confidence branch, correction loop, reflection. | Calibrated confidence, actual helped/harmed answer counts. |</a:t>
            </a:r>
            <a:endParaRPr/>
          </a:p>
          <a:p xmlns:a="http://schemas.openxmlformats.org/drawingml/2006/main">
            <a:pPr marL="0" lvl="0" indent="0" algn="l">
              <a:lnSpc>
                <a:spcPct val="100000"/>
              </a:lnSpc>
              <a:spcBef>
                <a:spcPts val="0"/>
              </a:spcBef>
              <a:spcAft>
                <a:spcPts val="0"/>
              </a:spcAft>
              <a:buSzPts val="1400"/>
              <a:buNone/>
            </a:pPr>
            <a:r>
              <a:t>| Tools/actions | Implemented application policy | Action/tool tests. | Real handler timeout/idempotency/isolation guarantees where needed. |</a:t>
            </a:r>
            <a:endParaRPr/>
          </a:p>
          <a:p xmlns:a="http://schemas.openxmlformats.org/drawingml/2006/main">
            <a:pPr marL="0" lvl="0" indent="0" algn="l">
              <a:lnSpc>
                <a:spcPct val="100000"/>
              </a:lnSpc>
              <a:spcBef>
                <a:spcPts val="0"/>
              </a:spcBef>
              <a:spcAft>
                <a:spcPts val="0"/>
              </a:spcAft>
              <a:buSzPts val="1400"/>
              <a:buNone/>
            </a:pPr>
            <a:r>
              <a:t>| Generation/schema/output | Implemented provider boundary | Structured output, prompt identity, release fault cases. | Endpoint-specific integration and evidence support quality. |</a:t>
            </a:r>
            <a:endParaRPr/>
          </a:p>
          <a:p xmlns:a="http://schemas.openxmlformats.org/drawingml/2006/main">
            <a:pPr marL="0" lvl="0" indent="0" algn="l">
              <a:lnSpc>
                <a:spcPct val="100000"/>
              </a:lnSpc>
              <a:spcBef>
                <a:spcPts val="0"/>
              </a:spcBef>
              <a:spcAft>
                <a:spcPts val="0"/>
              </a:spcAft>
              <a:buSzPts val="1400"/>
              <a:buNone/>
            </a:pPr>
            <a:r>
              <a:t>| Events/maintenance | Implemented bounded cold path | Background maintenance, events, barriers. | Recovery of admitted work after process crash. |</a:t>
            </a:r>
            <a:endParaRPr/>
          </a:p>
          <a:p xmlns:a="http://schemas.openxmlformats.org/drawingml/2006/main">
            <a:pPr marL="0" lvl="0" indent="0" algn="l">
              <a:lnSpc>
                <a:spcPct val="100000"/>
              </a:lnSpc>
              <a:spcBef>
                <a:spcPts val="0"/>
              </a:spcBef>
              <a:spcAft>
                <a:spcPts val="0"/>
              </a:spcAft>
              <a:buSzPts val="1400"/>
              <a:buNone/>
            </a:pPr>
            <a:r>
              <a:t>| Benchmark campaigns | Implemented adapters/checkpoints/comparison | Campaign, comparison hardening, Kaggle smoke. | Complete real-provider source coverage and validated archives.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8.2 Fresh checks performed for this document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On 10 October 2026 the following command completed: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``powershell</a:t>
            </a:r>
            <a:endParaRPr/>
          </a:p>
          <a:p xmlns:a="http://schemas.openxmlformats.org/drawingml/2006/main">
            <a:pPr marL="0" lvl="0" indent="0" algn="l">
              <a:lnSpc>
                <a:spcPct val="100000"/>
              </a:lnSpc>
              <a:spcBef>
                <a:spcPts val="0"/>
              </a:spcBef>
              <a:spcAft>
                <a:spcPts val="0"/>
              </a:spcAft>
              <a:buSzPts val="1400"/>
              <a:buNone/>
            </a:pPr>
            <a:r>
              <a:t>Set-Location C:\PRIMA_next</a:t>
            </a:r>
            <a:endParaRPr/>
          </a:p>
          <a:p xmlns:a="http://schemas.openxmlformats.org/drawingml/2006/main">
            <a:pPr marL="0" lvl="0" indent="0" algn="l">
              <a:lnSpc>
                <a:spcPct val="100000"/>
              </a:lnSpc>
              <a:spcBef>
                <a:spcPts val="0"/>
              </a:spcBef>
              <a:spcAft>
                <a:spcPts val="0"/>
              </a:spcAft>
              <a:buSzPts val="1400"/>
              <a:buNone/>
            </a:pPr>
            <a:r>
              <a:t>.\.venv\Scripts\python.exe -m pytest tests/affect tests/test_goemotions_benchmark.py tests/retrieval/test_recall_metrics.py tests/retrieval/test_mrr_metrics.py tests/retrieval/test_ndcg_metrics.py -q --basetemp=C:/PRIMA_next/pytest-tmp/mentor-review-sync</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Observed output: 25 passed in 1.87s`. The launcher also printed a warning that it could not find the real base-interpreter location. Tests still completed. These tests establish their covered affect/data/metric behavior, not end-to-end QA quality.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 broader selected run covering runtime, workflow, integration, memory, retrieval, planning, reasoning, reflection, tools, and events did not finish. It printed five progress dots without a final summary and was interrupted. No new whole-suite pass is claimed. The earlier October 7 audit reports Windows asyncio socket-pair stalls, but this preparation did not capture a fresh stack trace to independently assign the same cause. [E04]</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Historical lint/type/complexity/security results in E04/E09 remain dated evidence. CI configuration exists, but its current remote status was not queried. Fresh Ruff/Mypy/Bandit/Xenon checks were not run for this documentation-only change.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8.3 Metrics to explain accurately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Metric | Meaning and suitable use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Exact match | Normalized predicted answer equals an accepted reference answer. |</a:t>
            </a:r>
            <a:endParaRPr/>
          </a:p>
          <a:p xmlns:a="http://schemas.openxmlformats.org/drawingml/2006/main">
            <a:pPr marL="0" lvl="0" indent="0" algn="l">
              <a:lnSpc>
                <a:spcPct val="100000"/>
              </a:lnSpc>
              <a:spcBef>
                <a:spcPts val="0"/>
              </a:spcBef>
              <a:spcAft>
                <a:spcPts val="0"/>
              </a:spcAft>
              <a:buSzPts val="1400"/>
              <a:buNone/>
            </a:pPr>
            <a:r>
              <a:t>| Token F1 | Harmonic mean of token precision/recall against references under the benchmark's scorer. |</a:t>
            </a:r>
            <a:endParaRPr/>
          </a:p>
          <a:p xmlns:a="http://schemas.openxmlformats.org/drawingml/2006/main">
            <a:pPr marL="0" lvl="0" indent="0" algn="l">
              <a:lnSpc>
                <a:spcPct val="100000"/>
              </a:lnSpc>
              <a:spcBef>
                <a:spcPts val="0"/>
              </a:spcBef>
              <a:spcAft>
                <a:spcPts val="0"/>
              </a:spcAft>
              <a:buSzPts val="1400"/>
              <a:buNone/>
            </a:pPr>
            <a:r>
              <a:t>| Recall@k | Fraction of required relevant evidence recovered in the top k, according to the evaluator's relevance definition. |</a:t>
            </a:r>
            <a:endParaRPr/>
          </a:p>
          <a:p xmlns:a="http://schemas.openxmlformats.org/drawingml/2006/main">
            <a:pPr marL="0" lvl="0" indent="0" algn="l">
              <a:lnSpc>
                <a:spcPct val="100000"/>
              </a:lnSpc>
              <a:spcBef>
                <a:spcPts val="0"/>
              </a:spcBef>
              <a:spcAft>
                <a:spcPts val="0"/>
              </a:spcAft>
              <a:buSzPts val="1400"/>
              <a:buNone/>
            </a:pPr>
            <a:r>
              <a:t>| MRR | Mean reciprocal rank of the first relevant result. |</a:t>
            </a:r>
            <a:endParaRPr/>
          </a:p>
          <a:p xmlns:a="http://schemas.openxmlformats.org/drawingml/2006/main">
            <a:pPr marL="0" lvl="0" indent="0" algn="l">
              <a:lnSpc>
                <a:spcPct val="100000"/>
              </a:lnSpc>
              <a:spcBef>
                <a:spcPts val="0"/>
              </a:spcBef>
              <a:spcAft>
                <a:spcPts val="0"/>
              </a:spcAft>
              <a:buSzPts val="1400"/>
              <a:buNone/>
            </a:pPr>
            <a:r>
              <a:t>| nDCG@k | Ranking quality using discounted relevance, normalized by the ideal ranking. |</a:t>
            </a:r>
            <a:endParaRPr/>
          </a:p>
          <a:p xmlns:a="http://schemas.openxmlformats.org/drawingml/2006/main">
            <a:pPr marL="0" lvl="0" indent="0" algn="l">
              <a:lnSpc>
                <a:spcPct val="100000"/>
              </a:lnSpc>
              <a:spcBef>
                <a:spcPts val="0"/>
              </a:spcBef>
              <a:spcAft>
                <a:spcPts val="0"/>
              </a:spcAft>
              <a:buSzPts val="1400"/>
              <a:buNone/>
            </a:pPr>
            <a:r>
              <a:t>| Candidate success | Whether required evidence entered the candidate set, under that runner's definition. Distinct from final evidence recall. |</a:t>
            </a:r>
            <a:endParaRPr/>
          </a:p>
          <a:p xmlns:a="http://schemas.openxmlformats.org/drawingml/2006/main">
            <a:pPr marL="0" lvl="0" indent="0" algn="l">
              <a:lnSpc>
                <a:spcPct val="100000"/>
              </a:lnSpc>
              <a:spcBef>
                <a:spcPts val="0"/>
              </a:spcBef>
              <a:spcAft>
                <a:spcPts val="0"/>
              </a:spcAft>
              <a:buSzPts val="1400"/>
              <a:buNone/>
            </a:pPr>
            <a:r>
              <a:t>| Emotion micro/macro F1 | Aggregate label decisions / equally weighted per-label performance in a multilabel task. |</a:t>
            </a:r>
            <a:endParaRPr/>
          </a:p>
          <a:p xmlns:a="http://schemas.openxmlformats.org/drawingml/2006/main">
            <a:pPr marL="0" lvl="0" indent="0" algn="l">
              <a:lnSpc>
                <a:spcPct val="100000"/>
              </a:lnSpc>
              <a:spcBef>
                <a:spcPts val="0"/>
              </a:spcBef>
              <a:spcAft>
                <a:spcPts val="0"/>
              </a:spcAft>
              <a:buSzPts val="1400"/>
              <a:buNone/>
            </a:pPr>
            <a:r>
              <a:t>| Coverage / abstention | How often the system answers versus declines, alongside error among answered cases. |</a:t>
            </a:r>
            <a:endParaRPr/>
          </a:p>
          <a:p xmlns:a="http://schemas.openxmlformats.org/drawingml/2006/main">
            <a:pPr marL="0" lvl="0" indent="0" algn="l">
              <a:lnSpc>
                <a:spcPct val="100000"/>
              </a:lnSpc>
              <a:spcBef>
                <a:spcPts val="0"/>
              </a:spcBef>
              <a:spcAft>
                <a:spcPts val="0"/>
              </a:spcAft>
              <a:buSzPts val="1400"/>
              <a:buNone/>
            </a:pPr>
            <a:r>
              <a:t>| Calibration | Whether confidence aligns with empirical correctness. Report the exact calibration metric and fitted split. |</a:t>
            </a:r>
            <a:endParaRPr/>
          </a:p>
          <a:p xmlns:a="http://schemas.openxmlformats.org/drawingml/2006/main">
            <a:pPr marL="0" lvl="0" indent="0" algn="l">
              <a:lnSpc>
                <a:spcPct val="100000"/>
              </a:lnSpc>
              <a:spcBef>
                <a:spcPts val="0"/>
              </a:spcBef>
              <a:spcAft>
                <a:spcPts val="0"/>
              </a:spcAft>
              <a:buSzPts val="1400"/>
              <a:buNone/>
            </a:pPr>
            <a:r>
              <a:t>| Reflection help/harm | Incorrect-to-correct and correct-to-incorrect changes from actual interventions. |</a:t>
            </a:r>
            <a:endParaRPr/>
          </a:p>
          <a:p xmlns:a="http://schemas.openxmlformats.org/drawingml/2006/main">
            <a:pPr marL="0" lvl="0" indent="0" algn="l">
              <a:lnSpc>
                <a:spcPct val="100000"/>
              </a:lnSpc>
              <a:spcBef>
                <a:spcPts val="0"/>
              </a:spcBef>
              <a:spcAft>
                <a:spcPts val="0"/>
              </a:spcAft>
              <a:buSzPts val="1400"/>
              <a:buNone/>
            </a:pPr>
            <a:r>
              <a:t>| Cost | Calls, tokens, latency, model/device load, memory/storage, and maintenance work.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HotpotQA use its native answer and supporting-fact metrics, including joint metrics where the runner supports them. For LoCoMo retain native category/answer/evidence accounting. GoEmotions measures the classification component, not the full QA wrapper. [E05, benchmark READMEs]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8.4 Avoid misleading result slides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Memory quality comparison has zero benchmark queries. Its zero metrics establish no retrieval improvement or preserved quality.</a:t>
            </a:r>
            <a:endParaRPr/>
          </a:p>
          <a:p xmlns:a="http://schemas.openxmlformats.org/drawingml/2006/main">
            <a:pPr marL="0" lvl="0" indent="0" algn="l">
              <a:lnSpc>
                <a:spcPct val="100000"/>
              </a:lnSpc>
              <a:spcBef>
                <a:spcPts val="0"/>
              </a:spcBef>
              <a:spcAft>
                <a:spcPts val="0"/>
              </a:spcAft>
              <a:buSzPts val="1400"/>
              <a:buNone/>
            </a:pPr>
            <a:r>
              <a:t>Memory formation report contains only two interactions, zero stored memories, two rejected memories. It is a narrow saved example, not retention-performance evidence.</a:t>
            </a:r>
            <a:endParaRPr/>
          </a:p>
          <a:p xmlns:a="http://schemas.openxmlformats.org/drawingml/2006/main">
            <a:pPr marL="0" lvl="0" indent="0" algn="l">
              <a:lnSpc>
                <a:spcPct val="100000"/>
              </a:lnSpc>
              <a:spcBef>
                <a:spcPts val="0"/>
              </a:spcBef>
              <a:spcAft>
                <a:spcPts val="0"/>
              </a:spcAft>
              <a:buSzPts val="1400"/>
              <a:buNone/>
            </a:pPr>
            <a:r>
              <a:t>A smoke fixture passing shows wiring/accounting. A sampled mode finishing shows completion only for its declared selection.</a:t>
            </a:r>
            <a:endParaRPr/>
          </a:p>
          <a:p xmlns:a="http://schemas.openxmlformats.org/drawingml/2006/main">
            <a:pPr marL="0" lvl="0" indent="0" algn="l">
              <a:lnSpc>
                <a:spcPct val="100000"/>
              </a:lnSpc>
              <a:spcBef>
                <a:spcPts val="0"/>
              </a:spcBef>
              <a:spcAft>
                <a:spcPts val="0"/>
              </a:spcAft>
              <a:buSzPts val="1400"/>
              <a:buNone/>
            </a:pPr>
            <a:r>
              <a:t>A passing launch estimate does not show that the full benchmark finished. A complete run can still have poor answer quality.</a:t>
            </a:r>
            <a:endParaRPr/>
          </a:p>
          <a:p xmlns:a="http://schemas.openxmlformats.org/drawingml/2006/main">
            <a:pPr marL="0" lvl="0" indent="0" algn="l">
              <a:lnSpc>
                <a:spcPct val="100000"/>
              </a:lnSpc>
              <a:spcBef>
                <a:spcPts val="0"/>
              </a:spcBef>
              <a:spcAft>
                <a:spcPts val="0"/>
              </a:spcAft>
              <a:buSzPts val="1400"/>
              <a:buNone/>
            </a:pPr>
            <a:r>
              <a:t>Package availability, module imports, and an architecture diagram do not prove the component ran.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8.5 How to address the template's 50% demonstration requirement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Agree on a finite module/demo checklist before assigning a percentage. Mark each item rehearsed with artifact, implemented but not rehearsed, or pending. Compute demonstrated coverage only from that agreed list. This document establishes preparation and evidence mapping, not a fabricated "50% complete" status. The previous review request requires the runnable scenario and visible comparison before marking the demonstration delivered.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C:/PRIMA_next/tests/runtime/test_canonical_contract.py</a:t>
            </a:r>
            <a:endParaRPr/>
          </a:p>
          <a:p xmlns:a="http://schemas.openxmlformats.org/drawingml/2006/main">
            <a:pPr marL="0" lvl="0" indent="0" algn="l">
              <a:lnSpc>
                <a:spcPct val="100000"/>
              </a:lnSpc>
              <a:spcBef>
                <a:spcPts val="0"/>
              </a:spcBef>
              <a:spcAft>
                <a:spcPts val="0"/>
              </a:spcAft>
              <a:buSzPts val="1400"/>
              <a:buNone/>
            </a:pPr>
            <a:r>
              <a:t>C:/PRIMA_next/tests/runtime/test_principal_hardening.py</a:t>
            </a:r>
            <a:endParaRPr/>
          </a:p>
          <a:p xmlns:a="http://schemas.openxmlformats.org/drawingml/2006/main">
            <a:pPr marL="0" lvl="0" indent="0" algn="l">
              <a:lnSpc>
                <a:spcPct val="100000"/>
              </a:lnSpc>
              <a:spcBef>
                <a:spcPts val="0"/>
              </a:spcBef>
              <a:spcAft>
                <a:spcPts val="0"/>
              </a:spcAft>
              <a:buSzPts val="1400"/>
              <a:buNone/>
            </a:pPr>
            <a:r>
              <a:t>C:/PRIMA_next/tests/state/test_state_ownership.py</a:t>
            </a:r>
            <a:endParaRPr/>
          </a:p>
          <a:p xmlns:a="http://schemas.openxmlformats.org/drawingml/2006/main">
            <a:pPr marL="0" lvl="0" indent="0" algn="l">
              <a:lnSpc>
                <a:spcPct val="100000"/>
              </a:lnSpc>
              <a:spcBef>
                <a:spcPts val="0"/>
              </a:spcBef>
              <a:spcAft>
                <a:spcPts val="0"/>
              </a:spcAft>
              <a:buSzPts val="1400"/>
              <a:buNone/>
            </a:pPr>
            <a:r>
              <a:t>C:/PRIMA_next/tests/affect/test_affect_engine.py</a:t>
            </a:r>
            <a:endParaRPr/>
          </a:p>
          <a:p xmlns:a="http://schemas.openxmlformats.org/drawingml/2006/main">
            <a:pPr marL="0" lvl="0" indent="0" algn="l">
              <a:lnSpc>
                <a:spcPct val="100000"/>
              </a:lnSpc>
              <a:spcBef>
                <a:spcPts val="0"/>
              </a:spcBef>
              <a:spcAft>
                <a:spcPts val="0"/>
              </a:spcAft>
              <a:buSzPts val="1400"/>
              <a:buNone/>
            </a:pPr>
            <a:r>
              <a:t>C:/PRIMA_next/tests/affect/test_history_and_priors.py</a:t>
            </a:r>
            <a:endParaRPr/>
          </a:p>
          <a:p xmlns:a="http://schemas.openxmlformats.org/drawingml/2006/main">
            <a:pPr marL="0" lvl="0" indent="0" algn="l">
              <a:lnSpc>
                <a:spcPct val="100000"/>
              </a:lnSpc>
              <a:spcBef>
                <a:spcPts val="0"/>
              </a:spcBef>
              <a:spcAft>
                <a:spcPts val="0"/>
              </a:spcAft>
              <a:buSzPts val="1400"/>
              <a:buNone/>
            </a:pPr>
            <a:r>
              <a:t>C:/PRIMA_next/tests/memory/test_memory_formation.py</a:t>
            </a:r>
            <a:endParaRPr/>
          </a:p>
          <a:p xmlns:a="http://schemas.openxmlformats.org/drawingml/2006/main">
            <a:pPr marL="0" lvl="0" indent="0" algn="l">
              <a:lnSpc>
                <a:spcPct val="100000"/>
              </a:lnSpc>
              <a:spcBef>
                <a:spcPts val="0"/>
              </a:spcBef>
              <a:spcAft>
                <a:spcPts val="0"/>
              </a:spcAft>
              <a:buSzPts val="1400"/>
              <a:buNone/>
            </a:pPr>
            <a:r>
              <a:t>C:/PRIMA_next/tests/memory/test_memory_admission.py</a:t>
            </a:r>
            <a:endParaRPr/>
          </a:p>
          <a:p xmlns:a="http://schemas.openxmlformats.org/drawingml/2006/main">
            <a:pPr marL="0" lvl="0" indent="0" algn="l">
              <a:lnSpc>
                <a:spcPct val="100000"/>
              </a:lnSpc>
              <a:spcBef>
                <a:spcPts val="0"/>
              </a:spcBef>
              <a:spcAft>
                <a:spcPts val="0"/>
              </a:spcAft>
              <a:buSzPts val="1400"/>
              <a:buNone/>
            </a:pPr>
            <a:r>
              <a:t>C:/PRIMA_next/tests/memory/test_importance_scoring.py</a:t>
            </a:r>
            <a:endParaRPr/>
          </a:p>
          <a:p xmlns:a="http://schemas.openxmlformats.org/drawingml/2006/main">
            <a:pPr marL="0" lvl="0" indent="0" algn="l">
              <a:lnSpc>
                <a:spcPct val="100000"/>
              </a:lnSpc>
              <a:spcBef>
                <a:spcPts val="0"/>
              </a:spcBef>
              <a:spcAft>
                <a:spcPts val="0"/>
              </a:spcAft>
              <a:buSzPts val="1400"/>
              <a:buNone/>
            </a:pPr>
            <a:r>
              <a:t>C:/PRIMA_next/tests/retrieval/test_phase07_retrieval_alignment.py</a:t>
            </a:r>
            <a:endParaRPr/>
          </a:p>
          <a:p xmlns:a="http://schemas.openxmlformats.org/drawingml/2006/main">
            <a:pPr marL="0" lvl="0" indent="0" algn="l">
              <a:lnSpc>
                <a:spcPct val="100000"/>
              </a:lnSpc>
              <a:spcBef>
                <a:spcPts val="0"/>
              </a:spcBef>
              <a:spcAft>
                <a:spcPts val="0"/>
              </a:spcAft>
              <a:buSzPts val="1400"/>
              <a:buNone/>
            </a:pPr>
            <a:r>
              <a:t>C:/PRIMA_next/tests/retrieval/test_temporal_routing.py</a:t>
            </a:r>
            <a:endParaRPr/>
          </a:p>
          <a:p xmlns:a="http://schemas.openxmlformats.org/drawingml/2006/main">
            <a:pPr marL="0" lvl="0" indent="0" algn="l">
              <a:lnSpc>
                <a:spcPct val="100000"/>
              </a:lnSpc>
              <a:spcBef>
                <a:spcPts val="0"/>
              </a:spcBef>
              <a:spcAft>
                <a:spcPts val="0"/>
              </a:spcAft>
              <a:buSzPts val="1400"/>
              <a:buNone/>
            </a:pPr>
            <a:r>
              <a:t>C:/PRIMA_next/tests/graph/test_graph_phase3.py</a:t>
            </a:r>
            <a:endParaRPr/>
          </a:p>
          <a:p xmlns:a="http://schemas.openxmlformats.org/drawingml/2006/main">
            <a:pPr marL="0" lvl="0" indent="0" algn="l">
              <a:lnSpc>
                <a:spcPct val="100000"/>
              </a:lnSpc>
              <a:spcBef>
                <a:spcPts val="0"/>
              </a:spcBef>
              <a:spcAft>
                <a:spcPts val="0"/>
              </a:spcAft>
              <a:buSzPts val="1400"/>
              <a:buNone/>
            </a:pPr>
            <a:r>
              <a:t>C:/PRIMA_next/tests/evolution/test_evolution_phase4.py</a:t>
            </a:r>
            <a:endParaRPr/>
          </a:p>
          <a:p xmlns:a="http://schemas.openxmlformats.org/drawingml/2006/main">
            <a:pPr marL="0" lvl="0" indent="0" algn="l">
              <a:lnSpc>
                <a:spcPct val="100000"/>
              </a:lnSpc>
              <a:spcBef>
                <a:spcPts val="0"/>
              </a:spcBef>
              <a:spcAft>
                <a:spcPts val="0"/>
              </a:spcAft>
              <a:buSzPts val="1400"/>
              <a:buNone/>
            </a:pPr>
            <a:r>
              <a:t>C:/PRIMA_next/tests/lineage/test_maintenance_phase5.py</a:t>
            </a:r>
            <a:endParaRPr/>
          </a:p>
          <a:p xmlns:a="http://schemas.openxmlformats.org/drawingml/2006/main">
            <a:pPr marL="0" lvl="0" indent="0" algn="l">
              <a:lnSpc>
                <a:spcPct val="100000"/>
              </a:lnSpc>
              <a:spcBef>
                <a:spcPts val="0"/>
              </a:spcBef>
              <a:spcAft>
                <a:spcPts val="0"/>
              </a:spcAft>
              <a:buSzPts val="1400"/>
              <a:buNone/>
            </a:pPr>
            <a:r>
              <a:t>C:/PRIMA_next/tests/reasoning/test_controller.py</a:t>
            </a:r>
            <a:endParaRPr/>
          </a:p>
          <a:p xmlns:a="http://schemas.openxmlformats.org/drawingml/2006/main">
            <a:pPr marL="0" lvl="0" indent="0" algn="l">
              <a:lnSpc>
                <a:spcPct val="100000"/>
              </a:lnSpc>
              <a:spcBef>
                <a:spcPts val="0"/>
              </a:spcBef>
              <a:spcAft>
                <a:spcPts val="0"/>
              </a:spcAft>
              <a:buSzPts val="1400"/>
              <a:buNone/>
            </a:pPr>
            <a:r>
              <a:t>C:/PRIMA_next/tests/reasoning/test_controller_boundaries.py</a:t>
            </a:r>
            <a:endParaRPr/>
          </a:p>
          <a:p xmlns:a="http://schemas.openxmlformats.org/drawingml/2006/main">
            <a:pPr marL="0" lvl="0" indent="0" algn="l">
              <a:lnSpc>
                <a:spcPct val="100000"/>
              </a:lnSpc>
              <a:spcBef>
                <a:spcPts val="0"/>
              </a:spcBef>
              <a:spcAft>
                <a:spcPts val="0"/>
              </a:spcAft>
              <a:buSzPts val="1400"/>
              <a:buNone/>
            </a:pPr>
            <a:r>
              <a:t>C:/PRIMA_next/tests/planning/test_planning_phase2.py</a:t>
            </a:r>
            <a:endParaRPr/>
          </a:p>
          <a:p xmlns:a="http://schemas.openxmlformats.org/drawingml/2006/main">
            <a:pPr marL="0" lvl="0" indent="0" algn="l">
              <a:lnSpc>
                <a:spcPct val="100000"/>
              </a:lnSpc>
              <a:spcBef>
                <a:spcPts val="0"/>
              </a:spcBef>
              <a:spcAft>
                <a:spcPts val="0"/>
              </a:spcAft>
              <a:buSzPts val="1400"/>
              <a:buNone/>
            </a:pPr>
            <a:r>
              <a:t>C:/PRIMA_next/tests/workflow/test_phase05_confidence_branch.py</a:t>
            </a:r>
            <a:endParaRPr/>
          </a:p>
          <a:p xmlns:a="http://schemas.openxmlformats.org/drawingml/2006/main">
            <a:pPr marL="0" lvl="0" indent="0" algn="l">
              <a:lnSpc>
                <a:spcPct val="100000"/>
              </a:lnSpc>
              <a:spcBef>
                <a:spcPts val="0"/>
              </a:spcBef>
              <a:spcAft>
                <a:spcPts val="0"/>
              </a:spcAft>
              <a:buSzPts val="1400"/>
              <a:buNone/>
            </a:pPr>
            <a:r>
              <a:t>C:/PRIMA_next/tests/workflow/test_phase06_correction_loop.py</a:t>
            </a:r>
            <a:endParaRPr/>
          </a:p>
          <a:p xmlns:a="http://schemas.openxmlformats.org/drawingml/2006/main">
            <a:pPr marL="0" lvl="0" indent="0" algn="l">
              <a:lnSpc>
                <a:spcPct val="100000"/>
              </a:lnSpc>
              <a:spcBef>
                <a:spcPts val="0"/>
              </a:spcBef>
              <a:spcAft>
                <a:spcPts val="0"/>
              </a:spcAft>
              <a:buSzPts val="1400"/>
              <a:buNone/>
            </a:pPr>
            <a:r>
              <a:t>C:/PRIMA_next/tests/reflection/test_reflection_pillar.py</a:t>
            </a:r>
            <a:endParaRPr/>
          </a:p>
          <a:p xmlns:a="http://schemas.openxmlformats.org/drawingml/2006/main">
            <a:pPr marL="0" lvl="0" indent="0" algn="l">
              <a:lnSpc>
                <a:spcPct val="100000"/>
              </a:lnSpc>
              <a:spcBef>
                <a:spcPts val="0"/>
              </a:spcBef>
              <a:spcAft>
                <a:spcPts val="0"/>
              </a:spcAft>
              <a:buSzPts val="1400"/>
              <a:buNone/>
            </a:pPr>
            <a:r>
              <a:t>C:/PRIMA_next/tests/test_action_tool_phase5.py</a:t>
            </a:r>
            <a:endParaRPr/>
          </a:p>
          <a:p xmlns:a="http://schemas.openxmlformats.org/drawingml/2006/main">
            <a:pPr marL="0" lvl="0" indent="0" algn="l">
              <a:lnSpc>
                <a:spcPct val="100000"/>
              </a:lnSpc>
              <a:spcBef>
                <a:spcPts val="0"/>
              </a:spcBef>
              <a:spcAft>
                <a:spcPts val="0"/>
              </a:spcAft>
              <a:buSzPts val="1400"/>
              <a:buNone/>
            </a:pPr>
            <a:r>
              <a:t>C:/PRIMA_next/tests/test_llm_structured_output.py</a:t>
            </a:r>
            <a:endParaRPr/>
          </a:p>
          <a:p xmlns:a="http://schemas.openxmlformats.org/drawingml/2006/main">
            <a:pPr marL="0" lvl="0" indent="0" algn="l">
              <a:lnSpc>
                <a:spcPct val="100000"/>
              </a:lnSpc>
              <a:spcBef>
                <a:spcPts val="0"/>
              </a:spcBef>
              <a:spcAft>
                <a:spcPts val="0"/>
              </a:spcAft>
              <a:buSzPts val="1400"/>
              <a:buNone/>
            </a:pPr>
            <a:r>
              <a:t>C:/PRIMA_next/tests/test_answer_prompt_identity.py</a:t>
            </a:r>
            <a:endParaRPr/>
          </a:p>
          <a:p xmlns:a="http://schemas.openxmlformats.org/drawingml/2006/main">
            <a:pPr marL="0" lvl="0" indent="0" algn="l">
              <a:lnSpc>
                <a:spcPct val="100000"/>
              </a:lnSpc>
              <a:spcBef>
                <a:spcPts val="0"/>
              </a:spcBef>
              <a:spcAft>
                <a:spcPts val="0"/>
              </a:spcAft>
              <a:buSzPts val="1400"/>
              <a:buNone/>
            </a:pPr>
            <a:r>
              <a:t>C:/PRIMA_next/tests/integration/test_release_readiness.py</a:t>
            </a:r>
            <a:endParaRPr/>
          </a:p>
          <a:p xmlns:a="http://schemas.openxmlformats.org/drawingml/2006/main">
            <a:pPr marL="0" lvl="0" indent="0" algn="l">
              <a:lnSpc>
                <a:spcPct val="100000"/>
              </a:lnSpc>
              <a:spcBef>
                <a:spcPts val="0"/>
              </a:spcBef>
              <a:spcAft>
                <a:spcPts val="0"/>
              </a:spcAft>
              <a:buSzPts val="1400"/>
              <a:buNone/>
            </a:pPr>
            <a:r>
              <a:t>C:/PRIMA_next/tests/memory/test_phase08_background_maintenance.py</a:t>
            </a:r>
            <a:endParaRPr/>
          </a:p>
          <a:p xmlns:a="http://schemas.openxmlformats.org/drawingml/2006/main">
            <a:pPr marL="0" lvl="0" indent="0" algn="l">
              <a:lnSpc>
                <a:spcPct val="100000"/>
              </a:lnSpc>
              <a:spcBef>
                <a:spcPts val="0"/>
              </a:spcBef>
              <a:spcAft>
                <a:spcPts val="0"/>
              </a:spcAft>
              <a:buSzPts val="1400"/>
              <a:buNone/>
            </a:pPr>
            <a:r>
              <a:t>C:/PRIMA_next/tests/test_events_phase6.py</a:t>
            </a:r>
            <a:endParaRPr/>
          </a:p>
          <a:p xmlns:a="http://schemas.openxmlformats.org/drawingml/2006/main">
            <a:pPr marL="0" lvl="0" indent="0" algn="l">
              <a:lnSpc>
                <a:spcPct val="100000"/>
              </a:lnSpc>
              <a:spcBef>
                <a:spcPts val="0"/>
              </a:spcBef>
              <a:spcAft>
                <a:spcPts val="0"/>
              </a:spcAft>
              <a:buSzPts val="1400"/>
              <a:buNone/>
            </a:pPr>
            <a:r>
              <a:t>C:/PRIMA_next/tests/benchmarks/test_maintenance_barriers.py</a:t>
            </a:r>
            <a:endParaRPr/>
          </a:p>
          <a:p xmlns:a="http://schemas.openxmlformats.org/drawingml/2006/main">
            <a:pPr marL="0" lvl="0" indent="0" algn="l">
              <a:lnSpc>
                <a:spcPct val="100000"/>
              </a:lnSpc>
              <a:spcBef>
                <a:spcPts val="0"/>
              </a:spcBef>
              <a:spcAft>
                <a:spcPts val="0"/>
              </a:spcAft>
              <a:buSzPts val="1400"/>
              <a:buNone/>
            </a:pPr>
            <a:r>
              <a:t>C:/PRIMA_next/tests/benchmarks/test_campaign.py</a:t>
            </a:r>
            <a:endParaRPr/>
          </a:p>
          <a:p xmlns:a="http://schemas.openxmlformats.org/drawingml/2006/main">
            <a:pPr marL="0" lvl="0" indent="0" algn="l">
              <a:lnSpc>
                <a:spcPct val="100000"/>
              </a:lnSpc>
              <a:spcBef>
                <a:spcPts val="0"/>
              </a:spcBef>
              <a:spcAft>
                <a:spcPts val="0"/>
              </a:spcAft>
              <a:buSzPts val="1400"/>
              <a:buNone/>
            </a:pPr>
            <a:r>
              <a:t>C:/PRIMA_next/tests/benchmarks/test_campaign_comparison_hardening.py</a:t>
            </a:r>
            <a:endParaRPr/>
          </a:p>
          <a:p xmlns:a="http://schemas.openxmlformats.org/drawingml/2006/main">
            <a:pPr marL="0" lvl="0" indent="0" algn="l">
              <a:lnSpc>
                <a:spcPct val="100000"/>
              </a:lnSpc>
              <a:spcBef>
                <a:spcPts val="0"/>
              </a:spcBef>
              <a:spcAft>
                <a:spcPts val="0"/>
              </a:spcAft>
              <a:buSzPts val="1400"/>
              <a:buNone/>
            </a:pPr>
            <a:r>
              <a:t>C:/PRIMA_next/tests/benchmarks/test_kaggle_smoke.py</a:t>
            </a:r>
            <a:endParaRPr/>
          </a:p>
          <a:p xmlns:a="http://schemas.openxmlformats.org/drawingml/2006/main">
            <a:pPr marL="0" lvl="0" indent="0" algn="l">
              <a:lnSpc>
                <a:spcPct val="100000"/>
              </a:lnSpc>
              <a:spcBef>
                <a:spcPts val="0"/>
              </a:spcBef>
              <a:spcAft>
                <a:spcPts val="0"/>
              </a:spcAft>
              <a:buSzPts val="1400"/>
              <a:buNone/>
            </a:pPr>
            <a:r>
              <a:t>C:/PRIMA_next/evaluation/results/memory_quality_comparison.json</a:t>
            </a:r>
            <a:endParaRPr/>
          </a:p>
          <a:p xmlns:a="http://schemas.openxmlformats.org/drawingml/2006/main">
            <a:pPr marL="0" lvl="0" indent="0" algn="l">
              <a:lnSpc>
                <a:spcPct val="100000"/>
              </a:lnSpc>
              <a:spcBef>
                <a:spcPts val="0"/>
              </a:spcBef>
              <a:spcAft>
                <a:spcPts val="0"/>
              </a:spcAft>
              <a:buSzPts val="1400"/>
              <a:buNone/>
            </a:pPr>
            <a:r>
              <a:t>C:/PRIMA_next/evaluation/results/memory_formation_report.json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Applicability in other domains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9. Slide 8: applicability in other domains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proposed applications, not domains already validated by PRIMA. The transferable mechanism is a continuing agent that retrieves traceable history, budgets its work, and performs explicitly allowed operations.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Domain | Common problem / component mapping | Modifications and suitable data | Expected benefit, feasibility, limitation, comparison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Student/project assistant | Recover commitments, changing preferences, mentor feedback, and milestones. Episodic/temporal memory plus QA and planning. | Course/project documents and consented synthetic or real session histories. Define source/version/time fields and student isolation. | Closest to the demo. Compare model-only, full-history prompting, and simple RAG. Benefits must be measured as factual recall, task completion, cost, and corrected stale preferences. |</a:t>
            </a:r>
            <a:endParaRPr/>
          </a:p>
          <a:p xmlns:a="http://schemas.openxmlformats.org/drawingml/2006/main">
            <a:pPr marL="0" lvl="0" indent="0" algn="l">
              <a:lnSpc>
                <a:spcPct val="100000"/>
              </a:lnSpc>
              <a:spcBef>
                <a:spcPts val="0"/>
              </a:spcBef>
              <a:spcAft>
                <a:spcPts val="0"/>
              </a:spcAft>
              <a:buSzPts val="1400"/>
              <a:buNone/>
            </a:pPr>
            <a:r>
              <a:t>| Customer support | Repeated users reference previous tickets and attempted fixes. Episodic/procedural memory plus controlled knowledge retrieval. | Versioned product knowledge, deidentified tickets, permitted read-only support tools. Add escalation and stale-policy handling. | Could reduce repeated questions and retrieve proven procedures. Compare existing KB search/RAG. Privacy, policy freshness, and error escalation remain constraints. |</a:t>
            </a:r>
            <a:endParaRPr/>
          </a:p>
          <a:p xmlns:a="http://schemas.openxmlformats.org/drawingml/2006/main">
            <a:pPr marL="0" lvl="0" indent="0" algn="l">
              <a:lnSpc>
                <a:spcPct val="100000"/>
              </a:lnSpc>
              <a:spcBef>
                <a:spcPts val="0"/>
              </a:spcBef>
              <a:spcAft>
                <a:spcPts val="0"/>
              </a:spcAft>
              <a:buSzPts val="1400"/>
              <a:buNone/>
            </a:pPr>
            <a:r>
              <a:t>| Enterprise knowledge assistant | Evidence spans documents, projects, people, and dates. Hybrid retrieval/graph/provenance. | Approved internal documents with enforced access filters, document versions, and deletion controls. | Could improve source traceability across related records. Compare hybrid search/simple RAG. Current shared collection/state arrangements do not establish enterprise access isolation. |</a:t>
            </a:r>
            <a:endParaRPr/>
          </a:p>
          <a:p xmlns:a="http://schemas.openxmlformats.org/drawingml/2006/main">
            <a:pPr marL="0" lvl="0" indent="0" algn="l">
              <a:lnSpc>
                <a:spcPct val="100000"/>
              </a:lnSpc>
              <a:spcBef>
                <a:spcPts val="0"/>
              </a:spcBef>
              <a:spcAft>
                <a:spcPts val="0"/>
              </a:spcAft>
              <a:buSzPts val="1400"/>
              <a:buNone/>
            </a:pPr>
            <a:r>
              <a:t>| Research literature assistant | Compare claims across papers and follow project-specific research history. Semantic memory, citations, bounded retrieval. | Open research papers and evaluator-created questions with document-level citations. Add PDF extraction, bibliographic identity, and claim-support evaluation. | Could support reproducible evidence gathering. Compare literature search plus RAG. PRIMA has not demonstrated reliable scientific claim verification. |</a:t>
            </a:r>
            <a:endParaRPr/>
          </a:p>
          <a:p xmlns:a="http://schemas.openxmlformats.org/drawingml/2006/main">
            <a:pPr marL="0" lvl="0" indent="0" algn="l">
              <a:lnSpc>
                <a:spcPct val="100000"/>
              </a:lnSpc>
              <a:spcBef>
                <a:spcPts val="0"/>
              </a:spcBef>
              <a:spcAft>
                <a:spcPts val="0"/>
              </a:spcAft>
              <a:buSzPts val="1400"/>
              <a:buNone/>
            </a:pPr>
            <a:r>
              <a:t>| Personal productivity | Remember changing tasks/preferences and use constrained local operations. Temporal memory, planning, tools. | Synthetic task/calendar histories first, followed by consented data and minimal tool permissions. | Could improve continuity. Compare conventional task search/reminders. Reliable side effects, identity, recovery, and deletion are additional requirements.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Benchmark mappings: LoCoMo provides a starting point for long conversational history, HotpotQA for evidence across multiple documents, and GoEmotions for fine-grained text emotion labels. None alone validates customer-support ROI, enterprise privacy, or productivity outcomes. LoCoMo paper, HotpotQA paper, GoEmotions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Future work should choose one target domain, define its acceptance metrics, collect suitable held-out cases, and retain only components with measured value. Healthcare diagnosis and other high-stakes deployments are outside the current demonstrated boundary.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https://aclanthology.org/2024.acl-long.747/</a:t>
            </a:r>
            <a:endParaRPr/>
          </a:p>
          <a:p xmlns:a="http://schemas.openxmlformats.org/drawingml/2006/main">
            <a:pPr marL="0" lvl="0" indent="0" algn="l">
              <a:lnSpc>
                <a:spcPct val="100000"/>
              </a:lnSpc>
              <a:spcBef>
                <a:spcPts val="0"/>
              </a:spcBef>
              <a:spcAft>
                <a:spcPts val="0"/>
              </a:spcAft>
              <a:buSzPts val="1400"/>
              <a:buNone/>
            </a:pPr>
            <a:r>
              <a:t>https://aclanthology.org/D18-1259/</a:t>
            </a:r>
            <a:endParaRPr/>
          </a:p>
          <a:p xmlns:a="http://schemas.openxmlformats.org/drawingml/2006/main">
            <a:pPr marL="0" lvl="0" indent="0" algn="l">
              <a:lnSpc>
                <a:spcPct val="100000"/>
              </a:lnSpc>
              <a:spcBef>
                <a:spcPts val="0"/>
              </a:spcBef>
              <a:spcAft>
                <a:spcPts val="0"/>
              </a:spcAft>
              <a:buSzPts val="1400"/>
              <a:buNone/>
            </a:pPr>
            <a:r>
              <a:t>https://aclanthology.org/2020.acl-main.372/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Student and customer-support domains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9. Slide 8: applicability in other domains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proposed applications, not domains already validated by PRIMA. The transferable mechanism is a continuing agent that retrieves traceable history, budgets its work, and performs explicitly allowed operations.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Domain | Common problem / component mapping | Modifications and suitable data | Expected benefit, feasibility, limitation, comparison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Student/project assistant | Recover commitments, changing preferences, mentor feedback, and milestones. Episodic/temporal memory plus QA and planning. | Course/project documents and consented synthetic or real session histories. Define source/version/time fields and student isolation. | Closest to the demo. Compare model-only, full-history prompting, and simple RAG. Benefits must be measured as factual recall, task completion, cost, and corrected stale preferences. |</a:t>
            </a:r>
            <a:endParaRPr/>
          </a:p>
          <a:p xmlns:a="http://schemas.openxmlformats.org/drawingml/2006/main">
            <a:pPr marL="0" lvl="0" indent="0" algn="l">
              <a:lnSpc>
                <a:spcPct val="100000"/>
              </a:lnSpc>
              <a:spcBef>
                <a:spcPts val="0"/>
              </a:spcBef>
              <a:spcAft>
                <a:spcPts val="0"/>
              </a:spcAft>
              <a:buSzPts val="1400"/>
              <a:buNone/>
            </a:pPr>
            <a:r>
              <a:t>| Customer support | Repeated users reference previous tickets and attempted fixes. Episodic/procedural memory plus controlled knowledge retrieval. | Versioned product knowledge, deidentified tickets, permitted read-only support tools. Add escalation and stale-policy handling. | Could reduce repeated questions and retrieve proven procedures. Compare existing KB search/RAG. Privacy, policy freshness, and error escalation remain constraints. |</a:t>
            </a:r>
            <a:endParaRPr/>
          </a:p>
          <a:p xmlns:a="http://schemas.openxmlformats.org/drawingml/2006/main">
            <a:pPr marL="0" lvl="0" indent="0" algn="l">
              <a:lnSpc>
                <a:spcPct val="100000"/>
              </a:lnSpc>
              <a:spcBef>
                <a:spcPts val="0"/>
              </a:spcBef>
              <a:spcAft>
                <a:spcPts val="0"/>
              </a:spcAft>
              <a:buSzPts val="1400"/>
              <a:buNone/>
            </a:pPr>
            <a:r>
              <a:t>| Enterprise knowledge assistant | Evidence spans documents, projects, people, and dates. Hybrid retrieval/graph/provenance. | Approved internal documents with enforced access filters, document versions, and deletion controls. | Could improve source traceability across related records. Compare hybrid search/simple RAG. Current shared collection/state arrangements do not establish enterprise access isolation. |</a:t>
            </a:r>
            <a:endParaRPr/>
          </a:p>
          <a:p xmlns:a="http://schemas.openxmlformats.org/drawingml/2006/main">
            <a:pPr marL="0" lvl="0" indent="0" algn="l">
              <a:lnSpc>
                <a:spcPct val="100000"/>
              </a:lnSpc>
              <a:spcBef>
                <a:spcPts val="0"/>
              </a:spcBef>
              <a:spcAft>
                <a:spcPts val="0"/>
              </a:spcAft>
              <a:buSzPts val="1400"/>
              <a:buNone/>
            </a:pPr>
            <a:r>
              <a:t>| Research literature assistant | Compare claims across papers and follow project-specific research history. Semantic memory, citations, bounded retrieval. | Open research papers and evaluator-created questions with document-level citations. Add PDF extraction, bibliographic identity, and claim-support evaluation. | Could support reproducible evidence gathering. Compare literature search plus RAG. PRIMA has not demonstrated reliable scientific claim verification. |</a:t>
            </a:r>
            <a:endParaRPr/>
          </a:p>
          <a:p xmlns:a="http://schemas.openxmlformats.org/drawingml/2006/main">
            <a:pPr marL="0" lvl="0" indent="0" algn="l">
              <a:lnSpc>
                <a:spcPct val="100000"/>
              </a:lnSpc>
              <a:spcBef>
                <a:spcPts val="0"/>
              </a:spcBef>
              <a:spcAft>
                <a:spcPts val="0"/>
              </a:spcAft>
              <a:buSzPts val="1400"/>
              <a:buNone/>
            </a:pPr>
            <a:r>
              <a:t>| Personal productivity | Remember changing tasks/preferences and use constrained local operations. Temporal memory, planning, tools. | Synthetic task/calendar histories first, followed by consented data and minimal tool permissions. | Could improve continuity. Compare conventional task search/reminders. Reliable side effects, identity, recovery, and deletion are additional requirements.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Benchmark mappings: LoCoMo provides a starting point for long conversational history, HotpotQA for evidence across multiple documents, and GoEmotions for fine-grained text emotion labels. None alone validates customer-support ROI, enterprise privacy, or productivity outcomes. LoCoMo paper, HotpotQA paper, GoEmotions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Future work should choose one target domain, define its acceptance metrics, collect suitable held-out cases, and retain only components with measured value. Healthcare diagnosis and other high-stakes deployments are outside the current demonstrated boundary.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https://aclanthology.org/2024.acl-long.747/</a:t>
            </a:r>
            <a:endParaRPr/>
          </a:p>
          <a:p xmlns:a="http://schemas.openxmlformats.org/drawingml/2006/main">
            <a:pPr marL="0" lvl="0" indent="0" algn="l">
              <a:lnSpc>
                <a:spcPct val="100000"/>
              </a:lnSpc>
              <a:spcBef>
                <a:spcPts val="0"/>
              </a:spcBef>
              <a:spcAft>
                <a:spcPts val="0"/>
              </a:spcAft>
              <a:buSzPts val="1400"/>
              <a:buNone/>
            </a:pPr>
            <a:r>
              <a:t>https://aclanthology.org/D18-1259/</a:t>
            </a:r>
            <a:endParaRPr/>
          </a:p>
          <a:p xmlns:a="http://schemas.openxmlformats.org/drawingml/2006/main">
            <a:pPr marL="0" lvl="0" indent="0" algn="l">
              <a:lnSpc>
                <a:spcPct val="100000"/>
              </a:lnSpc>
              <a:spcBef>
                <a:spcPts val="0"/>
              </a:spcBef>
              <a:spcAft>
                <a:spcPts val="0"/>
              </a:spcAft>
              <a:buSzPts val="1400"/>
              <a:buNone/>
            </a:pPr>
            <a:r>
              <a:t>https://aclanthology.org/2020.acl-main.372/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Enterprise and research domains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9. Slide 8: applicability in other domains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proposed applications, not domains already validated by PRIMA. The transferable mechanism is a continuing agent that retrieves traceable history, budgets its work, and performs explicitly allowed operations.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Domain | Common problem / component mapping | Modifications and suitable data | Expected benefit, feasibility, limitation, comparison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Student/project assistant | Recover commitments, changing preferences, mentor feedback, and milestones. Episodic/temporal memory plus QA and planning. | Course/project documents and consented synthetic or real session histories. Define source/version/time fields and student isolation. | Closest to the demo. Compare model-only, full-history prompting, and simple RAG. Benefits must be measured as factual recall, task completion, cost, and corrected stale preferences. |</a:t>
            </a:r>
            <a:endParaRPr/>
          </a:p>
          <a:p xmlns:a="http://schemas.openxmlformats.org/drawingml/2006/main">
            <a:pPr marL="0" lvl="0" indent="0" algn="l">
              <a:lnSpc>
                <a:spcPct val="100000"/>
              </a:lnSpc>
              <a:spcBef>
                <a:spcPts val="0"/>
              </a:spcBef>
              <a:spcAft>
                <a:spcPts val="0"/>
              </a:spcAft>
              <a:buSzPts val="1400"/>
              <a:buNone/>
            </a:pPr>
            <a:r>
              <a:t>| Customer support | Repeated users reference previous tickets and attempted fixes. Episodic/procedural memory plus controlled knowledge retrieval. | Versioned product knowledge, deidentified tickets, permitted read-only support tools. Add escalation and stale-policy handling. | Could reduce repeated questions and retrieve proven procedures. Compare existing KB search/RAG. Privacy, policy freshness, and error escalation remain constraints. |</a:t>
            </a:r>
            <a:endParaRPr/>
          </a:p>
          <a:p xmlns:a="http://schemas.openxmlformats.org/drawingml/2006/main">
            <a:pPr marL="0" lvl="0" indent="0" algn="l">
              <a:lnSpc>
                <a:spcPct val="100000"/>
              </a:lnSpc>
              <a:spcBef>
                <a:spcPts val="0"/>
              </a:spcBef>
              <a:spcAft>
                <a:spcPts val="0"/>
              </a:spcAft>
              <a:buSzPts val="1400"/>
              <a:buNone/>
            </a:pPr>
            <a:r>
              <a:t>| Enterprise knowledge assistant | Evidence spans documents, projects, people, and dates. Hybrid retrieval/graph/provenance. | Approved internal documents with enforced access filters, document versions, and deletion controls. | Could improve source traceability across related records. Compare hybrid search/simple RAG. Current shared collection/state arrangements do not establish enterprise access isolation. |</a:t>
            </a:r>
            <a:endParaRPr/>
          </a:p>
          <a:p xmlns:a="http://schemas.openxmlformats.org/drawingml/2006/main">
            <a:pPr marL="0" lvl="0" indent="0" algn="l">
              <a:lnSpc>
                <a:spcPct val="100000"/>
              </a:lnSpc>
              <a:spcBef>
                <a:spcPts val="0"/>
              </a:spcBef>
              <a:spcAft>
                <a:spcPts val="0"/>
              </a:spcAft>
              <a:buSzPts val="1400"/>
              <a:buNone/>
            </a:pPr>
            <a:r>
              <a:t>| Research literature assistant | Compare claims across papers and follow project-specific research history. Semantic memory, citations, bounded retrieval. | Open research papers and evaluator-created questions with document-level citations. Add PDF extraction, bibliographic identity, and claim-support evaluation. | Could support reproducible evidence gathering. Compare literature search plus RAG. PRIMA has not demonstrated reliable scientific claim verification. |</a:t>
            </a:r>
            <a:endParaRPr/>
          </a:p>
          <a:p xmlns:a="http://schemas.openxmlformats.org/drawingml/2006/main">
            <a:pPr marL="0" lvl="0" indent="0" algn="l">
              <a:lnSpc>
                <a:spcPct val="100000"/>
              </a:lnSpc>
              <a:spcBef>
                <a:spcPts val="0"/>
              </a:spcBef>
              <a:spcAft>
                <a:spcPts val="0"/>
              </a:spcAft>
              <a:buSzPts val="1400"/>
              <a:buNone/>
            </a:pPr>
            <a:r>
              <a:t>| Personal productivity | Remember changing tasks/preferences and use constrained local operations. Temporal memory, planning, tools. | Synthetic task/calendar histories first, followed by consented data and minimal tool permissions. | Could improve continuity. Compare conventional task search/reminders. Reliable side effects, identity, recovery, and deletion are additional requirements.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Benchmark mappings: LoCoMo provides a starting point for long conversational history, HotpotQA for evidence across multiple documents, and GoEmotions for fine-grained text emotion labels. None alone validates customer-support ROI, enterprise privacy, or productivity outcomes. LoCoMo paper, HotpotQA paper, GoEmotions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Future work should choose one target domain, define its acceptance metrics, collect suitable held-out cases, and retain only components with measured value. Healthcare diagnosis and other high-stakes deployments are outside the current demonstrated boundary.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https://aclanthology.org/2024.acl-long.747/</a:t>
            </a:r>
            <a:endParaRPr/>
          </a:p>
          <a:p xmlns:a="http://schemas.openxmlformats.org/drawingml/2006/main">
            <a:pPr marL="0" lvl="0" indent="0" algn="l">
              <a:lnSpc>
                <a:spcPct val="100000"/>
              </a:lnSpc>
              <a:spcBef>
                <a:spcPts val="0"/>
              </a:spcBef>
              <a:spcAft>
                <a:spcPts val="0"/>
              </a:spcAft>
              <a:buSzPts val="1400"/>
              <a:buNone/>
            </a:pPr>
            <a:r>
              <a:t>https://aclanthology.org/D18-1259/</a:t>
            </a:r>
            <a:endParaRPr/>
          </a:p>
          <a:p xmlns:a="http://schemas.openxmlformats.org/drawingml/2006/main">
            <a:pPr marL="0" lvl="0" indent="0" algn="l">
              <a:lnSpc>
                <a:spcPct val="100000"/>
              </a:lnSpc>
              <a:spcBef>
                <a:spcPts val="0"/>
              </a:spcBef>
              <a:spcAft>
                <a:spcPts val="0"/>
              </a:spcAft>
              <a:buSzPts val="1400"/>
              <a:buNone/>
            </a:pPr>
            <a:r>
              <a:t>https://aclanthology.org/2020.acl-main.372/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Productivity, datasets and future scope (1/2)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9. Slide 8: applicability in other domains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proposed applications, not domains already validated by PRIMA. The transferable mechanism is a continuing agent that retrieves traceable history, budgets its work, and performs explicitly allowed operations.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Domain | Common problem / component mapping | Modifications and suitable data | Expected benefit, feasibility, limitation, comparison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Student/project assistant | Recover commitments, changing preferences, mentor feedback, and milestones. Episodic/temporal memory plus QA and planning. | Course/project documents and consented synthetic or real session histories. Define source/version/time fields and student isolation. | Closest to the demo. Compare model-only, full-history prompting, and simple RAG. Benefits must be measured as factual recall, task completion, cost, and corrected stale preferences. |</a:t>
            </a:r>
            <a:endParaRPr/>
          </a:p>
          <a:p xmlns:a="http://schemas.openxmlformats.org/drawingml/2006/main">
            <a:pPr marL="0" lvl="0" indent="0" algn="l">
              <a:lnSpc>
                <a:spcPct val="100000"/>
              </a:lnSpc>
              <a:spcBef>
                <a:spcPts val="0"/>
              </a:spcBef>
              <a:spcAft>
                <a:spcPts val="0"/>
              </a:spcAft>
              <a:buSzPts val="1400"/>
              <a:buNone/>
            </a:pPr>
            <a:r>
              <a:t>| Customer support | Repeated users reference previous tickets and attempted fixes. Episodic/procedural memory plus controlled knowledge retrieval. | Versioned product knowledge, deidentified tickets, permitted read-only support tools. Add escalation and stale-policy handling. | Could reduce repeated questions and retrieve proven procedures. Compare existing KB search/RAG. Privacy, policy freshness, and error escalation remain constraints. |</a:t>
            </a:r>
            <a:endParaRPr/>
          </a:p>
          <a:p xmlns:a="http://schemas.openxmlformats.org/drawingml/2006/main">
            <a:pPr marL="0" lvl="0" indent="0" algn="l">
              <a:lnSpc>
                <a:spcPct val="100000"/>
              </a:lnSpc>
              <a:spcBef>
                <a:spcPts val="0"/>
              </a:spcBef>
              <a:spcAft>
                <a:spcPts val="0"/>
              </a:spcAft>
              <a:buSzPts val="1400"/>
              <a:buNone/>
            </a:pPr>
            <a:r>
              <a:t>| Enterprise knowledge assistant | Evidence spans documents, projects, people, and dates. Hybrid retrieval/graph/provenance. | Approved internal documents with enforced access filters, document versions, and deletion controls. | Could improve source traceability across related records. Compare hybrid search/simple RAG. Current shared collection/state arrangements do not establish enterprise access isolation. |</a:t>
            </a:r>
            <a:endParaRPr/>
          </a:p>
          <a:p xmlns:a="http://schemas.openxmlformats.org/drawingml/2006/main">
            <a:pPr marL="0" lvl="0" indent="0" algn="l">
              <a:lnSpc>
                <a:spcPct val="100000"/>
              </a:lnSpc>
              <a:spcBef>
                <a:spcPts val="0"/>
              </a:spcBef>
              <a:spcAft>
                <a:spcPts val="0"/>
              </a:spcAft>
              <a:buSzPts val="1400"/>
              <a:buNone/>
            </a:pPr>
            <a:r>
              <a:t>| Research literature assistant | Compare claims across papers and follow project-specific research history. Semantic memory, citations, bounded retrieval. | Open research papers and evaluator-created questions with document-level citations. Add PDF extraction, bibliographic identity, and claim-support evaluation. | Could support reproducible evidence gathering. Compare literature search plus RAG. PRIMA has not demonstrated reliable scientific claim verification. |</a:t>
            </a:r>
            <a:endParaRPr/>
          </a:p>
          <a:p xmlns:a="http://schemas.openxmlformats.org/drawingml/2006/main">
            <a:pPr marL="0" lvl="0" indent="0" algn="l">
              <a:lnSpc>
                <a:spcPct val="100000"/>
              </a:lnSpc>
              <a:spcBef>
                <a:spcPts val="0"/>
              </a:spcBef>
              <a:spcAft>
                <a:spcPts val="0"/>
              </a:spcAft>
              <a:buSzPts val="1400"/>
              <a:buNone/>
            </a:pPr>
            <a:r>
              <a:t>| Personal productivity | Remember changing tasks/preferences and use constrained local operations. Temporal memory, planning, tools. | Synthetic task/calendar histories first, followed by consented data and minimal tool permissions. | Could improve continuity. Compare conventional task search/reminders. Reliable side effects, identity, recovery, and deletion are additional requirements.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Benchmark mappings: LoCoMo provides a starting point for long conversational history, HotpotQA for evidence across multiple documents, and GoEmotions for fine-grained text emotion labels. None alone validates customer-support ROI, enterprise privacy, or productivity outcomes. LoCoMo paper, HotpotQA paper, GoEmotions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Future work should choose one target domain, define its acceptance metrics, collect suitable held-out cases, and retain only components with measured value. Healthcare diagnosis and other high-stakes deployments are outside the current demonstrated boundary.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https://aclanthology.org/2024.acl-long.747/</a:t>
            </a:r>
            <a:endParaRPr/>
          </a:p>
          <a:p xmlns:a="http://schemas.openxmlformats.org/drawingml/2006/main">
            <a:pPr marL="0" lvl="0" indent="0" algn="l">
              <a:lnSpc>
                <a:spcPct val="100000"/>
              </a:lnSpc>
              <a:spcBef>
                <a:spcPts val="0"/>
              </a:spcBef>
              <a:spcAft>
                <a:spcPts val="0"/>
              </a:spcAft>
              <a:buSzPts val="1400"/>
              <a:buNone/>
            </a:pPr>
            <a:r>
              <a:t>https://aclanthology.org/D18-1259/</a:t>
            </a:r>
            <a:endParaRPr/>
          </a:p>
          <a:p xmlns:a="http://schemas.openxmlformats.org/drawingml/2006/main">
            <a:pPr marL="0" lvl="0" indent="0" algn="l">
              <a:lnSpc>
                <a:spcPct val="100000"/>
              </a:lnSpc>
              <a:spcBef>
                <a:spcPts val="0"/>
              </a:spcBef>
              <a:spcAft>
                <a:spcPts val="0"/>
              </a:spcAft>
              <a:buSzPts val="1400"/>
              <a:buNone/>
            </a:pPr>
            <a:r>
              <a:t>https://aclanthology.org/2020.acl-main.372/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Productivity, datasets and future scope (2/2)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9. Slide 8: applicability in other domains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proposed applications, not domains already validated by PRIMA. The transferable mechanism is a continuing agent that retrieves traceable history, budgets its work, and performs explicitly allowed operations.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Domain | Common problem / component mapping | Modifications and suitable data | Expected benefit, feasibility, limitation, comparison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Student/project assistant | Recover commitments, changing preferences, mentor feedback, and milestones. Episodic/temporal memory plus QA and planning. | Course/project documents and consented synthetic or real session histories. Define source/version/time fields and student isolation. | Closest to the demo. Compare model-only, full-history prompting, and simple RAG. Benefits must be measured as factual recall, task completion, cost, and corrected stale preferences. |</a:t>
            </a:r>
            <a:endParaRPr/>
          </a:p>
          <a:p xmlns:a="http://schemas.openxmlformats.org/drawingml/2006/main">
            <a:pPr marL="0" lvl="0" indent="0" algn="l">
              <a:lnSpc>
                <a:spcPct val="100000"/>
              </a:lnSpc>
              <a:spcBef>
                <a:spcPts val="0"/>
              </a:spcBef>
              <a:spcAft>
                <a:spcPts val="0"/>
              </a:spcAft>
              <a:buSzPts val="1400"/>
              <a:buNone/>
            </a:pPr>
            <a:r>
              <a:t>| Customer support | Repeated users reference previous tickets and attempted fixes. Episodic/procedural memory plus controlled knowledge retrieval. | Versioned product knowledge, deidentified tickets, permitted read-only support tools. Add escalation and stale-policy handling. | Could reduce repeated questions and retrieve proven procedures. Compare existing KB search/RAG. Privacy, policy freshness, and error escalation remain constraints. |</a:t>
            </a:r>
            <a:endParaRPr/>
          </a:p>
          <a:p xmlns:a="http://schemas.openxmlformats.org/drawingml/2006/main">
            <a:pPr marL="0" lvl="0" indent="0" algn="l">
              <a:lnSpc>
                <a:spcPct val="100000"/>
              </a:lnSpc>
              <a:spcBef>
                <a:spcPts val="0"/>
              </a:spcBef>
              <a:spcAft>
                <a:spcPts val="0"/>
              </a:spcAft>
              <a:buSzPts val="1400"/>
              <a:buNone/>
            </a:pPr>
            <a:r>
              <a:t>| Enterprise knowledge assistant | Evidence spans documents, projects, people, and dates. Hybrid retrieval/graph/provenance. | Approved internal documents with enforced access filters, document versions, and deletion controls. | Could improve source traceability across related records. Compare hybrid search/simple RAG. Current shared collection/state arrangements do not establish enterprise access isolation. |</a:t>
            </a:r>
            <a:endParaRPr/>
          </a:p>
          <a:p xmlns:a="http://schemas.openxmlformats.org/drawingml/2006/main">
            <a:pPr marL="0" lvl="0" indent="0" algn="l">
              <a:lnSpc>
                <a:spcPct val="100000"/>
              </a:lnSpc>
              <a:spcBef>
                <a:spcPts val="0"/>
              </a:spcBef>
              <a:spcAft>
                <a:spcPts val="0"/>
              </a:spcAft>
              <a:buSzPts val="1400"/>
              <a:buNone/>
            </a:pPr>
            <a:r>
              <a:t>| Research literature assistant | Compare claims across papers and follow project-specific research history. Semantic memory, citations, bounded retrieval. | Open research papers and evaluator-created questions with document-level citations. Add PDF extraction, bibliographic identity, and claim-support evaluation. | Could support reproducible evidence gathering. Compare literature search plus RAG. PRIMA has not demonstrated reliable scientific claim verification. |</a:t>
            </a:r>
            <a:endParaRPr/>
          </a:p>
          <a:p xmlns:a="http://schemas.openxmlformats.org/drawingml/2006/main">
            <a:pPr marL="0" lvl="0" indent="0" algn="l">
              <a:lnSpc>
                <a:spcPct val="100000"/>
              </a:lnSpc>
              <a:spcBef>
                <a:spcPts val="0"/>
              </a:spcBef>
              <a:spcAft>
                <a:spcPts val="0"/>
              </a:spcAft>
              <a:buSzPts val="1400"/>
              <a:buNone/>
            </a:pPr>
            <a:r>
              <a:t>| Personal productivity | Remember changing tasks/preferences and use constrained local operations. Temporal memory, planning, tools. | Synthetic task/calendar histories first, followed by consented data and minimal tool permissions. | Could improve continuity. Compare conventional task search/reminders. Reliable side effects, identity, recovery, and deletion are additional requirements.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Benchmark mappings: LoCoMo provides a starting point for long conversational history, HotpotQA for evidence across multiple documents, and GoEmotions for fine-grained text emotion labels. None alone validates customer-support ROI, enterprise privacy, or productivity outcomes. LoCoMo paper, HotpotQA paper, GoEmotions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Future work should choose one target domain, define its acceptance metrics, collect suitable held-out cases, and retain only components with measured value. Healthcare diagnosis and other high-stakes deployments are outside the current demonstrated boundary.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https://aclanthology.org/2024.acl-long.747/</a:t>
            </a:r>
            <a:endParaRPr/>
          </a:p>
          <a:p xmlns:a="http://schemas.openxmlformats.org/drawingml/2006/main">
            <a:pPr marL="0" lvl="0" indent="0" algn="l">
              <a:lnSpc>
                <a:spcPct val="100000"/>
              </a:lnSpc>
              <a:spcBef>
                <a:spcPts val="0"/>
              </a:spcBef>
              <a:spcAft>
                <a:spcPts val="0"/>
              </a:spcAft>
              <a:buSzPts val="1400"/>
              <a:buNone/>
            </a:pPr>
            <a:r>
              <a:t>https://aclanthology.org/D18-1259/</a:t>
            </a:r>
            <a:endParaRPr/>
          </a:p>
          <a:p xmlns:a="http://schemas.openxmlformats.org/drawingml/2006/main">
            <a:pPr marL="0" lvl="0" indent="0" algn="l">
              <a:lnSpc>
                <a:spcPct val="100000"/>
              </a:lnSpc>
              <a:spcBef>
                <a:spcPts val="0"/>
              </a:spcBef>
              <a:spcAft>
                <a:spcPts val="0"/>
              </a:spcAft>
              <a:buSzPts val="1400"/>
              <a:buNone/>
            </a:pPr>
            <a:r>
              <a:t>https://aclanthology.org/2020.acl-main.372/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Paper and patent progress (1/2)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 Additional requested section: research paper and patent progress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10.1 Actual verified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inspected repository contains source, technical documentation, benchmark code, tests, saved subset results, and pilot notes. It does not establish a manuscript submission, acceptance, published PRIMA paper, invention-disclosure submission, patent application, publication number, or grant. No manuscript or filing receipt was supplied with the request. This is a statement about available evidence, not proof that the team has done no work elsewhere.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Milestone | Evidence currently available | Honest slide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Research system implementation | E01 - E03, module tests. | Implemented research prototype. |</a:t>
            </a:r>
            <a:endParaRPr/>
          </a:p>
          <a:p xmlns:a="http://schemas.openxmlformats.org/drawingml/2006/main">
            <a:pPr marL="0" lvl="0" indent="0" algn="l">
              <a:lnSpc>
                <a:spcPct val="100000"/>
              </a:lnSpc>
              <a:spcBef>
                <a:spcPts val="0"/>
              </a:spcBef>
              <a:spcAft>
                <a:spcPts val="0"/>
              </a:spcAft>
              <a:buSzPts val="1400"/>
              <a:buNone/>
            </a:pPr>
            <a:r>
              <a:t>| Technical documentation | E04 and this review document. | Architecture and review material prepared. |</a:t>
            </a:r>
            <a:endParaRPr/>
          </a:p>
          <a:p xmlns:a="http://schemas.openxmlformats.org/drawingml/2006/main">
            <a:pPr marL="0" lvl="0" indent="0" algn="l">
              <a:lnSpc>
                <a:spcPct val="100000"/>
              </a:lnSpc>
              <a:spcBef>
                <a:spcPts val="0"/>
              </a:spcBef>
              <a:spcAft>
                <a:spcPts val="0"/>
              </a:spcAft>
              <a:buSzPts val="1400"/>
              <a:buNone/>
            </a:pPr>
            <a:r>
              <a:t>| Exploratory component experiments | E07/E08. | Saved subset results inspected; provenance reconciliation and fresh validation pending. |</a:t>
            </a:r>
            <a:endParaRPr/>
          </a:p>
          <a:p xmlns:a="http://schemas.openxmlformats.org/drawingml/2006/main">
            <a:pPr marL="0" lvl="0" indent="0" algn="l">
              <a:lnSpc>
                <a:spcPct val="100000"/>
              </a:lnSpc>
              <a:spcBef>
                <a:spcPts val="0"/>
              </a:spcBef>
              <a:spcAft>
                <a:spcPts val="0"/>
              </a:spcAft>
              <a:buSzPts val="1400"/>
              <a:buNone/>
            </a:pPr>
            <a:r>
              <a:t>| Real operational pilot | E06. | Repository-reported LoCoMo pilot, full completion unverified here. |</a:t>
            </a:r>
            <a:endParaRPr/>
          </a:p>
          <a:p xmlns:a="http://schemas.openxmlformats.org/drawingml/2006/main">
            <a:pPr marL="0" lvl="0" indent="0" algn="l">
              <a:lnSpc>
                <a:spcPct val="100000"/>
              </a:lnSpc>
              <a:spcBef>
                <a:spcPts val="0"/>
              </a:spcBef>
              <a:spcAft>
                <a:spcPts val="0"/>
              </a:spcAft>
              <a:buSzPts val="1400"/>
              <a:buNone/>
            </a:pPr>
            <a:r>
              <a:t>| Full matched final experiments | No complete validated final campaign established by inspected evidence. | Pending verification/execution. |</a:t>
            </a:r>
            <a:endParaRPr/>
          </a:p>
          <a:p xmlns:a="http://schemas.openxmlformats.org/drawingml/2006/main">
            <a:pPr marL="0" lvl="0" indent="0" algn="l">
              <a:lnSpc>
                <a:spcPct val="100000"/>
              </a:lnSpc>
              <a:spcBef>
                <a:spcPts val="0"/>
              </a:spcBef>
              <a:spcAft>
                <a:spcPts val="0"/>
              </a:spcAft>
              <a:buSzPts val="1400"/>
              <a:buNone/>
            </a:pPr>
            <a:r>
              <a:t>| PRIMA manuscript draft | No draft supplied or identified in inspected project material. | [To be added] |</a:t>
            </a:r>
            <a:endParaRPr/>
          </a:p>
          <a:p xmlns:a="http://schemas.openxmlformats.org/drawingml/2006/main">
            <a:pPr marL="0" lvl="0" indent="0" algn="l">
              <a:lnSpc>
                <a:spcPct val="100000"/>
              </a:lnSpc>
              <a:spcBef>
                <a:spcPts val="0"/>
              </a:spcBef>
              <a:spcAft>
                <a:spcPts val="0"/>
              </a:spcAft>
              <a:buSzPts val="1400"/>
              <a:buNone/>
            </a:pPr>
            <a:r>
              <a:t>| Venue and submission | No submission receipt/ID supplied. | [To be added] |</a:t>
            </a:r>
            <a:endParaRPr/>
          </a:p>
          <a:p xmlns:a="http://schemas.openxmlformats.org/drawingml/2006/main">
            <a:pPr marL="0" lvl="0" indent="0" algn="l">
              <a:lnSpc>
                <a:spcPct val="100000"/>
              </a:lnSpc>
              <a:spcBef>
                <a:spcPts val="0"/>
              </a:spcBef>
              <a:spcAft>
                <a:spcPts val="0"/>
              </a:spcAft>
              <a:buSzPts val="1400"/>
              <a:buNone/>
            </a:pPr>
            <a:r>
              <a:t>| Acceptance / publication / DOI | No acceptance notice or published record supplied. | Unverified; do not claim accepted/published. |</a:t>
            </a:r>
            <a:endParaRPr/>
          </a:p>
          <a:p xmlns:a="http://schemas.openxmlformats.org/drawingml/2006/main">
            <a:pPr marL="0" lvl="0" indent="0" algn="l">
              <a:lnSpc>
                <a:spcPct val="100000"/>
              </a:lnSpc>
              <a:spcBef>
                <a:spcPts val="0"/>
              </a:spcBef>
              <a:spcAft>
                <a:spcPts val="0"/>
              </a:spcAft>
              <a:buSzPts val="1400"/>
              <a:buNone/>
            </a:pPr>
            <a:r>
              <a:t>| Invention disclosure / patent draft | No disclosure/specification supplied. | [To be added] |</a:t>
            </a:r>
            <a:endParaRPr/>
          </a:p>
          <a:p xmlns:a="http://schemas.openxmlformats.org/drawingml/2006/main">
            <a:pPr marL="0" lvl="0" indent="0" algn="l">
              <a:lnSpc>
                <a:spcPct val="100000"/>
              </a:lnSpc>
              <a:spcBef>
                <a:spcPts val="0"/>
              </a:spcBef>
              <a:spcAft>
                <a:spcPts val="0"/>
              </a:spcAft>
              <a:buSzPts val="1400"/>
              <a:buNone/>
            </a:pPr>
            <a:r>
              <a:t>| Patent filing / publication / grant | No official receipt or record supplied. | Unverified; do not claim filed/published/granted.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10.2 Research question and candidate contribution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Suggested manuscript working title: "PRIMA-NEXT: A Typed Agent Runtime for Evidence-Based Memory, Bounded Correction, and Controlled Execution." This is proposed wording, not an existing publication title.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question: Does full PRIMA improve held-out memory-assisted QA quality and reliability compared with the same model alone and simple RAG under matched budgets, and which components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contributions to evaluate: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A unified typed boundary and explicit task/profile execution, with observable component accounting and failure semantics.</a:t>
            </a:r>
            <a:endParaRPr/>
          </a:p>
          <a:p xmlns:a="http://schemas.openxmlformats.org/drawingml/2006/main">
            <a:pPr marL="0" lvl="0" indent="0" algn="l">
              <a:lnSpc>
                <a:spcPct val="100000"/>
              </a:lnSpc>
              <a:spcBef>
                <a:spcPts val="0"/>
              </a:spcBef>
              <a:spcAft>
                <a:spcPts val="0"/>
              </a:spcAft>
              <a:buSzPts val="1400"/>
              <a:buNone/>
            </a:pPr>
            <a:r>
              <a:t>2. An integrated memory lifecycle joining selective admission, traceable hybrid retrieval, and bounded background maintenance.</a:t>
            </a:r>
            <a:endParaRPr/>
          </a:p>
          <a:p xmlns:a="http://schemas.openxmlformats.org/drawingml/2006/main">
            <a:pPr marL="0" lvl="0" indent="0" algn="l">
              <a:lnSpc>
                <a:spcPct val="100000"/>
              </a:lnSpc>
              <a:spcBef>
                <a:spcPts val="0"/>
              </a:spcBef>
              <a:spcAft>
                <a:spcPts val="0"/>
              </a:spcAft>
              <a:buSzPts val="1400"/>
              <a:buNone/>
            </a:pPr>
            <a:r>
              <a:t>3. Workflow-owned uncertainty/reflection with bounded corrections and recorded before/after outcomes.</a:t>
            </a:r>
            <a:endParaRPr/>
          </a:p>
          <a:p xmlns:a="http://schemas.openxmlformats.org/drawingml/2006/main">
            <a:pPr marL="0" lvl="0" indent="0" algn="l">
              <a:lnSpc>
                <a:spcPct val="100000"/>
              </a:lnSpc>
              <a:spcBef>
                <a:spcPts val="0"/>
              </a:spcBef>
              <a:spcAft>
                <a:spcPts val="0"/>
              </a:spcAft>
              <a:buSzPts val="1400"/>
              <a:buNone/>
            </a:pPr>
            <a:r>
              <a:t>4. A reproducible evaluation protocol separating functional tests, subset component studies, real pilots, and reportable campaigns.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descriptions of engineering work and potential research contributions. Novelty relative to prior literature and benefit over strong baselines remain to establish. RAG, memory/plan/reflection agents, and verbal feedback agents already exist. A list of familiar techniques is insufficient as a novelty claim. RAG, Generative Agents, Reflexion.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10.3 Paper structure with material and gaps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Section | Material ready to write | Evidence still needed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Abstract | Problem, runtime design, scoped evaluation objective. | Final matched outcomes. Do not invent accuracy gains. |</a:t>
            </a:r>
            <a:endParaRPr/>
          </a:p>
          <a:p xmlns:a="http://schemas.openxmlformats.org/drawingml/2006/main">
            <a:pPr marL="0" lvl="0" indent="0" algn="l">
              <a:lnSpc>
                <a:spcPct val="100000"/>
              </a:lnSpc>
              <a:spcBef>
                <a:spcPts val="0"/>
              </a:spcBef>
              <a:spcAft>
                <a:spcPts val="0"/>
              </a:spcAft>
              <a:buSzPts val="1400"/>
              <a:buNone/>
            </a:pPr>
            <a:r>
              <a:t>| Introduction | Continuing-agent evidence/memory/control problem. | Target audience and explicit research hypotheses. |</a:t>
            </a:r>
            <a:endParaRPr/>
          </a:p>
          <a:p xmlns:a="http://schemas.openxmlformats.org/drawingml/2006/main">
            <a:pPr marL="0" lvl="0" indent="0" algn="l">
              <a:lnSpc>
                <a:spcPct val="100000"/>
              </a:lnSpc>
              <a:spcBef>
                <a:spcPts val="0"/>
              </a:spcBef>
              <a:spcAft>
                <a:spcPts val="0"/>
              </a:spcAft>
              <a:buSzPts val="1400"/>
              <a:buNone/>
            </a:pPr>
            <a:r>
              <a:t>| Related work | RAG, Generative Agents, Reflexion, LoCoMo/HotpotQA/GoEmotions. | Focused comparison of mechanisms and newest relevant primary literature before submission. |</a:t>
            </a:r>
            <a:endParaRPr/>
          </a:p>
          <a:p xmlns:a="http://schemas.openxmlformats.org/drawingml/2006/main">
            <a:pPr marL="0" lvl="0" indent="0" algn="l">
              <a:lnSpc>
                <a:spcPct val="100000"/>
              </a:lnSpc>
              <a:spcBef>
                <a:spcPts val="0"/>
              </a:spcBef>
              <a:spcAft>
                <a:spcPts val="0"/>
              </a:spcAft>
              <a:buSzPts val="1400"/>
              <a:buNone/>
            </a:pPr>
            <a:r>
              <a:t>| Method | Contracts, routes, memory types, fusion/admission formulas, correction budgets. | Frozen experiment configuration and precise pseudocode matching the final implementation. |</a:t>
            </a:r>
            <a:endParaRPr/>
          </a:p>
          <a:p xmlns:a="http://schemas.openxmlformats.org/drawingml/2006/main">
            <a:pPr marL="0" lvl="0" indent="0" algn="l">
              <a:lnSpc>
                <a:spcPct val="100000"/>
              </a:lnSpc>
              <a:spcBef>
                <a:spcPts val="0"/>
              </a:spcBef>
              <a:spcAft>
                <a:spcPts val="0"/>
              </a:spcAft>
              <a:buSzPts val="1400"/>
              <a:buNone/>
            </a:pPr>
            <a:r>
              <a:t>| Experimental setup | Existing adapters, scorer/claim policy, subset metadata. | Dataset/model hashes/revisions, environment, selection protocol, seeds, failure rules. |</a:t>
            </a:r>
            <a:endParaRPr/>
          </a:p>
          <a:p xmlns:a="http://schemas.openxmlformats.org/drawingml/2006/main">
            <a:pPr marL="0" lvl="0" indent="0" algn="l">
              <a:lnSpc>
                <a:spcPct val="100000"/>
              </a:lnSpc>
              <a:spcBef>
                <a:spcPts val="0"/>
              </a:spcBef>
              <a:spcAft>
                <a:spcPts val="0"/>
              </a:spcAft>
              <a:buSzPts val="1400"/>
              <a:buNone/>
            </a:pPr>
            <a:r>
              <a:t>| Results | E07/E08 exploratory component tables and scoped E06 pilot. | Complete quality runs, aggregate/category metrics, uncertainty/statistics, actual resource cost. |</a:t>
            </a:r>
            <a:endParaRPr/>
          </a:p>
          <a:p xmlns:a="http://schemas.openxmlformats.org/drawingml/2006/main">
            <a:pPr marL="0" lvl="0" indent="0" algn="l">
              <a:lnSpc>
                <a:spcPct val="100000"/>
              </a:lnSpc>
              <a:spcBef>
                <a:spcPts val="0"/>
              </a:spcBef>
              <a:spcAft>
                <a:spcPts val="0"/>
              </a:spcAft>
              <a:buSzPts val="1400"/>
              <a:buNone/>
            </a:pPr>
            <a:r>
              <a:t>| Ablations | Proposed fixed-store and single-component experiments. | Actual matched runs and help/harm analysis. |</a:t>
            </a:r>
            <a:endParaRPr/>
          </a:p>
          <a:p xmlns:a="http://schemas.openxmlformats.org/drawingml/2006/main">
            <a:pPr marL="0" lvl="0" indent="0" algn="l">
              <a:lnSpc>
                <a:spcPct val="100000"/>
              </a:lnSpc>
              <a:spcBef>
                <a:spcPts val="0"/>
              </a:spcBef>
              <a:spcAft>
                <a:spcPts val="0"/>
              </a:spcAft>
              <a:buSzPts val="1400"/>
              <a:buNone/>
            </a:pPr>
            <a:r>
              <a:t>| Discussion | Observed retrieval bottleneck and representation tradeoff. | Generalization beyond one conversation, calibration, component contribution. |</a:t>
            </a:r>
            <a:endParaRPr/>
          </a:p>
          <a:p xmlns:a="http://schemas.openxmlformats.org/drawingml/2006/main">
            <a:pPr marL="0" lvl="0" indent="0" algn="l">
              <a:lnSpc>
                <a:spcPct val="100000"/>
              </a:lnSpc>
              <a:spcBef>
                <a:spcPts val="0"/>
              </a:spcBef>
              <a:spcAft>
                <a:spcPts val="0"/>
              </a:spcAft>
              <a:buSzPts val="1400"/>
              <a:buNone/>
            </a:pPr>
            <a:r>
              <a:t>| Limitations | Symbolic/heuristic components, persistence/isolation/tool limits, incomplete evidence. | Updated limitations after fresh fixes/runs. |</a:t>
            </a:r>
            <a:endParaRPr/>
          </a:p>
          <a:p xmlns:a="http://schemas.openxmlformats.org/drawingml/2006/main">
            <a:pPr marL="0" lvl="0" indent="0" algn="l">
              <a:lnSpc>
                <a:spcPct val="100000"/>
              </a:lnSpc>
              <a:spcBef>
                <a:spcPts val="0"/>
              </a:spcBef>
              <a:spcAft>
                <a:spcPts val="0"/>
              </a:spcAft>
              <a:buSzPts val="1400"/>
              <a:buNone/>
            </a:pPr>
            <a:r>
              <a:t>| Reproducibility | Existing source/test/runbook structure. | Validated artifact bundle, checksums, secret-free configuration, dependency freeze.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Draft abstract for discussion, without fabricated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PRIMA-NEXT is a research agent runtime that coordinates memory, evidence retrieval, affect-related signals, planning, symbolic simulation, uncertainty decisions, reflection, and controlled tools through typed task-specific routes. The design records execution and failure diagnostics and bounds correction and maintenance work. We define a matched evaluation against model-only and simple-RAG configurations using conversational-memory, multi-document QA, and emotion-classification tasks. Exploratory retrieval subsets motivate learned embeddings and careful representation selection. Complete held-out comparisons are required to establish whether the additional mechanisms improve quality sufficiently to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10.4 Experiment plan for publishable claims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Freeze dataset split/version/hash, IDs/order, source histories, model/revision, dependencies, seed, context/generation settings, and retry policy.</a:t>
            </a:r>
            <a:endParaRPr/>
          </a:p>
          <a:p xmlns:a="http://schemas.openxmlformats.org/drawingml/2006/main">
            <a:pPr marL="0" lvl="0" indent="0" algn="l">
              <a:lnSpc>
                <a:spcPct val="100000"/>
              </a:lnSpc>
              <a:spcBef>
                <a:spcPts val="0"/>
              </a:spcBef>
              <a:spcAft>
                <a:spcPts val="0"/>
              </a:spcAft>
              <a:buSzPts val="1400"/>
              <a:buNone/>
            </a:pPr>
            <a:r>
              <a:t>Run model-only, simple RAG, and full PRIMA on matched selections. Clearly define which history each baseline receives.</a:t>
            </a:r>
            <a:endParaRPr/>
          </a:p>
          <a:p xmlns:a="http://schemas.openxmlformats.org/drawingml/2006/main">
            <a:pPr marL="0" lvl="0" indent="0" algn="l">
              <a:lnSpc>
                <a:spcPct val="100000"/>
              </a:lnSpc>
              <a:spcBef>
                <a:spcPts val="0"/>
              </a:spcBef>
              <a:spcAft>
                <a:spcPts val="0"/>
              </a:spcAft>
              <a:buSzPts val="1400"/>
              <a:buNone/>
            </a:pPr>
            <a:r>
              <a:t>Separate memory-formation comparisons from fixed-store retrieval comparisons.</a:t>
            </a:r>
            <a:endParaRPr/>
          </a:p>
          <a:p xmlns:a="http://schemas.openxmlformats.org/drawingml/2006/main">
            <a:pPr marL="0" lvl="0" indent="0" algn="l">
              <a:lnSpc>
                <a:spcPct val="100000"/>
              </a:lnSpc>
              <a:spcBef>
                <a:spcPts val="0"/>
              </a:spcBef>
              <a:spcAft>
                <a:spcPts val="0"/>
              </a:spcAft>
              <a:buSzPts val="1400"/>
              <a:buNone/>
            </a:pPr>
            <a:r>
              <a:t>Measure retrieval recall/ranking, native QA metrics, coverage/abstention, execution/scoring failures, tokens/latency, and memory growth.</a:t>
            </a:r>
            <a:endParaRPr/>
          </a:p>
          <a:p xmlns:a="http://schemas.openxmlformats.org/drawingml/2006/main">
            <a:pPr marL="0" lvl="0" indent="0" algn="l">
              <a:lnSpc>
                <a:spcPct val="100000"/>
              </a:lnSpc>
              <a:spcBef>
                <a:spcPts val="0"/>
              </a:spcBef>
              <a:spcAft>
                <a:spcPts val="0"/>
              </a:spcAft>
              <a:buSzPts val="1400"/>
              <a:buNone/>
            </a:pPr>
            <a:r>
              <a:t>Run targeted graph/affect/reflection ablations. Report actual correction help/harm rather than only internal confidence lift.</a:t>
            </a:r>
            <a:endParaRPr/>
          </a:p>
          <a:p xmlns:a="http://schemas.openxmlformats.org/drawingml/2006/main">
            <a:pPr marL="0" lvl="0" indent="0" algn="l">
              <a:lnSpc>
                <a:spcPct val="100000"/>
              </a:lnSpc>
              <a:spcBef>
                <a:spcPts val="0"/>
              </a:spcBef>
              <a:spcAft>
                <a:spcPts val="0"/>
              </a:spcAft>
              <a:buSzPts val="1400"/>
              <a:buNone/>
            </a:pPr>
            <a:r>
              <a:t>Tune on development data and freeze settings before test evaluation. Keep all gold annotations evaluator-owned.</a:t>
            </a:r>
            <a:endParaRPr/>
          </a:p>
          <a:p xmlns:a="http://schemas.openxmlformats.org/drawingml/2006/main">
            <a:pPr marL="0" lvl="0" indent="0" algn="l">
              <a:lnSpc>
                <a:spcPct val="100000"/>
              </a:lnSpc>
              <a:spcBef>
                <a:spcPts val="0"/>
              </a:spcBef>
              <a:spcAft>
                <a:spcPts val="0"/>
              </a:spcAft>
              <a:buSzPts val="1400"/>
              <a:buNone/>
            </a:pPr>
            <a:r>
              <a:t>Use uncertainty estimates over suitable independent units. For conversational data, account for questions clustered in conversations rather than pretending every question is independent. Statistical methods and sample size should be fixed in the protocol.</a:t>
            </a:r>
            <a:endParaRPr/>
          </a:p>
          <a:p xmlns:a="http://schemas.openxmlformats.org/drawingml/2006/main">
            <a:pPr marL="0" lvl="0" indent="0" algn="l">
              <a:lnSpc>
                <a:spcPct val="100000"/>
              </a:lnSpc>
              <a:spcBef>
                <a:spcPts val="0"/>
              </a:spcBef>
              <a:spcAft>
                <a:spcPts val="0"/>
              </a:spcAft>
              <a:buSzPts val="1400"/>
              <a:buNone/>
            </a:pPr>
            <a:r>
              <a:t>Publish negative/neutral findings and cost tradeoffs. A simpler configuration may be the useful conclusion.</a:t>
            </a:r>
            <a:endParaRPr/>
          </a:p>
          <a:p xmlns:a="http://schemas.openxmlformats.org/drawingml/2006/main">
            <a:pPr marL="0" lvl="0" indent="0" algn="l">
              <a:lnSpc>
                <a:spcPct val="100000"/>
              </a:lnSpc>
              <a:spcBef>
                <a:spcPts val="0"/>
              </a:spcBef>
              <a:spcAft>
                <a:spcPts val="0"/>
              </a:spcAft>
              <a:buSzPts val="1400"/>
              <a:buNone/>
            </a:pPr>
            <a:r>
              <a:t>Reconcile JSON/CSV fingerprints and saved-result lineage. Preserve manifests/checkpoints and validate complete coverage before using headline numbers.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10.5 Patent-oriented technical preparation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Technical candidate to investigate: the specific interaction between task/profile-controlled execution, memory admission and maintenance, and budgeted corrections with traceable state/evidence transitions. This is a candidate disclosure topic, not an assertion of patentability.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Preparation item | What the team should produce | Current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Invention definition | A precise technical problem, mechanism, and observable effect. | Candidate framing in this document; team/guide review pending. |</a:t>
            </a:r>
            <a:endParaRPr/>
          </a:p>
          <a:p xmlns:a="http://schemas.openxmlformats.org/drawingml/2006/main">
            <a:pPr marL="0" lvl="0" indent="0" algn="l">
              <a:lnSpc>
                <a:spcPct val="100000"/>
              </a:lnSpc>
              <a:spcBef>
                <a:spcPts val="0"/>
              </a:spcBef>
              <a:spcAft>
                <a:spcPts val="0"/>
              </a:spcAft>
              <a:buSzPts val="1400"/>
              <a:buNone/>
            </a:pPr>
            <a:r>
              <a:t>| Inventor/contribution record | Named contributors and evidence of their contribution to the proposed mechanism. | Git contributors exist; inventorship is not established by that list. |</a:t>
            </a:r>
            <a:endParaRPr/>
          </a:p>
          <a:p xmlns:a="http://schemas.openxmlformats.org/drawingml/2006/main">
            <a:pPr marL="0" lvl="0" indent="0" algn="l">
              <a:lnSpc>
                <a:spcPct val="100000"/>
              </a:lnSpc>
              <a:spcBef>
                <a:spcPts val="0"/>
              </a:spcBef>
              <a:spcAft>
                <a:spcPts val="0"/>
              </a:spcAft>
              <a:buSzPts val="1400"/>
              <a:buNone/>
            </a:pPr>
            <a:r>
              <a:t>| Prior-art comparison | Claim-by-claim mechanism comparison with relevant papers and patent records. | Foundational literature identified; patent prior-art search not performed. |</a:t>
            </a:r>
            <a:endParaRPr/>
          </a:p>
          <a:p xmlns:a="http://schemas.openxmlformats.org/drawingml/2006/main">
            <a:pPr marL="0" lvl="0" indent="0" algn="l">
              <a:lnSpc>
                <a:spcPct val="100000"/>
              </a:lnSpc>
              <a:spcBef>
                <a:spcPts val="0"/>
              </a:spcBef>
              <a:spcAft>
                <a:spcPts val="0"/>
              </a:spcAft>
              <a:buSzPts val="1400"/>
              <a:buNone/>
            </a:pPr>
            <a:r>
              <a:t>| Technical disclosure | Architecture, state transitions, alternatives, reproducible example, measured effect. | Source/docs supply material; formal disclosure not supplied. |</a:t>
            </a:r>
            <a:endParaRPr/>
          </a:p>
          <a:p xmlns:a="http://schemas.openxmlformats.org/drawingml/2006/main">
            <a:pPr marL="0" lvl="0" indent="0" algn="l">
              <a:lnSpc>
                <a:spcPct val="100000"/>
              </a:lnSpc>
              <a:spcBef>
                <a:spcPts val="0"/>
              </a:spcBef>
              <a:spcAft>
                <a:spcPts val="0"/>
              </a:spcAft>
              <a:buSzPts val="1400"/>
              <a:buNone/>
            </a:pPr>
            <a:r>
              <a:t>| Institutional review | Guide/institution IP office review and documented decision. | Team confirmation required. |</a:t>
            </a:r>
            <a:endParaRPr/>
          </a:p>
          <a:p xmlns:a="http://schemas.openxmlformats.org/drawingml/2006/main">
            <a:pPr marL="0" lvl="0" indent="0" algn="l">
              <a:lnSpc>
                <a:spcPct val="100000"/>
              </a:lnSpc>
              <a:spcBef>
                <a:spcPts val="0"/>
              </a:spcBef>
              <a:spcAft>
                <a:spcPts val="0"/>
              </a:spcAft>
              <a:buSzPts val="1400"/>
              <a:buNone/>
            </a:pPr>
            <a:r>
              <a:t>| Filing milestones | Official receipt, application number/date, jurisdiction, filing type, status evidence. | None supplied. |</a:t>
            </a:r>
            <a:endParaRPr/>
          </a:p>
          <a:p xmlns:a="http://schemas.openxmlformats.org/drawingml/2006/main">
            <a:pPr marL="0" lvl="0" indent="0" algn="l">
              <a:lnSpc>
                <a:spcPct val="100000"/>
              </a:lnSpc>
              <a:spcBef>
                <a:spcPts val="0"/>
              </a:spcBef>
              <a:spcAft>
                <a:spcPts val="0"/>
              </a:spcAft>
              <a:buSzPts val="1400"/>
              <a:buNone/>
            </a:pPr>
            <a:r>
              <a:t>| Later status | Publication record or grant document, distinct from initial filing. | None supplied.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paper describes scientific methods/results. A patent-oriented disclosure must identify a specific proposed invention and supporting mechanism. Use the institution's IP office to determine applicable requirements and the sequence of public release/submission/filing. This document makes no legal eligibility or filing-status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Safe spoken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Our implementation and experiment infrastructure are available. We have exploratory retrieval results and a reported LoCoMo operational pilot. We are preparing a complete matched evaluation and manuscript evidence package. Paper submission and patent filing status will be shown only with the team's corresponding records.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10.6 Evidence the team must add before the mentor meeting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paper: exact title, author order/affiliations, versioned manuscript, guide feedback, target venue, submission date/ID and receipt if submitted, acceptance notice if accepted, published URL/DOI if published.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patent: proposed invention title, disclosure/specification version, institutional review status, contributor/inventor confirmation, official application receipt and number/date if filed, publication/grant record if those stages occurred.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Track stage names separately. Drafted, submitted, accepted, and published are different paper milestones. Disclosure prepared, application filed, application published, and granted are different patent milestones.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https://arxiv.org/abs/2005.11401</a:t>
            </a:r>
            <a:endParaRPr/>
          </a:p>
          <a:p xmlns:a="http://schemas.openxmlformats.org/drawingml/2006/main">
            <a:pPr marL="0" lvl="0" indent="0" algn="l">
              <a:lnSpc>
                <a:spcPct val="100000"/>
              </a:lnSpc>
              <a:spcBef>
                <a:spcPts val="0"/>
              </a:spcBef>
              <a:spcAft>
                <a:spcPts val="0"/>
              </a:spcAft>
              <a:buSzPts val="1400"/>
              <a:buNone/>
            </a:pPr>
            <a:r>
              <a:t>https://arxiv.org/abs/2304.03442</a:t>
            </a:r>
            <a:endParaRPr/>
          </a:p>
          <a:p xmlns:a="http://schemas.openxmlformats.org/drawingml/2006/main">
            <a:pPr marL="0" lvl="0" indent="0" algn="l">
              <a:lnSpc>
                <a:spcPct val="100000"/>
              </a:lnSpc>
              <a:spcBef>
                <a:spcPts val="0"/>
              </a:spcBef>
              <a:spcAft>
                <a:spcPts val="0"/>
              </a:spcAft>
              <a:buSzPts val="1400"/>
              <a:buNone/>
            </a:pPr>
            <a:r>
              <a:t>https://arxiv.org/abs/2303.11366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Paper and patent progress (2/2)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 Additional requested section: research paper and patent progress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10.1 Actual verified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inspected repository contains source, technical documentation, benchmark code, tests, saved subset results, and pilot notes. It does not establish a manuscript submission, acceptance, published PRIMA paper, invention-disclosure submission, patent application, publication number, or grant. No manuscript or filing receipt was supplied with the request. This is a statement about available evidence, not proof that the team has done no work elsewhere.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Milestone | Evidence currently available | Honest slide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Research system implementation | E01 - E03, module tests. | Implemented research prototype. |</a:t>
            </a:r>
            <a:endParaRPr/>
          </a:p>
          <a:p xmlns:a="http://schemas.openxmlformats.org/drawingml/2006/main">
            <a:pPr marL="0" lvl="0" indent="0" algn="l">
              <a:lnSpc>
                <a:spcPct val="100000"/>
              </a:lnSpc>
              <a:spcBef>
                <a:spcPts val="0"/>
              </a:spcBef>
              <a:spcAft>
                <a:spcPts val="0"/>
              </a:spcAft>
              <a:buSzPts val="1400"/>
              <a:buNone/>
            </a:pPr>
            <a:r>
              <a:t>| Technical documentation | E04 and this review document. | Architecture and review material prepared. |</a:t>
            </a:r>
            <a:endParaRPr/>
          </a:p>
          <a:p xmlns:a="http://schemas.openxmlformats.org/drawingml/2006/main">
            <a:pPr marL="0" lvl="0" indent="0" algn="l">
              <a:lnSpc>
                <a:spcPct val="100000"/>
              </a:lnSpc>
              <a:spcBef>
                <a:spcPts val="0"/>
              </a:spcBef>
              <a:spcAft>
                <a:spcPts val="0"/>
              </a:spcAft>
              <a:buSzPts val="1400"/>
              <a:buNone/>
            </a:pPr>
            <a:r>
              <a:t>| Exploratory component experiments | E07/E08. | Saved subset results inspected; provenance reconciliation and fresh validation pending. |</a:t>
            </a:r>
            <a:endParaRPr/>
          </a:p>
          <a:p xmlns:a="http://schemas.openxmlformats.org/drawingml/2006/main">
            <a:pPr marL="0" lvl="0" indent="0" algn="l">
              <a:lnSpc>
                <a:spcPct val="100000"/>
              </a:lnSpc>
              <a:spcBef>
                <a:spcPts val="0"/>
              </a:spcBef>
              <a:spcAft>
                <a:spcPts val="0"/>
              </a:spcAft>
              <a:buSzPts val="1400"/>
              <a:buNone/>
            </a:pPr>
            <a:r>
              <a:t>| Real operational pilot | E06. | Repository-reported LoCoMo pilot, full completion unverified here. |</a:t>
            </a:r>
            <a:endParaRPr/>
          </a:p>
          <a:p xmlns:a="http://schemas.openxmlformats.org/drawingml/2006/main">
            <a:pPr marL="0" lvl="0" indent="0" algn="l">
              <a:lnSpc>
                <a:spcPct val="100000"/>
              </a:lnSpc>
              <a:spcBef>
                <a:spcPts val="0"/>
              </a:spcBef>
              <a:spcAft>
                <a:spcPts val="0"/>
              </a:spcAft>
              <a:buSzPts val="1400"/>
              <a:buNone/>
            </a:pPr>
            <a:r>
              <a:t>| Full matched final experiments | No complete validated final campaign established by inspected evidence. | Pending verification/execution. |</a:t>
            </a:r>
            <a:endParaRPr/>
          </a:p>
          <a:p xmlns:a="http://schemas.openxmlformats.org/drawingml/2006/main">
            <a:pPr marL="0" lvl="0" indent="0" algn="l">
              <a:lnSpc>
                <a:spcPct val="100000"/>
              </a:lnSpc>
              <a:spcBef>
                <a:spcPts val="0"/>
              </a:spcBef>
              <a:spcAft>
                <a:spcPts val="0"/>
              </a:spcAft>
              <a:buSzPts val="1400"/>
              <a:buNone/>
            </a:pPr>
            <a:r>
              <a:t>| PRIMA manuscript draft | No draft supplied or identified in inspected project material. | [To be added] |</a:t>
            </a:r>
            <a:endParaRPr/>
          </a:p>
          <a:p xmlns:a="http://schemas.openxmlformats.org/drawingml/2006/main">
            <a:pPr marL="0" lvl="0" indent="0" algn="l">
              <a:lnSpc>
                <a:spcPct val="100000"/>
              </a:lnSpc>
              <a:spcBef>
                <a:spcPts val="0"/>
              </a:spcBef>
              <a:spcAft>
                <a:spcPts val="0"/>
              </a:spcAft>
              <a:buSzPts val="1400"/>
              <a:buNone/>
            </a:pPr>
            <a:r>
              <a:t>| Venue and submission | No submission receipt/ID supplied. | [To be added] |</a:t>
            </a:r>
            <a:endParaRPr/>
          </a:p>
          <a:p xmlns:a="http://schemas.openxmlformats.org/drawingml/2006/main">
            <a:pPr marL="0" lvl="0" indent="0" algn="l">
              <a:lnSpc>
                <a:spcPct val="100000"/>
              </a:lnSpc>
              <a:spcBef>
                <a:spcPts val="0"/>
              </a:spcBef>
              <a:spcAft>
                <a:spcPts val="0"/>
              </a:spcAft>
              <a:buSzPts val="1400"/>
              <a:buNone/>
            </a:pPr>
            <a:r>
              <a:t>| Acceptance / publication / DOI | No acceptance notice or published record supplied. | Unverified; do not claim accepted/published. |</a:t>
            </a:r>
            <a:endParaRPr/>
          </a:p>
          <a:p xmlns:a="http://schemas.openxmlformats.org/drawingml/2006/main">
            <a:pPr marL="0" lvl="0" indent="0" algn="l">
              <a:lnSpc>
                <a:spcPct val="100000"/>
              </a:lnSpc>
              <a:spcBef>
                <a:spcPts val="0"/>
              </a:spcBef>
              <a:spcAft>
                <a:spcPts val="0"/>
              </a:spcAft>
              <a:buSzPts val="1400"/>
              <a:buNone/>
            </a:pPr>
            <a:r>
              <a:t>| Invention disclosure / patent draft | No disclosure/specification supplied. | [To be added] |</a:t>
            </a:r>
            <a:endParaRPr/>
          </a:p>
          <a:p xmlns:a="http://schemas.openxmlformats.org/drawingml/2006/main">
            <a:pPr marL="0" lvl="0" indent="0" algn="l">
              <a:lnSpc>
                <a:spcPct val="100000"/>
              </a:lnSpc>
              <a:spcBef>
                <a:spcPts val="0"/>
              </a:spcBef>
              <a:spcAft>
                <a:spcPts val="0"/>
              </a:spcAft>
              <a:buSzPts val="1400"/>
              <a:buNone/>
            </a:pPr>
            <a:r>
              <a:t>| Patent filing / publication / grant | No official receipt or record supplied. | Unverified; do not claim filed/published/granted.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10.2 Research question and candidate contribution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Suggested manuscript working title: "PRIMA-NEXT: A Typed Agent Runtime for Evidence-Based Memory, Bounded Correction, and Controlled Execution." This is proposed wording, not an existing publication title.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question: Does full PRIMA improve held-out memory-assisted QA quality and reliability compared with the same model alone and simple RAG under matched budgets, and which components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contributions to evaluate: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A unified typed boundary and explicit task/profile execution, with observable component accounting and failure semantics.</a:t>
            </a:r>
            <a:endParaRPr/>
          </a:p>
          <a:p xmlns:a="http://schemas.openxmlformats.org/drawingml/2006/main">
            <a:pPr marL="0" lvl="0" indent="0" algn="l">
              <a:lnSpc>
                <a:spcPct val="100000"/>
              </a:lnSpc>
              <a:spcBef>
                <a:spcPts val="0"/>
              </a:spcBef>
              <a:spcAft>
                <a:spcPts val="0"/>
              </a:spcAft>
              <a:buSzPts val="1400"/>
              <a:buNone/>
            </a:pPr>
            <a:r>
              <a:t>2. An integrated memory lifecycle joining selective admission, traceable hybrid retrieval, and bounded background maintenance.</a:t>
            </a:r>
            <a:endParaRPr/>
          </a:p>
          <a:p xmlns:a="http://schemas.openxmlformats.org/drawingml/2006/main">
            <a:pPr marL="0" lvl="0" indent="0" algn="l">
              <a:lnSpc>
                <a:spcPct val="100000"/>
              </a:lnSpc>
              <a:spcBef>
                <a:spcPts val="0"/>
              </a:spcBef>
              <a:spcAft>
                <a:spcPts val="0"/>
              </a:spcAft>
              <a:buSzPts val="1400"/>
              <a:buNone/>
            </a:pPr>
            <a:r>
              <a:t>3. Workflow-owned uncertainty/reflection with bounded corrections and recorded before/after outcomes.</a:t>
            </a:r>
            <a:endParaRPr/>
          </a:p>
          <a:p xmlns:a="http://schemas.openxmlformats.org/drawingml/2006/main">
            <a:pPr marL="0" lvl="0" indent="0" algn="l">
              <a:lnSpc>
                <a:spcPct val="100000"/>
              </a:lnSpc>
              <a:spcBef>
                <a:spcPts val="0"/>
              </a:spcBef>
              <a:spcAft>
                <a:spcPts val="0"/>
              </a:spcAft>
              <a:buSzPts val="1400"/>
              <a:buNone/>
            </a:pPr>
            <a:r>
              <a:t>4. A reproducible evaluation protocol separating functional tests, subset component studies, real pilots, and reportable campaigns.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descriptions of engineering work and potential research contributions. Novelty relative to prior literature and benefit over strong baselines remain to establish. RAG, memory/plan/reflection agents, and verbal feedback agents already exist. A list of familiar techniques is insufficient as a novelty claim. RAG, Generative Agents, Reflexion.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10.3 Paper structure with material and gaps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Section | Material ready to write | Evidence still needed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Abstract | Problem, runtime design, scoped evaluation objective. | Final matched outcomes. Do not invent accuracy gains. |</a:t>
            </a:r>
            <a:endParaRPr/>
          </a:p>
          <a:p xmlns:a="http://schemas.openxmlformats.org/drawingml/2006/main">
            <a:pPr marL="0" lvl="0" indent="0" algn="l">
              <a:lnSpc>
                <a:spcPct val="100000"/>
              </a:lnSpc>
              <a:spcBef>
                <a:spcPts val="0"/>
              </a:spcBef>
              <a:spcAft>
                <a:spcPts val="0"/>
              </a:spcAft>
              <a:buSzPts val="1400"/>
              <a:buNone/>
            </a:pPr>
            <a:r>
              <a:t>| Introduction | Continuing-agent evidence/memory/control problem. | Target audience and explicit research hypotheses. |</a:t>
            </a:r>
            <a:endParaRPr/>
          </a:p>
          <a:p xmlns:a="http://schemas.openxmlformats.org/drawingml/2006/main">
            <a:pPr marL="0" lvl="0" indent="0" algn="l">
              <a:lnSpc>
                <a:spcPct val="100000"/>
              </a:lnSpc>
              <a:spcBef>
                <a:spcPts val="0"/>
              </a:spcBef>
              <a:spcAft>
                <a:spcPts val="0"/>
              </a:spcAft>
              <a:buSzPts val="1400"/>
              <a:buNone/>
            </a:pPr>
            <a:r>
              <a:t>| Related work | RAG, Generative Agents, Reflexion, LoCoMo/HotpotQA/GoEmotions. | Focused comparison of mechanisms and newest relevant primary literature before submission. |</a:t>
            </a:r>
            <a:endParaRPr/>
          </a:p>
          <a:p xmlns:a="http://schemas.openxmlformats.org/drawingml/2006/main">
            <a:pPr marL="0" lvl="0" indent="0" algn="l">
              <a:lnSpc>
                <a:spcPct val="100000"/>
              </a:lnSpc>
              <a:spcBef>
                <a:spcPts val="0"/>
              </a:spcBef>
              <a:spcAft>
                <a:spcPts val="0"/>
              </a:spcAft>
              <a:buSzPts val="1400"/>
              <a:buNone/>
            </a:pPr>
            <a:r>
              <a:t>| Method | Contracts, routes, memory types, fusion/admission formulas, correction budgets. | Frozen experiment configuration and precise pseudocode matching the final implementation. |</a:t>
            </a:r>
            <a:endParaRPr/>
          </a:p>
          <a:p xmlns:a="http://schemas.openxmlformats.org/drawingml/2006/main">
            <a:pPr marL="0" lvl="0" indent="0" algn="l">
              <a:lnSpc>
                <a:spcPct val="100000"/>
              </a:lnSpc>
              <a:spcBef>
                <a:spcPts val="0"/>
              </a:spcBef>
              <a:spcAft>
                <a:spcPts val="0"/>
              </a:spcAft>
              <a:buSzPts val="1400"/>
              <a:buNone/>
            </a:pPr>
            <a:r>
              <a:t>| Experimental setup | Existing adapters, scorer/claim policy, subset metadata. | Dataset/model hashes/revisions, environment, selection protocol, seeds, failure rules. |</a:t>
            </a:r>
            <a:endParaRPr/>
          </a:p>
          <a:p xmlns:a="http://schemas.openxmlformats.org/drawingml/2006/main">
            <a:pPr marL="0" lvl="0" indent="0" algn="l">
              <a:lnSpc>
                <a:spcPct val="100000"/>
              </a:lnSpc>
              <a:spcBef>
                <a:spcPts val="0"/>
              </a:spcBef>
              <a:spcAft>
                <a:spcPts val="0"/>
              </a:spcAft>
              <a:buSzPts val="1400"/>
              <a:buNone/>
            </a:pPr>
            <a:r>
              <a:t>| Results | E07/E08 exploratory component tables and scoped E06 pilot. | Complete quality runs, aggregate/category metrics, uncertainty/statistics, actual resource cost. |</a:t>
            </a:r>
            <a:endParaRPr/>
          </a:p>
          <a:p xmlns:a="http://schemas.openxmlformats.org/drawingml/2006/main">
            <a:pPr marL="0" lvl="0" indent="0" algn="l">
              <a:lnSpc>
                <a:spcPct val="100000"/>
              </a:lnSpc>
              <a:spcBef>
                <a:spcPts val="0"/>
              </a:spcBef>
              <a:spcAft>
                <a:spcPts val="0"/>
              </a:spcAft>
              <a:buSzPts val="1400"/>
              <a:buNone/>
            </a:pPr>
            <a:r>
              <a:t>| Ablations | Proposed fixed-store and single-component experiments. | Actual matched runs and help/harm analysis. |</a:t>
            </a:r>
            <a:endParaRPr/>
          </a:p>
          <a:p xmlns:a="http://schemas.openxmlformats.org/drawingml/2006/main">
            <a:pPr marL="0" lvl="0" indent="0" algn="l">
              <a:lnSpc>
                <a:spcPct val="100000"/>
              </a:lnSpc>
              <a:spcBef>
                <a:spcPts val="0"/>
              </a:spcBef>
              <a:spcAft>
                <a:spcPts val="0"/>
              </a:spcAft>
              <a:buSzPts val="1400"/>
              <a:buNone/>
            </a:pPr>
            <a:r>
              <a:t>| Discussion | Observed retrieval bottleneck and representation tradeoff. | Generalization beyond one conversation, calibration, component contribution. |</a:t>
            </a:r>
            <a:endParaRPr/>
          </a:p>
          <a:p xmlns:a="http://schemas.openxmlformats.org/drawingml/2006/main">
            <a:pPr marL="0" lvl="0" indent="0" algn="l">
              <a:lnSpc>
                <a:spcPct val="100000"/>
              </a:lnSpc>
              <a:spcBef>
                <a:spcPts val="0"/>
              </a:spcBef>
              <a:spcAft>
                <a:spcPts val="0"/>
              </a:spcAft>
              <a:buSzPts val="1400"/>
              <a:buNone/>
            </a:pPr>
            <a:r>
              <a:t>| Limitations | Symbolic/heuristic components, persistence/isolation/tool limits, incomplete evidence. | Updated limitations after fresh fixes/runs. |</a:t>
            </a:r>
            <a:endParaRPr/>
          </a:p>
          <a:p xmlns:a="http://schemas.openxmlformats.org/drawingml/2006/main">
            <a:pPr marL="0" lvl="0" indent="0" algn="l">
              <a:lnSpc>
                <a:spcPct val="100000"/>
              </a:lnSpc>
              <a:spcBef>
                <a:spcPts val="0"/>
              </a:spcBef>
              <a:spcAft>
                <a:spcPts val="0"/>
              </a:spcAft>
              <a:buSzPts val="1400"/>
              <a:buNone/>
            </a:pPr>
            <a:r>
              <a:t>| Reproducibility | Existing source/test/runbook structure. | Validated artifact bundle, checksums, secret-free configuration, dependency freeze.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Draft abstract for discussion, without fabricated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PRIMA-NEXT is a research agent runtime that coordinates memory, evidence retrieval, affect-related signals, planning, symbolic simulation, uncertainty decisions, reflection, and controlled tools through typed task-specific routes. The design records execution and failure diagnostics and bounds correction and maintenance work. We define a matched evaluation against model-only and simple-RAG configurations using conversational-memory, multi-document QA, and emotion-classification tasks. Exploratory retrieval subsets motivate learned embeddings and careful representation selection. Complete held-out comparisons are required to establish whether the additional mechanisms improve quality sufficiently to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10.4 Experiment plan for publishable claims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Freeze dataset split/version/hash, IDs/order, source histories, model/revision, dependencies, seed, context/generation settings, and retry policy.</a:t>
            </a:r>
            <a:endParaRPr/>
          </a:p>
          <a:p xmlns:a="http://schemas.openxmlformats.org/drawingml/2006/main">
            <a:pPr marL="0" lvl="0" indent="0" algn="l">
              <a:lnSpc>
                <a:spcPct val="100000"/>
              </a:lnSpc>
              <a:spcBef>
                <a:spcPts val="0"/>
              </a:spcBef>
              <a:spcAft>
                <a:spcPts val="0"/>
              </a:spcAft>
              <a:buSzPts val="1400"/>
              <a:buNone/>
            </a:pPr>
            <a:r>
              <a:t>Run model-only, simple RAG, and full PRIMA on matched selections. Clearly define which history each baseline receives.</a:t>
            </a:r>
            <a:endParaRPr/>
          </a:p>
          <a:p xmlns:a="http://schemas.openxmlformats.org/drawingml/2006/main">
            <a:pPr marL="0" lvl="0" indent="0" algn="l">
              <a:lnSpc>
                <a:spcPct val="100000"/>
              </a:lnSpc>
              <a:spcBef>
                <a:spcPts val="0"/>
              </a:spcBef>
              <a:spcAft>
                <a:spcPts val="0"/>
              </a:spcAft>
              <a:buSzPts val="1400"/>
              <a:buNone/>
            </a:pPr>
            <a:r>
              <a:t>Separate memory-formation comparisons from fixed-store retrieval comparisons.</a:t>
            </a:r>
            <a:endParaRPr/>
          </a:p>
          <a:p xmlns:a="http://schemas.openxmlformats.org/drawingml/2006/main">
            <a:pPr marL="0" lvl="0" indent="0" algn="l">
              <a:lnSpc>
                <a:spcPct val="100000"/>
              </a:lnSpc>
              <a:spcBef>
                <a:spcPts val="0"/>
              </a:spcBef>
              <a:spcAft>
                <a:spcPts val="0"/>
              </a:spcAft>
              <a:buSzPts val="1400"/>
              <a:buNone/>
            </a:pPr>
            <a:r>
              <a:t>Measure retrieval recall/ranking, native QA metrics, coverage/abstention, execution/scoring failures, tokens/latency, and memory growth.</a:t>
            </a:r>
            <a:endParaRPr/>
          </a:p>
          <a:p xmlns:a="http://schemas.openxmlformats.org/drawingml/2006/main">
            <a:pPr marL="0" lvl="0" indent="0" algn="l">
              <a:lnSpc>
                <a:spcPct val="100000"/>
              </a:lnSpc>
              <a:spcBef>
                <a:spcPts val="0"/>
              </a:spcBef>
              <a:spcAft>
                <a:spcPts val="0"/>
              </a:spcAft>
              <a:buSzPts val="1400"/>
              <a:buNone/>
            </a:pPr>
            <a:r>
              <a:t>Run targeted graph/affect/reflection ablations. Report actual correction help/harm rather than only internal confidence lift.</a:t>
            </a:r>
            <a:endParaRPr/>
          </a:p>
          <a:p xmlns:a="http://schemas.openxmlformats.org/drawingml/2006/main">
            <a:pPr marL="0" lvl="0" indent="0" algn="l">
              <a:lnSpc>
                <a:spcPct val="100000"/>
              </a:lnSpc>
              <a:spcBef>
                <a:spcPts val="0"/>
              </a:spcBef>
              <a:spcAft>
                <a:spcPts val="0"/>
              </a:spcAft>
              <a:buSzPts val="1400"/>
              <a:buNone/>
            </a:pPr>
            <a:r>
              <a:t>Tune on development data and freeze settings before test evaluation. Keep all gold annotations evaluator-owned.</a:t>
            </a:r>
            <a:endParaRPr/>
          </a:p>
          <a:p xmlns:a="http://schemas.openxmlformats.org/drawingml/2006/main">
            <a:pPr marL="0" lvl="0" indent="0" algn="l">
              <a:lnSpc>
                <a:spcPct val="100000"/>
              </a:lnSpc>
              <a:spcBef>
                <a:spcPts val="0"/>
              </a:spcBef>
              <a:spcAft>
                <a:spcPts val="0"/>
              </a:spcAft>
              <a:buSzPts val="1400"/>
              <a:buNone/>
            </a:pPr>
            <a:r>
              <a:t>Use uncertainty estimates over suitable independent units. For conversational data, account for questions clustered in conversations rather than pretending every question is independent. Statistical methods and sample size should be fixed in the protocol.</a:t>
            </a:r>
            <a:endParaRPr/>
          </a:p>
          <a:p xmlns:a="http://schemas.openxmlformats.org/drawingml/2006/main">
            <a:pPr marL="0" lvl="0" indent="0" algn="l">
              <a:lnSpc>
                <a:spcPct val="100000"/>
              </a:lnSpc>
              <a:spcBef>
                <a:spcPts val="0"/>
              </a:spcBef>
              <a:spcAft>
                <a:spcPts val="0"/>
              </a:spcAft>
              <a:buSzPts val="1400"/>
              <a:buNone/>
            </a:pPr>
            <a:r>
              <a:t>Publish negative/neutral findings and cost tradeoffs. A simpler configuration may be the useful conclusion.</a:t>
            </a:r>
            <a:endParaRPr/>
          </a:p>
          <a:p xmlns:a="http://schemas.openxmlformats.org/drawingml/2006/main">
            <a:pPr marL="0" lvl="0" indent="0" algn="l">
              <a:lnSpc>
                <a:spcPct val="100000"/>
              </a:lnSpc>
              <a:spcBef>
                <a:spcPts val="0"/>
              </a:spcBef>
              <a:spcAft>
                <a:spcPts val="0"/>
              </a:spcAft>
              <a:buSzPts val="1400"/>
              <a:buNone/>
            </a:pPr>
            <a:r>
              <a:t>Reconcile JSON/CSV fingerprints and saved-result lineage. Preserve manifests/checkpoints and validate complete coverage before using headline numbers.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10.5 Patent-oriented technical preparation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Technical candidate to investigate: the specific interaction between task/profile-controlled execution, memory admission and maintenance, and budgeted corrections with traceable state/evidence transitions. This is a candidate disclosure topic, not an assertion of patentability.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Preparation item | What the team should produce | Current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Invention definition | A precise technical problem, mechanism, and observable effect. | Candidate framing in this document; team/guide review pending. |</a:t>
            </a:r>
            <a:endParaRPr/>
          </a:p>
          <a:p xmlns:a="http://schemas.openxmlformats.org/drawingml/2006/main">
            <a:pPr marL="0" lvl="0" indent="0" algn="l">
              <a:lnSpc>
                <a:spcPct val="100000"/>
              </a:lnSpc>
              <a:spcBef>
                <a:spcPts val="0"/>
              </a:spcBef>
              <a:spcAft>
                <a:spcPts val="0"/>
              </a:spcAft>
              <a:buSzPts val="1400"/>
              <a:buNone/>
            </a:pPr>
            <a:r>
              <a:t>| Inventor/contribution record | Named contributors and evidence of their contribution to the proposed mechanism. | Git contributors exist; inventorship is not established by that list. |</a:t>
            </a:r>
            <a:endParaRPr/>
          </a:p>
          <a:p xmlns:a="http://schemas.openxmlformats.org/drawingml/2006/main">
            <a:pPr marL="0" lvl="0" indent="0" algn="l">
              <a:lnSpc>
                <a:spcPct val="100000"/>
              </a:lnSpc>
              <a:spcBef>
                <a:spcPts val="0"/>
              </a:spcBef>
              <a:spcAft>
                <a:spcPts val="0"/>
              </a:spcAft>
              <a:buSzPts val="1400"/>
              <a:buNone/>
            </a:pPr>
            <a:r>
              <a:t>| Prior-art comparison | Claim-by-claim mechanism comparison with relevant papers and patent records. | Foundational literature identified; patent prior-art search not performed. |</a:t>
            </a:r>
            <a:endParaRPr/>
          </a:p>
          <a:p xmlns:a="http://schemas.openxmlformats.org/drawingml/2006/main">
            <a:pPr marL="0" lvl="0" indent="0" algn="l">
              <a:lnSpc>
                <a:spcPct val="100000"/>
              </a:lnSpc>
              <a:spcBef>
                <a:spcPts val="0"/>
              </a:spcBef>
              <a:spcAft>
                <a:spcPts val="0"/>
              </a:spcAft>
              <a:buSzPts val="1400"/>
              <a:buNone/>
            </a:pPr>
            <a:r>
              <a:t>| Technical disclosure | Architecture, state transitions, alternatives, reproducible example, measured effect. | Source/docs supply material; formal disclosure not supplied. |</a:t>
            </a:r>
            <a:endParaRPr/>
          </a:p>
          <a:p xmlns:a="http://schemas.openxmlformats.org/drawingml/2006/main">
            <a:pPr marL="0" lvl="0" indent="0" algn="l">
              <a:lnSpc>
                <a:spcPct val="100000"/>
              </a:lnSpc>
              <a:spcBef>
                <a:spcPts val="0"/>
              </a:spcBef>
              <a:spcAft>
                <a:spcPts val="0"/>
              </a:spcAft>
              <a:buSzPts val="1400"/>
              <a:buNone/>
            </a:pPr>
            <a:r>
              <a:t>| Institutional review | Guide/institution IP office review and documented decision. | Team confirmation required. |</a:t>
            </a:r>
            <a:endParaRPr/>
          </a:p>
          <a:p xmlns:a="http://schemas.openxmlformats.org/drawingml/2006/main">
            <a:pPr marL="0" lvl="0" indent="0" algn="l">
              <a:lnSpc>
                <a:spcPct val="100000"/>
              </a:lnSpc>
              <a:spcBef>
                <a:spcPts val="0"/>
              </a:spcBef>
              <a:spcAft>
                <a:spcPts val="0"/>
              </a:spcAft>
              <a:buSzPts val="1400"/>
              <a:buNone/>
            </a:pPr>
            <a:r>
              <a:t>| Filing milestones | Official receipt, application number/date, jurisdiction, filing type, status evidence. | None supplied. |</a:t>
            </a:r>
            <a:endParaRPr/>
          </a:p>
          <a:p xmlns:a="http://schemas.openxmlformats.org/drawingml/2006/main">
            <a:pPr marL="0" lvl="0" indent="0" algn="l">
              <a:lnSpc>
                <a:spcPct val="100000"/>
              </a:lnSpc>
              <a:spcBef>
                <a:spcPts val="0"/>
              </a:spcBef>
              <a:spcAft>
                <a:spcPts val="0"/>
              </a:spcAft>
              <a:buSzPts val="1400"/>
              <a:buNone/>
            </a:pPr>
            <a:r>
              <a:t>| Later status | Publication record or grant document, distinct from initial filing. | None supplied.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paper describes scientific methods/results. A patent-oriented disclosure must identify a specific proposed invention and supporting mechanism. Use the institution's IP office to determine applicable requirements and the sequence of public release/submission/filing. This document makes no legal eligibility or filing-status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Safe spoken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Our implementation and experiment infrastructure are available. We have exploratory retrieval results and a reported LoCoMo operational pilot. We are preparing a complete matched evaluation and manuscript evidence package. Paper submission and patent filing status will be shown only with the team's corresponding records.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10.6 Evidence the team must add before the mentor meeting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paper: exact title, author order/affiliations, versioned manuscript, guide feedback, target venue, submission date/ID and receipt if submitted, acceptance notice if accepted, published URL/DOI if published.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patent: proposed invention title, disclosure/specification version, institutional review status, contributor/inventor confirmation, official application receipt and number/date if filed, publication/grant record if those stages occurred.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Track stage names separately. Drafted, submitted, accepted, and published are different paper milestones. Disclosure prepared, application filed, application published, and granted are different patent milestones.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https://arxiv.org/abs/2005.11401</a:t>
            </a:r>
            <a:endParaRPr/>
          </a:p>
          <a:p xmlns:a="http://schemas.openxmlformats.org/drawingml/2006/main">
            <a:pPr marL="0" lvl="0" indent="0" algn="l">
              <a:lnSpc>
                <a:spcPct val="100000"/>
              </a:lnSpc>
              <a:spcBef>
                <a:spcPts val="0"/>
              </a:spcBef>
              <a:spcAft>
                <a:spcPts val="0"/>
              </a:spcAft>
              <a:buSzPts val="1400"/>
              <a:buNone/>
            </a:pPr>
            <a:r>
              <a:t>https://arxiv.org/abs/2304.03442</a:t>
            </a:r>
            <a:endParaRPr/>
          </a:p>
          <a:p xmlns:a="http://schemas.openxmlformats.org/drawingml/2006/main">
            <a:pPr marL="0" lvl="0" indent="0" algn="l">
              <a:lnSpc>
                <a:spcPct val="100000"/>
              </a:lnSpc>
              <a:spcBef>
                <a:spcPts val="0"/>
              </a:spcBef>
              <a:spcAft>
                <a:spcPts val="0"/>
              </a:spcAft>
              <a:buSzPts val="1400"/>
              <a:buNone/>
            </a:pPr>
            <a:r>
              <a:t>https://arxiv.org/abs/2303.11366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Research question and contributions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 Additional requested section: research paper and patent progress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10.1 Actual verified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inspected repository contains source, technical documentation, benchmark code, tests, saved subset results, and pilot notes. It does not establish a manuscript submission, acceptance, published PRIMA paper, invention-disclosure submission, patent application, publication number, or grant. No manuscript or filing receipt was supplied with the request. This is a statement about available evidence, not proof that the team has done no work elsewhere.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Milestone | Evidence currently available | Honest slide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Research system implementation | E01 - E03, module tests. | Implemented research prototype. |</a:t>
            </a:r>
            <a:endParaRPr/>
          </a:p>
          <a:p xmlns:a="http://schemas.openxmlformats.org/drawingml/2006/main">
            <a:pPr marL="0" lvl="0" indent="0" algn="l">
              <a:lnSpc>
                <a:spcPct val="100000"/>
              </a:lnSpc>
              <a:spcBef>
                <a:spcPts val="0"/>
              </a:spcBef>
              <a:spcAft>
                <a:spcPts val="0"/>
              </a:spcAft>
              <a:buSzPts val="1400"/>
              <a:buNone/>
            </a:pPr>
            <a:r>
              <a:t>| Technical documentation | E04 and this review document. | Architecture and review material prepared. |</a:t>
            </a:r>
            <a:endParaRPr/>
          </a:p>
          <a:p xmlns:a="http://schemas.openxmlformats.org/drawingml/2006/main">
            <a:pPr marL="0" lvl="0" indent="0" algn="l">
              <a:lnSpc>
                <a:spcPct val="100000"/>
              </a:lnSpc>
              <a:spcBef>
                <a:spcPts val="0"/>
              </a:spcBef>
              <a:spcAft>
                <a:spcPts val="0"/>
              </a:spcAft>
              <a:buSzPts val="1400"/>
              <a:buNone/>
            </a:pPr>
            <a:r>
              <a:t>| Exploratory component experiments | E07/E08. | Saved subset results inspected; provenance reconciliation and fresh validation pending. |</a:t>
            </a:r>
            <a:endParaRPr/>
          </a:p>
          <a:p xmlns:a="http://schemas.openxmlformats.org/drawingml/2006/main">
            <a:pPr marL="0" lvl="0" indent="0" algn="l">
              <a:lnSpc>
                <a:spcPct val="100000"/>
              </a:lnSpc>
              <a:spcBef>
                <a:spcPts val="0"/>
              </a:spcBef>
              <a:spcAft>
                <a:spcPts val="0"/>
              </a:spcAft>
              <a:buSzPts val="1400"/>
              <a:buNone/>
            </a:pPr>
            <a:r>
              <a:t>| Real operational pilot | E06. | Repository-reported LoCoMo pilot, full completion unverified here. |</a:t>
            </a:r>
            <a:endParaRPr/>
          </a:p>
          <a:p xmlns:a="http://schemas.openxmlformats.org/drawingml/2006/main">
            <a:pPr marL="0" lvl="0" indent="0" algn="l">
              <a:lnSpc>
                <a:spcPct val="100000"/>
              </a:lnSpc>
              <a:spcBef>
                <a:spcPts val="0"/>
              </a:spcBef>
              <a:spcAft>
                <a:spcPts val="0"/>
              </a:spcAft>
              <a:buSzPts val="1400"/>
              <a:buNone/>
            </a:pPr>
            <a:r>
              <a:t>| Full matched final experiments | No complete validated final campaign established by inspected evidence. | Pending verification/execution. |</a:t>
            </a:r>
            <a:endParaRPr/>
          </a:p>
          <a:p xmlns:a="http://schemas.openxmlformats.org/drawingml/2006/main">
            <a:pPr marL="0" lvl="0" indent="0" algn="l">
              <a:lnSpc>
                <a:spcPct val="100000"/>
              </a:lnSpc>
              <a:spcBef>
                <a:spcPts val="0"/>
              </a:spcBef>
              <a:spcAft>
                <a:spcPts val="0"/>
              </a:spcAft>
              <a:buSzPts val="1400"/>
              <a:buNone/>
            </a:pPr>
            <a:r>
              <a:t>| PRIMA manuscript draft | No draft supplied or identified in inspected project material. | [To be added] |</a:t>
            </a:r>
            <a:endParaRPr/>
          </a:p>
          <a:p xmlns:a="http://schemas.openxmlformats.org/drawingml/2006/main">
            <a:pPr marL="0" lvl="0" indent="0" algn="l">
              <a:lnSpc>
                <a:spcPct val="100000"/>
              </a:lnSpc>
              <a:spcBef>
                <a:spcPts val="0"/>
              </a:spcBef>
              <a:spcAft>
                <a:spcPts val="0"/>
              </a:spcAft>
              <a:buSzPts val="1400"/>
              <a:buNone/>
            </a:pPr>
            <a:r>
              <a:t>| Venue and submission | No submission receipt/ID supplied. | [To be added] |</a:t>
            </a:r>
            <a:endParaRPr/>
          </a:p>
          <a:p xmlns:a="http://schemas.openxmlformats.org/drawingml/2006/main">
            <a:pPr marL="0" lvl="0" indent="0" algn="l">
              <a:lnSpc>
                <a:spcPct val="100000"/>
              </a:lnSpc>
              <a:spcBef>
                <a:spcPts val="0"/>
              </a:spcBef>
              <a:spcAft>
                <a:spcPts val="0"/>
              </a:spcAft>
              <a:buSzPts val="1400"/>
              <a:buNone/>
            </a:pPr>
            <a:r>
              <a:t>| Acceptance / publication / DOI | No acceptance notice or published record supplied. | Unverified; do not claim accepted/published. |</a:t>
            </a:r>
            <a:endParaRPr/>
          </a:p>
          <a:p xmlns:a="http://schemas.openxmlformats.org/drawingml/2006/main">
            <a:pPr marL="0" lvl="0" indent="0" algn="l">
              <a:lnSpc>
                <a:spcPct val="100000"/>
              </a:lnSpc>
              <a:spcBef>
                <a:spcPts val="0"/>
              </a:spcBef>
              <a:spcAft>
                <a:spcPts val="0"/>
              </a:spcAft>
              <a:buSzPts val="1400"/>
              <a:buNone/>
            </a:pPr>
            <a:r>
              <a:t>| Invention disclosure / patent draft | No disclosure/specification supplied. | [To be added] |</a:t>
            </a:r>
            <a:endParaRPr/>
          </a:p>
          <a:p xmlns:a="http://schemas.openxmlformats.org/drawingml/2006/main">
            <a:pPr marL="0" lvl="0" indent="0" algn="l">
              <a:lnSpc>
                <a:spcPct val="100000"/>
              </a:lnSpc>
              <a:spcBef>
                <a:spcPts val="0"/>
              </a:spcBef>
              <a:spcAft>
                <a:spcPts val="0"/>
              </a:spcAft>
              <a:buSzPts val="1400"/>
              <a:buNone/>
            </a:pPr>
            <a:r>
              <a:t>| Patent filing / publication / grant | No official receipt or record supplied. | Unverified; do not claim filed/published/granted.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10.2 Research question and candidate contribution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Suggested manuscript working title: "PRIMA-NEXT: A Typed Agent Runtime for Evidence-Based Memory, Bounded Correction, and Controlled Execution." This is proposed wording, not an existing publication title.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question: Does full PRIMA improve held-out memory-assisted QA quality and reliability compared with the same model alone and simple RAG under matched budgets, and which components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contributions to evaluate: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A unified typed boundary and explicit task/profile execution, with observable component accounting and failure semantics.</a:t>
            </a:r>
            <a:endParaRPr/>
          </a:p>
          <a:p xmlns:a="http://schemas.openxmlformats.org/drawingml/2006/main">
            <a:pPr marL="0" lvl="0" indent="0" algn="l">
              <a:lnSpc>
                <a:spcPct val="100000"/>
              </a:lnSpc>
              <a:spcBef>
                <a:spcPts val="0"/>
              </a:spcBef>
              <a:spcAft>
                <a:spcPts val="0"/>
              </a:spcAft>
              <a:buSzPts val="1400"/>
              <a:buNone/>
            </a:pPr>
            <a:r>
              <a:t>2. An integrated memory lifecycle joining selective admission, traceable hybrid retrieval, and bounded background maintenance.</a:t>
            </a:r>
            <a:endParaRPr/>
          </a:p>
          <a:p xmlns:a="http://schemas.openxmlformats.org/drawingml/2006/main">
            <a:pPr marL="0" lvl="0" indent="0" algn="l">
              <a:lnSpc>
                <a:spcPct val="100000"/>
              </a:lnSpc>
              <a:spcBef>
                <a:spcPts val="0"/>
              </a:spcBef>
              <a:spcAft>
                <a:spcPts val="0"/>
              </a:spcAft>
              <a:buSzPts val="1400"/>
              <a:buNone/>
            </a:pPr>
            <a:r>
              <a:t>3. Workflow-owned uncertainty/reflection with bounded corrections and recorded before/after outcomes.</a:t>
            </a:r>
            <a:endParaRPr/>
          </a:p>
          <a:p xmlns:a="http://schemas.openxmlformats.org/drawingml/2006/main">
            <a:pPr marL="0" lvl="0" indent="0" algn="l">
              <a:lnSpc>
                <a:spcPct val="100000"/>
              </a:lnSpc>
              <a:spcBef>
                <a:spcPts val="0"/>
              </a:spcBef>
              <a:spcAft>
                <a:spcPts val="0"/>
              </a:spcAft>
              <a:buSzPts val="1400"/>
              <a:buNone/>
            </a:pPr>
            <a:r>
              <a:t>4. A reproducible evaluation protocol separating functional tests, subset component studies, real pilots, and reportable campaigns.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descriptions of engineering work and potential research contributions. Novelty relative to prior literature and benefit over strong baselines remain to establish. RAG, memory/plan/reflection agents, and verbal feedback agents already exist. A list of familiar techniques is insufficient as a novelty claim. RAG, Generative Agents, Reflexion.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10.3 Paper structure with material and gaps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Section | Material ready to write | Evidence still needed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Abstract | Problem, runtime design, scoped evaluation objective. | Final matched outcomes. Do not invent accuracy gains. |</a:t>
            </a:r>
            <a:endParaRPr/>
          </a:p>
          <a:p xmlns:a="http://schemas.openxmlformats.org/drawingml/2006/main">
            <a:pPr marL="0" lvl="0" indent="0" algn="l">
              <a:lnSpc>
                <a:spcPct val="100000"/>
              </a:lnSpc>
              <a:spcBef>
                <a:spcPts val="0"/>
              </a:spcBef>
              <a:spcAft>
                <a:spcPts val="0"/>
              </a:spcAft>
              <a:buSzPts val="1400"/>
              <a:buNone/>
            </a:pPr>
            <a:r>
              <a:t>| Introduction | Continuing-agent evidence/memory/control problem. | Target audience and explicit research hypotheses. |</a:t>
            </a:r>
            <a:endParaRPr/>
          </a:p>
          <a:p xmlns:a="http://schemas.openxmlformats.org/drawingml/2006/main">
            <a:pPr marL="0" lvl="0" indent="0" algn="l">
              <a:lnSpc>
                <a:spcPct val="100000"/>
              </a:lnSpc>
              <a:spcBef>
                <a:spcPts val="0"/>
              </a:spcBef>
              <a:spcAft>
                <a:spcPts val="0"/>
              </a:spcAft>
              <a:buSzPts val="1400"/>
              <a:buNone/>
            </a:pPr>
            <a:r>
              <a:t>| Related work | RAG, Generative Agents, Reflexion, LoCoMo/HotpotQA/GoEmotions. | Focused comparison of mechanisms and newest relevant primary literature before submission. |</a:t>
            </a:r>
            <a:endParaRPr/>
          </a:p>
          <a:p xmlns:a="http://schemas.openxmlformats.org/drawingml/2006/main">
            <a:pPr marL="0" lvl="0" indent="0" algn="l">
              <a:lnSpc>
                <a:spcPct val="100000"/>
              </a:lnSpc>
              <a:spcBef>
                <a:spcPts val="0"/>
              </a:spcBef>
              <a:spcAft>
                <a:spcPts val="0"/>
              </a:spcAft>
              <a:buSzPts val="1400"/>
              <a:buNone/>
            </a:pPr>
            <a:r>
              <a:t>| Method | Contracts, routes, memory types, fusion/admission formulas, correction budgets. | Frozen experiment configuration and precise pseudocode matching the final implementation. |</a:t>
            </a:r>
            <a:endParaRPr/>
          </a:p>
          <a:p xmlns:a="http://schemas.openxmlformats.org/drawingml/2006/main">
            <a:pPr marL="0" lvl="0" indent="0" algn="l">
              <a:lnSpc>
                <a:spcPct val="100000"/>
              </a:lnSpc>
              <a:spcBef>
                <a:spcPts val="0"/>
              </a:spcBef>
              <a:spcAft>
                <a:spcPts val="0"/>
              </a:spcAft>
              <a:buSzPts val="1400"/>
              <a:buNone/>
            </a:pPr>
            <a:r>
              <a:t>| Experimental setup | Existing adapters, scorer/claim policy, subset metadata. | Dataset/model hashes/revisions, environment, selection protocol, seeds, failure rules. |</a:t>
            </a:r>
            <a:endParaRPr/>
          </a:p>
          <a:p xmlns:a="http://schemas.openxmlformats.org/drawingml/2006/main">
            <a:pPr marL="0" lvl="0" indent="0" algn="l">
              <a:lnSpc>
                <a:spcPct val="100000"/>
              </a:lnSpc>
              <a:spcBef>
                <a:spcPts val="0"/>
              </a:spcBef>
              <a:spcAft>
                <a:spcPts val="0"/>
              </a:spcAft>
              <a:buSzPts val="1400"/>
              <a:buNone/>
            </a:pPr>
            <a:r>
              <a:t>| Results | E07/E08 exploratory component tables and scoped E06 pilot. | Complete quality runs, aggregate/category metrics, uncertainty/statistics, actual resource cost. |</a:t>
            </a:r>
            <a:endParaRPr/>
          </a:p>
          <a:p xmlns:a="http://schemas.openxmlformats.org/drawingml/2006/main">
            <a:pPr marL="0" lvl="0" indent="0" algn="l">
              <a:lnSpc>
                <a:spcPct val="100000"/>
              </a:lnSpc>
              <a:spcBef>
                <a:spcPts val="0"/>
              </a:spcBef>
              <a:spcAft>
                <a:spcPts val="0"/>
              </a:spcAft>
              <a:buSzPts val="1400"/>
              <a:buNone/>
            </a:pPr>
            <a:r>
              <a:t>| Ablations | Proposed fixed-store and single-component experiments. | Actual matched runs and help/harm analysis. |</a:t>
            </a:r>
            <a:endParaRPr/>
          </a:p>
          <a:p xmlns:a="http://schemas.openxmlformats.org/drawingml/2006/main">
            <a:pPr marL="0" lvl="0" indent="0" algn="l">
              <a:lnSpc>
                <a:spcPct val="100000"/>
              </a:lnSpc>
              <a:spcBef>
                <a:spcPts val="0"/>
              </a:spcBef>
              <a:spcAft>
                <a:spcPts val="0"/>
              </a:spcAft>
              <a:buSzPts val="1400"/>
              <a:buNone/>
            </a:pPr>
            <a:r>
              <a:t>| Discussion | Observed retrieval bottleneck and representation tradeoff. | Generalization beyond one conversation, calibration, component contribution. |</a:t>
            </a:r>
            <a:endParaRPr/>
          </a:p>
          <a:p xmlns:a="http://schemas.openxmlformats.org/drawingml/2006/main">
            <a:pPr marL="0" lvl="0" indent="0" algn="l">
              <a:lnSpc>
                <a:spcPct val="100000"/>
              </a:lnSpc>
              <a:spcBef>
                <a:spcPts val="0"/>
              </a:spcBef>
              <a:spcAft>
                <a:spcPts val="0"/>
              </a:spcAft>
              <a:buSzPts val="1400"/>
              <a:buNone/>
            </a:pPr>
            <a:r>
              <a:t>| Limitations | Symbolic/heuristic components, persistence/isolation/tool limits, incomplete evidence. | Updated limitations after fresh fixes/runs. |</a:t>
            </a:r>
            <a:endParaRPr/>
          </a:p>
          <a:p xmlns:a="http://schemas.openxmlformats.org/drawingml/2006/main">
            <a:pPr marL="0" lvl="0" indent="0" algn="l">
              <a:lnSpc>
                <a:spcPct val="100000"/>
              </a:lnSpc>
              <a:spcBef>
                <a:spcPts val="0"/>
              </a:spcBef>
              <a:spcAft>
                <a:spcPts val="0"/>
              </a:spcAft>
              <a:buSzPts val="1400"/>
              <a:buNone/>
            </a:pPr>
            <a:r>
              <a:t>| Reproducibility | Existing source/test/runbook structure. | Validated artifact bundle, checksums, secret-free configuration, dependency freeze.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Draft abstract for discussion, without fabricated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PRIMA-NEXT is a research agent runtime that coordinates memory, evidence retrieval, affect-related signals, planning, symbolic simulation, uncertainty decisions, reflection, and controlled tools through typed task-specific routes. The design records execution and failure diagnostics and bounds correction and maintenance work. We define a matched evaluation against model-only and simple-RAG configurations using conversational-memory, multi-document QA, and emotion-classification tasks. Exploratory retrieval subsets motivate learned embeddings and careful representation selection. Complete held-out comparisons are required to establish whether the additional mechanisms improve quality sufficiently to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10.4 Experiment plan for publishable claims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Freeze dataset split/version/hash, IDs/order, source histories, model/revision, dependencies, seed, context/generation settings, and retry policy.</a:t>
            </a:r>
            <a:endParaRPr/>
          </a:p>
          <a:p xmlns:a="http://schemas.openxmlformats.org/drawingml/2006/main">
            <a:pPr marL="0" lvl="0" indent="0" algn="l">
              <a:lnSpc>
                <a:spcPct val="100000"/>
              </a:lnSpc>
              <a:spcBef>
                <a:spcPts val="0"/>
              </a:spcBef>
              <a:spcAft>
                <a:spcPts val="0"/>
              </a:spcAft>
              <a:buSzPts val="1400"/>
              <a:buNone/>
            </a:pPr>
            <a:r>
              <a:t>Run model-only, simple RAG, and full PRIMA on matched selections. Clearly define which history each baseline receives.</a:t>
            </a:r>
            <a:endParaRPr/>
          </a:p>
          <a:p xmlns:a="http://schemas.openxmlformats.org/drawingml/2006/main">
            <a:pPr marL="0" lvl="0" indent="0" algn="l">
              <a:lnSpc>
                <a:spcPct val="100000"/>
              </a:lnSpc>
              <a:spcBef>
                <a:spcPts val="0"/>
              </a:spcBef>
              <a:spcAft>
                <a:spcPts val="0"/>
              </a:spcAft>
              <a:buSzPts val="1400"/>
              <a:buNone/>
            </a:pPr>
            <a:r>
              <a:t>Separate memory-formation comparisons from fixed-store retrieval comparisons.</a:t>
            </a:r>
            <a:endParaRPr/>
          </a:p>
          <a:p xmlns:a="http://schemas.openxmlformats.org/drawingml/2006/main">
            <a:pPr marL="0" lvl="0" indent="0" algn="l">
              <a:lnSpc>
                <a:spcPct val="100000"/>
              </a:lnSpc>
              <a:spcBef>
                <a:spcPts val="0"/>
              </a:spcBef>
              <a:spcAft>
                <a:spcPts val="0"/>
              </a:spcAft>
              <a:buSzPts val="1400"/>
              <a:buNone/>
            </a:pPr>
            <a:r>
              <a:t>Measure retrieval recall/ranking, native QA metrics, coverage/abstention, execution/scoring failures, tokens/latency, and memory growth.</a:t>
            </a:r>
            <a:endParaRPr/>
          </a:p>
          <a:p xmlns:a="http://schemas.openxmlformats.org/drawingml/2006/main">
            <a:pPr marL="0" lvl="0" indent="0" algn="l">
              <a:lnSpc>
                <a:spcPct val="100000"/>
              </a:lnSpc>
              <a:spcBef>
                <a:spcPts val="0"/>
              </a:spcBef>
              <a:spcAft>
                <a:spcPts val="0"/>
              </a:spcAft>
              <a:buSzPts val="1400"/>
              <a:buNone/>
            </a:pPr>
            <a:r>
              <a:t>Run targeted graph/affect/reflection ablations. Report actual correction help/harm rather than only internal confidence lift.</a:t>
            </a:r>
            <a:endParaRPr/>
          </a:p>
          <a:p xmlns:a="http://schemas.openxmlformats.org/drawingml/2006/main">
            <a:pPr marL="0" lvl="0" indent="0" algn="l">
              <a:lnSpc>
                <a:spcPct val="100000"/>
              </a:lnSpc>
              <a:spcBef>
                <a:spcPts val="0"/>
              </a:spcBef>
              <a:spcAft>
                <a:spcPts val="0"/>
              </a:spcAft>
              <a:buSzPts val="1400"/>
              <a:buNone/>
            </a:pPr>
            <a:r>
              <a:t>Tune on development data and freeze settings before test evaluation. Keep all gold annotations evaluator-owned.</a:t>
            </a:r>
            <a:endParaRPr/>
          </a:p>
          <a:p xmlns:a="http://schemas.openxmlformats.org/drawingml/2006/main">
            <a:pPr marL="0" lvl="0" indent="0" algn="l">
              <a:lnSpc>
                <a:spcPct val="100000"/>
              </a:lnSpc>
              <a:spcBef>
                <a:spcPts val="0"/>
              </a:spcBef>
              <a:spcAft>
                <a:spcPts val="0"/>
              </a:spcAft>
              <a:buSzPts val="1400"/>
              <a:buNone/>
            </a:pPr>
            <a:r>
              <a:t>Use uncertainty estimates over suitable independent units. For conversational data, account for questions clustered in conversations rather than pretending every question is independent. Statistical methods and sample size should be fixed in the protocol.</a:t>
            </a:r>
            <a:endParaRPr/>
          </a:p>
          <a:p xmlns:a="http://schemas.openxmlformats.org/drawingml/2006/main">
            <a:pPr marL="0" lvl="0" indent="0" algn="l">
              <a:lnSpc>
                <a:spcPct val="100000"/>
              </a:lnSpc>
              <a:spcBef>
                <a:spcPts val="0"/>
              </a:spcBef>
              <a:spcAft>
                <a:spcPts val="0"/>
              </a:spcAft>
              <a:buSzPts val="1400"/>
              <a:buNone/>
            </a:pPr>
            <a:r>
              <a:t>Publish negative/neutral findings and cost tradeoffs. A simpler configuration may be the useful conclusion.</a:t>
            </a:r>
            <a:endParaRPr/>
          </a:p>
          <a:p xmlns:a="http://schemas.openxmlformats.org/drawingml/2006/main">
            <a:pPr marL="0" lvl="0" indent="0" algn="l">
              <a:lnSpc>
                <a:spcPct val="100000"/>
              </a:lnSpc>
              <a:spcBef>
                <a:spcPts val="0"/>
              </a:spcBef>
              <a:spcAft>
                <a:spcPts val="0"/>
              </a:spcAft>
              <a:buSzPts val="1400"/>
              <a:buNone/>
            </a:pPr>
            <a:r>
              <a:t>Reconcile JSON/CSV fingerprints and saved-result lineage. Preserve manifests/checkpoints and validate complete coverage before using headline numbers.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10.5 Patent-oriented technical preparation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Technical candidate to investigate: the specific interaction between task/profile-controlled execution, memory admission and maintenance, and budgeted corrections with traceable state/evidence transitions. This is a candidate disclosure topic, not an assertion of patentability.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Preparation item | What the team should produce | Current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Invention definition | A precise technical problem, mechanism, and observable effect. | Candidate framing in this document; team/guide review pending. |</a:t>
            </a:r>
            <a:endParaRPr/>
          </a:p>
          <a:p xmlns:a="http://schemas.openxmlformats.org/drawingml/2006/main">
            <a:pPr marL="0" lvl="0" indent="0" algn="l">
              <a:lnSpc>
                <a:spcPct val="100000"/>
              </a:lnSpc>
              <a:spcBef>
                <a:spcPts val="0"/>
              </a:spcBef>
              <a:spcAft>
                <a:spcPts val="0"/>
              </a:spcAft>
              <a:buSzPts val="1400"/>
              <a:buNone/>
            </a:pPr>
            <a:r>
              <a:t>| Inventor/contribution record | Named contributors and evidence of their contribution to the proposed mechanism. | Git contributors exist; inventorship is not established by that list. |</a:t>
            </a:r>
            <a:endParaRPr/>
          </a:p>
          <a:p xmlns:a="http://schemas.openxmlformats.org/drawingml/2006/main">
            <a:pPr marL="0" lvl="0" indent="0" algn="l">
              <a:lnSpc>
                <a:spcPct val="100000"/>
              </a:lnSpc>
              <a:spcBef>
                <a:spcPts val="0"/>
              </a:spcBef>
              <a:spcAft>
                <a:spcPts val="0"/>
              </a:spcAft>
              <a:buSzPts val="1400"/>
              <a:buNone/>
            </a:pPr>
            <a:r>
              <a:t>| Prior-art comparison | Claim-by-claim mechanism comparison with relevant papers and patent records. | Foundational literature identified; patent prior-art search not performed. |</a:t>
            </a:r>
            <a:endParaRPr/>
          </a:p>
          <a:p xmlns:a="http://schemas.openxmlformats.org/drawingml/2006/main">
            <a:pPr marL="0" lvl="0" indent="0" algn="l">
              <a:lnSpc>
                <a:spcPct val="100000"/>
              </a:lnSpc>
              <a:spcBef>
                <a:spcPts val="0"/>
              </a:spcBef>
              <a:spcAft>
                <a:spcPts val="0"/>
              </a:spcAft>
              <a:buSzPts val="1400"/>
              <a:buNone/>
            </a:pPr>
            <a:r>
              <a:t>| Technical disclosure | Architecture, state transitions, alternatives, reproducible example, measured effect. | Source/docs supply material; formal disclosure not supplied. |</a:t>
            </a:r>
            <a:endParaRPr/>
          </a:p>
          <a:p xmlns:a="http://schemas.openxmlformats.org/drawingml/2006/main">
            <a:pPr marL="0" lvl="0" indent="0" algn="l">
              <a:lnSpc>
                <a:spcPct val="100000"/>
              </a:lnSpc>
              <a:spcBef>
                <a:spcPts val="0"/>
              </a:spcBef>
              <a:spcAft>
                <a:spcPts val="0"/>
              </a:spcAft>
              <a:buSzPts val="1400"/>
              <a:buNone/>
            </a:pPr>
            <a:r>
              <a:t>| Institutional review | Guide/institution IP office review and documented decision. | Team confirmation required. |</a:t>
            </a:r>
            <a:endParaRPr/>
          </a:p>
          <a:p xmlns:a="http://schemas.openxmlformats.org/drawingml/2006/main">
            <a:pPr marL="0" lvl="0" indent="0" algn="l">
              <a:lnSpc>
                <a:spcPct val="100000"/>
              </a:lnSpc>
              <a:spcBef>
                <a:spcPts val="0"/>
              </a:spcBef>
              <a:spcAft>
                <a:spcPts val="0"/>
              </a:spcAft>
              <a:buSzPts val="1400"/>
              <a:buNone/>
            </a:pPr>
            <a:r>
              <a:t>| Filing milestones | Official receipt, application number/date, jurisdiction, filing type, status evidence. | None supplied. |</a:t>
            </a:r>
            <a:endParaRPr/>
          </a:p>
          <a:p xmlns:a="http://schemas.openxmlformats.org/drawingml/2006/main">
            <a:pPr marL="0" lvl="0" indent="0" algn="l">
              <a:lnSpc>
                <a:spcPct val="100000"/>
              </a:lnSpc>
              <a:spcBef>
                <a:spcPts val="0"/>
              </a:spcBef>
              <a:spcAft>
                <a:spcPts val="0"/>
              </a:spcAft>
              <a:buSzPts val="1400"/>
              <a:buNone/>
            </a:pPr>
            <a:r>
              <a:t>| Later status | Publication record or grant document, distinct from initial filing. | None supplied.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paper describes scientific methods/results. A patent-oriented disclosure must identify a specific proposed invention and supporting mechanism. Use the institution's IP office to determine applicable requirements and the sequence of public release/submission/filing. This document makes no legal eligibility or filing-status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Safe spoken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Our implementation and experiment infrastructure are available. We have exploratory retrieval results and a reported LoCoMo operational pilot. We are preparing a complete matched evaluation and manuscript evidence package. Paper submission and patent filing status will be shown only with the team's corresponding records.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10.6 Evidence the team must add before the mentor meeting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paper: exact title, author order/affiliations, versioned manuscript, guide feedback, target venue, submission date/ID and receipt if submitted, acceptance notice if accepted, published URL/DOI if published.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patent: proposed invention title, disclosure/specification version, institutional review status, contributor/inventor confirmation, official application receipt and number/date if filed, publication/grant record if those stages occurred.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Track stage names separately. Drafted, submitted, accepted, and published are different paper milestones. Disclosure prepared, application filed, application published, and granted are different patent milestones.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https://arxiv.org/abs/2005.11401</a:t>
            </a:r>
            <a:endParaRPr/>
          </a:p>
          <a:p xmlns:a="http://schemas.openxmlformats.org/drawingml/2006/main">
            <a:pPr marL="0" lvl="0" indent="0" algn="l">
              <a:lnSpc>
                <a:spcPct val="100000"/>
              </a:lnSpc>
              <a:spcBef>
                <a:spcPts val="0"/>
              </a:spcBef>
              <a:spcAft>
                <a:spcPts val="0"/>
              </a:spcAft>
              <a:buSzPts val="1400"/>
              <a:buNone/>
            </a:pPr>
            <a:r>
              <a:t>https://arxiv.org/abs/2304.03442</a:t>
            </a:r>
            <a:endParaRPr/>
          </a:p>
          <a:p xmlns:a="http://schemas.openxmlformats.org/drawingml/2006/main">
            <a:pPr marL="0" lvl="0" indent="0" algn="l">
              <a:lnSpc>
                <a:spcPct val="100000"/>
              </a:lnSpc>
              <a:spcBef>
                <a:spcPts val="0"/>
              </a:spcBef>
              <a:spcAft>
                <a:spcPts val="0"/>
              </a:spcAft>
              <a:buSzPts val="1400"/>
              <a:buNone/>
            </a:pPr>
            <a:r>
              <a:t>https://arxiv.org/abs/2303.11366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Manuscript structure and evidence gaps (1/2)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 Additional requested section: research paper and patent progress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10.1 Actual verified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inspected repository contains source, technical documentation, benchmark code, tests, saved subset results, and pilot notes. It does not establish a manuscript submission, acceptance, published PRIMA paper, invention-disclosure submission, patent application, publication number, or grant. No manuscript or filing receipt was supplied with the request. This is a statement about available evidence, not proof that the team has done no work elsewhere.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Milestone | Evidence currently available | Honest slide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Research system implementation | E01 - E03, module tests. | Implemented research prototype. |</a:t>
            </a:r>
            <a:endParaRPr/>
          </a:p>
          <a:p xmlns:a="http://schemas.openxmlformats.org/drawingml/2006/main">
            <a:pPr marL="0" lvl="0" indent="0" algn="l">
              <a:lnSpc>
                <a:spcPct val="100000"/>
              </a:lnSpc>
              <a:spcBef>
                <a:spcPts val="0"/>
              </a:spcBef>
              <a:spcAft>
                <a:spcPts val="0"/>
              </a:spcAft>
              <a:buSzPts val="1400"/>
              <a:buNone/>
            </a:pPr>
            <a:r>
              <a:t>| Technical documentation | E04 and this review document. | Architecture and review material prepared. |</a:t>
            </a:r>
            <a:endParaRPr/>
          </a:p>
          <a:p xmlns:a="http://schemas.openxmlformats.org/drawingml/2006/main">
            <a:pPr marL="0" lvl="0" indent="0" algn="l">
              <a:lnSpc>
                <a:spcPct val="100000"/>
              </a:lnSpc>
              <a:spcBef>
                <a:spcPts val="0"/>
              </a:spcBef>
              <a:spcAft>
                <a:spcPts val="0"/>
              </a:spcAft>
              <a:buSzPts val="1400"/>
              <a:buNone/>
            </a:pPr>
            <a:r>
              <a:t>| Exploratory component experiments | E07/E08. | Saved subset results inspected; provenance reconciliation and fresh validation pending. |</a:t>
            </a:r>
            <a:endParaRPr/>
          </a:p>
          <a:p xmlns:a="http://schemas.openxmlformats.org/drawingml/2006/main">
            <a:pPr marL="0" lvl="0" indent="0" algn="l">
              <a:lnSpc>
                <a:spcPct val="100000"/>
              </a:lnSpc>
              <a:spcBef>
                <a:spcPts val="0"/>
              </a:spcBef>
              <a:spcAft>
                <a:spcPts val="0"/>
              </a:spcAft>
              <a:buSzPts val="1400"/>
              <a:buNone/>
            </a:pPr>
            <a:r>
              <a:t>| Real operational pilot | E06. | Repository-reported LoCoMo pilot, full completion unverified here. |</a:t>
            </a:r>
            <a:endParaRPr/>
          </a:p>
          <a:p xmlns:a="http://schemas.openxmlformats.org/drawingml/2006/main">
            <a:pPr marL="0" lvl="0" indent="0" algn="l">
              <a:lnSpc>
                <a:spcPct val="100000"/>
              </a:lnSpc>
              <a:spcBef>
                <a:spcPts val="0"/>
              </a:spcBef>
              <a:spcAft>
                <a:spcPts val="0"/>
              </a:spcAft>
              <a:buSzPts val="1400"/>
              <a:buNone/>
            </a:pPr>
            <a:r>
              <a:t>| Full matched final experiments | No complete validated final campaign established by inspected evidence. | Pending verification/execution. |</a:t>
            </a:r>
            <a:endParaRPr/>
          </a:p>
          <a:p xmlns:a="http://schemas.openxmlformats.org/drawingml/2006/main">
            <a:pPr marL="0" lvl="0" indent="0" algn="l">
              <a:lnSpc>
                <a:spcPct val="100000"/>
              </a:lnSpc>
              <a:spcBef>
                <a:spcPts val="0"/>
              </a:spcBef>
              <a:spcAft>
                <a:spcPts val="0"/>
              </a:spcAft>
              <a:buSzPts val="1400"/>
              <a:buNone/>
            </a:pPr>
            <a:r>
              <a:t>| PRIMA manuscript draft | No draft supplied or identified in inspected project material. | [To be added] |</a:t>
            </a:r>
            <a:endParaRPr/>
          </a:p>
          <a:p xmlns:a="http://schemas.openxmlformats.org/drawingml/2006/main">
            <a:pPr marL="0" lvl="0" indent="0" algn="l">
              <a:lnSpc>
                <a:spcPct val="100000"/>
              </a:lnSpc>
              <a:spcBef>
                <a:spcPts val="0"/>
              </a:spcBef>
              <a:spcAft>
                <a:spcPts val="0"/>
              </a:spcAft>
              <a:buSzPts val="1400"/>
              <a:buNone/>
            </a:pPr>
            <a:r>
              <a:t>| Venue and submission | No submission receipt/ID supplied. | [To be added] |</a:t>
            </a:r>
            <a:endParaRPr/>
          </a:p>
          <a:p xmlns:a="http://schemas.openxmlformats.org/drawingml/2006/main">
            <a:pPr marL="0" lvl="0" indent="0" algn="l">
              <a:lnSpc>
                <a:spcPct val="100000"/>
              </a:lnSpc>
              <a:spcBef>
                <a:spcPts val="0"/>
              </a:spcBef>
              <a:spcAft>
                <a:spcPts val="0"/>
              </a:spcAft>
              <a:buSzPts val="1400"/>
              <a:buNone/>
            </a:pPr>
            <a:r>
              <a:t>| Acceptance / publication / DOI | No acceptance notice or published record supplied. | Unverified; do not claim accepted/published. |</a:t>
            </a:r>
            <a:endParaRPr/>
          </a:p>
          <a:p xmlns:a="http://schemas.openxmlformats.org/drawingml/2006/main">
            <a:pPr marL="0" lvl="0" indent="0" algn="l">
              <a:lnSpc>
                <a:spcPct val="100000"/>
              </a:lnSpc>
              <a:spcBef>
                <a:spcPts val="0"/>
              </a:spcBef>
              <a:spcAft>
                <a:spcPts val="0"/>
              </a:spcAft>
              <a:buSzPts val="1400"/>
              <a:buNone/>
            </a:pPr>
            <a:r>
              <a:t>| Invention disclosure / patent draft | No disclosure/specification supplied. | [To be added] |</a:t>
            </a:r>
            <a:endParaRPr/>
          </a:p>
          <a:p xmlns:a="http://schemas.openxmlformats.org/drawingml/2006/main">
            <a:pPr marL="0" lvl="0" indent="0" algn="l">
              <a:lnSpc>
                <a:spcPct val="100000"/>
              </a:lnSpc>
              <a:spcBef>
                <a:spcPts val="0"/>
              </a:spcBef>
              <a:spcAft>
                <a:spcPts val="0"/>
              </a:spcAft>
              <a:buSzPts val="1400"/>
              <a:buNone/>
            </a:pPr>
            <a:r>
              <a:t>| Patent filing / publication / grant | No official receipt or record supplied. | Unverified; do not claim filed/published/granted.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10.2 Research question and candidate contribution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Suggested manuscript working title: "PRIMA-NEXT: A Typed Agent Runtime for Evidence-Based Memory, Bounded Correction, and Controlled Execution." This is proposed wording, not an existing publication title.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question: Does full PRIMA improve held-out memory-assisted QA quality and reliability compared with the same model alone and simple RAG under matched budgets, and which components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contributions to evaluate: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A unified typed boundary and explicit task/profile execution, with observable component accounting and failure semantics.</a:t>
            </a:r>
            <a:endParaRPr/>
          </a:p>
          <a:p xmlns:a="http://schemas.openxmlformats.org/drawingml/2006/main">
            <a:pPr marL="0" lvl="0" indent="0" algn="l">
              <a:lnSpc>
                <a:spcPct val="100000"/>
              </a:lnSpc>
              <a:spcBef>
                <a:spcPts val="0"/>
              </a:spcBef>
              <a:spcAft>
                <a:spcPts val="0"/>
              </a:spcAft>
              <a:buSzPts val="1400"/>
              <a:buNone/>
            </a:pPr>
            <a:r>
              <a:t>2. An integrated memory lifecycle joining selective admission, traceable hybrid retrieval, and bounded background maintenance.</a:t>
            </a:r>
            <a:endParaRPr/>
          </a:p>
          <a:p xmlns:a="http://schemas.openxmlformats.org/drawingml/2006/main">
            <a:pPr marL="0" lvl="0" indent="0" algn="l">
              <a:lnSpc>
                <a:spcPct val="100000"/>
              </a:lnSpc>
              <a:spcBef>
                <a:spcPts val="0"/>
              </a:spcBef>
              <a:spcAft>
                <a:spcPts val="0"/>
              </a:spcAft>
              <a:buSzPts val="1400"/>
              <a:buNone/>
            </a:pPr>
            <a:r>
              <a:t>3. Workflow-owned uncertainty/reflection with bounded corrections and recorded before/after outcomes.</a:t>
            </a:r>
            <a:endParaRPr/>
          </a:p>
          <a:p xmlns:a="http://schemas.openxmlformats.org/drawingml/2006/main">
            <a:pPr marL="0" lvl="0" indent="0" algn="l">
              <a:lnSpc>
                <a:spcPct val="100000"/>
              </a:lnSpc>
              <a:spcBef>
                <a:spcPts val="0"/>
              </a:spcBef>
              <a:spcAft>
                <a:spcPts val="0"/>
              </a:spcAft>
              <a:buSzPts val="1400"/>
              <a:buNone/>
            </a:pPr>
            <a:r>
              <a:t>4. A reproducible evaluation protocol separating functional tests, subset component studies, real pilots, and reportable campaigns.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descriptions of engineering work and potential research contributions. Novelty relative to prior literature and benefit over strong baselines remain to establish. RAG, memory/plan/reflection agents, and verbal feedback agents already exist. A list of familiar techniques is insufficient as a novelty claim. RAG, Generative Agents, Reflexion.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10.3 Paper structure with material and gaps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Section | Material ready to write | Evidence still needed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Abstract | Problem, runtime design, scoped evaluation objective. | Final matched outcomes. Do not invent accuracy gains. |</a:t>
            </a:r>
            <a:endParaRPr/>
          </a:p>
          <a:p xmlns:a="http://schemas.openxmlformats.org/drawingml/2006/main">
            <a:pPr marL="0" lvl="0" indent="0" algn="l">
              <a:lnSpc>
                <a:spcPct val="100000"/>
              </a:lnSpc>
              <a:spcBef>
                <a:spcPts val="0"/>
              </a:spcBef>
              <a:spcAft>
                <a:spcPts val="0"/>
              </a:spcAft>
              <a:buSzPts val="1400"/>
              <a:buNone/>
            </a:pPr>
            <a:r>
              <a:t>| Introduction | Continuing-agent evidence/memory/control problem. | Target audience and explicit research hypotheses. |</a:t>
            </a:r>
            <a:endParaRPr/>
          </a:p>
          <a:p xmlns:a="http://schemas.openxmlformats.org/drawingml/2006/main">
            <a:pPr marL="0" lvl="0" indent="0" algn="l">
              <a:lnSpc>
                <a:spcPct val="100000"/>
              </a:lnSpc>
              <a:spcBef>
                <a:spcPts val="0"/>
              </a:spcBef>
              <a:spcAft>
                <a:spcPts val="0"/>
              </a:spcAft>
              <a:buSzPts val="1400"/>
              <a:buNone/>
            </a:pPr>
            <a:r>
              <a:t>| Related work | RAG, Generative Agents, Reflexion, LoCoMo/HotpotQA/GoEmotions. | Focused comparison of mechanisms and newest relevant primary literature before submission. |</a:t>
            </a:r>
            <a:endParaRPr/>
          </a:p>
          <a:p xmlns:a="http://schemas.openxmlformats.org/drawingml/2006/main">
            <a:pPr marL="0" lvl="0" indent="0" algn="l">
              <a:lnSpc>
                <a:spcPct val="100000"/>
              </a:lnSpc>
              <a:spcBef>
                <a:spcPts val="0"/>
              </a:spcBef>
              <a:spcAft>
                <a:spcPts val="0"/>
              </a:spcAft>
              <a:buSzPts val="1400"/>
              <a:buNone/>
            </a:pPr>
            <a:r>
              <a:t>| Method | Contracts, routes, memory types, fusion/admission formulas, correction budgets. | Frozen experiment configuration and precise pseudocode matching the final implementation. |</a:t>
            </a:r>
            <a:endParaRPr/>
          </a:p>
          <a:p xmlns:a="http://schemas.openxmlformats.org/drawingml/2006/main">
            <a:pPr marL="0" lvl="0" indent="0" algn="l">
              <a:lnSpc>
                <a:spcPct val="100000"/>
              </a:lnSpc>
              <a:spcBef>
                <a:spcPts val="0"/>
              </a:spcBef>
              <a:spcAft>
                <a:spcPts val="0"/>
              </a:spcAft>
              <a:buSzPts val="1400"/>
              <a:buNone/>
            </a:pPr>
            <a:r>
              <a:t>| Experimental setup | Existing adapters, scorer/claim policy, subset metadata. | Dataset/model hashes/revisions, environment, selection protocol, seeds, failure rules. |</a:t>
            </a:r>
            <a:endParaRPr/>
          </a:p>
          <a:p xmlns:a="http://schemas.openxmlformats.org/drawingml/2006/main">
            <a:pPr marL="0" lvl="0" indent="0" algn="l">
              <a:lnSpc>
                <a:spcPct val="100000"/>
              </a:lnSpc>
              <a:spcBef>
                <a:spcPts val="0"/>
              </a:spcBef>
              <a:spcAft>
                <a:spcPts val="0"/>
              </a:spcAft>
              <a:buSzPts val="1400"/>
              <a:buNone/>
            </a:pPr>
            <a:r>
              <a:t>| Results | E07/E08 exploratory component tables and scoped E06 pilot. | Complete quality runs, aggregate/category metrics, uncertainty/statistics, actual resource cost. |</a:t>
            </a:r>
            <a:endParaRPr/>
          </a:p>
          <a:p xmlns:a="http://schemas.openxmlformats.org/drawingml/2006/main">
            <a:pPr marL="0" lvl="0" indent="0" algn="l">
              <a:lnSpc>
                <a:spcPct val="100000"/>
              </a:lnSpc>
              <a:spcBef>
                <a:spcPts val="0"/>
              </a:spcBef>
              <a:spcAft>
                <a:spcPts val="0"/>
              </a:spcAft>
              <a:buSzPts val="1400"/>
              <a:buNone/>
            </a:pPr>
            <a:r>
              <a:t>| Ablations | Proposed fixed-store and single-component experiments. | Actual matched runs and help/harm analysis. |</a:t>
            </a:r>
            <a:endParaRPr/>
          </a:p>
          <a:p xmlns:a="http://schemas.openxmlformats.org/drawingml/2006/main">
            <a:pPr marL="0" lvl="0" indent="0" algn="l">
              <a:lnSpc>
                <a:spcPct val="100000"/>
              </a:lnSpc>
              <a:spcBef>
                <a:spcPts val="0"/>
              </a:spcBef>
              <a:spcAft>
                <a:spcPts val="0"/>
              </a:spcAft>
              <a:buSzPts val="1400"/>
              <a:buNone/>
            </a:pPr>
            <a:r>
              <a:t>| Discussion | Observed retrieval bottleneck and representation tradeoff. | Generalization beyond one conversation, calibration, component contribution. |</a:t>
            </a:r>
            <a:endParaRPr/>
          </a:p>
          <a:p xmlns:a="http://schemas.openxmlformats.org/drawingml/2006/main">
            <a:pPr marL="0" lvl="0" indent="0" algn="l">
              <a:lnSpc>
                <a:spcPct val="100000"/>
              </a:lnSpc>
              <a:spcBef>
                <a:spcPts val="0"/>
              </a:spcBef>
              <a:spcAft>
                <a:spcPts val="0"/>
              </a:spcAft>
              <a:buSzPts val="1400"/>
              <a:buNone/>
            </a:pPr>
            <a:r>
              <a:t>| Limitations | Symbolic/heuristic components, persistence/isolation/tool limits, incomplete evidence. | Updated limitations after fresh fixes/runs. |</a:t>
            </a:r>
            <a:endParaRPr/>
          </a:p>
          <a:p xmlns:a="http://schemas.openxmlformats.org/drawingml/2006/main">
            <a:pPr marL="0" lvl="0" indent="0" algn="l">
              <a:lnSpc>
                <a:spcPct val="100000"/>
              </a:lnSpc>
              <a:spcBef>
                <a:spcPts val="0"/>
              </a:spcBef>
              <a:spcAft>
                <a:spcPts val="0"/>
              </a:spcAft>
              <a:buSzPts val="1400"/>
              <a:buNone/>
            </a:pPr>
            <a:r>
              <a:t>| Reproducibility | Existing source/test/runbook structure. | Validated artifact bundle, checksums, secret-free configuration, dependency freeze.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Draft abstract for discussion, without fabricated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PRIMA-NEXT is a research agent runtime that coordinates memory, evidence retrieval, affect-related signals, planning, symbolic simulation, uncertainty decisions, reflection, and controlled tools through typed task-specific routes. The design records execution and failure diagnostics and bounds correction and maintenance work. We define a matched evaluation against model-only and simple-RAG configurations using conversational-memory, multi-document QA, and emotion-classification tasks. Exploratory retrieval subsets motivate learned embeddings and careful representation selection. Complete held-out comparisons are required to establish whether the additional mechanisms improve quality sufficiently to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10.4 Experiment plan for publishable claims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Freeze dataset split/version/hash, IDs/order, source histories, model/revision, dependencies, seed, context/generation settings, and retry policy.</a:t>
            </a:r>
            <a:endParaRPr/>
          </a:p>
          <a:p xmlns:a="http://schemas.openxmlformats.org/drawingml/2006/main">
            <a:pPr marL="0" lvl="0" indent="0" algn="l">
              <a:lnSpc>
                <a:spcPct val="100000"/>
              </a:lnSpc>
              <a:spcBef>
                <a:spcPts val="0"/>
              </a:spcBef>
              <a:spcAft>
                <a:spcPts val="0"/>
              </a:spcAft>
              <a:buSzPts val="1400"/>
              <a:buNone/>
            </a:pPr>
            <a:r>
              <a:t>Run model-only, simple RAG, and full PRIMA on matched selections. Clearly define which history each baseline receives.</a:t>
            </a:r>
            <a:endParaRPr/>
          </a:p>
          <a:p xmlns:a="http://schemas.openxmlformats.org/drawingml/2006/main">
            <a:pPr marL="0" lvl="0" indent="0" algn="l">
              <a:lnSpc>
                <a:spcPct val="100000"/>
              </a:lnSpc>
              <a:spcBef>
                <a:spcPts val="0"/>
              </a:spcBef>
              <a:spcAft>
                <a:spcPts val="0"/>
              </a:spcAft>
              <a:buSzPts val="1400"/>
              <a:buNone/>
            </a:pPr>
            <a:r>
              <a:t>Separate memory-formation comparisons from fixed-store retrieval comparisons.</a:t>
            </a:r>
            <a:endParaRPr/>
          </a:p>
          <a:p xmlns:a="http://schemas.openxmlformats.org/drawingml/2006/main">
            <a:pPr marL="0" lvl="0" indent="0" algn="l">
              <a:lnSpc>
                <a:spcPct val="100000"/>
              </a:lnSpc>
              <a:spcBef>
                <a:spcPts val="0"/>
              </a:spcBef>
              <a:spcAft>
                <a:spcPts val="0"/>
              </a:spcAft>
              <a:buSzPts val="1400"/>
              <a:buNone/>
            </a:pPr>
            <a:r>
              <a:t>Measure retrieval recall/ranking, native QA metrics, coverage/abstention, execution/scoring failures, tokens/latency, and memory growth.</a:t>
            </a:r>
            <a:endParaRPr/>
          </a:p>
          <a:p xmlns:a="http://schemas.openxmlformats.org/drawingml/2006/main">
            <a:pPr marL="0" lvl="0" indent="0" algn="l">
              <a:lnSpc>
                <a:spcPct val="100000"/>
              </a:lnSpc>
              <a:spcBef>
                <a:spcPts val="0"/>
              </a:spcBef>
              <a:spcAft>
                <a:spcPts val="0"/>
              </a:spcAft>
              <a:buSzPts val="1400"/>
              <a:buNone/>
            </a:pPr>
            <a:r>
              <a:t>Run targeted graph/affect/reflection ablations. Report actual correction help/harm rather than only internal confidence lift.</a:t>
            </a:r>
            <a:endParaRPr/>
          </a:p>
          <a:p xmlns:a="http://schemas.openxmlformats.org/drawingml/2006/main">
            <a:pPr marL="0" lvl="0" indent="0" algn="l">
              <a:lnSpc>
                <a:spcPct val="100000"/>
              </a:lnSpc>
              <a:spcBef>
                <a:spcPts val="0"/>
              </a:spcBef>
              <a:spcAft>
                <a:spcPts val="0"/>
              </a:spcAft>
              <a:buSzPts val="1400"/>
              <a:buNone/>
            </a:pPr>
            <a:r>
              <a:t>Tune on development data and freeze settings before test evaluation. Keep all gold annotations evaluator-owned.</a:t>
            </a:r>
            <a:endParaRPr/>
          </a:p>
          <a:p xmlns:a="http://schemas.openxmlformats.org/drawingml/2006/main">
            <a:pPr marL="0" lvl="0" indent="0" algn="l">
              <a:lnSpc>
                <a:spcPct val="100000"/>
              </a:lnSpc>
              <a:spcBef>
                <a:spcPts val="0"/>
              </a:spcBef>
              <a:spcAft>
                <a:spcPts val="0"/>
              </a:spcAft>
              <a:buSzPts val="1400"/>
              <a:buNone/>
            </a:pPr>
            <a:r>
              <a:t>Use uncertainty estimates over suitable independent units. For conversational data, account for questions clustered in conversations rather than pretending every question is independent. Statistical methods and sample size should be fixed in the protocol.</a:t>
            </a:r>
            <a:endParaRPr/>
          </a:p>
          <a:p xmlns:a="http://schemas.openxmlformats.org/drawingml/2006/main">
            <a:pPr marL="0" lvl="0" indent="0" algn="l">
              <a:lnSpc>
                <a:spcPct val="100000"/>
              </a:lnSpc>
              <a:spcBef>
                <a:spcPts val="0"/>
              </a:spcBef>
              <a:spcAft>
                <a:spcPts val="0"/>
              </a:spcAft>
              <a:buSzPts val="1400"/>
              <a:buNone/>
            </a:pPr>
            <a:r>
              <a:t>Publish negative/neutral findings and cost tradeoffs. A simpler configuration may be the useful conclusion.</a:t>
            </a:r>
            <a:endParaRPr/>
          </a:p>
          <a:p xmlns:a="http://schemas.openxmlformats.org/drawingml/2006/main">
            <a:pPr marL="0" lvl="0" indent="0" algn="l">
              <a:lnSpc>
                <a:spcPct val="100000"/>
              </a:lnSpc>
              <a:spcBef>
                <a:spcPts val="0"/>
              </a:spcBef>
              <a:spcAft>
                <a:spcPts val="0"/>
              </a:spcAft>
              <a:buSzPts val="1400"/>
              <a:buNone/>
            </a:pPr>
            <a:r>
              <a:t>Reconcile JSON/CSV fingerprints and saved-result lineage. Preserve manifests/checkpoints and validate complete coverage before using headline numbers.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10.5 Patent-oriented technical preparation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Technical candidate to investigate: the specific interaction between task/profile-controlled execution, memory admission and maintenance, and budgeted corrections with traceable state/evidence transitions. This is a candidate disclosure topic, not an assertion of patentability.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Preparation item | What the team should produce | Current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Invention definition | A precise technical problem, mechanism, and observable effect. | Candidate framing in this document; team/guide review pending. |</a:t>
            </a:r>
            <a:endParaRPr/>
          </a:p>
          <a:p xmlns:a="http://schemas.openxmlformats.org/drawingml/2006/main">
            <a:pPr marL="0" lvl="0" indent="0" algn="l">
              <a:lnSpc>
                <a:spcPct val="100000"/>
              </a:lnSpc>
              <a:spcBef>
                <a:spcPts val="0"/>
              </a:spcBef>
              <a:spcAft>
                <a:spcPts val="0"/>
              </a:spcAft>
              <a:buSzPts val="1400"/>
              <a:buNone/>
            </a:pPr>
            <a:r>
              <a:t>| Inventor/contribution record | Named contributors and evidence of their contribution to the proposed mechanism. | Git contributors exist; inventorship is not established by that list. |</a:t>
            </a:r>
            <a:endParaRPr/>
          </a:p>
          <a:p xmlns:a="http://schemas.openxmlformats.org/drawingml/2006/main">
            <a:pPr marL="0" lvl="0" indent="0" algn="l">
              <a:lnSpc>
                <a:spcPct val="100000"/>
              </a:lnSpc>
              <a:spcBef>
                <a:spcPts val="0"/>
              </a:spcBef>
              <a:spcAft>
                <a:spcPts val="0"/>
              </a:spcAft>
              <a:buSzPts val="1400"/>
              <a:buNone/>
            </a:pPr>
            <a:r>
              <a:t>| Prior-art comparison | Claim-by-claim mechanism comparison with relevant papers and patent records. | Foundational literature identified; patent prior-art search not performed. |</a:t>
            </a:r>
            <a:endParaRPr/>
          </a:p>
          <a:p xmlns:a="http://schemas.openxmlformats.org/drawingml/2006/main">
            <a:pPr marL="0" lvl="0" indent="0" algn="l">
              <a:lnSpc>
                <a:spcPct val="100000"/>
              </a:lnSpc>
              <a:spcBef>
                <a:spcPts val="0"/>
              </a:spcBef>
              <a:spcAft>
                <a:spcPts val="0"/>
              </a:spcAft>
              <a:buSzPts val="1400"/>
              <a:buNone/>
            </a:pPr>
            <a:r>
              <a:t>| Technical disclosure | Architecture, state transitions, alternatives, reproducible example, measured effect. | Source/docs supply material; formal disclosure not supplied. |</a:t>
            </a:r>
            <a:endParaRPr/>
          </a:p>
          <a:p xmlns:a="http://schemas.openxmlformats.org/drawingml/2006/main">
            <a:pPr marL="0" lvl="0" indent="0" algn="l">
              <a:lnSpc>
                <a:spcPct val="100000"/>
              </a:lnSpc>
              <a:spcBef>
                <a:spcPts val="0"/>
              </a:spcBef>
              <a:spcAft>
                <a:spcPts val="0"/>
              </a:spcAft>
              <a:buSzPts val="1400"/>
              <a:buNone/>
            </a:pPr>
            <a:r>
              <a:t>| Institutional review | Guide/institution IP office review and documented decision. | Team confirmation required. |</a:t>
            </a:r>
            <a:endParaRPr/>
          </a:p>
          <a:p xmlns:a="http://schemas.openxmlformats.org/drawingml/2006/main">
            <a:pPr marL="0" lvl="0" indent="0" algn="l">
              <a:lnSpc>
                <a:spcPct val="100000"/>
              </a:lnSpc>
              <a:spcBef>
                <a:spcPts val="0"/>
              </a:spcBef>
              <a:spcAft>
                <a:spcPts val="0"/>
              </a:spcAft>
              <a:buSzPts val="1400"/>
              <a:buNone/>
            </a:pPr>
            <a:r>
              <a:t>| Filing milestones | Official receipt, application number/date, jurisdiction, filing type, status evidence. | None supplied. |</a:t>
            </a:r>
            <a:endParaRPr/>
          </a:p>
          <a:p xmlns:a="http://schemas.openxmlformats.org/drawingml/2006/main">
            <a:pPr marL="0" lvl="0" indent="0" algn="l">
              <a:lnSpc>
                <a:spcPct val="100000"/>
              </a:lnSpc>
              <a:spcBef>
                <a:spcPts val="0"/>
              </a:spcBef>
              <a:spcAft>
                <a:spcPts val="0"/>
              </a:spcAft>
              <a:buSzPts val="1400"/>
              <a:buNone/>
            </a:pPr>
            <a:r>
              <a:t>| Later status | Publication record or grant document, distinct from initial filing. | None supplied.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paper describes scientific methods/results. A patent-oriented disclosure must identify a specific proposed invention and supporting mechanism. Use the institution's IP office to determine applicable requirements and the sequence of public release/submission/filing. This document makes no legal eligibility or filing-status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Safe spoken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Our implementation and experiment infrastructure are available. We have exploratory retrieval results and a reported LoCoMo operational pilot. We are preparing a complete matched evaluation and manuscript evidence package. Paper submission and patent filing status will be shown only with the team's corresponding records.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10.6 Evidence the team must add before the mentor meeting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paper: exact title, author order/affiliations, versioned manuscript, guide feedback, target venue, submission date/ID and receipt if submitted, acceptance notice if accepted, published URL/DOI if published.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patent: proposed invention title, disclosure/specification version, institutional review status, contributor/inventor confirmation, official application receipt and number/date if filed, publication/grant record if those stages occurred.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Track stage names separately. Drafted, submitted, accepted, and published are different paper milestones. Disclosure prepared, application filed, application published, and granted are different patent milestones.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https://arxiv.org/abs/2005.11401</a:t>
            </a:r>
            <a:endParaRPr/>
          </a:p>
          <a:p xmlns:a="http://schemas.openxmlformats.org/drawingml/2006/main">
            <a:pPr marL="0" lvl="0" indent="0" algn="l">
              <a:lnSpc>
                <a:spcPct val="100000"/>
              </a:lnSpc>
              <a:spcBef>
                <a:spcPts val="0"/>
              </a:spcBef>
              <a:spcAft>
                <a:spcPts val="0"/>
              </a:spcAft>
              <a:buSzPts val="1400"/>
              <a:buNone/>
            </a:pPr>
            <a:r>
              <a:t>https://arxiv.org/abs/2304.03442</a:t>
            </a:r>
            <a:endParaRPr/>
          </a:p>
          <a:p xmlns:a="http://schemas.openxmlformats.org/drawingml/2006/main">
            <a:pPr marL="0" lvl="0" indent="0" algn="l">
              <a:lnSpc>
                <a:spcPct val="100000"/>
              </a:lnSpc>
              <a:spcBef>
                <a:spcPts val="0"/>
              </a:spcBef>
              <a:spcAft>
                <a:spcPts val="0"/>
              </a:spcAft>
              <a:buSzPts val="1400"/>
              <a:buNone/>
            </a:pPr>
            <a:r>
              <a:t>https://arxiv.org/abs/2303.11366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Manuscript structure and evidence gaps (2/2)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 Additional requested section: research paper and patent progress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10.1 Actual verified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inspected repository contains source, technical documentation, benchmark code, tests, saved subset results, and pilot notes. It does not establish a manuscript submission, acceptance, published PRIMA paper, invention-disclosure submission, patent application, publication number, or grant. No manuscript or filing receipt was supplied with the request. This is a statement about available evidence, not proof that the team has done no work elsewhere.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Milestone | Evidence currently available | Honest slide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Research system implementation | E01 - E03, module tests. | Implemented research prototype. |</a:t>
            </a:r>
            <a:endParaRPr/>
          </a:p>
          <a:p xmlns:a="http://schemas.openxmlformats.org/drawingml/2006/main">
            <a:pPr marL="0" lvl="0" indent="0" algn="l">
              <a:lnSpc>
                <a:spcPct val="100000"/>
              </a:lnSpc>
              <a:spcBef>
                <a:spcPts val="0"/>
              </a:spcBef>
              <a:spcAft>
                <a:spcPts val="0"/>
              </a:spcAft>
              <a:buSzPts val="1400"/>
              <a:buNone/>
            </a:pPr>
            <a:r>
              <a:t>| Technical documentation | E04 and this review document. | Architecture and review material prepared. |</a:t>
            </a:r>
            <a:endParaRPr/>
          </a:p>
          <a:p xmlns:a="http://schemas.openxmlformats.org/drawingml/2006/main">
            <a:pPr marL="0" lvl="0" indent="0" algn="l">
              <a:lnSpc>
                <a:spcPct val="100000"/>
              </a:lnSpc>
              <a:spcBef>
                <a:spcPts val="0"/>
              </a:spcBef>
              <a:spcAft>
                <a:spcPts val="0"/>
              </a:spcAft>
              <a:buSzPts val="1400"/>
              <a:buNone/>
            </a:pPr>
            <a:r>
              <a:t>| Exploratory component experiments | E07/E08. | Saved subset results inspected; provenance reconciliation and fresh validation pending. |</a:t>
            </a:r>
            <a:endParaRPr/>
          </a:p>
          <a:p xmlns:a="http://schemas.openxmlformats.org/drawingml/2006/main">
            <a:pPr marL="0" lvl="0" indent="0" algn="l">
              <a:lnSpc>
                <a:spcPct val="100000"/>
              </a:lnSpc>
              <a:spcBef>
                <a:spcPts val="0"/>
              </a:spcBef>
              <a:spcAft>
                <a:spcPts val="0"/>
              </a:spcAft>
              <a:buSzPts val="1400"/>
              <a:buNone/>
            </a:pPr>
            <a:r>
              <a:t>| Real operational pilot | E06. | Repository-reported LoCoMo pilot, full completion unverified here. |</a:t>
            </a:r>
            <a:endParaRPr/>
          </a:p>
          <a:p xmlns:a="http://schemas.openxmlformats.org/drawingml/2006/main">
            <a:pPr marL="0" lvl="0" indent="0" algn="l">
              <a:lnSpc>
                <a:spcPct val="100000"/>
              </a:lnSpc>
              <a:spcBef>
                <a:spcPts val="0"/>
              </a:spcBef>
              <a:spcAft>
                <a:spcPts val="0"/>
              </a:spcAft>
              <a:buSzPts val="1400"/>
              <a:buNone/>
            </a:pPr>
            <a:r>
              <a:t>| Full matched final experiments | No complete validated final campaign established by inspected evidence. | Pending verification/execution. |</a:t>
            </a:r>
            <a:endParaRPr/>
          </a:p>
          <a:p xmlns:a="http://schemas.openxmlformats.org/drawingml/2006/main">
            <a:pPr marL="0" lvl="0" indent="0" algn="l">
              <a:lnSpc>
                <a:spcPct val="100000"/>
              </a:lnSpc>
              <a:spcBef>
                <a:spcPts val="0"/>
              </a:spcBef>
              <a:spcAft>
                <a:spcPts val="0"/>
              </a:spcAft>
              <a:buSzPts val="1400"/>
              <a:buNone/>
            </a:pPr>
            <a:r>
              <a:t>| PRIMA manuscript draft | No draft supplied or identified in inspected project material. | [To be added] |</a:t>
            </a:r>
            <a:endParaRPr/>
          </a:p>
          <a:p xmlns:a="http://schemas.openxmlformats.org/drawingml/2006/main">
            <a:pPr marL="0" lvl="0" indent="0" algn="l">
              <a:lnSpc>
                <a:spcPct val="100000"/>
              </a:lnSpc>
              <a:spcBef>
                <a:spcPts val="0"/>
              </a:spcBef>
              <a:spcAft>
                <a:spcPts val="0"/>
              </a:spcAft>
              <a:buSzPts val="1400"/>
              <a:buNone/>
            </a:pPr>
            <a:r>
              <a:t>| Venue and submission | No submission receipt/ID supplied. | [To be added] |</a:t>
            </a:r>
            <a:endParaRPr/>
          </a:p>
          <a:p xmlns:a="http://schemas.openxmlformats.org/drawingml/2006/main">
            <a:pPr marL="0" lvl="0" indent="0" algn="l">
              <a:lnSpc>
                <a:spcPct val="100000"/>
              </a:lnSpc>
              <a:spcBef>
                <a:spcPts val="0"/>
              </a:spcBef>
              <a:spcAft>
                <a:spcPts val="0"/>
              </a:spcAft>
              <a:buSzPts val="1400"/>
              <a:buNone/>
            </a:pPr>
            <a:r>
              <a:t>| Acceptance / publication / DOI | No acceptance notice or published record supplied. | Unverified; do not claim accepted/published. |</a:t>
            </a:r>
            <a:endParaRPr/>
          </a:p>
          <a:p xmlns:a="http://schemas.openxmlformats.org/drawingml/2006/main">
            <a:pPr marL="0" lvl="0" indent="0" algn="l">
              <a:lnSpc>
                <a:spcPct val="100000"/>
              </a:lnSpc>
              <a:spcBef>
                <a:spcPts val="0"/>
              </a:spcBef>
              <a:spcAft>
                <a:spcPts val="0"/>
              </a:spcAft>
              <a:buSzPts val="1400"/>
              <a:buNone/>
            </a:pPr>
            <a:r>
              <a:t>| Invention disclosure / patent draft | No disclosure/specification supplied. | [To be added] |</a:t>
            </a:r>
            <a:endParaRPr/>
          </a:p>
          <a:p xmlns:a="http://schemas.openxmlformats.org/drawingml/2006/main">
            <a:pPr marL="0" lvl="0" indent="0" algn="l">
              <a:lnSpc>
                <a:spcPct val="100000"/>
              </a:lnSpc>
              <a:spcBef>
                <a:spcPts val="0"/>
              </a:spcBef>
              <a:spcAft>
                <a:spcPts val="0"/>
              </a:spcAft>
              <a:buSzPts val="1400"/>
              <a:buNone/>
            </a:pPr>
            <a:r>
              <a:t>| Patent filing / publication / grant | No official receipt or record supplied. | Unverified; do not claim filed/published/granted.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10.2 Research question and candidate contribution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Suggested manuscript working title: "PRIMA-NEXT: A Typed Agent Runtime for Evidence-Based Memory, Bounded Correction, and Controlled Execution." This is proposed wording, not an existing publication title.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question: Does full PRIMA improve held-out memory-assisted QA quality and reliability compared with the same model alone and simple RAG under matched budgets, and which components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contributions to evaluate: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A unified typed boundary and explicit task/profile execution, with observable component accounting and failure semantics.</a:t>
            </a:r>
            <a:endParaRPr/>
          </a:p>
          <a:p xmlns:a="http://schemas.openxmlformats.org/drawingml/2006/main">
            <a:pPr marL="0" lvl="0" indent="0" algn="l">
              <a:lnSpc>
                <a:spcPct val="100000"/>
              </a:lnSpc>
              <a:spcBef>
                <a:spcPts val="0"/>
              </a:spcBef>
              <a:spcAft>
                <a:spcPts val="0"/>
              </a:spcAft>
              <a:buSzPts val="1400"/>
              <a:buNone/>
            </a:pPr>
            <a:r>
              <a:t>2. An integrated memory lifecycle joining selective admission, traceable hybrid retrieval, and bounded background maintenance.</a:t>
            </a:r>
            <a:endParaRPr/>
          </a:p>
          <a:p xmlns:a="http://schemas.openxmlformats.org/drawingml/2006/main">
            <a:pPr marL="0" lvl="0" indent="0" algn="l">
              <a:lnSpc>
                <a:spcPct val="100000"/>
              </a:lnSpc>
              <a:spcBef>
                <a:spcPts val="0"/>
              </a:spcBef>
              <a:spcAft>
                <a:spcPts val="0"/>
              </a:spcAft>
              <a:buSzPts val="1400"/>
              <a:buNone/>
            </a:pPr>
            <a:r>
              <a:t>3. Workflow-owned uncertainty/reflection with bounded corrections and recorded before/after outcomes.</a:t>
            </a:r>
            <a:endParaRPr/>
          </a:p>
          <a:p xmlns:a="http://schemas.openxmlformats.org/drawingml/2006/main">
            <a:pPr marL="0" lvl="0" indent="0" algn="l">
              <a:lnSpc>
                <a:spcPct val="100000"/>
              </a:lnSpc>
              <a:spcBef>
                <a:spcPts val="0"/>
              </a:spcBef>
              <a:spcAft>
                <a:spcPts val="0"/>
              </a:spcAft>
              <a:buSzPts val="1400"/>
              <a:buNone/>
            </a:pPr>
            <a:r>
              <a:t>4. A reproducible evaluation protocol separating functional tests, subset component studies, real pilots, and reportable campaigns.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descriptions of engineering work and potential research contributions. Novelty relative to prior literature and benefit over strong baselines remain to establish. RAG, memory/plan/reflection agents, and verbal feedback agents already exist. A list of familiar techniques is insufficient as a novelty claim. RAG, Generative Agents, Reflexion.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10.3 Paper structure with material and gaps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Section | Material ready to write | Evidence still needed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Abstract | Problem, runtime design, scoped evaluation objective. | Final matched outcomes. Do not invent accuracy gains. |</a:t>
            </a:r>
            <a:endParaRPr/>
          </a:p>
          <a:p xmlns:a="http://schemas.openxmlformats.org/drawingml/2006/main">
            <a:pPr marL="0" lvl="0" indent="0" algn="l">
              <a:lnSpc>
                <a:spcPct val="100000"/>
              </a:lnSpc>
              <a:spcBef>
                <a:spcPts val="0"/>
              </a:spcBef>
              <a:spcAft>
                <a:spcPts val="0"/>
              </a:spcAft>
              <a:buSzPts val="1400"/>
              <a:buNone/>
            </a:pPr>
            <a:r>
              <a:t>| Introduction | Continuing-agent evidence/memory/control problem. | Target audience and explicit research hypotheses. |</a:t>
            </a:r>
            <a:endParaRPr/>
          </a:p>
          <a:p xmlns:a="http://schemas.openxmlformats.org/drawingml/2006/main">
            <a:pPr marL="0" lvl="0" indent="0" algn="l">
              <a:lnSpc>
                <a:spcPct val="100000"/>
              </a:lnSpc>
              <a:spcBef>
                <a:spcPts val="0"/>
              </a:spcBef>
              <a:spcAft>
                <a:spcPts val="0"/>
              </a:spcAft>
              <a:buSzPts val="1400"/>
              <a:buNone/>
            </a:pPr>
            <a:r>
              <a:t>| Related work | RAG, Generative Agents, Reflexion, LoCoMo/HotpotQA/GoEmotions. | Focused comparison of mechanisms and newest relevant primary literature before submission. |</a:t>
            </a:r>
            <a:endParaRPr/>
          </a:p>
          <a:p xmlns:a="http://schemas.openxmlformats.org/drawingml/2006/main">
            <a:pPr marL="0" lvl="0" indent="0" algn="l">
              <a:lnSpc>
                <a:spcPct val="100000"/>
              </a:lnSpc>
              <a:spcBef>
                <a:spcPts val="0"/>
              </a:spcBef>
              <a:spcAft>
                <a:spcPts val="0"/>
              </a:spcAft>
              <a:buSzPts val="1400"/>
              <a:buNone/>
            </a:pPr>
            <a:r>
              <a:t>| Method | Contracts, routes, memory types, fusion/admission formulas, correction budgets. | Frozen experiment configuration and precise pseudocode matching the final implementation. |</a:t>
            </a:r>
            <a:endParaRPr/>
          </a:p>
          <a:p xmlns:a="http://schemas.openxmlformats.org/drawingml/2006/main">
            <a:pPr marL="0" lvl="0" indent="0" algn="l">
              <a:lnSpc>
                <a:spcPct val="100000"/>
              </a:lnSpc>
              <a:spcBef>
                <a:spcPts val="0"/>
              </a:spcBef>
              <a:spcAft>
                <a:spcPts val="0"/>
              </a:spcAft>
              <a:buSzPts val="1400"/>
              <a:buNone/>
            </a:pPr>
            <a:r>
              <a:t>| Experimental setup | Existing adapters, scorer/claim policy, subset metadata. | Dataset/model hashes/revisions, environment, selection protocol, seeds, failure rules. |</a:t>
            </a:r>
            <a:endParaRPr/>
          </a:p>
          <a:p xmlns:a="http://schemas.openxmlformats.org/drawingml/2006/main">
            <a:pPr marL="0" lvl="0" indent="0" algn="l">
              <a:lnSpc>
                <a:spcPct val="100000"/>
              </a:lnSpc>
              <a:spcBef>
                <a:spcPts val="0"/>
              </a:spcBef>
              <a:spcAft>
                <a:spcPts val="0"/>
              </a:spcAft>
              <a:buSzPts val="1400"/>
              <a:buNone/>
            </a:pPr>
            <a:r>
              <a:t>| Results | E07/E08 exploratory component tables and scoped E06 pilot. | Complete quality runs, aggregate/category metrics, uncertainty/statistics, actual resource cost. |</a:t>
            </a:r>
            <a:endParaRPr/>
          </a:p>
          <a:p xmlns:a="http://schemas.openxmlformats.org/drawingml/2006/main">
            <a:pPr marL="0" lvl="0" indent="0" algn="l">
              <a:lnSpc>
                <a:spcPct val="100000"/>
              </a:lnSpc>
              <a:spcBef>
                <a:spcPts val="0"/>
              </a:spcBef>
              <a:spcAft>
                <a:spcPts val="0"/>
              </a:spcAft>
              <a:buSzPts val="1400"/>
              <a:buNone/>
            </a:pPr>
            <a:r>
              <a:t>| Ablations | Proposed fixed-store and single-component experiments. | Actual matched runs and help/harm analysis. |</a:t>
            </a:r>
            <a:endParaRPr/>
          </a:p>
          <a:p xmlns:a="http://schemas.openxmlformats.org/drawingml/2006/main">
            <a:pPr marL="0" lvl="0" indent="0" algn="l">
              <a:lnSpc>
                <a:spcPct val="100000"/>
              </a:lnSpc>
              <a:spcBef>
                <a:spcPts val="0"/>
              </a:spcBef>
              <a:spcAft>
                <a:spcPts val="0"/>
              </a:spcAft>
              <a:buSzPts val="1400"/>
              <a:buNone/>
            </a:pPr>
            <a:r>
              <a:t>| Discussion | Observed retrieval bottleneck and representation tradeoff. | Generalization beyond one conversation, calibration, component contribution. |</a:t>
            </a:r>
            <a:endParaRPr/>
          </a:p>
          <a:p xmlns:a="http://schemas.openxmlformats.org/drawingml/2006/main">
            <a:pPr marL="0" lvl="0" indent="0" algn="l">
              <a:lnSpc>
                <a:spcPct val="100000"/>
              </a:lnSpc>
              <a:spcBef>
                <a:spcPts val="0"/>
              </a:spcBef>
              <a:spcAft>
                <a:spcPts val="0"/>
              </a:spcAft>
              <a:buSzPts val="1400"/>
              <a:buNone/>
            </a:pPr>
            <a:r>
              <a:t>| Limitations | Symbolic/heuristic components, persistence/isolation/tool limits, incomplete evidence. | Updated limitations after fresh fixes/runs. |</a:t>
            </a:r>
            <a:endParaRPr/>
          </a:p>
          <a:p xmlns:a="http://schemas.openxmlformats.org/drawingml/2006/main">
            <a:pPr marL="0" lvl="0" indent="0" algn="l">
              <a:lnSpc>
                <a:spcPct val="100000"/>
              </a:lnSpc>
              <a:spcBef>
                <a:spcPts val="0"/>
              </a:spcBef>
              <a:spcAft>
                <a:spcPts val="0"/>
              </a:spcAft>
              <a:buSzPts val="1400"/>
              <a:buNone/>
            </a:pPr>
            <a:r>
              <a:t>| Reproducibility | Existing source/test/runbook structure. | Validated artifact bundle, checksums, secret-free configuration, dependency freeze.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Draft abstract for discussion, without fabricated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PRIMA-NEXT is a research agent runtime that coordinates memory, evidence retrieval, affect-related signals, planning, symbolic simulation, uncertainty decisions, reflection, and controlled tools through typed task-specific routes. The design records execution and failure diagnostics and bounds correction and maintenance work. We define a matched evaluation against model-only and simple-RAG configurations using conversational-memory, multi-document QA, and emotion-classification tasks. Exploratory retrieval subsets motivate learned embeddings and careful representation selection. Complete held-out comparisons are required to establish whether the additional mechanisms improve quality sufficiently to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10.4 Experiment plan for publishable claims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Freeze dataset split/version/hash, IDs/order, source histories, model/revision, dependencies, seed, context/generation settings, and retry policy.</a:t>
            </a:r>
            <a:endParaRPr/>
          </a:p>
          <a:p xmlns:a="http://schemas.openxmlformats.org/drawingml/2006/main">
            <a:pPr marL="0" lvl="0" indent="0" algn="l">
              <a:lnSpc>
                <a:spcPct val="100000"/>
              </a:lnSpc>
              <a:spcBef>
                <a:spcPts val="0"/>
              </a:spcBef>
              <a:spcAft>
                <a:spcPts val="0"/>
              </a:spcAft>
              <a:buSzPts val="1400"/>
              <a:buNone/>
            </a:pPr>
            <a:r>
              <a:t>Run model-only, simple RAG, and full PRIMA on matched selections. Clearly define which history each baseline receives.</a:t>
            </a:r>
            <a:endParaRPr/>
          </a:p>
          <a:p xmlns:a="http://schemas.openxmlformats.org/drawingml/2006/main">
            <a:pPr marL="0" lvl="0" indent="0" algn="l">
              <a:lnSpc>
                <a:spcPct val="100000"/>
              </a:lnSpc>
              <a:spcBef>
                <a:spcPts val="0"/>
              </a:spcBef>
              <a:spcAft>
                <a:spcPts val="0"/>
              </a:spcAft>
              <a:buSzPts val="1400"/>
              <a:buNone/>
            </a:pPr>
            <a:r>
              <a:t>Separate memory-formation comparisons from fixed-store retrieval comparisons.</a:t>
            </a:r>
            <a:endParaRPr/>
          </a:p>
          <a:p xmlns:a="http://schemas.openxmlformats.org/drawingml/2006/main">
            <a:pPr marL="0" lvl="0" indent="0" algn="l">
              <a:lnSpc>
                <a:spcPct val="100000"/>
              </a:lnSpc>
              <a:spcBef>
                <a:spcPts val="0"/>
              </a:spcBef>
              <a:spcAft>
                <a:spcPts val="0"/>
              </a:spcAft>
              <a:buSzPts val="1400"/>
              <a:buNone/>
            </a:pPr>
            <a:r>
              <a:t>Measure retrieval recall/ranking, native QA metrics, coverage/abstention, execution/scoring failures, tokens/latency, and memory growth.</a:t>
            </a:r>
            <a:endParaRPr/>
          </a:p>
          <a:p xmlns:a="http://schemas.openxmlformats.org/drawingml/2006/main">
            <a:pPr marL="0" lvl="0" indent="0" algn="l">
              <a:lnSpc>
                <a:spcPct val="100000"/>
              </a:lnSpc>
              <a:spcBef>
                <a:spcPts val="0"/>
              </a:spcBef>
              <a:spcAft>
                <a:spcPts val="0"/>
              </a:spcAft>
              <a:buSzPts val="1400"/>
              <a:buNone/>
            </a:pPr>
            <a:r>
              <a:t>Run targeted graph/affect/reflection ablations. Report actual correction help/harm rather than only internal confidence lift.</a:t>
            </a:r>
            <a:endParaRPr/>
          </a:p>
          <a:p xmlns:a="http://schemas.openxmlformats.org/drawingml/2006/main">
            <a:pPr marL="0" lvl="0" indent="0" algn="l">
              <a:lnSpc>
                <a:spcPct val="100000"/>
              </a:lnSpc>
              <a:spcBef>
                <a:spcPts val="0"/>
              </a:spcBef>
              <a:spcAft>
                <a:spcPts val="0"/>
              </a:spcAft>
              <a:buSzPts val="1400"/>
              <a:buNone/>
            </a:pPr>
            <a:r>
              <a:t>Tune on development data and freeze settings before test evaluation. Keep all gold annotations evaluator-owned.</a:t>
            </a:r>
            <a:endParaRPr/>
          </a:p>
          <a:p xmlns:a="http://schemas.openxmlformats.org/drawingml/2006/main">
            <a:pPr marL="0" lvl="0" indent="0" algn="l">
              <a:lnSpc>
                <a:spcPct val="100000"/>
              </a:lnSpc>
              <a:spcBef>
                <a:spcPts val="0"/>
              </a:spcBef>
              <a:spcAft>
                <a:spcPts val="0"/>
              </a:spcAft>
              <a:buSzPts val="1400"/>
              <a:buNone/>
            </a:pPr>
            <a:r>
              <a:t>Use uncertainty estimates over suitable independent units. For conversational data, account for questions clustered in conversations rather than pretending every question is independent. Statistical methods and sample size should be fixed in the protocol.</a:t>
            </a:r>
            <a:endParaRPr/>
          </a:p>
          <a:p xmlns:a="http://schemas.openxmlformats.org/drawingml/2006/main">
            <a:pPr marL="0" lvl="0" indent="0" algn="l">
              <a:lnSpc>
                <a:spcPct val="100000"/>
              </a:lnSpc>
              <a:spcBef>
                <a:spcPts val="0"/>
              </a:spcBef>
              <a:spcAft>
                <a:spcPts val="0"/>
              </a:spcAft>
              <a:buSzPts val="1400"/>
              <a:buNone/>
            </a:pPr>
            <a:r>
              <a:t>Publish negative/neutral findings and cost tradeoffs. A simpler configuration may be the useful conclusion.</a:t>
            </a:r>
            <a:endParaRPr/>
          </a:p>
          <a:p xmlns:a="http://schemas.openxmlformats.org/drawingml/2006/main">
            <a:pPr marL="0" lvl="0" indent="0" algn="l">
              <a:lnSpc>
                <a:spcPct val="100000"/>
              </a:lnSpc>
              <a:spcBef>
                <a:spcPts val="0"/>
              </a:spcBef>
              <a:spcAft>
                <a:spcPts val="0"/>
              </a:spcAft>
              <a:buSzPts val="1400"/>
              <a:buNone/>
            </a:pPr>
            <a:r>
              <a:t>Reconcile JSON/CSV fingerprints and saved-result lineage. Preserve manifests/checkpoints and validate complete coverage before using headline numbers.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10.5 Patent-oriented technical preparation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Technical candidate to investigate: the specific interaction between task/profile-controlled execution, memory admission and maintenance, and budgeted corrections with traceable state/evidence transitions. This is a candidate disclosure topic, not an assertion of patentability.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Preparation item | What the team should produce | Current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Invention definition | A precise technical problem, mechanism, and observable effect. | Candidate framing in this document; team/guide review pending. |</a:t>
            </a:r>
            <a:endParaRPr/>
          </a:p>
          <a:p xmlns:a="http://schemas.openxmlformats.org/drawingml/2006/main">
            <a:pPr marL="0" lvl="0" indent="0" algn="l">
              <a:lnSpc>
                <a:spcPct val="100000"/>
              </a:lnSpc>
              <a:spcBef>
                <a:spcPts val="0"/>
              </a:spcBef>
              <a:spcAft>
                <a:spcPts val="0"/>
              </a:spcAft>
              <a:buSzPts val="1400"/>
              <a:buNone/>
            </a:pPr>
            <a:r>
              <a:t>| Inventor/contribution record | Named contributors and evidence of their contribution to the proposed mechanism. | Git contributors exist; inventorship is not established by that list. |</a:t>
            </a:r>
            <a:endParaRPr/>
          </a:p>
          <a:p xmlns:a="http://schemas.openxmlformats.org/drawingml/2006/main">
            <a:pPr marL="0" lvl="0" indent="0" algn="l">
              <a:lnSpc>
                <a:spcPct val="100000"/>
              </a:lnSpc>
              <a:spcBef>
                <a:spcPts val="0"/>
              </a:spcBef>
              <a:spcAft>
                <a:spcPts val="0"/>
              </a:spcAft>
              <a:buSzPts val="1400"/>
              <a:buNone/>
            </a:pPr>
            <a:r>
              <a:t>| Prior-art comparison | Claim-by-claim mechanism comparison with relevant papers and patent records. | Foundational literature identified; patent prior-art search not performed. |</a:t>
            </a:r>
            <a:endParaRPr/>
          </a:p>
          <a:p xmlns:a="http://schemas.openxmlformats.org/drawingml/2006/main">
            <a:pPr marL="0" lvl="0" indent="0" algn="l">
              <a:lnSpc>
                <a:spcPct val="100000"/>
              </a:lnSpc>
              <a:spcBef>
                <a:spcPts val="0"/>
              </a:spcBef>
              <a:spcAft>
                <a:spcPts val="0"/>
              </a:spcAft>
              <a:buSzPts val="1400"/>
              <a:buNone/>
            </a:pPr>
            <a:r>
              <a:t>| Technical disclosure | Architecture, state transitions, alternatives, reproducible example, measured effect. | Source/docs supply material; formal disclosure not supplied. |</a:t>
            </a:r>
            <a:endParaRPr/>
          </a:p>
          <a:p xmlns:a="http://schemas.openxmlformats.org/drawingml/2006/main">
            <a:pPr marL="0" lvl="0" indent="0" algn="l">
              <a:lnSpc>
                <a:spcPct val="100000"/>
              </a:lnSpc>
              <a:spcBef>
                <a:spcPts val="0"/>
              </a:spcBef>
              <a:spcAft>
                <a:spcPts val="0"/>
              </a:spcAft>
              <a:buSzPts val="1400"/>
              <a:buNone/>
            </a:pPr>
            <a:r>
              <a:t>| Institutional review | Guide/institution IP office review and documented decision. | Team confirmation required. |</a:t>
            </a:r>
            <a:endParaRPr/>
          </a:p>
          <a:p xmlns:a="http://schemas.openxmlformats.org/drawingml/2006/main">
            <a:pPr marL="0" lvl="0" indent="0" algn="l">
              <a:lnSpc>
                <a:spcPct val="100000"/>
              </a:lnSpc>
              <a:spcBef>
                <a:spcPts val="0"/>
              </a:spcBef>
              <a:spcAft>
                <a:spcPts val="0"/>
              </a:spcAft>
              <a:buSzPts val="1400"/>
              <a:buNone/>
            </a:pPr>
            <a:r>
              <a:t>| Filing milestones | Official receipt, application number/date, jurisdiction, filing type, status evidence. | None supplied. |</a:t>
            </a:r>
            <a:endParaRPr/>
          </a:p>
          <a:p xmlns:a="http://schemas.openxmlformats.org/drawingml/2006/main">
            <a:pPr marL="0" lvl="0" indent="0" algn="l">
              <a:lnSpc>
                <a:spcPct val="100000"/>
              </a:lnSpc>
              <a:spcBef>
                <a:spcPts val="0"/>
              </a:spcBef>
              <a:spcAft>
                <a:spcPts val="0"/>
              </a:spcAft>
              <a:buSzPts val="1400"/>
              <a:buNone/>
            </a:pPr>
            <a:r>
              <a:t>| Later status | Publication record or grant document, distinct from initial filing. | None supplied.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paper describes scientific methods/results. A patent-oriented disclosure must identify a specific proposed invention and supporting mechanism. Use the institution's IP office to determine applicable requirements and the sequence of public release/submission/filing. This document makes no legal eligibility or filing-status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Safe spoken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Our implementation and experiment infrastructure are available. We have exploratory retrieval results and a reported LoCoMo operational pilot. We are preparing a complete matched evaluation and manuscript evidence package. Paper submission and patent filing status will be shown only with the team's corresponding records.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10.6 Evidence the team must add before the mentor meeting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paper: exact title, author order/affiliations, versioned manuscript, guide feedback, target venue, submission date/ID and receipt if submitted, acceptance notice if accepted, published URL/DOI if published.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patent: proposed invention title, disclosure/specification version, institutional review status, contributor/inventor confirmation, official application receipt and number/date if filed, publication/grant record if those stages occurred.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Track stage names separately. Drafted, submitted, accepted, and published are different paper milestones. Disclosure prepared, application filed, application published, and granted are different patent milestones.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https://arxiv.org/abs/2005.11401</a:t>
            </a:r>
            <a:endParaRPr/>
          </a:p>
          <a:p xmlns:a="http://schemas.openxmlformats.org/drawingml/2006/main">
            <a:pPr marL="0" lvl="0" indent="0" algn="l">
              <a:lnSpc>
                <a:spcPct val="100000"/>
              </a:lnSpc>
              <a:spcBef>
                <a:spcPts val="0"/>
              </a:spcBef>
              <a:spcAft>
                <a:spcPts val="0"/>
              </a:spcAft>
              <a:buSzPts val="1400"/>
              <a:buNone/>
            </a:pPr>
            <a:r>
              <a:t>https://arxiv.org/abs/2304.03442</a:t>
            </a:r>
            <a:endParaRPr/>
          </a:p>
          <a:p xmlns:a="http://schemas.openxmlformats.org/drawingml/2006/main">
            <a:pPr marL="0" lvl="0" indent="0" algn="l">
              <a:lnSpc>
                <a:spcPct val="100000"/>
              </a:lnSpc>
              <a:spcBef>
                <a:spcPts val="0"/>
              </a:spcBef>
              <a:spcAft>
                <a:spcPts val="0"/>
              </a:spcAft>
              <a:buSzPts val="1400"/>
              <a:buNone/>
            </a:pPr>
            <a:r>
              <a:t>https://arxiv.org/abs/2303.11366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Draft abstract (1/2)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 Additional requested section: research paper and patent progress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10.1 Actual verified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inspected repository contains source, technical documentation, benchmark code, tests, saved subset results, and pilot notes. It does not establish a manuscript submission, acceptance, published PRIMA paper, invention-disclosure submission, patent application, publication number, or grant. No manuscript or filing receipt was supplied with the request. This is a statement about available evidence, not proof that the team has done no work elsewhere.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Milestone | Evidence currently available | Honest slide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Research system implementation | E01 - E03, module tests. | Implemented research prototype. |</a:t>
            </a:r>
            <a:endParaRPr/>
          </a:p>
          <a:p xmlns:a="http://schemas.openxmlformats.org/drawingml/2006/main">
            <a:pPr marL="0" lvl="0" indent="0" algn="l">
              <a:lnSpc>
                <a:spcPct val="100000"/>
              </a:lnSpc>
              <a:spcBef>
                <a:spcPts val="0"/>
              </a:spcBef>
              <a:spcAft>
                <a:spcPts val="0"/>
              </a:spcAft>
              <a:buSzPts val="1400"/>
              <a:buNone/>
            </a:pPr>
            <a:r>
              <a:t>| Technical documentation | E04 and this review document. | Architecture and review material prepared. |</a:t>
            </a:r>
            <a:endParaRPr/>
          </a:p>
          <a:p xmlns:a="http://schemas.openxmlformats.org/drawingml/2006/main">
            <a:pPr marL="0" lvl="0" indent="0" algn="l">
              <a:lnSpc>
                <a:spcPct val="100000"/>
              </a:lnSpc>
              <a:spcBef>
                <a:spcPts val="0"/>
              </a:spcBef>
              <a:spcAft>
                <a:spcPts val="0"/>
              </a:spcAft>
              <a:buSzPts val="1400"/>
              <a:buNone/>
            </a:pPr>
            <a:r>
              <a:t>| Exploratory component experiments | E07/E08. | Saved subset results inspected; provenance reconciliation and fresh validation pending. |</a:t>
            </a:r>
            <a:endParaRPr/>
          </a:p>
          <a:p xmlns:a="http://schemas.openxmlformats.org/drawingml/2006/main">
            <a:pPr marL="0" lvl="0" indent="0" algn="l">
              <a:lnSpc>
                <a:spcPct val="100000"/>
              </a:lnSpc>
              <a:spcBef>
                <a:spcPts val="0"/>
              </a:spcBef>
              <a:spcAft>
                <a:spcPts val="0"/>
              </a:spcAft>
              <a:buSzPts val="1400"/>
              <a:buNone/>
            </a:pPr>
            <a:r>
              <a:t>| Real operational pilot | E06. | Repository-reported LoCoMo pilot, full completion unverified here. |</a:t>
            </a:r>
            <a:endParaRPr/>
          </a:p>
          <a:p xmlns:a="http://schemas.openxmlformats.org/drawingml/2006/main">
            <a:pPr marL="0" lvl="0" indent="0" algn="l">
              <a:lnSpc>
                <a:spcPct val="100000"/>
              </a:lnSpc>
              <a:spcBef>
                <a:spcPts val="0"/>
              </a:spcBef>
              <a:spcAft>
                <a:spcPts val="0"/>
              </a:spcAft>
              <a:buSzPts val="1400"/>
              <a:buNone/>
            </a:pPr>
            <a:r>
              <a:t>| Full matched final experiments | No complete validated final campaign established by inspected evidence. | Pending verification/execution. |</a:t>
            </a:r>
            <a:endParaRPr/>
          </a:p>
          <a:p xmlns:a="http://schemas.openxmlformats.org/drawingml/2006/main">
            <a:pPr marL="0" lvl="0" indent="0" algn="l">
              <a:lnSpc>
                <a:spcPct val="100000"/>
              </a:lnSpc>
              <a:spcBef>
                <a:spcPts val="0"/>
              </a:spcBef>
              <a:spcAft>
                <a:spcPts val="0"/>
              </a:spcAft>
              <a:buSzPts val="1400"/>
              <a:buNone/>
            </a:pPr>
            <a:r>
              <a:t>| PRIMA manuscript draft | No draft supplied or identified in inspected project material. | [To be added] |</a:t>
            </a:r>
            <a:endParaRPr/>
          </a:p>
          <a:p xmlns:a="http://schemas.openxmlformats.org/drawingml/2006/main">
            <a:pPr marL="0" lvl="0" indent="0" algn="l">
              <a:lnSpc>
                <a:spcPct val="100000"/>
              </a:lnSpc>
              <a:spcBef>
                <a:spcPts val="0"/>
              </a:spcBef>
              <a:spcAft>
                <a:spcPts val="0"/>
              </a:spcAft>
              <a:buSzPts val="1400"/>
              <a:buNone/>
            </a:pPr>
            <a:r>
              <a:t>| Venue and submission | No submission receipt/ID supplied. | [To be added] |</a:t>
            </a:r>
            <a:endParaRPr/>
          </a:p>
          <a:p xmlns:a="http://schemas.openxmlformats.org/drawingml/2006/main">
            <a:pPr marL="0" lvl="0" indent="0" algn="l">
              <a:lnSpc>
                <a:spcPct val="100000"/>
              </a:lnSpc>
              <a:spcBef>
                <a:spcPts val="0"/>
              </a:spcBef>
              <a:spcAft>
                <a:spcPts val="0"/>
              </a:spcAft>
              <a:buSzPts val="1400"/>
              <a:buNone/>
            </a:pPr>
            <a:r>
              <a:t>| Acceptance / publication / DOI | No acceptance notice or published record supplied. | Unverified; do not claim accepted/published. |</a:t>
            </a:r>
            <a:endParaRPr/>
          </a:p>
          <a:p xmlns:a="http://schemas.openxmlformats.org/drawingml/2006/main">
            <a:pPr marL="0" lvl="0" indent="0" algn="l">
              <a:lnSpc>
                <a:spcPct val="100000"/>
              </a:lnSpc>
              <a:spcBef>
                <a:spcPts val="0"/>
              </a:spcBef>
              <a:spcAft>
                <a:spcPts val="0"/>
              </a:spcAft>
              <a:buSzPts val="1400"/>
              <a:buNone/>
            </a:pPr>
            <a:r>
              <a:t>| Invention disclosure / patent draft | No disclosure/specification supplied. | [To be added] |</a:t>
            </a:r>
            <a:endParaRPr/>
          </a:p>
          <a:p xmlns:a="http://schemas.openxmlformats.org/drawingml/2006/main">
            <a:pPr marL="0" lvl="0" indent="0" algn="l">
              <a:lnSpc>
                <a:spcPct val="100000"/>
              </a:lnSpc>
              <a:spcBef>
                <a:spcPts val="0"/>
              </a:spcBef>
              <a:spcAft>
                <a:spcPts val="0"/>
              </a:spcAft>
              <a:buSzPts val="1400"/>
              <a:buNone/>
            </a:pPr>
            <a:r>
              <a:t>| Patent filing / publication / grant | No official receipt or record supplied. | Unverified; do not claim filed/published/granted.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10.2 Research question and candidate contribution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Suggested manuscript working title: "PRIMA-NEXT: A Typed Agent Runtime for Evidence-Based Memory, Bounded Correction, and Controlled Execution." This is proposed wording, not an existing publication title.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question: Does full PRIMA improve held-out memory-assisted QA quality and reliability compared with the same model alone and simple RAG under matched budgets, and which components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contributions to evaluate: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A unified typed boundary and explicit task/profile execution, with observable component accounting and failure semantics.</a:t>
            </a:r>
            <a:endParaRPr/>
          </a:p>
          <a:p xmlns:a="http://schemas.openxmlformats.org/drawingml/2006/main">
            <a:pPr marL="0" lvl="0" indent="0" algn="l">
              <a:lnSpc>
                <a:spcPct val="100000"/>
              </a:lnSpc>
              <a:spcBef>
                <a:spcPts val="0"/>
              </a:spcBef>
              <a:spcAft>
                <a:spcPts val="0"/>
              </a:spcAft>
              <a:buSzPts val="1400"/>
              <a:buNone/>
            </a:pPr>
            <a:r>
              <a:t>2. An integrated memory lifecycle joining selective admission, traceable hybrid retrieval, and bounded background maintenance.</a:t>
            </a:r>
            <a:endParaRPr/>
          </a:p>
          <a:p xmlns:a="http://schemas.openxmlformats.org/drawingml/2006/main">
            <a:pPr marL="0" lvl="0" indent="0" algn="l">
              <a:lnSpc>
                <a:spcPct val="100000"/>
              </a:lnSpc>
              <a:spcBef>
                <a:spcPts val="0"/>
              </a:spcBef>
              <a:spcAft>
                <a:spcPts val="0"/>
              </a:spcAft>
              <a:buSzPts val="1400"/>
              <a:buNone/>
            </a:pPr>
            <a:r>
              <a:t>3. Workflow-owned uncertainty/reflection with bounded corrections and recorded before/after outcomes.</a:t>
            </a:r>
            <a:endParaRPr/>
          </a:p>
          <a:p xmlns:a="http://schemas.openxmlformats.org/drawingml/2006/main">
            <a:pPr marL="0" lvl="0" indent="0" algn="l">
              <a:lnSpc>
                <a:spcPct val="100000"/>
              </a:lnSpc>
              <a:spcBef>
                <a:spcPts val="0"/>
              </a:spcBef>
              <a:spcAft>
                <a:spcPts val="0"/>
              </a:spcAft>
              <a:buSzPts val="1400"/>
              <a:buNone/>
            </a:pPr>
            <a:r>
              <a:t>4. A reproducible evaluation protocol separating functional tests, subset component studies, real pilots, and reportable campaigns.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descriptions of engineering work and potential research contributions. Novelty relative to prior literature and benefit over strong baselines remain to establish. RAG, memory/plan/reflection agents, and verbal feedback agents already exist. A list of familiar techniques is insufficient as a novelty claim. RAG, Generative Agents, Reflexion.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10.3 Paper structure with material and gaps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Section | Material ready to write | Evidence still needed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Abstract | Problem, runtime design, scoped evaluation objective. | Final matched outcomes. Do not invent accuracy gains. |</a:t>
            </a:r>
            <a:endParaRPr/>
          </a:p>
          <a:p xmlns:a="http://schemas.openxmlformats.org/drawingml/2006/main">
            <a:pPr marL="0" lvl="0" indent="0" algn="l">
              <a:lnSpc>
                <a:spcPct val="100000"/>
              </a:lnSpc>
              <a:spcBef>
                <a:spcPts val="0"/>
              </a:spcBef>
              <a:spcAft>
                <a:spcPts val="0"/>
              </a:spcAft>
              <a:buSzPts val="1400"/>
              <a:buNone/>
            </a:pPr>
            <a:r>
              <a:t>| Introduction | Continuing-agent evidence/memory/control problem. | Target audience and explicit research hypotheses. |</a:t>
            </a:r>
            <a:endParaRPr/>
          </a:p>
          <a:p xmlns:a="http://schemas.openxmlformats.org/drawingml/2006/main">
            <a:pPr marL="0" lvl="0" indent="0" algn="l">
              <a:lnSpc>
                <a:spcPct val="100000"/>
              </a:lnSpc>
              <a:spcBef>
                <a:spcPts val="0"/>
              </a:spcBef>
              <a:spcAft>
                <a:spcPts val="0"/>
              </a:spcAft>
              <a:buSzPts val="1400"/>
              <a:buNone/>
            </a:pPr>
            <a:r>
              <a:t>| Related work | RAG, Generative Agents, Reflexion, LoCoMo/HotpotQA/GoEmotions. | Focused comparison of mechanisms and newest relevant primary literature before submission. |</a:t>
            </a:r>
            <a:endParaRPr/>
          </a:p>
          <a:p xmlns:a="http://schemas.openxmlformats.org/drawingml/2006/main">
            <a:pPr marL="0" lvl="0" indent="0" algn="l">
              <a:lnSpc>
                <a:spcPct val="100000"/>
              </a:lnSpc>
              <a:spcBef>
                <a:spcPts val="0"/>
              </a:spcBef>
              <a:spcAft>
                <a:spcPts val="0"/>
              </a:spcAft>
              <a:buSzPts val="1400"/>
              <a:buNone/>
            </a:pPr>
            <a:r>
              <a:t>| Method | Contracts, routes, memory types, fusion/admission formulas, correction budgets. | Frozen experiment configuration and precise pseudocode matching the final implementation. |</a:t>
            </a:r>
            <a:endParaRPr/>
          </a:p>
          <a:p xmlns:a="http://schemas.openxmlformats.org/drawingml/2006/main">
            <a:pPr marL="0" lvl="0" indent="0" algn="l">
              <a:lnSpc>
                <a:spcPct val="100000"/>
              </a:lnSpc>
              <a:spcBef>
                <a:spcPts val="0"/>
              </a:spcBef>
              <a:spcAft>
                <a:spcPts val="0"/>
              </a:spcAft>
              <a:buSzPts val="1400"/>
              <a:buNone/>
            </a:pPr>
            <a:r>
              <a:t>| Experimental setup | Existing adapters, scorer/claim policy, subset metadata. | Dataset/model hashes/revisions, environment, selection protocol, seeds, failure rules. |</a:t>
            </a:r>
            <a:endParaRPr/>
          </a:p>
          <a:p xmlns:a="http://schemas.openxmlformats.org/drawingml/2006/main">
            <a:pPr marL="0" lvl="0" indent="0" algn="l">
              <a:lnSpc>
                <a:spcPct val="100000"/>
              </a:lnSpc>
              <a:spcBef>
                <a:spcPts val="0"/>
              </a:spcBef>
              <a:spcAft>
                <a:spcPts val="0"/>
              </a:spcAft>
              <a:buSzPts val="1400"/>
              <a:buNone/>
            </a:pPr>
            <a:r>
              <a:t>| Results | E07/E08 exploratory component tables and scoped E06 pilot. | Complete quality runs, aggregate/category metrics, uncertainty/statistics, actual resource cost. |</a:t>
            </a:r>
            <a:endParaRPr/>
          </a:p>
          <a:p xmlns:a="http://schemas.openxmlformats.org/drawingml/2006/main">
            <a:pPr marL="0" lvl="0" indent="0" algn="l">
              <a:lnSpc>
                <a:spcPct val="100000"/>
              </a:lnSpc>
              <a:spcBef>
                <a:spcPts val="0"/>
              </a:spcBef>
              <a:spcAft>
                <a:spcPts val="0"/>
              </a:spcAft>
              <a:buSzPts val="1400"/>
              <a:buNone/>
            </a:pPr>
            <a:r>
              <a:t>| Ablations | Proposed fixed-store and single-component experiments. | Actual matched runs and help/harm analysis. |</a:t>
            </a:r>
            <a:endParaRPr/>
          </a:p>
          <a:p xmlns:a="http://schemas.openxmlformats.org/drawingml/2006/main">
            <a:pPr marL="0" lvl="0" indent="0" algn="l">
              <a:lnSpc>
                <a:spcPct val="100000"/>
              </a:lnSpc>
              <a:spcBef>
                <a:spcPts val="0"/>
              </a:spcBef>
              <a:spcAft>
                <a:spcPts val="0"/>
              </a:spcAft>
              <a:buSzPts val="1400"/>
              <a:buNone/>
            </a:pPr>
            <a:r>
              <a:t>| Discussion | Observed retrieval bottleneck and representation tradeoff. | Generalization beyond one conversation, calibration, component contribution. |</a:t>
            </a:r>
            <a:endParaRPr/>
          </a:p>
          <a:p xmlns:a="http://schemas.openxmlformats.org/drawingml/2006/main">
            <a:pPr marL="0" lvl="0" indent="0" algn="l">
              <a:lnSpc>
                <a:spcPct val="100000"/>
              </a:lnSpc>
              <a:spcBef>
                <a:spcPts val="0"/>
              </a:spcBef>
              <a:spcAft>
                <a:spcPts val="0"/>
              </a:spcAft>
              <a:buSzPts val="1400"/>
              <a:buNone/>
            </a:pPr>
            <a:r>
              <a:t>| Limitations | Symbolic/heuristic components, persistence/isolation/tool limits, incomplete evidence. | Updated limitations after fresh fixes/runs. |</a:t>
            </a:r>
            <a:endParaRPr/>
          </a:p>
          <a:p xmlns:a="http://schemas.openxmlformats.org/drawingml/2006/main">
            <a:pPr marL="0" lvl="0" indent="0" algn="l">
              <a:lnSpc>
                <a:spcPct val="100000"/>
              </a:lnSpc>
              <a:spcBef>
                <a:spcPts val="0"/>
              </a:spcBef>
              <a:spcAft>
                <a:spcPts val="0"/>
              </a:spcAft>
              <a:buSzPts val="1400"/>
              <a:buNone/>
            </a:pPr>
            <a:r>
              <a:t>| Reproducibility | Existing source/test/runbook structure. | Validated artifact bundle, checksums, secret-free configuration, dependency freeze.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Draft abstract for discussion, without fabricated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PRIMA-NEXT is a research agent runtime that coordinates memory, evidence retrieval, affect-related signals, planning, symbolic simulation, uncertainty decisions, reflection, and controlled tools through typed task-specific routes. The design records execution and failure diagnostics and bounds correction and maintenance work. We define a matched evaluation against model-only and simple-RAG configurations using conversational-memory, multi-document QA, and emotion-classification tasks. Exploratory retrieval subsets motivate learned embeddings and careful representation selection. Complete held-out comparisons are required to establish whether the additional mechanisms improve quality sufficiently to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10.4 Experiment plan for publishable claims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Freeze dataset split/version/hash, IDs/order, source histories, model/revision, dependencies, seed, context/generation settings, and retry policy.</a:t>
            </a:r>
            <a:endParaRPr/>
          </a:p>
          <a:p xmlns:a="http://schemas.openxmlformats.org/drawingml/2006/main">
            <a:pPr marL="0" lvl="0" indent="0" algn="l">
              <a:lnSpc>
                <a:spcPct val="100000"/>
              </a:lnSpc>
              <a:spcBef>
                <a:spcPts val="0"/>
              </a:spcBef>
              <a:spcAft>
                <a:spcPts val="0"/>
              </a:spcAft>
              <a:buSzPts val="1400"/>
              <a:buNone/>
            </a:pPr>
            <a:r>
              <a:t>Run model-only, simple RAG, and full PRIMA on matched selections. Clearly define which history each baseline receives.</a:t>
            </a:r>
            <a:endParaRPr/>
          </a:p>
          <a:p xmlns:a="http://schemas.openxmlformats.org/drawingml/2006/main">
            <a:pPr marL="0" lvl="0" indent="0" algn="l">
              <a:lnSpc>
                <a:spcPct val="100000"/>
              </a:lnSpc>
              <a:spcBef>
                <a:spcPts val="0"/>
              </a:spcBef>
              <a:spcAft>
                <a:spcPts val="0"/>
              </a:spcAft>
              <a:buSzPts val="1400"/>
              <a:buNone/>
            </a:pPr>
            <a:r>
              <a:t>Separate memory-formation comparisons from fixed-store retrieval comparisons.</a:t>
            </a:r>
            <a:endParaRPr/>
          </a:p>
          <a:p xmlns:a="http://schemas.openxmlformats.org/drawingml/2006/main">
            <a:pPr marL="0" lvl="0" indent="0" algn="l">
              <a:lnSpc>
                <a:spcPct val="100000"/>
              </a:lnSpc>
              <a:spcBef>
                <a:spcPts val="0"/>
              </a:spcBef>
              <a:spcAft>
                <a:spcPts val="0"/>
              </a:spcAft>
              <a:buSzPts val="1400"/>
              <a:buNone/>
            </a:pPr>
            <a:r>
              <a:t>Measure retrieval recall/ranking, native QA metrics, coverage/abstention, execution/scoring failures, tokens/latency, and memory growth.</a:t>
            </a:r>
            <a:endParaRPr/>
          </a:p>
          <a:p xmlns:a="http://schemas.openxmlformats.org/drawingml/2006/main">
            <a:pPr marL="0" lvl="0" indent="0" algn="l">
              <a:lnSpc>
                <a:spcPct val="100000"/>
              </a:lnSpc>
              <a:spcBef>
                <a:spcPts val="0"/>
              </a:spcBef>
              <a:spcAft>
                <a:spcPts val="0"/>
              </a:spcAft>
              <a:buSzPts val="1400"/>
              <a:buNone/>
            </a:pPr>
            <a:r>
              <a:t>Run targeted graph/affect/reflection ablations. Report actual correction help/harm rather than only internal confidence lift.</a:t>
            </a:r>
            <a:endParaRPr/>
          </a:p>
          <a:p xmlns:a="http://schemas.openxmlformats.org/drawingml/2006/main">
            <a:pPr marL="0" lvl="0" indent="0" algn="l">
              <a:lnSpc>
                <a:spcPct val="100000"/>
              </a:lnSpc>
              <a:spcBef>
                <a:spcPts val="0"/>
              </a:spcBef>
              <a:spcAft>
                <a:spcPts val="0"/>
              </a:spcAft>
              <a:buSzPts val="1400"/>
              <a:buNone/>
            </a:pPr>
            <a:r>
              <a:t>Tune on development data and freeze settings before test evaluation. Keep all gold annotations evaluator-owned.</a:t>
            </a:r>
            <a:endParaRPr/>
          </a:p>
          <a:p xmlns:a="http://schemas.openxmlformats.org/drawingml/2006/main">
            <a:pPr marL="0" lvl="0" indent="0" algn="l">
              <a:lnSpc>
                <a:spcPct val="100000"/>
              </a:lnSpc>
              <a:spcBef>
                <a:spcPts val="0"/>
              </a:spcBef>
              <a:spcAft>
                <a:spcPts val="0"/>
              </a:spcAft>
              <a:buSzPts val="1400"/>
              <a:buNone/>
            </a:pPr>
            <a:r>
              <a:t>Use uncertainty estimates over suitable independent units. For conversational data, account for questions clustered in conversations rather than pretending every question is independent. Statistical methods and sample size should be fixed in the protocol.</a:t>
            </a:r>
            <a:endParaRPr/>
          </a:p>
          <a:p xmlns:a="http://schemas.openxmlformats.org/drawingml/2006/main">
            <a:pPr marL="0" lvl="0" indent="0" algn="l">
              <a:lnSpc>
                <a:spcPct val="100000"/>
              </a:lnSpc>
              <a:spcBef>
                <a:spcPts val="0"/>
              </a:spcBef>
              <a:spcAft>
                <a:spcPts val="0"/>
              </a:spcAft>
              <a:buSzPts val="1400"/>
              <a:buNone/>
            </a:pPr>
            <a:r>
              <a:t>Publish negative/neutral findings and cost tradeoffs. A simpler configuration may be the useful conclusion.</a:t>
            </a:r>
            <a:endParaRPr/>
          </a:p>
          <a:p xmlns:a="http://schemas.openxmlformats.org/drawingml/2006/main">
            <a:pPr marL="0" lvl="0" indent="0" algn="l">
              <a:lnSpc>
                <a:spcPct val="100000"/>
              </a:lnSpc>
              <a:spcBef>
                <a:spcPts val="0"/>
              </a:spcBef>
              <a:spcAft>
                <a:spcPts val="0"/>
              </a:spcAft>
              <a:buSzPts val="1400"/>
              <a:buNone/>
            </a:pPr>
            <a:r>
              <a:t>Reconcile JSON/CSV fingerprints and saved-result lineage. Preserve manifests/checkpoints and validate complete coverage before using headline numbers.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10.5 Patent-oriented technical preparation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Technical candidate to investigate: the specific interaction between task/profile-controlled execution, memory admission and maintenance, and budgeted corrections with traceable state/evidence transitions. This is a candidate disclosure topic, not an assertion of patentability.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Preparation item | What the team should produce | Current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Invention definition | A precise technical problem, mechanism, and observable effect. | Candidate framing in this document; team/guide review pending. |</a:t>
            </a:r>
            <a:endParaRPr/>
          </a:p>
          <a:p xmlns:a="http://schemas.openxmlformats.org/drawingml/2006/main">
            <a:pPr marL="0" lvl="0" indent="0" algn="l">
              <a:lnSpc>
                <a:spcPct val="100000"/>
              </a:lnSpc>
              <a:spcBef>
                <a:spcPts val="0"/>
              </a:spcBef>
              <a:spcAft>
                <a:spcPts val="0"/>
              </a:spcAft>
              <a:buSzPts val="1400"/>
              <a:buNone/>
            </a:pPr>
            <a:r>
              <a:t>| Inventor/contribution record | Named contributors and evidence of their contribution to the proposed mechanism. | Git contributors exist; inventorship is not established by that list. |</a:t>
            </a:r>
            <a:endParaRPr/>
          </a:p>
          <a:p xmlns:a="http://schemas.openxmlformats.org/drawingml/2006/main">
            <a:pPr marL="0" lvl="0" indent="0" algn="l">
              <a:lnSpc>
                <a:spcPct val="100000"/>
              </a:lnSpc>
              <a:spcBef>
                <a:spcPts val="0"/>
              </a:spcBef>
              <a:spcAft>
                <a:spcPts val="0"/>
              </a:spcAft>
              <a:buSzPts val="1400"/>
              <a:buNone/>
            </a:pPr>
            <a:r>
              <a:t>| Prior-art comparison | Claim-by-claim mechanism comparison with relevant papers and patent records. | Foundational literature identified; patent prior-art search not performed. |</a:t>
            </a:r>
            <a:endParaRPr/>
          </a:p>
          <a:p xmlns:a="http://schemas.openxmlformats.org/drawingml/2006/main">
            <a:pPr marL="0" lvl="0" indent="0" algn="l">
              <a:lnSpc>
                <a:spcPct val="100000"/>
              </a:lnSpc>
              <a:spcBef>
                <a:spcPts val="0"/>
              </a:spcBef>
              <a:spcAft>
                <a:spcPts val="0"/>
              </a:spcAft>
              <a:buSzPts val="1400"/>
              <a:buNone/>
            </a:pPr>
            <a:r>
              <a:t>| Technical disclosure | Architecture, state transitions, alternatives, reproducible example, measured effect. | Source/docs supply material; formal disclosure not supplied. |</a:t>
            </a:r>
            <a:endParaRPr/>
          </a:p>
          <a:p xmlns:a="http://schemas.openxmlformats.org/drawingml/2006/main">
            <a:pPr marL="0" lvl="0" indent="0" algn="l">
              <a:lnSpc>
                <a:spcPct val="100000"/>
              </a:lnSpc>
              <a:spcBef>
                <a:spcPts val="0"/>
              </a:spcBef>
              <a:spcAft>
                <a:spcPts val="0"/>
              </a:spcAft>
              <a:buSzPts val="1400"/>
              <a:buNone/>
            </a:pPr>
            <a:r>
              <a:t>| Institutional review | Guide/institution IP office review and documented decision. | Team confirmation required. |</a:t>
            </a:r>
            <a:endParaRPr/>
          </a:p>
          <a:p xmlns:a="http://schemas.openxmlformats.org/drawingml/2006/main">
            <a:pPr marL="0" lvl="0" indent="0" algn="l">
              <a:lnSpc>
                <a:spcPct val="100000"/>
              </a:lnSpc>
              <a:spcBef>
                <a:spcPts val="0"/>
              </a:spcBef>
              <a:spcAft>
                <a:spcPts val="0"/>
              </a:spcAft>
              <a:buSzPts val="1400"/>
              <a:buNone/>
            </a:pPr>
            <a:r>
              <a:t>| Filing milestones | Official receipt, application number/date, jurisdiction, filing type, status evidence. | None supplied. |</a:t>
            </a:r>
            <a:endParaRPr/>
          </a:p>
          <a:p xmlns:a="http://schemas.openxmlformats.org/drawingml/2006/main">
            <a:pPr marL="0" lvl="0" indent="0" algn="l">
              <a:lnSpc>
                <a:spcPct val="100000"/>
              </a:lnSpc>
              <a:spcBef>
                <a:spcPts val="0"/>
              </a:spcBef>
              <a:spcAft>
                <a:spcPts val="0"/>
              </a:spcAft>
              <a:buSzPts val="1400"/>
              <a:buNone/>
            </a:pPr>
            <a:r>
              <a:t>| Later status | Publication record or grant document, distinct from initial filing. | None supplied.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paper describes scientific methods/results. A patent-oriented disclosure must identify a specific proposed invention and supporting mechanism. Use the institution's IP office to determine applicable requirements and the sequence of public release/submission/filing. This document makes no legal eligibility or filing-status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Safe spoken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Our implementation and experiment infrastructure are available. We have exploratory retrieval results and a reported LoCoMo operational pilot. We are preparing a complete matched evaluation and manuscript evidence package. Paper submission and patent filing status will be shown only with the team's corresponding records.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10.6 Evidence the team must add before the mentor meeting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paper: exact title, author order/affiliations, versioned manuscript, guide feedback, target venue, submission date/ID and receipt if submitted, acceptance notice if accepted, published URL/DOI if published.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patent: proposed invention title, disclosure/specification version, institutional review status, contributor/inventor confirmation, official application receipt and number/date if filed, publication/grant record if those stages occurred.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Track stage names separately. Drafted, submitted, accepted, and published are different paper milestones. Disclosure prepared, application filed, application published, and granted are different patent milestones.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https://arxiv.org/abs/2005.11401</a:t>
            </a:r>
            <a:endParaRPr/>
          </a:p>
          <a:p xmlns:a="http://schemas.openxmlformats.org/drawingml/2006/main">
            <a:pPr marL="0" lvl="0" indent="0" algn="l">
              <a:lnSpc>
                <a:spcPct val="100000"/>
              </a:lnSpc>
              <a:spcBef>
                <a:spcPts val="0"/>
              </a:spcBef>
              <a:spcAft>
                <a:spcPts val="0"/>
              </a:spcAft>
              <a:buSzPts val="1400"/>
              <a:buNone/>
            </a:pPr>
            <a:r>
              <a:t>https://arxiv.org/abs/2304.03442</a:t>
            </a:r>
            <a:endParaRPr/>
          </a:p>
          <a:p xmlns:a="http://schemas.openxmlformats.org/drawingml/2006/main">
            <a:pPr marL="0" lvl="0" indent="0" algn="l">
              <a:lnSpc>
                <a:spcPct val="100000"/>
              </a:lnSpc>
              <a:spcBef>
                <a:spcPts val="0"/>
              </a:spcBef>
              <a:spcAft>
                <a:spcPts val="0"/>
              </a:spcAft>
              <a:buSzPts val="1400"/>
              <a:buNone/>
            </a:pPr>
            <a:r>
              <a:t>https://arxiv.org/abs/2303.11366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Draft abstract (2/2)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 Additional requested section: research paper and patent progress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10.1 Actual verified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inspected repository contains source, technical documentation, benchmark code, tests, saved subset results, and pilot notes. It does not establish a manuscript submission, acceptance, published PRIMA paper, invention-disclosure submission, patent application, publication number, or grant. No manuscript or filing receipt was supplied with the request. This is a statement about available evidence, not proof that the team has done no work elsewhere.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Milestone | Evidence currently available | Honest slide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Research system implementation | E01 - E03, module tests. | Implemented research prototype. |</a:t>
            </a:r>
            <a:endParaRPr/>
          </a:p>
          <a:p xmlns:a="http://schemas.openxmlformats.org/drawingml/2006/main">
            <a:pPr marL="0" lvl="0" indent="0" algn="l">
              <a:lnSpc>
                <a:spcPct val="100000"/>
              </a:lnSpc>
              <a:spcBef>
                <a:spcPts val="0"/>
              </a:spcBef>
              <a:spcAft>
                <a:spcPts val="0"/>
              </a:spcAft>
              <a:buSzPts val="1400"/>
              <a:buNone/>
            </a:pPr>
            <a:r>
              <a:t>| Technical documentation | E04 and this review document. | Architecture and review material prepared. |</a:t>
            </a:r>
            <a:endParaRPr/>
          </a:p>
          <a:p xmlns:a="http://schemas.openxmlformats.org/drawingml/2006/main">
            <a:pPr marL="0" lvl="0" indent="0" algn="l">
              <a:lnSpc>
                <a:spcPct val="100000"/>
              </a:lnSpc>
              <a:spcBef>
                <a:spcPts val="0"/>
              </a:spcBef>
              <a:spcAft>
                <a:spcPts val="0"/>
              </a:spcAft>
              <a:buSzPts val="1400"/>
              <a:buNone/>
            </a:pPr>
            <a:r>
              <a:t>| Exploratory component experiments | E07/E08. | Saved subset results inspected; provenance reconciliation and fresh validation pending. |</a:t>
            </a:r>
            <a:endParaRPr/>
          </a:p>
          <a:p xmlns:a="http://schemas.openxmlformats.org/drawingml/2006/main">
            <a:pPr marL="0" lvl="0" indent="0" algn="l">
              <a:lnSpc>
                <a:spcPct val="100000"/>
              </a:lnSpc>
              <a:spcBef>
                <a:spcPts val="0"/>
              </a:spcBef>
              <a:spcAft>
                <a:spcPts val="0"/>
              </a:spcAft>
              <a:buSzPts val="1400"/>
              <a:buNone/>
            </a:pPr>
            <a:r>
              <a:t>| Real operational pilot | E06. | Repository-reported LoCoMo pilot, full completion unverified here. |</a:t>
            </a:r>
            <a:endParaRPr/>
          </a:p>
          <a:p xmlns:a="http://schemas.openxmlformats.org/drawingml/2006/main">
            <a:pPr marL="0" lvl="0" indent="0" algn="l">
              <a:lnSpc>
                <a:spcPct val="100000"/>
              </a:lnSpc>
              <a:spcBef>
                <a:spcPts val="0"/>
              </a:spcBef>
              <a:spcAft>
                <a:spcPts val="0"/>
              </a:spcAft>
              <a:buSzPts val="1400"/>
              <a:buNone/>
            </a:pPr>
            <a:r>
              <a:t>| Full matched final experiments | No complete validated final campaign established by inspected evidence. | Pending verification/execution. |</a:t>
            </a:r>
            <a:endParaRPr/>
          </a:p>
          <a:p xmlns:a="http://schemas.openxmlformats.org/drawingml/2006/main">
            <a:pPr marL="0" lvl="0" indent="0" algn="l">
              <a:lnSpc>
                <a:spcPct val="100000"/>
              </a:lnSpc>
              <a:spcBef>
                <a:spcPts val="0"/>
              </a:spcBef>
              <a:spcAft>
                <a:spcPts val="0"/>
              </a:spcAft>
              <a:buSzPts val="1400"/>
              <a:buNone/>
            </a:pPr>
            <a:r>
              <a:t>| PRIMA manuscript draft | No draft supplied or identified in inspected project material. | [To be added] |</a:t>
            </a:r>
            <a:endParaRPr/>
          </a:p>
          <a:p xmlns:a="http://schemas.openxmlformats.org/drawingml/2006/main">
            <a:pPr marL="0" lvl="0" indent="0" algn="l">
              <a:lnSpc>
                <a:spcPct val="100000"/>
              </a:lnSpc>
              <a:spcBef>
                <a:spcPts val="0"/>
              </a:spcBef>
              <a:spcAft>
                <a:spcPts val="0"/>
              </a:spcAft>
              <a:buSzPts val="1400"/>
              <a:buNone/>
            </a:pPr>
            <a:r>
              <a:t>| Venue and submission | No submission receipt/ID supplied. | [To be added] |</a:t>
            </a:r>
            <a:endParaRPr/>
          </a:p>
          <a:p xmlns:a="http://schemas.openxmlformats.org/drawingml/2006/main">
            <a:pPr marL="0" lvl="0" indent="0" algn="l">
              <a:lnSpc>
                <a:spcPct val="100000"/>
              </a:lnSpc>
              <a:spcBef>
                <a:spcPts val="0"/>
              </a:spcBef>
              <a:spcAft>
                <a:spcPts val="0"/>
              </a:spcAft>
              <a:buSzPts val="1400"/>
              <a:buNone/>
            </a:pPr>
            <a:r>
              <a:t>| Acceptance / publication / DOI | No acceptance notice or published record supplied. | Unverified; do not claim accepted/published. |</a:t>
            </a:r>
            <a:endParaRPr/>
          </a:p>
          <a:p xmlns:a="http://schemas.openxmlformats.org/drawingml/2006/main">
            <a:pPr marL="0" lvl="0" indent="0" algn="l">
              <a:lnSpc>
                <a:spcPct val="100000"/>
              </a:lnSpc>
              <a:spcBef>
                <a:spcPts val="0"/>
              </a:spcBef>
              <a:spcAft>
                <a:spcPts val="0"/>
              </a:spcAft>
              <a:buSzPts val="1400"/>
              <a:buNone/>
            </a:pPr>
            <a:r>
              <a:t>| Invention disclosure / patent draft | No disclosure/specification supplied. | [To be added] |</a:t>
            </a:r>
            <a:endParaRPr/>
          </a:p>
          <a:p xmlns:a="http://schemas.openxmlformats.org/drawingml/2006/main">
            <a:pPr marL="0" lvl="0" indent="0" algn="l">
              <a:lnSpc>
                <a:spcPct val="100000"/>
              </a:lnSpc>
              <a:spcBef>
                <a:spcPts val="0"/>
              </a:spcBef>
              <a:spcAft>
                <a:spcPts val="0"/>
              </a:spcAft>
              <a:buSzPts val="1400"/>
              <a:buNone/>
            </a:pPr>
            <a:r>
              <a:t>| Patent filing / publication / grant | No official receipt or record supplied. | Unverified; do not claim filed/published/granted.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10.2 Research question and candidate contribution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Suggested manuscript working title: "PRIMA-NEXT: A Typed Agent Runtime for Evidence-Based Memory, Bounded Correction, and Controlled Execution." This is proposed wording, not an existing publication title.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question: Does full PRIMA improve held-out memory-assisted QA quality and reliability compared with the same model alone and simple RAG under matched budgets, and which components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contributions to evaluate: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A unified typed boundary and explicit task/profile execution, with observable component accounting and failure semantics.</a:t>
            </a:r>
            <a:endParaRPr/>
          </a:p>
          <a:p xmlns:a="http://schemas.openxmlformats.org/drawingml/2006/main">
            <a:pPr marL="0" lvl="0" indent="0" algn="l">
              <a:lnSpc>
                <a:spcPct val="100000"/>
              </a:lnSpc>
              <a:spcBef>
                <a:spcPts val="0"/>
              </a:spcBef>
              <a:spcAft>
                <a:spcPts val="0"/>
              </a:spcAft>
              <a:buSzPts val="1400"/>
              <a:buNone/>
            </a:pPr>
            <a:r>
              <a:t>2. An integrated memory lifecycle joining selective admission, traceable hybrid retrieval, and bounded background maintenance.</a:t>
            </a:r>
            <a:endParaRPr/>
          </a:p>
          <a:p xmlns:a="http://schemas.openxmlformats.org/drawingml/2006/main">
            <a:pPr marL="0" lvl="0" indent="0" algn="l">
              <a:lnSpc>
                <a:spcPct val="100000"/>
              </a:lnSpc>
              <a:spcBef>
                <a:spcPts val="0"/>
              </a:spcBef>
              <a:spcAft>
                <a:spcPts val="0"/>
              </a:spcAft>
              <a:buSzPts val="1400"/>
              <a:buNone/>
            </a:pPr>
            <a:r>
              <a:t>3. Workflow-owned uncertainty/reflection with bounded corrections and recorded before/after outcomes.</a:t>
            </a:r>
            <a:endParaRPr/>
          </a:p>
          <a:p xmlns:a="http://schemas.openxmlformats.org/drawingml/2006/main">
            <a:pPr marL="0" lvl="0" indent="0" algn="l">
              <a:lnSpc>
                <a:spcPct val="100000"/>
              </a:lnSpc>
              <a:spcBef>
                <a:spcPts val="0"/>
              </a:spcBef>
              <a:spcAft>
                <a:spcPts val="0"/>
              </a:spcAft>
              <a:buSzPts val="1400"/>
              <a:buNone/>
            </a:pPr>
            <a:r>
              <a:t>4. A reproducible evaluation protocol separating functional tests, subset component studies, real pilots, and reportable campaigns.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descriptions of engineering work and potential research contributions. Novelty relative to prior literature and benefit over strong baselines remain to establish. RAG, memory/plan/reflection agents, and verbal feedback agents already exist. A list of familiar techniques is insufficient as a novelty claim. RAG, Generative Agents, Reflexion.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10.3 Paper structure with material and gaps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Section | Material ready to write | Evidence still needed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Abstract | Problem, runtime design, scoped evaluation objective. | Final matched outcomes. Do not invent accuracy gains. |</a:t>
            </a:r>
            <a:endParaRPr/>
          </a:p>
          <a:p xmlns:a="http://schemas.openxmlformats.org/drawingml/2006/main">
            <a:pPr marL="0" lvl="0" indent="0" algn="l">
              <a:lnSpc>
                <a:spcPct val="100000"/>
              </a:lnSpc>
              <a:spcBef>
                <a:spcPts val="0"/>
              </a:spcBef>
              <a:spcAft>
                <a:spcPts val="0"/>
              </a:spcAft>
              <a:buSzPts val="1400"/>
              <a:buNone/>
            </a:pPr>
            <a:r>
              <a:t>| Introduction | Continuing-agent evidence/memory/control problem. | Target audience and explicit research hypotheses. |</a:t>
            </a:r>
            <a:endParaRPr/>
          </a:p>
          <a:p xmlns:a="http://schemas.openxmlformats.org/drawingml/2006/main">
            <a:pPr marL="0" lvl="0" indent="0" algn="l">
              <a:lnSpc>
                <a:spcPct val="100000"/>
              </a:lnSpc>
              <a:spcBef>
                <a:spcPts val="0"/>
              </a:spcBef>
              <a:spcAft>
                <a:spcPts val="0"/>
              </a:spcAft>
              <a:buSzPts val="1400"/>
              <a:buNone/>
            </a:pPr>
            <a:r>
              <a:t>| Related work | RAG, Generative Agents, Reflexion, LoCoMo/HotpotQA/GoEmotions. | Focused comparison of mechanisms and newest relevant primary literature before submission. |</a:t>
            </a:r>
            <a:endParaRPr/>
          </a:p>
          <a:p xmlns:a="http://schemas.openxmlformats.org/drawingml/2006/main">
            <a:pPr marL="0" lvl="0" indent="0" algn="l">
              <a:lnSpc>
                <a:spcPct val="100000"/>
              </a:lnSpc>
              <a:spcBef>
                <a:spcPts val="0"/>
              </a:spcBef>
              <a:spcAft>
                <a:spcPts val="0"/>
              </a:spcAft>
              <a:buSzPts val="1400"/>
              <a:buNone/>
            </a:pPr>
            <a:r>
              <a:t>| Method | Contracts, routes, memory types, fusion/admission formulas, correction budgets. | Frozen experiment configuration and precise pseudocode matching the final implementation. |</a:t>
            </a:r>
            <a:endParaRPr/>
          </a:p>
          <a:p xmlns:a="http://schemas.openxmlformats.org/drawingml/2006/main">
            <a:pPr marL="0" lvl="0" indent="0" algn="l">
              <a:lnSpc>
                <a:spcPct val="100000"/>
              </a:lnSpc>
              <a:spcBef>
                <a:spcPts val="0"/>
              </a:spcBef>
              <a:spcAft>
                <a:spcPts val="0"/>
              </a:spcAft>
              <a:buSzPts val="1400"/>
              <a:buNone/>
            </a:pPr>
            <a:r>
              <a:t>| Experimental setup | Existing adapters, scorer/claim policy, subset metadata. | Dataset/model hashes/revisions, environment, selection protocol, seeds, failure rules. |</a:t>
            </a:r>
            <a:endParaRPr/>
          </a:p>
          <a:p xmlns:a="http://schemas.openxmlformats.org/drawingml/2006/main">
            <a:pPr marL="0" lvl="0" indent="0" algn="l">
              <a:lnSpc>
                <a:spcPct val="100000"/>
              </a:lnSpc>
              <a:spcBef>
                <a:spcPts val="0"/>
              </a:spcBef>
              <a:spcAft>
                <a:spcPts val="0"/>
              </a:spcAft>
              <a:buSzPts val="1400"/>
              <a:buNone/>
            </a:pPr>
            <a:r>
              <a:t>| Results | E07/E08 exploratory component tables and scoped E06 pilot. | Complete quality runs, aggregate/category metrics, uncertainty/statistics, actual resource cost. |</a:t>
            </a:r>
            <a:endParaRPr/>
          </a:p>
          <a:p xmlns:a="http://schemas.openxmlformats.org/drawingml/2006/main">
            <a:pPr marL="0" lvl="0" indent="0" algn="l">
              <a:lnSpc>
                <a:spcPct val="100000"/>
              </a:lnSpc>
              <a:spcBef>
                <a:spcPts val="0"/>
              </a:spcBef>
              <a:spcAft>
                <a:spcPts val="0"/>
              </a:spcAft>
              <a:buSzPts val="1400"/>
              <a:buNone/>
            </a:pPr>
            <a:r>
              <a:t>| Ablations | Proposed fixed-store and single-component experiments. | Actual matched runs and help/harm analysis. |</a:t>
            </a:r>
            <a:endParaRPr/>
          </a:p>
          <a:p xmlns:a="http://schemas.openxmlformats.org/drawingml/2006/main">
            <a:pPr marL="0" lvl="0" indent="0" algn="l">
              <a:lnSpc>
                <a:spcPct val="100000"/>
              </a:lnSpc>
              <a:spcBef>
                <a:spcPts val="0"/>
              </a:spcBef>
              <a:spcAft>
                <a:spcPts val="0"/>
              </a:spcAft>
              <a:buSzPts val="1400"/>
              <a:buNone/>
            </a:pPr>
            <a:r>
              <a:t>| Discussion | Observed retrieval bottleneck and representation tradeoff. | Generalization beyond one conversation, calibration, component contribution. |</a:t>
            </a:r>
            <a:endParaRPr/>
          </a:p>
          <a:p xmlns:a="http://schemas.openxmlformats.org/drawingml/2006/main">
            <a:pPr marL="0" lvl="0" indent="0" algn="l">
              <a:lnSpc>
                <a:spcPct val="100000"/>
              </a:lnSpc>
              <a:spcBef>
                <a:spcPts val="0"/>
              </a:spcBef>
              <a:spcAft>
                <a:spcPts val="0"/>
              </a:spcAft>
              <a:buSzPts val="1400"/>
              <a:buNone/>
            </a:pPr>
            <a:r>
              <a:t>| Limitations | Symbolic/heuristic components, persistence/isolation/tool limits, incomplete evidence. | Updated limitations after fresh fixes/runs. |</a:t>
            </a:r>
            <a:endParaRPr/>
          </a:p>
          <a:p xmlns:a="http://schemas.openxmlformats.org/drawingml/2006/main">
            <a:pPr marL="0" lvl="0" indent="0" algn="l">
              <a:lnSpc>
                <a:spcPct val="100000"/>
              </a:lnSpc>
              <a:spcBef>
                <a:spcPts val="0"/>
              </a:spcBef>
              <a:spcAft>
                <a:spcPts val="0"/>
              </a:spcAft>
              <a:buSzPts val="1400"/>
              <a:buNone/>
            </a:pPr>
            <a:r>
              <a:t>| Reproducibility | Existing source/test/runbook structure. | Validated artifact bundle, checksums, secret-free configuration, dependency freeze.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Draft abstract for discussion, without fabricated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PRIMA-NEXT is a research agent runtime that coordinates memory, evidence retrieval, affect-related signals, planning, symbolic simulation, uncertainty decisions, reflection, and controlled tools through typed task-specific routes. The design records execution and failure diagnostics and bounds correction and maintenance work. We define a matched evaluation against model-only and simple-RAG configurations using conversational-memory, multi-document QA, and emotion-classification tasks. Exploratory retrieval subsets motivate learned embeddings and careful representation selection. Complete held-out comparisons are required to establish whether the additional mechanisms improve quality sufficiently to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10.4 Experiment plan for publishable claims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Freeze dataset split/version/hash, IDs/order, source histories, model/revision, dependencies, seed, context/generation settings, and retry policy.</a:t>
            </a:r>
            <a:endParaRPr/>
          </a:p>
          <a:p xmlns:a="http://schemas.openxmlformats.org/drawingml/2006/main">
            <a:pPr marL="0" lvl="0" indent="0" algn="l">
              <a:lnSpc>
                <a:spcPct val="100000"/>
              </a:lnSpc>
              <a:spcBef>
                <a:spcPts val="0"/>
              </a:spcBef>
              <a:spcAft>
                <a:spcPts val="0"/>
              </a:spcAft>
              <a:buSzPts val="1400"/>
              <a:buNone/>
            </a:pPr>
            <a:r>
              <a:t>Run model-only, simple RAG, and full PRIMA on matched selections. Clearly define which history each baseline receives.</a:t>
            </a:r>
            <a:endParaRPr/>
          </a:p>
          <a:p xmlns:a="http://schemas.openxmlformats.org/drawingml/2006/main">
            <a:pPr marL="0" lvl="0" indent="0" algn="l">
              <a:lnSpc>
                <a:spcPct val="100000"/>
              </a:lnSpc>
              <a:spcBef>
                <a:spcPts val="0"/>
              </a:spcBef>
              <a:spcAft>
                <a:spcPts val="0"/>
              </a:spcAft>
              <a:buSzPts val="1400"/>
              <a:buNone/>
            </a:pPr>
            <a:r>
              <a:t>Separate memory-formation comparisons from fixed-store retrieval comparisons.</a:t>
            </a:r>
            <a:endParaRPr/>
          </a:p>
          <a:p xmlns:a="http://schemas.openxmlformats.org/drawingml/2006/main">
            <a:pPr marL="0" lvl="0" indent="0" algn="l">
              <a:lnSpc>
                <a:spcPct val="100000"/>
              </a:lnSpc>
              <a:spcBef>
                <a:spcPts val="0"/>
              </a:spcBef>
              <a:spcAft>
                <a:spcPts val="0"/>
              </a:spcAft>
              <a:buSzPts val="1400"/>
              <a:buNone/>
            </a:pPr>
            <a:r>
              <a:t>Measure retrieval recall/ranking, native QA metrics, coverage/abstention, execution/scoring failures, tokens/latency, and memory growth.</a:t>
            </a:r>
            <a:endParaRPr/>
          </a:p>
          <a:p xmlns:a="http://schemas.openxmlformats.org/drawingml/2006/main">
            <a:pPr marL="0" lvl="0" indent="0" algn="l">
              <a:lnSpc>
                <a:spcPct val="100000"/>
              </a:lnSpc>
              <a:spcBef>
                <a:spcPts val="0"/>
              </a:spcBef>
              <a:spcAft>
                <a:spcPts val="0"/>
              </a:spcAft>
              <a:buSzPts val="1400"/>
              <a:buNone/>
            </a:pPr>
            <a:r>
              <a:t>Run targeted graph/affect/reflection ablations. Report actual correction help/harm rather than only internal confidence lift.</a:t>
            </a:r>
            <a:endParaRPr/>
          </a:p>
          <a:p xmlns:a="http://schemas.openxmlformats.org/drawingml/2006/main">
            <a:pPr marL="0" lvl="0" indent="0" algn="l">
              <a:lnSpc>
                <a:spcPct val="100000"/>
              </a:lnSpc>
              <a:spcBef>
                <a:spcPts val="0"/>
              </a:spcBef>
              <a:spcAft>
                <a:spcPts val="0"/>
              </a:spcAft>
              <a:buSzPts val="1400"/>
              <a:buNone/>
            </a:pPr>
            <a:r>
              <a:t>Tune on development data and freeze settings before test evaluation. Keep all gold annotations evaluator-owned.</a:t>
            </a:r>
            <a:endParaRPr/>
          </a:p>
          <a:p xmlns:a="http://schemas.openxmlformats.org/drawingml/2006/main">
            <a:pPr marL="0" lvl="0" indent="0" algn="l">
              <a:lnSpc>
                <a:spcPct val="100000"/>
              </a:lnSpc>
              <a:spcBef>
                <a:spcPts val="0"/>
              </a:spcBef>
              <a:spcAft>
                <a:spcPts val="0"/>
              </a:spcAft>
              <a:buSzPts val="1400"/>
              <a:buNone/>
            </a:pPr>
            <a:r>
              <a:t>Use uncertainty estimates over suitable independent units. For conversational data, account for questions clustered in conversations rather than pretending every question is independent. Statistical methods and sample size should be fixed in the protocol.</a:t>
            </a:r>
            <a:endParaRPr/>
          </a:p>
          <a:p xmlns:a="http://schemas.openxmlformats.org/drawingml/2006/main">
            <a:pPr marL="0" lvl="0" indent="0" algn="l">
              <a:lnSpc>
                <a:spcPct val="100000"/>
              </a:lnSpc>
              <a:spcBef>
                <a:spcPts val="0"/>
              </a:spcBef>
              <a:spcAft>
                <a:spcPts val="0"/>
              </a:spcAft>
              <a:buSzPts val="1400"/>
              <a:buNone/>
            </a:pPr>
            <a:r>
              <a:t>Publish negative/neutral findings and cost tradeoffs. A simpler configuration may be the useful conclusion.</a:t>
            </a:r>
            <a:endParaRPr/>
          </a:p>
          <a:p xmlns:a="http://schemas.openxmlformats.org/drawingml/2006/main">
            <a:pPr marL="0" lvl="0" indent="0" algn="l">
              <a:lnSpc>
                <a:spcPct val="100000"/>
              </a:lnSpc>
              <a:spcBef>
                <a:spcPts val="0"/>
              </a:spcBef>
              <a:spcAft>
                <a:spcPts val="0"/>
              </a:spcAft>
              <a:buSzPts val="1400"/>
              <a:buNone/>
            </a:pPr>
            <a:r>
              <a:t>Reconcile JSON/CSV fingerprints and saved-result lineage. Preserve manifests/checkpoints and validate complete coverage before using headline numbers.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10.5 Patent-oriented technical preparation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Technical candidate to investigate: the specific interaction between task/profile-controlled execution, memory admission and maintenance, and budgeted corrections with traceable state/evidence transitions. This is a candidate disclosure topic, not an assertion of patentability.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Preparation item | What the team should produce | Current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Invention definition | A precise technical problem, mechanism, and observable effect. | Candidate framing in this document; team/guide review pending. |</a:t>
            </a:r>
            <a:endParaRPr/>
          </a:p>
          <a:p xmlns:a="http://schemas.openxmlformats.org/drawingml/2006/main">
            <a:pPr marL="0" lvl="0" indent="0" algn="l">
              <a:lnSpc>
                <a:spcPct val="100000"/>
              </a:lnSpc>
              <a:spcBef>
                <a:spcPts val="0"/>
              </a:spcBef>
              <a:spcAft>
                <a:spcPts val="0"/>
              </a:spcAft>
              <a:buSzPts val="1400"/>
              <a:buNone/>
            </a:pPr>
            <a:r>
              <a:t>| Inventor/contribution record | Named contributors and evidence of their contribution to the proposed mechanism. | Git contributors exist; inventorship is not established by that list. |</a:t>
            </a:r>
            <a:endParaRPr/>
          </a:p>
          <a:p xmlns:a="http://schemas.openxmlformats.org/drawingml/2006/main">
            <a:pPr marL="0" lvl="0" indent="0" algn="l">
              <a:lnSpc>
                <a:spcPct val="100000"/>
              </a:lnSpc>
              <a:spcBef>
                <a:spcPts val="0"/>
              </a:spcBef>
              <a:spcAft>
                <a:spcPts val="0"/>
              </a:spcAft>
              <a:buSzPts val="1400"/>
              <a:buNone/>
            </a:pPr>
            <a:r>
              <a:t>| Prior-art comparison | Claim-by-claim mechanism comparison with relevant papers and patent records. | Foundational literature identified; patent prior-art search not performed. |</a:t>
            </a:r>
            <a:endParaRPr/>
          </a:p>
          <a:p xmlns:a="http://schemas.openxmlformats.org/drawingml/2006/main">
            <a:pPr marL="0" lvl="0" indent="0" algn="l">
              <a:lnSpc>
                <a:spcPct val="100000"/>
              </a:lnSpc>
              <a:spcBef>
                <a:spcPts val="0"/>
              </a:spcBef>
              <a:spcAft>
                <a:spcPts val="0"/>
              </a:spcAft>
              <a:buSzPts val="1400"/>
              <a:buNone/>
            </a:pPr>
            <a:r>
              <a:t>| Technical disclosure | Architecture, state transitions, alternatives, reproducible example, measured effect. | Source/docs supply material; formal disclosure not supplied. |</a:t>
            </a:r>
            <a:endParaRPr/>
          </a:p>
          <a:p xmlns:a="http://schemas.openxmlformats.org/drawingml/2006/main">
            <a:pPr marL="0" lvl="0" indent="0" algn="l">
              <a:lnSpc>
                <a:spcPct val="100000"/>
              </a:lnSpc>
              <a:spcBef>
                <a:spcPts val="0"/>
              </a:spcBef>
              <a:spcAft>
                <a:spcPts val="0"/>
              </a:spcAft>
              <a:buSzPts val="1400"/>
              <a:buNone/>
            </a:pPr>
            <a:r>
              <a:t>| Institutional review | Guide/institution IP office review and documented decision. | Team confirmation required. |</a:t>
            </a:r>
            <a:endParaRPr/>
          </a:p>
          <a:p xmlns:a="http://schemas.openxmlformats.org/drawingml/2006/main">
            <a:pPr marL="0" lvl="0" indent="0" algn="l">
              <a:lnSpc>
                <a:spcPct val="100000"/>
              </a:lnSpc>
              <a:spcBef>
                <a:spcPts val="0"/>
              </a:spcBef>
              <a:spcAft>
                <a:spcPts val="0"/>
              </a:spcAft>
              <a:buSzPts val="1400"/>
              <a:buNone/>
            </a:pPr>
            <a:r>
              <a:t>| Filing milestones | Official receipt, application number/date, jurisdiction, filing type, status evidence. | None supplied. |</a:t>
            </a:r>
            <a:endParaRPr/>
          </a:p>
          <a:p xmlns:a="http://schemas.openxmlformats.org/drawingml/2006/main">
            <a:pPr marL="0" lvl="0" indent="0" algn="l">
              <a:lnSpc>
                <a:spcPct val="100000"/>
              </a:lnSpc>
              <a:spcBef>
                <a:spcPts val="0"/>
              </a:spcBef>
              <a:spcAft>
                <a:spcPts val="0"/>
              </a:spcAft>
              <a:buSzPts val="1400"/>
              <a:buNone/>
            </a:pPr>
            <a:r>
              <a:t>| Later status | Publication record or grant document, distinct from initial filing. | None supplied.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paper describes scientific methods/results. A patent-oriented disclosure must identify a specific proposed invention and supporting mechanism. Use the institution's IP office to determine applicable requirements and the sequence of public release/submission/filing. This document makes no legal eligibility or filing-status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Safe spoken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Our implementation and experiment infrastructure are available. We have exploratory retrieval results and a reported LoCoMo operational pilot. We are preparing a complete matched evaluation and manuscript evidence package. Paper submission and patent filing status will be shown only with the team's corresponding records.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10.6 Evidence the team must add before the mentor meeting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paper: exact title, author order/affiliations, versioned manuscript, guide feedback, target venue, submission date/ID and receipt if submitted, acceptance notice if accepted, published URL/DOI if published.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patent: proposed invention title, disclosure/specification version, institutional review status, contributor/inventor confirmation, official application receipt and number/date if filed, publication/grant record if those stages occurred.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Track stage names separately. Drafted, submitted, accepted, and published are different paper milestones. Disclosure prepared, application filed, application published, and granted are different patent milestones.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https://arxiv.org/abs/2005.11401</a:t>
            </a:r>
            <a:endParaRPr/>
          </a:p>
          <a:p xmlns:a="http://schemas.openxmlformats.org/drawingml/2006/main">
            <a:pPr marL="0" lvl="0" indent="0" algn="l">
              <a:lnSpc>
                <a:spcPct val="100000"/>
              </a:lnSpc>
              <a:spcBef>
                <a:spcPts val="0"/>
              </a:spcBef>
              <a:spcAft>
                <a:spcPts val="0"/>
              </a:spcAft>
              <a:buSzPts val="1400"/>
              <a:buNone/>
            </a:pPr>
            <a:r>
              <a:t>https://arxiv.org/abs/2304.03442</a:t>
            </a:r>
            <a:endParaRPr/>
          </a:p>
          <a:p xmlns:a="http://schemas.openxmlformats.org/drawingml/2006/main">
            <a:pPr marL="0" lvl="0" indent="0" algn="l">
              <a:lnSpc>
                <a:spcPct val="100000"/>
              </a:lnSpc>
              <a:spcBef>
                <a:spcPts val="0"/>
              </a:spcBef>
              <a:spcAft>
                <a:spcPts val="0"/>
              </a:spcAft>
              <a:buSzPts val="1400"/>
              <a:buNone/>
            </a:pPr>
            <a:r>
              <a:t>https://arxiv.org/abs/2303.11366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Experiment plan for publication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 Additional requested section: research paper and patent progress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10.1 Actual verified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inspected repository contains source, technical documentation, benchmark code, tests, saved subset results, and pilot notes. It does not establish a manuscript submission, acceptance, published PRIMA paper, invention-disclosure submission, patent application, publication number, or grant. No manuscript or filing receipt was supplied with the request. This is a statement about available evidence, not proof that the team has done no work elsewhere.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Milestone | Evidence currently available | Honest slide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Research system implementation | E01 - E03, module tests. | Implemented research prototype. |</a:t>
            </a:r>
            <a:endParaRPr/>
          </a:p>
          <a:p xmlns:a="http://schemas.openxmlformats.org/drawingml/2006/main">
            <a:pPr marL="0" lvl="0" indent="0" algn="l">
              <a:lnSpc>
                <a:spcPct val="100000"/>
              </a:lnSpc>
              <a:spcBef>
                <a:spcPts val="0"/>
              </a:spcBef>
              <a:spcAft>
                <a:spcPts val="0"/>
              </a:spcAft>
              <a:buSzPts val="1400"/>
              <a:buNone/>
            </a:pPr>
            <a:r>
              <a:t>| Technical documentation | E04 and this review document. | Architecture and review material prepared. |</a:t>
            </a:r>
            <a:endParaRPr/>
          </a:p>
          <a:p xmlns:a="http://schemas.openxmlformats.org/drawingml/2006/main">
            <a:pPr marL="0" lvl="0" indent="0" algn="l">
              <a:lnSpc>
                <a:spcPct val="100000"/>
              </a:lnSpc>
              <a:spcBef>
                <a:spcPts val="0"/>
              </a:spcBef>
              <a:spcAft>
                <a:spcPts val="0"/>
              </a:spcAft>
              <a:buSzPts val="1400"/>
              <a:buNone/>
            </a:pPr>
            <a:r>
              <a:t>| Exploratory component experiments | E07/E08. | Saved subset results inspected; provenance reconciliation and fresh validation pending. |</a:t>
            </a:r>
            <a:endParaRPr/>
          </a:p>
          <a:p xmlns:a="http://schemas.openxmlformats.org/drawingml/2006/main">
            <a:pPr marL="0" lvl="0" indent="0" algn="l">
              <a:lnSpc>
                <a:spcPct val="100000"/>
              </a:lnSpc>
              <a:spcBef>
                <a:spcPts val="0"/>
              </a:spcBef>
              <a:spcAft>
                <a:spcPts val="0"/>
              </a:spcAft>
              <a:buSzPts val="1400"/>
              <a:buNone/>
            </a:pPr>
            <a:r>
              <a:t>| Real operational pilot | E06. | Repository-reported LoCoMo pilot, full completion unverified here. |</a:t>
            </a:r>
            <a:endParaRPr/>
          </a:p>
          <a:p xmlns:a="http://schemas.openxmlformats.org/drawingml/2006/main">
            <a:pPr marL="0" lvl="0" indent="0" algn="l">
              <a:lnSpc>
                <a:spcPct val="100000"/>
              </a:lnSpc>
              <a:spcBef>
                <a:spcPts val="0"/>
              </a:spcBef>
              <a:spcAft>
                <a:spcPts val="0"/>
              </a:spcAft>
              <a:buSzPts val="1400"/>
              <a:buNone/>
            </a:pPr>
            <a:r>
              <a:t>| Full matched final experiments | No complete validated final campaign established by inspected evidence. | Pending verification/execution. |</a:t>
            </a:r>
            <a:endParaRPr/>
          </a:p>
          <a:p xmlns:a="http://schemas.openxmlformats.org/drawingml/2006/main">
            <a:pPr marL="0" lvl="0" indent="0" algn="l">
              <a:lnSpc>
                <a:spcPct val="100000"/>
              </a:lnSpc>
              <a:spcBef>
                <a:spcPts val="0"/>
              </a:spcBef>
              <a:spcAft>
                <a:spcPts val="0"/>
              </a:spcAft>
              <a:buSzPts val="1400"/>
              <a:buNone/>
            </a:pPr>
            <a:r>
              <a:t>| PRIMA manuscript draft | No draft supplied or identified in inspected project material. | [To be added] |</a:t>
            </a:r>
            <a:endParaRPr/>
          </a:p>
          <a:p xmlns:a="http://schemas.openxmlformats.org/drawingml/2006/main">
            <a:pPr marL="0" lvl="0" indent="0" algn="l">
              <a:lnSpc>
                <a:spcPct val="100000"/>
              </a:lnSpc>
              <a:spcBef>
                <a:spcPts val="0"/>
              </a:spcBef>
              <a:spcAft>
                <a:spcPts val="0"/>
              </a:spcAft>
              <a:buSzPts val="1400"/>
              <a:buNone/>
            </a:pPr>
            <a:r>
              <a:t>| Venue and submission | No submission receipt/ID supplied. | [To be added] |</a:t>
            </a:r>
            <a:endParaRPr/>
          </a:p>
          <a:p xmlns:a="http://schemas.openxmlformats.org/drawingml/2006/main">
            <a:pPr marL="0" lvl="0" indent="0" algn="l">
              <a:lnSpc>
                <a:spcPct val="100000"/>
              </a:lnSpc>
              <a:spcBef>
                <a:spcPts val="0"/>
              </a:spcBef>
              <a:spcAft>
                <a:spcPts val="0"/>
              </a:spcAft>
              <a:buSzPts val="1400"/>
              <a:buNone/>
            </a:pPr>
            <a:r>
              <a:t>| Acceptance / publication / DOI | No acceptance notice or published record supplied. | Unverified; do not claim accepted/published. |</a:t>
            </a:r>
            <a:endParaRPr/>
          </a:p>
          <a:p xmlns:a="http://schemas.openxmlformats.org/drawingml/2006/main">
            <a:pPr marL="0" lvl="0" indent="0" algn="l">
              <a:lnSpc>
                <a:spcPct val="100000"/>
              </a:lnSpc>
              <a:spcBef>
                <a:spcPts val="0"/>
              </a:spcBef>
              <a:spcAft>
                <a:spcPts val="0"/>
              </a:spcAft>
              <a:buSzPts val="1400"/>
              <a:buNone/>
            </a:pPr>
            <a:r>
              <a:t>| Invention disclosure / patent draft | No disclosure/specification supplied. | [To be added] |</a:t>
            </a:r>
            <a:endParaRPr/>
          </a:p>
          <a:p xmlns:a="http://schemas.openxmlformats.org/drawingml/2006/main">
            <a:pPr marL="0" lvl="0" indent="0" algn="l">
              <a:lnSpc>
                <a:spcPct val="100000"/>
              </a:lnSpc>
              <a:spcBef>
                <a:spcPts val="0"/>
              </a:spcBef>
              <a:spcAft>
                <a:spcPts val="0"/>
              </a:spcAft>
              <a:buSzPts val="1400"/>
              <a:buNone/>
            </a:pPr>
            <a:r>
              <a:t>| Patent filing / publication / grant | No official receipt or record supplied. | Unverified; do not claim filed/published/granted.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10.2 Research question and candidate contribution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Suggested manuscript working title: "PRIMA-NEXT: A Typed Agent Runtime for Evidence-Based Memory, Bounded Correction, and Controlled Execution." This is proposed wording, not an existing publication title.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question: Does full PRIMA improve held-out memory-assisted QA quality and reliability compared with the same model alone and simple RAG under matched budgets, and which components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contributions to evaluate: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A unified typed boundary and explicit task/profile execution, with observable component accounting and failure semantics.</a:t>
            </a:r>
            <a:endParaRPr/>
          </a:p>
          <a:p xmlns:a="http://schemas.openxmlformats.org/drawingml/2006/main">
            <a:pPr marL="0" lvl="0" indent="0" algn="l">
              <a:lnSpc>
                <a:spcPct val="100000"/>
              </a:lnSpc>
              <a:spcBef>
                <a:spcPts val="0"/>
              </a:spcBef>
              <a:spcAft>
                <a:spcPts val="0"/>
              </a:spcAft>
              <a:buSzPts val="1400"/>
              <a:buNone/>
            </a:pPr>
            <a:r>
              <a:t>2. An integrated memory lifecycle joining selective admission, traceable hybrid retrieval, and bounded background maintenance.</a:t>
            </a:r>
            <a:endParaRPr/>
          </a:p>
          <a:p xmlns:a="http://schemas.openxmlformats.org/drawingml/2006/main">
            <a:pPr marL="0" lvl="0" indent="0" algn="l">
              <a:lnSpc>
                <a:spcPct val="100000"/>
              </a:lnSpc>
              <a:spcBef>
                <a:spcPts val="0"/>
              </a:spcBef>
              <a:spcAft>
                <a:spcPts val="0"/>
              </a:spcAft>
              <a:buSzPts val="1400"/>
              <a:buNone/>
            </a:pPr>
            <a:r>
              <a:t>3. Workflow-owned uncertainty/reflection with bounded corrections and recorded before/after outcomes.</a:t>
            </a:r>
            <a:endParaRPr/>
          </a:p>
          <a:p xmlns:a="http://schemas.openxmlformats.org/drawingml/2006/main">
            <a:pPr marL="0" lvl="0" indent="0" algn="l">
              <a:lnSpc>
                <a:spcPct val="100000"/>
              </a:lnSpc>
              <a:spcBef>
                <a:spcPts val="0"/>
              </a:spcBef>
              <a:spcAft>
                <a:spcPts val="0"/>
              </a:spcAft>
              <a:buSzPts val="1400"/>
              <a:buNone/>
            </a:pPr>
            <a:r>
              <a:t>4. A reproducible evaluation protocol separating functional tests, subset component studies, real pilots, and reportable campaigns.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descriptions of engineering work and potential research contributions. Novelty relative to prior literature and benefit over strong baselines remain to establish. RAG, memory/plan/reflection agents, and verbal feedback agents already exist. A list of familiar techniques is insufficient as a novelty claim. RAG, Generative Agents, Reflexion.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10.3 Paper structure with material and gaps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Section | Material ready to write | Evidence still needed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Abstract | Problem, runtime design, scoped evaluation objective. | Final matched outcomes. Do not invent accuracy gains. |</a:t>
            </a:r>
            <a:endParaRPr/>
          </a:p>
          <a:p xmlns:a="http://schemas.openxmlformats.org/drawingml/2006/main">
            <a:pPr marL="0" lvl="0" indent="0" algn="l">
              <a:lnSpc>
                <a:spcPct val="100000"/>
              </a:lnSpc>
              <a:spcBef>
                <a:spcPts val="0"/>
              </a:spcBef>
              <a:spcAft>
                <a:spcPts val="0"/>
              </a:spcAft>
              <a:buSzPts val="1400"/>
              <a:buNone/>
            </a:pPr>
            <a:r>
              <a:t>| Introduction | Continuing-agent evidence/memory/control problem. | Target audience and explicit research hypotheses. |</a:t>
            </a:r>
            <a:endParaRPr/>
          </a:p>
          <a:p xmlns:a="http://schemas.openxmlformats.org/drawingml/2006/main">
            <a:pPr marL="0" lvl="0" indent="0" algn="l">
              <a:lnSpc>
                <a:spcPct val="100000"/>
              </a:lnSpc>
              <a:spcBef>
                <a:spcPts val="0"/>
              </a:spcBef>
              <a:spcAft>
                <a:spcPts val="0"/>
              </a:spcAft>
              <a:buSzPts val="1400"/>
              <a:buNone/>
            </a:pPr>
            <a:r>
              <a:t>| Related work | RAG, Generative Agents, Reflexion, LoCoMo/HotpotQA/GoEmotions. | Focused comparison of mechanisms and newest relevant primary literature before submission. |</a:t>
            </a:r>
            <a:endParaRPr/>
          </a:p>
          <a:p xmlns:a="http://schemas.openxmlformats.org/drawingml/2006/main">
            <a:pPr marL="0" lvl="0" indent="0" algn="l">
              <a:lnSpc>
                <a:spcPct val="100000"/>
              </a:lnSpc>
              <a:spcBef>
                <a:spcPts val="0"/>
              </a:spcBef>
              <a:spcAft>
                <a:spcPts val="0"/>
              </a:spcAft>
              <a:buSzPts val="1400"/>
              <a:buNone/>
            </a:pPr>
            <a:r>
              <a:t>| Method | Contracts, routes, memory types, fusion/admission formulas, correction budgets. | Frozen experiment configuration and precise pseudocode matching the final implementation. |</a:t>
            </a:r>
            <a:endParaRPr/>
          </a:p>
          <a:p xmlns:a="http://schemas.openxmlformats.org/drawingml/2006/main">
            <a:pPr marL="0" lvl="0" indent="0" algn="l">
              <a:lnSpc>
                <a:spcPct val="100000"/>
              </a:lnSpc>
              <a:spcBef>
                <a:spcPts val="0"/>
              </a:spcBef>
              <a:spcAft>
                <a:spcPts val="0"/>
              </a:spcAft>
              <a:buSzPts val="1400"/>
              <a:buNone/>
            </a:pPr>
            <a:r>
              <a:t>| Experimental setup | Existing adapters, scorer/claim policy, subset metadata. | Dataset/model hashes/revisions, environment, selection protocol, seeds, failure rules. |</a:t>
            </a:r>
            <a:endParaRPr/>
          </a:p>
          <a:p xmlns:a="http://schemas.openxmlformats.org/drawingml/2006/main">
            <a:pPr marL="0" lvl="0" indent="0" algn="l">
              <a:lnSpc>
                <a:spcPct val="100000"/>
              </a:lnSpc>
              <a:spcBef>
                <a:spcPts val="0"/>
              </a:spcBef>
              <a:spcAft>
                <a:spcPts val="0"/>
              </a:spcAft>
              <a:buSzPts val="1400"/>
              <a:buNone/>
            </a:pPr>
            <a:r>
              <a:t>| Results | E07/E08 exploratory component tables and scoped E06 pilot. | Complete quality runs, aggregate/category metrics, uncertainty/statistics, actual resource cost. |</a:t>
            </a:r>
            <a:endParaRPr/>
          </a:p>
          <a:p xmlns:a="http://schemas.openxmlformats.org/drawingml/2006/main">
            <a:pPr marL="0" lvl="0" indent="0" algn="l">
              <a:lnSpc>
                <a:spcPct val="100000"/>
              </a:lnSpc>
              <a:spcBef>
                <a:spcPts val="0"/>
              </a:spcBef>
              <a:spcAft>
                <a:spcPts val="0"/>
              </a:spcAft>
              <a:buSzPts val="1400"/>
              <a:buNone/>
            </a:pPr>
            <a:r>
              <a:t>| Ablations | Proposed fixed-store and single-component experiments. | Actual matched runs and help/harm analysis. |</a:t>
            </a:r>
            <a:endParaRPr/>
          </a:p>
          <a:p xmlns:a="http://schemas.openxmlformats.org/drawingml/2006/main">
            <a:pPr marL="0" lvl="0" indent="0" algn="l">
              <a:lnSpc>
                <a:spcPct val="100000"/>
              </a:lnSpc>
              <a:spcBef>
                <a:spcPts val="0"/>
              </a:spcBef>
              <a:spcAft>
                <a:spcPts val="0"/>
              </a:spcAft>
              <a:buSzPts val="1400"/>
              <a:buNone/>
            </a:pPr>
            <a:r>
              <a:t>| Discussion | Observed retrieval bottleneck and representation tradeoff. | Generalization beyond one conversation, calibration, component contribution. |</a:t>
            </a:r>
            <a:endParaRPr/>
          </a:p>
          <a:p xmlns:a="http://schemas.openxmlformats.org/drawingml/2006/main">
            <a:pPr marL="0" lvl="0" indent="0" algn="l">
              <a:lnSpc>
                <a:spcPct val="100000"/>
              </a:lnSpc>
              <a:spcBef>
                <a:spcPts val="0"/>
              </a:spcBef>
              <a:spcAft>
                <a:spcPts val="0"/>
              </a:spcAft>
              <a:buSzPts val="1400"/>
              <a:buNone/>
            </a:pPr>
            <a:r>
              <a:t>| Limitations | Symbolic/heuristic components, persistence/isolation/tool limits, incomplete evidence. | Updated limitations after fresh fixes/runs. |</a:t>
            </a:r>
            <a:endParaRPr/>
          </a:p>
          <a:p xmlns:a="http://schemas.openxmlformats.org/drawingml/2006/main">
            <a:pPr marL="0" lvl="0" indent="0" algn="l">
              <a:lnSpc>
                <a:spcPct val="100000"/>
              </a:lnSpc>
              <a:spcBef>
                <a:spcPts val="0"/>
              </a:spcBef>
              <a:spcAft>
                <a:spcPts val="0"/>
              </a:spcAft>
              <a:buSzPts val="1400"/>
              <a:buNone/>
            </a:pPr>
            <a:r>
              <a:t>| Reproducibility | Existing source/test/runbook structure. | Validated artifact bundle, checksums, secret-free configuration, dependency freeze.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Draft abstract for discussion, without fabricated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PRIMA-NEXT is a research agent runtime that coordinates memory, evidence retrieval, affect-related signals, planning, symbolic simulation, uncertainty decisions, reflection, and controlled tools through typed task-specific routes. The design records execution and failure diagnostics and bounds correction and maintenance work. We define a matched evaluation against model-only and simple-RAG configurations using conversational-memory, multi-document QA, and emotion-classification tasks. Exploratory retrieval subsets motivate learned embeddings and careful representation selection. Complete held-out comparisons are required to establish whether the additional mechanisms improve quality sufficiently to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10.4 Experiment plan for publishable claims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Freeze dataset split/version/hash, IDs/order, source histories, model/revision, dependencies, seed, context/generation settings, and retry policy.</a:t>
            </a:r>
            <a:endParaRPr/>
          </a:p>
          <a:p xmlns:a="http://schemas.openxmlformats.org/drawingml/2006/main">
            <a:pPr marL="0" lvl="0" indent="0" algn="l">
              <a:lnSpc>
                <a:spcPct val="100000"/>
              </a:lnSpc>
              <a:spcBef>
                <a:spcPts val="0"/>
              </a:spcBef>
              <a:spcAft>
                <a:spcPts val="0"/>
              </a:spcAft>
              <a:buSzPts val="1400"/>
              <a:buNone/>
            </a:pPr>
            <a:r>
              <a:t>Run model-only, simple RAG, and full PRIMA on matched selections. Clearly define which history each baseline receives.</a:t>
            </a:r>
            <a:endParaRPr/>
          </a:p>
          <a:p xmlns:a="http://schemas.openxmlformats.org/drawingml/2006/main">
            <a:pPr marL="0" lvl="0" indent="0" algn="l">
              <a:lnSpc>
                <a:spcPct val="100000"/>
              </a:lnSpc>
              <a:spcBef>
                <a:spcPts val="0"/>
              </a:spcBef>
              <a:spcAft>
                <a:spcPts val="0"/>
              </a:spcAft>
              <a:buSzPts val="1400"/>
              <a:buNone/>
            </a:pPr>
            <a:r>
              <a:t>Separate memory-formation comparisons from fixed-store retrieval comparisons.</a:t>
            </a:r>
            <a:endParaRPr/>
          </a:p>
          <a:p xmlns:a="http://schemas.openxmlformats.org/drawingml/2006/main">
            <a:pPr marL="0" lvl="0" indent="0" algn="l">
              <a:lnSpc>
                <a:spcPct val="100000"/>
              </a:lnSpc>
              <a:spcBef>
                <a:spcPts val="0"/>
              </a:spcBef>
              <a:spcAft>
                <a:spcPts val="0"/>
              </a:spcAft>
              <a:buSzPts val="1400"/>
              <a:buNone/>
            </a:pPr>
            <a:r>
              <a:t>Measure retrieval recall/ranking, native QA metrics, coverage/abstention, execution/scoring failures, tokens/latency, and memory growth.</a:t>
            </a:r>
            <a:endParaRPr/>
          </a:p>
          <a:p xmlns:a="http://schemas.openxmlformats.org/drawingml/2006/main">
            <a:pPr marL="0" lvl="0" indent="0" algn="l">
              <a:lnSpc>
                <a:spcPct val="100000"/>
              </a:lnSpc>
              <a:spcBef>
                <a:spcPts val="0"/>
              </a:spcBef>
              <a:spcAft>
                <a:spcPts val="0"/>
              </a:spcAft>
              <a:buSzPts val="1400"/>
              <a:buNone/>
            </a:pPr>
            <a:r>
              <a:t>Run targeted graph/affect/reflection ablations. Report actual correction help/harm rather than only internal confidence lift.</a:t>
            </a:r>
            <a:endParaRPr/>
          </a:p>
          <a:p xmlns:a="http://schemas.openxmlformats.org/drawingml/2006/main">
            <a:pPr marL="0" lvl="0" indent="0" algn="l">
              <a:lnSpc>
                <a:spcPct val="100000"/>
              </a:lnSpc>
              <a:spcBef>
                <a:spcPts val="0"/>
              </a:spcBef>
              <a:spcAft>
                <a:spcPts val="0"/>
              </a:spcAft>
              <a:buSzPts val="1400"/>
              <a:buNone/>
            </a:pPr>
            <a:r>
              <a:t>Tune on development data and freeze settings before test evaluation. Keep all gold annotations evaluator-owned.</a:t>
            </a:r>
            <a:endParaRPr/>
          </a:p>
          <a:p xmlns:a="http://schemas.openxmlformats.org/drawingml/2006/main">
            <a:pPr marL="0" lvl="0" indent="0" algn="l">
              <a:lnSpc>
                <a:spcPct val="100000"/>
              </a:lnSpc>
              <a:spcBef>
                <a:spcPts val="0"/>
              </a:spcBef>
              <a:spcAft>
                <a:spcPts val="0"/>
              </a:spcAft>
              <a:buSzPts val="1400"/>
              <a:buNone/>
            </a:pPr>
            <a:r>
              <a:t>Use uncertainty estimates over suitable independent units. For conversational data, account for questions clustered in conversations rather than pretending every question is independent. Statistical methods and sample size should be fixed in the protocol.</a:t>
            </a:r>
            <a:endParaRPr/>
          </a:p>
          <a:p xmlns:a="http://schemas.openxmlformats.org/drawingml/2006/main">
            <a:pPr marL="0" lvl="0" indent="0" algn="l">
              <a:lnSpc>
                <a:spcPct val="100000"/>
              </a:lnSpc>
              <a:spcBef>
                <a:spcPts val="0"/>
              </a:spcBef>
              <a:spcAft>
                <a:spcPts val="0"/>
              </a:spcAft>
              <a:buSzPts val="1400"/>
              <a:buNone/>
            </a:pPr>
            <a:r>
              <a:t>Publish negative/neutral findings and cost tradeoffs. A simpler configuration may be the useful conclusion.</a:t>
            </a:r>
            <a:endParaRPr/>
          </a:p>
          <a:p xmlns:a="http://schemas.openxmlformats.org/drawingml/2006/main">
            <a:pPr marL="0" lvl="0" indent="0" algn="l">
              <a:lnSpc>
                <a:spcPct val="100000"/>
              </a:lnSpc>
              <a:spcBef>
                <a:spcPts val="0"/>
              </a:spcBef>
              <a:spcAft>
                <a:spcPts val="0"/>
              </a:spcAft>
              <a:buSzPts val="1400"/>
              <a:buNone/>
            </a:pPr>
            <a:r>
              <a:t>Reconcile JSON/CSV fingerprints and saved-result lineage. Preserve manifests/checkpoints and validate complete coverage before using headline numbers.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10.5 Patent-oriented technical preparation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Technical candidate to investigate: the specific interaction between task/profile-controlled execution, memory admission and maintenance, and budgeted corrections with traceable state/evidence transitions. This is a candidate disclosure topic, not an assertion of patentability.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Preparation item | What the team should produce | Current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Invention definition | A precise technical problem, mechanism, and observable effect. | Candidate framing in this document; team/guide review pending. |</a:t>
            </a:r>
            <a:endParaRPr/>
          </a:p>
          <a:p xmlns:a="http://schemas.openxmlformats.org/drawingml/2006/main">
            <a:pPr marL="0" lvl="0" indent="0" algn="l">
              <a:lnSpc>
                <a:spcPct val="100000"/>
              </a:lnSpc>
              <a:spcBef>
                <a:spcPts val="0"/>
              </a:spcBef>
              <a:spcAft>
                <a:spcPts val="0"/>
              </a:spcAft>
              <a:buSzPts val="1400"/>
              <a:buNone/>
            </a:pPr>
            <a:r>
              <a:t>| Inventor/contribution record | Named contributors and evidence of their contribution to the proposed mechanism. | Git contributors exist; inventorship is not established by that list. |</a:t>
            </a:r>
            <a:endParaRPr/>
          </a:p>
          <a:p xmlns:a="http://schemas.openxmlformats.org/drawingml/2006/main">
            <a:pPr marL="0" lvl="0" indent="0" algn="l">
              <a:lnSpc>
                <a:spcPct val="100000"/>
              </a:lnSpc>
              <a:spcBef>
                <a:spcPts val="0"/>
              </a:spcBef>
              <a:spcAft>
                <a:spcPts val="0"/>
              </a:spcAft>
              <a:buSzPts val="1400"/>
              <a:buNone/>
            </a:pPr>
            <a:r>
              <a:t>| Prior-art comparison | Claim-by-claim mechanism comparison with relevant papers and patent records. | Foundational literature identified; patent prior-art search not performed. |</a:t>
            </a:r>
            <a:endParaRPr/>
          </a:p>
          <a:p xmlns:a="http://schemas.openxmlformats.org/drawingml/2006/main">
            <a:pPr marL="0" lvl="0" indent="0" algn="l">
              <a:lnSpc>
                <a:spcPct val="100000"/>
              </a:lnSpc>
              <a:spcBef>
                <a:spcPts val="0"/>
              </a:spcBef>
              <a:spcAft>
                <a:spcPts val="0"/>
              </a:spcAft>
              <a:buSzPts val="1400"/>
              <a:buNone/>
            </a:pPr>
            <a:r>
              <a:t>| Technical disclosure | Architecture, state transitions, alternatives, reproducible example, measured effect. | Source/docs supply material; formal disclosure not supplied. |</a:t>
            </a:r>
            <a:endParaRPr/>
          </a:p>
          <a:p xmlns:a="http://schemas.openxmlformats.org/drawingml/2006/main">
            <a:pPr marL="0" lvl="0" indent="0" algn="l">
              <a:lnSpc>
                <a:spcPct val="100000"/>
              </a:lnSpc>
              <a:spcBef>
                <a:spcPts val="0"/>
              </a:spcBef>
              <a:spcAft>
                <a:spcPts val="0"/>
              </a:spcAft>
              <a:buSzPts val="1400"/>
              <a:buNone/>
            </a:pPr>
            <a:r>
              <a:t>| Institutional review | Guide/institution IP office review and documented decision. | Team confirmation required. |</a:t>
            </a:r>
            <a:endParaRPr/>
          </a:p>
          <a:p xmlns:a="http://schemas.openxmlformats.org/drawingml/2006/main">
            <a:pPr marL="0" lvl="0" indent="0" algn="l">
              <a:lnSpc>
                <a:spcPct val="100000"/>
              </a:lnSpc>
              <a:spcBef>
                <a:spcPts val="0"/>
              </a:spcBef>
              <a:spcAft>
                <a:spcPts val="0"/>
              </a:spcAft>
              <a:buSzPts val="1400"/>
              <a:buNone/>
            </a:pPr>
            <a:r>
              <a:t>| Filing milestones | Official receipt, application number/date, jurisdiction, filing type, status evidence. | None supplied. |</a:t>
            </a:r>
            <a:endParaRPr/>
          </a:p>
          <a:p xmlns:a="http://schemas.openxmlformats.org/drawingml/2006/main">
            <a:pPr marL="0" lvl="0" indent="0" algn="l">
              <a:lnSpc>
                <a:spcPct val="100000"/>
              </a:lnSpc>
              <a:spcBef>
                <a:spcPts val="0"/>
              </a:spcBef>
              <a:spcAft>
                <a:spcPts val="0"/>
              </a:spcAft>
              <a:buSzPts val="1400"/>
              <a:buNone/>
            </a:pPr>
            <a:r>
              <a:t>| Later status | Publication record or grant document, distinct from initial filing. | None supplied.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paper describes scientific methods/results. A patent-oriented disclosure must identify a specific proposed invention and supporting mechanism. Use the institution's IP office to determine applicable requirements and the sequence of public release/submission/filing. This document makes no legal eligibility or filing-status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Safe spoken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Our implementation and experiment infrastructure are available. We have exploratory retrieval results and a reported LoCoMo operational pilot. We are preparing a complete matched evaluation and manuscript evidence package. Paper submission and patent filing status will be shown only with the team's corresponding records.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10.6 Evidence the team must add before the mentor meeting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paper: exact title, author order/affiliations, versioned manuscript, guide feedback, target venue, submission date/ID and receipt if submitted, acceptance notice if accepted, published URL/DOI if published.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patent: proposed invention title, disclosure/specification version, institutional review status, contributor/inventor confirmation, official application receipt and number/date if filed, publication/grant record if those stages occurred.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Track stage names separately. Drafted, submitted, accepted, and published are different paper milestones. Disclosure prepared, application filed, application published, and granted are different patent milestones.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https://arxiv.org/abs/2005.11401</a:t>
            </a:r>
            <a:endParaRPr/>
          </a:p>
          <a:p xmlns:a="http://schemas.openxmlformats.org/drawingml/2006/main">
            <a:pPr marL="0" lvl="0" indent="0" algn="l">
              <a:lnSpc>
                <a:spcPct val="100000"/>
              </a:lnSpc>
              <a:spcBef>
                <a:spcPts val="0"/>
              </a:spcBef>
              <a:spcAft>
                <a:spcPts val="0"/>
              </a:spcAft>
              <a:buSzPts val="1400"/>
              <a:buNone/>
            </a:pPr>
            <a:r>
              <a:t>https://arxiv.org/abs/2304.03442</a:t>
            </a:r>
            <a:endParaRPr/>
          </a:p>
          <a:p xmlns:a="http://schemas.openxmlformats.org/drawingml/2006/main">
            <a:pPr marL="0" lvl="0" indent="0" algn="l">
              <a:lnSpc>
                <a:spcPct val="100000"/>
              </a:lnSpc>
              <a:spcBef>
                <a:spcPts val="0"/>
              </a:spcBef>
              <a:spcAft>
                <a:spcPts val="0"/>
              </a:spcAft>
              <a:buSzPts val="1400"/>
              <a:buNone/>
            </a:pPr>
            <a:r>
              <a:t>https://arxiv.org/abs/2303.11366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Patent-oriented technical preparation (1/2)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 Additional requested section: research paper and patent progress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10.1 Actual verified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inspected repository contains source, technical documentation, benchmark code, tests, saved subset results, and pilot notes. It does not establish a manuscript submission, acceptance, published PRIMA paper, invention-disclosure submission, patent application, publication number, or grant. No manuscript or filing receipt was supplied with the request. This is a statement about available evidence, not proof that the team has done no work elsewhere.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Milestone | Evidence currently available | Honest slide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Research system implementation | E01 - E03, module tests. | Implemented research prototype. |</a:t>
            </a:r>
            <a:endParaRPr/>
          </a:p>
          <a:p xmlns:a="http://schemas.openxmlformats.org/drawingml/2006/main">
            <a:pPr marL="0" lvl="0" indent="0" algn="l">
              <a:lnSpc>
                <a:spcPct val="100000"/>
              </a:lnSpc>
              <a:spcBef>
                <a:spcPts val="0"/>
              </a:spcBef>
              <a:spcAft>
                <a:spcPts val="0"/>
              </a:spcAft>
              <a:buSzPts val="1400"/>
              <a:buNone/>
            </a:pPr>
            <a:r>
              <a:t>| Technical documentation | E04 and this review document. | Architecture and review material prepared. |</a:t>
            </a:r>
            <a:endParaRPr/>
          </a:p>
          <a:p xmlns:a="http://schemas.openxmlformats.org/drawingml/2006/main">
            <a:pPr marL="0" lvl="0" indent="0" algn="l">
              <a:lnSpc>
                <a:spcPct val="100000"/>
              </a:lnSpc>
              <a:spcBef>
                <a:spcPts val="0"/>
              </a:spcBef>
              <a:spcAft>
                <a:spcPts val="0"/>
              </a:spcAft>
              <a:buSzPts val="1400"/>
              <a:buNone/>
            </a:pPr>
            <a:r>
              <a:t>| Exploratory component experiments | E07/E08. | Saved subset results inspected; provenance reconciliation and fresh validation pending. |</a:t>
            </a:r>
            <a:endParaRPr/>
          </a:p>
          <a:p xmlns:a="http://schemas.openxmlformats.org/drawingml/2006/main">
            <a:pPr marL="0" lvl="0" indent="0" algn="l">
              <a:lnSpc>
                <a:spcPct val="100000"/>
              </a:lnSpc>
              <a:spcBef>
                <a:spcPts val="0"/>
              </a:spcBef>
              <a:spcAft>
                <a:spcPts val="0"/>
              </a:spcAft>
              <a:buSzPts val="1400"/>
              <a:buNone/>
            </a:pPr>
            <a:r>
              <a:t>| Real operational pilot | E06. | Repository-reported LoCoMo pilot, full completion unverified here. |</a:t>
            </a:r>
            <a:endParaRPr/>
          </a:p>
          <a:p xmlns:a="http://schemas.openxmlformats.org/drawingml/2006/main">
            <a:pPr marL="0" lvl="0" indent="0" algn="l">
              <a:lnSpc>
                <a:spcPct val="100000"/>
              </a:lnSpc>
              <a:spcBef>
                <a:spcPts val="0"/>
              </a:spcBef>
              <a:spcAft>
                <a:spcPts val="0"/>
              </a:spcAft>
              <a:buSzPts val="1400"/>
              <a:buNone/>
            </a:pPr>
            <a:r>
              <a:t>| Full matched final experiments | No complete validated final campaign established by inspected evidence. | Pending verification/execution. |</a:t>
            </a:r>
            <a:endParaRPr/>
          </a:p>
          <a:p xmlns:a="http://schemas.openxmlformats.org/drawingml/2006/main">
            <a:pPr marL="0" lvl="0" indent="0" algn="l">
              <a:lnSpc>
                <a:spcPct val="100000"/>
              </a:lnSpc>
              <a:spcBef>
                <a:spcPts val="0"/>
              </a:spcBef>
              <a:spcAft>
                <a:spcPts val="0"/>
              </a:spcAft>
              <a:buSzPts val="1400"/>
              <a:buNone/>
            </a:pPr>
            <a:r>
              <a:t>| PRIMA manuscript draft | No draft supplied or identified in inspected project material. | [To be added] |</a:t>
            </a:r>
            <a:endParaRPr/>
          </a:p>
          <a:p xmlns:a="http://schemas.openxmlformats.org/drawingml/2006/main">
            <a:pPr marL="0" lvl="0" indent="0" algn="l">
              <a:lnSpc>
                <a:spcPct val="100000"/>
              </a:lnSpc>
              <a:spcBef>
                <a:spcPts val="0"/>
              </a:spcBef>
              <a:spcAft>
                <a:spcPts val="0"/>
              </a:spcAft>
              <a:buSzPts val="1400"/>
              <a:buNone/>
            </a:pPr>
            <a:r>
              <a:t>| Venue and submission | No submission receipt/ID supplied. | [To be added] |</a:t>
            </a:r>
            <a:endParaRPr/>
          </a:p>
          <a:p xmlns:a="http://schemas.openxmlformats.org/drawingml/2006/main">
            <a:pPr marL="0" lvl="0" indent="0" algn="l">
              <a:lnSpc>
                <a:spcPct val="100000"/>
              </a:lnSpc>
              <a:spcBef>
                <a:spcPts val="0"/>
              </a:spcBef>
              <a:spcAft>
                <a:spcPts val="0"/>
              </a:spcAft>
              <a:buSzPts val="1400"/>
              <a:buNone/>
            </a:pPr>
            <a:r>
              <a:t>| Acceptance / publication / DOI | No acceptance notice or published record supplied. | Unverified; do not claim accepted/published. |</a:t>
            </a:r>
            <a:endParaRPr/>
          </a:p>
          <a:p xmlns:a="http://schemas.openxmlformats.org/drawingml/2006/main">
            <a:pPr marL="0" lvl="0" indent="0" algn="l">
              <a:lnSpc>
                <a:spcPct val="100000"/>
              </a:lnSpc>
              <a:spcBef>
                <a:spcPts val="0"/>
              </a:spcBef>
              <a:spcAft>
                <a:spcPts val="0"/>
              </a:spcAft>
              <a:buSzPts val="1400"/>
              <a:buNone/>
            </a:pPr>
            <a:r>
              <a:t>| Invention disclosure / patent draft | No disclosure/specification supplied. | [To be added] |</a:t>
            </a:r>
            <a:endParaRPr/>
          </a:p>
          <a:p xmlns:a="http://schemas.openxmlformats.org/drawingml/2006/main">
            <a:pPr marL="0" lvl="0" indent="0" algn="l">
              <a:lnSpc>
                <a:spcPct val="100000"/>
              </a:lnSpc>
              <a:spcBef>
                <a:spcPts val="0"/>
              </a:spcBef>
              <a:spcAft>
                <a:spcPts val="0"/>
              </a:spcAft>
              <a:buSzPts val="1400"/>
              <a:buNone/>
            </a:pPr>
            <a:r>
              <a:t>| Patent filing / publication / grant | No official receipt or record supplied. | Unverified; do not claim filed/published/granted.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10.2 Research question and candidate contribution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Suggested manuscript working title: "PRIMA-NEXT: A Typed Agent Runtime for Evidence-Based Memory, Bounded Correction, and Controlled Execution." This is proposed wording, not an existing publication title.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question: Does full PRIMA improve held-out memory-assisted QA quality and reliability compared with the same model alone and simple RAG under matched budgets, and which components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contributions to evaluate: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A unified typed boundary and explicit task/profile execution, with observable component accounting and failure semantics.</a:t>
            </a:r>
            <a:endParaRPr/>
          </a:p>
          <a:p xmlns:a="http://schemas.openxmlformats.org/drawingml/2006/main">
            <a:pPr marL="0" lvl="0" indent="0" algn="l">
              <a:lnSpc>
                <a:spcPct val="100000"/>
              </a:lnSpc>
              <a:spcBef>
                <a:spcPts val="0"/>
              </a:spcBef>
              <a:spcAft>
                <a:spcPts val="0"/>
              </a:spcAft>
              <a:buSzPts val="1400"/>
              <a:buNone/>
            </a:pPr>
            <a:r>
              <a:t>2. An integrated memory lifecycle joining selective admission, traceable hybrid retrieval, and bounded background maintenance.</a:t>
            </a:r>
            <a:endParaRPr/>
          </a:p>
          <a:p xmlns:a="http://schemas.openxmlformats.org/drawingml/2006/main">
            <a:pPr marL="0" lvl="0" indent="0" algn="l">
              <a:lnSpc>
                <a:spcPct val="100000"/>
              </a:lnSpc>
              <a:spcBef>
                <a:spcPts val="0"/>
              </a:spcBef>
              <a:spcAft>
                <a:spcPts val="0"/>
              </a:spcAft>
              <a:buSzPts val="1400"/>
              <a:buNone/>
            </a:pPr>
            <a:r>
              <a:t>3. Workflow-owned uncertainty/reflection with bounded corrections and recorded before/after outcomes.</a:t>
            </a:r>
            <a:endParaRPr/>
          </a:p>
          <a:p xmlns:a="http://schemas.openxmlformats.org/drawingml/2006/main">
            <a:pPr marL="0" lvl="0" indent="0" algn="l">
              <a:lnSpc>
                <a:spcPct val="100000"/>
              </a:lnSpc>
              <a:spcBef>
                <a:spcPts val="0"/>
              </a:spcBef>
              <a:spcAft>
                <a:spcPts val="0"/>
              </a:spcAft>
              <a:buSzPts val="1400"/>
              <a:buNone/>
            </a:pPr>
            <a:r>
              <a:t>4. A reproducible evaluation protocol separating functional tests, subset component studies, real pilots, and reportable campaigns.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descriptions of engineering work and potential research contributions. Novelty relative to prior literature and benefit over strong baselines remain to establish. RAG, memory/plan/reflection agents, and verbal feedback agents already exist. A list of familiar techniques is insufficient as a novelty claim. RAG, Generative Agents, Reflexion.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10.3 Paper structure with material and gaps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Section | Material ready to write | Evidence still needed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Abstract | Problem, runtime design, scoped evaluation objective. | Final matched outcomes. Do not invent accuracy gains. |</a:t>
            </a:r>
            <a:endParaRPr/>
          </a:p>
          <a:p xmlns:a="http://schemas.openxmlformats.org/drawingml/2006/main">
            <a:pPr marL="0" lvl="0" indent="0" algn="l">
              <a:lnSpc>
                <a:spcPct val="100000"/>
              </a:lnSpc>
              <a:spcBef>
                <a:spcPts val="0"/>
              </a:spcBef>
              <a:spcAft>
                <a:spcPts val="0"/>
              </a:spcAft>
              <a:buSzPts val="1400"/>
              <a:buNone/>
            </a:pPr>
            <a:r>
              <a:t>| Introduction | Continuing-agent evidence/memory/control problem. | Target audience and explicit research hypotheses. |</a:t>
            </a:r>
            <a:endParaRPr/>
          </a:p>
          <a:p xmlns:a="http://schemas.openxmlformats.org/drawingml/2006/main">
            <a:pPr marL="0" lvl="0" indent="0" algn="l">
              <a:lnSpc>
                <a:spcPct val="100000"/>
              </a:lnSpc>
              <a:spcBef>
                <a:spcPts val="0"/>
              </a:spcBef>
              <a:spcAft>
                <a:spcPts val="0"/>
              </a:spcAft>
              <a:buSzPts val="1400"/>
              <a:buNone/>
            </a:pPr>
            <a:r>
              <a:t>| Related work | RAG, Generative Agents, Reflexion, LoCoMo/HotpotQA/GoEmotions. | Focused comparison of mechanisms and newest relevant primary literature before submission. |</a:t>
            </a:r>
            <a:endParaRPr/>
          </a:p>
          <a:p xmlns:a="http://schemas.openxmlformats.org/drawingml/2006/main">
            <a:pPr marL="0" lvl="0" indent="0" algn="l">
              <a:lnSpc>
                <a:spcPct val="100000"/>
              </a:lnSpc>
              <a:spcBef>
                <a:spcPts val="0"/>
              </a:spcBef>
              <a:spcAft>
                <a:spcPts val="0"/>
              </a:spcAft>
              <a:buSzPts val="1400"/>
              <a:buNone/>
            </a:pPr>
            <a:r>
              <a:t>| Method | Contracts, routes, memory types, fusion/admission formulas, correction budgets. | Frozen experiment configuration and precise pseudocode matching the final implementation. |</a:t>
            </a:r>
            <a:endParaRPr/>
          </a:p>
          <a:p xmlns:a="http://schemas.openxmlformats.org/drawingml/2006/main">
            <a:pPr marL="0" lvl="0" indent="0" algn="l">
              <a:lnSpc>
                <a:spcPct val="100000"/>
              </a:lnSpc>
              <a:spcBef>
                <a:spcPts val="0"/>
              </a:spcBef>
              <a:spcAft>
                <a:spcPts val="0"/>
              </a:spcAft>
              <a:buSzPts val="1400"/>
              <a:buNone/>
            </a:pPr>
            <a:r>
              <a:t>| Experimental setup | Existing adapters, scorer/claim policy, subset metadata. | Dataset/model hashes/revisions, environment, selection protocol, seeds, failure rules. |</a:t>
            </a:r>
            <a:endParaRPr/>
          </a:p>
          <a:p xmlns:a="http://schemas.openxmlformats.org/drawingml/2006/main">
            <a:pPr marL="0" lvl="0" indent="0" algn="l">
              <a:lnSpc>
                <a:spcPct val="100000"/>
              </a:lnSpc>
              <a:spcBef>
                <a:spcPts val="0"/>
              </a:spcBef>
              <a:spcAft>
                <a:spcPts val="0"/>
              </a:spcAft>
              <a:buSzPts val="1400"/>
              <a:buNone/>
            </a:pPr>
            <a:r>
              <a:t>| Results | E07/E08 exploratory component tables and scoped E06 pilot. | Complete quality runs, aggregate/category metrics, uncertainty/statistics, actual resource cost. |</a:t>
            </a:r>
            <a:endParaRPr/>
          </a:p>
          <a:p xmlns:a="http://schemas.openxmlformats.org/drawingml/2006/main">
            <a:pPr marL="0" lvl="0" indent="0" algn="l">
              <a:lnSpc>
                <a:spcPct val="100000"/>
              </a:lnSpc>
              <a:spcBef>
                <a:spcPts val="0"/>
              </a:spcBef>
              <a:spcAft>
                <a:spcPts val="0"/>
              </a:spcAft>
              <a:buSzPts val="1400"/>
              <a:buNone/>
            </a:pPr>
            <a:r>
              <a:t>| Ablations | Proposed fixed-store and single-component experiments. | Actual matched runs and help/harm analysis. |</a:t>
            </a:r>
            <a:endParaRPr/>
          </a:p>
          <a:p xmlns:a="http://schemas.openxmlformats.org/drawingml/2006/main">
            <a:pPr marL="0" lvl="0" indent="0" algn="l">
              <a:lnSpc>
                <a:spcPct val="100000"/>
              </a:lnSpc>
              <a:spcBef>
                <a:spcPts val="0"/>
              </a:spcBef>
              <a:spcAft>
                <a:spcPts val="0"/>
              </a:spcAft>
              <a:buSzPts val="1400"/>
              <a:buNone/>
            </a:pPr>
            <a:r>
              <a:t>| Discussion | Observed retrieval bottleneck and representation tradeoff. | Generalization beyond one conversation, calibration, component contribution. |</a:t>
            </a:r>
            <a:endParaRPr/>
          </a:p>
          <a:p xmlns:a="http://schemas.openxmlformats.org/drawingml/2006/main">
            <a:pPr marL="0" lvl="0" indent="0" algn="l">
              <a:lnSpc>
                <a:spcPct val="100000"/>
              </a:lnSpc>
              <a:spcBef>
                <a:spcPts val="0"/>
              </a:spcBef>
              <a:spcAft>
                <a:spcPts val="0"/>
              </a:spcAft>
              <a:buSzPts val="1400"/>
              <a:buNone/>
            </a:pPr>
            <a:r>
              <a:t>| Limitations | Symbolic/heuristic components, persistence/isolation/tool limits, incomplete evidence. | Updated limitations after fresh fixes/runs. |</a:t>
            </a:r>
            <a:endParaRPr/>
          </a:p>
          <a:p xmlns:a="http://schemas.openxmlformats.org/drawingml/2006/main">
            <a:pPr marL="0" lvl="0" indent="0" algn="l">
              <a:lnSpc>
                <a:spcPct val="100000"/>
              </a:lnSpc>
              <a:spcBef>
                <a:spcPts val="0"/>
              </a:spcBef>
              <a:spcAft>
                <a:spcPts val="0"/>
              </a:spcAft>
              <a:buSzPts val="1400"/>
              <a:buNone/>
            </a:pPr>
            <a:r>
              <a:t>| Reproducibility | Existing source/test/runbook structure. | Validated artifact bundle, checksums, secret-free configuration, dependency freeze.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Draft abstract for discussion, without fabricated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PRIMA-NEXT is a research agent runtime that coordinates memory, evidence retrieval, affect-related signals, planning, symbolic simulation, uncertainty decisions, reflection, and controlled tools through typed task-specific routes. The design records execution and failure diagnostics and bounds correction and maintenance work. We define a matched evaluation against model-only and simple-RAG configurations using conversational-memory, multi-document QA, and emotion-classification tasks. Exploratory retrieval subsets motivate learned embeddings and careful representation selection. Complete held-out comparisons are required to establish whether the additional mechanisms improve quality sufficiently to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10.4 Experiment plan for publishable claims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Freeze dataset split/version/hash, IDs/order, source histories, model/revision, dependencies, seed, context/generation settings, and retry policy.</a:t>
            </a:r>
            <a:endParaRPr/>
          </a:p>
          <a:p xmlns:a="http://schemas.openxmlformats.org/drawingml/2006/main">
            <a:pPr marL="0" lvl="0" indent="0" algn="l">
              <a:lnSpc>
                <a:spcPct val="100000"/>
              </a:lnSpc>
              <a:spcBef>
                <a:spcPts val="0"/>
              </a:spcBef>
              <a:spcAft>
                <a:spcPts val="0"/>
              </a:spcAft>
              <a:buSzPts val="1400"/>
              <a:buNone/>
            </a:pPr>
            <a:r>
              <a:t>Run model-only, simple RAG, and full PRIMA on matched selections. Clearly define which history each baseline receives.</a:t>
            </a:r>
            <a:endParaRPr/>
          </a:p>
          <a:p xmlns:a="http://schemas.openxmlformats.org/drawingml/2006/main">
            <a:pPr marL="0" lvl="0" indent="0" algn="l">
              <a:lnSpc>
                <a:spcPct val="100000"/>
              </a:lnSpc>
              <a:spcBef>
                <a:spcPts val="0"/>
              </a:spcBef>
              <a:spcAft>
                <a:spcPts val="0"/>
              </a:spcAft>
              <a:buSzPts val="1400"/>
              <a:buNone/>
            </a:pPr>
            <a:r>
              <a:t>Separate memory-formation comparisons from fixed-store retrieval comparisons.</a:t>
            </a:r>
            <a:endParaRPr/>
          </a:p>
          <a:p xmlns:a="http://schemas.openxmlformats.org/drawingml/2006/main">
            <a:pPr marL="0" lvl="0" indent="0" algn="l">
              <a:lnSpc>
                <a:spcPct val="100000"/>
              </a:lnSpc>
              <a:spcBef>
                <a:spcPts val="0"/>
              </a:spcBef>
              <a:spcAft>
                <a:spcPts val="0"/>
              </a:spcAft>
              <a:buSzPts val="1400"/>
              <a:buNone/>
            </a:pPr>
            <a:r>
              <a:t>Measure retrieval recall/ranking, native QA metrics, coverage/abstention, execution/scoring failures, tokens/latency, and memory growth.</a:t>
            </a:r>
            <a:endParaRPr/>
          </a:p>
          <a:p xmlns:a="http://schemas.openxmlformats.org/drawingml/2006/main">
            <a:pPr marL="0" lvl="0" indent="0" algn="l">
              <a:lnSpc>
                <a:spcPct val="100000"/>
              </a:lnSpc>
              <a:spcBef>
                <a:spcPts val="0"/>
              </a:spcBef>
              <a:spcAft>
                <a:spcPts val="0"/>
              </a:spcAft>
              <a:buSzPts val="1400"/>
              <a:buNone/>
            </a:pPr>
            <a:r>
              <a:t>Run targeted graph/affect/reflection ablations. Report actual correction help/harm rather than only internal confidence lift.</a:t>
            </a:r>
            <a:endParaRPr/>
          </a:p>
          <a:p xmlns:a="http://schemas.openxmlformats.org/drawingml/2006/main">
            <a:pPr marL="0" lvl="0" indent="0" algn="l">
              <a:lnSpc>
                <a:spcPct val="100000"/>
              </a:lnSpc>
              <a:spcBef>
                <a:spcPts val="0"/>
              </a:spcBef>
              <a:spcAft>
                <a:spcPts val="0"/>
              </a:spcAft>
              <a:buSzPts val="1400"/>
              <a:buNone/>
            </a:pPr>
            <a:r>
              <a:t>Tune on development data and freeze settings before test evaluation. Keep all gold annotations evaluator-owned.</a:t>
            </a:r>
            <a:endParaRPr/>
          </a:p>
          <a:p xmlns:a="http://schemas.openxmlformats.org/drawingml/2006/main">
            <a:pPr marL="0" lvl="0" indent="0" algn="l">
              <a:lnSpc>
                <a:spcPct val="100000"/>
              </a:lnSpc>
              <a:spcBef>
                <a:spcPts val="0"/>
              </a:spcBef>
              <a:spcAft>
                <a:spcPts val="0"/>
              </a:spcAft>
              <a:buSzPts val="1400"/>
              <a:buNone/>
            </a:pPr>
            <a:r>
              <a:t>Use uncertainty estimates over suitable independent units. For conversational data, account for questions clustered in conversations rather than pretending every question is independent. Statistical methods and sample size should be fixed in the protocol.</a:t>
            </a:r>
            <a:endParaRPr/>
          </a:p>
          <a:p xmlns:a="http://schemas.openxmlformats.org/drawingml/2006/main">
            <a:pPr marL="0" lvl="0" indent="0" algn="l">
              <a:lnSpc>
                <a:spcPct val="100000"/>
              </a:lnSpc>
              <a:spcBef>
                <a:spcPts val="0"/>
              </a:spcBef>
              <a:spcAft>
                <a:spcPts val="0"/>
              </a:spcAft>
              <a:buSzPts val="1400"/>
              <a:buNone/>
            </a:pPr>
            <a:r>
              <a:t>Publish negative/neutral findings and cost tradeoffs. A simpler configuration may be the useful conclusion.</a:t>
            </a:r>
            <a:endParaRPr/>
          </a:p>
          <a:p xmlns:a="http://schemas.openxmlformats.org/drawingml/2006/main">
            <a:pPr marL="0" lvl="0" indent="0" algn="l">
              <a:lnSpc>
                <a:spcPct val="100000"/>
              </a:lnSpc>
              <a:spcBef>
                <a:spcPts val="0"/>
              </a:spcBef>
              <a:spcAft>
                <a:spcPts val="0"/>
              </a:spcAft>
              <a:buSzPts val="1400"/>
              <a:buNone/>
            </a:pPr>
            <a:r>
              <a:t>Reconcile JSON/CSV fingerprints and saved-result lineage. Preserve manifests/checkpoints and validate complete coverage before using headline numbers.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10.5 Patent-oriented technical preparation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Technical candidate to investigate: the specific interaction between task/profile-controlled execution, memory admission and maintenance, and budgeted corrections with traceable state/evidence transitions. This is a candidate disclosure topic, not an assertion of patentability.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Preparation item | What the team should produce | Current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Invention definition | A precise technical problem, mechanism, and observable effect. | Candidate framing in this document; team/guide review pending. |</a:t>
            </a:r>
            <a:endParaRPr/>
          </a:p>
          <a:p xmlns:a="http://schemas.openxmlformats.org/drawingml/2006/main">
            <a:pPr marL="0" lvl="0" indent="0" algn="l">
              <a:lnSpc>
                <a:spcPct val="100000"/>
              </a:lnSpc>
              <a:spcBef>
                <a:spcPts val="0"/>
              </a:spcBef>
              <a:spcAft>
                <a:spcPts val="0"/>
              </a:spcAft>
              <a:buSzPts val="1400"/>
              <a:buNone/>
            </a:pPr>
            <a:r>
              <a:t>| Inventor/contribution record | Named contributors and evidence of their contribution to the proposed mechanism. | Git contributors exist; inventorship is not established by that list. |</a:t>
            </a:r>
            <a:endParaRPr/>
          </a:p>
          <a:p xmlns:a="http://schemas.openxmlformats.org/drawingml/2006/main">
            <a:pPr marL="0" lvl="0" indent="0" algn="l">
              <a:lnSpc>
                <a:spcPct val="100000"/>
              </a:lnSpc>
              <a:spcBef>
                <a:spcPts val="0"/>
              </a:spcBef>
              <a:spcAft>
                <a:spcPts val="0"/>
              </a:spcAft>
              <a:buSzPts val="1400"/>
              <a:buNone/>
            </a:pPr>
            <a:r>
              <a:t>| Prior-art comparison | Claim-by-claim mechanism comparison with relevant papers and patent records. | Foundational literature identified; patent prior-art search not performed. |</a:t>
            </a:r>
            <a:endParaRPr/>
          </a:p>
          <a:p xmlns:a="http://schemas.openxmlformats.org/drawingml/2006/main">
            <a:pPr marL="0" lvl="0" indent="0" algn="l">
              <a:lnSpc>
                <a:spcPct val="100000"/>
              </a:lnSpc>
              <a:spcBef>
                <a:spcPts val="0"/>
              </a:spcBef>
              <a:spcAft>
                <a:spcPts val="0"/>
              </a:spcAft>
              <a:buSzPts val="1400"/>
              <a:buNone/>
            </a:pPr>
            <a:r>
              <a:t>| Technical disclosure | Architecture, state transitions, alternatives, reproducible example, measured effect. | Source/docs supply material; formal disclosure not supplied. |</a:t>
            </a:r>
            <a:endParaRPr/>
          </a:p>
          <a:p xmlns:a="http://schemas.openxmlformats.org/drawingml/2006/main">
            <a:pPr marL="0" lvl="0" indent="0" algn="l">
              <a:lnSpc>
                <a:spcPct val="100000"/>
              </a:lnSpc>
              <a:spcBef>
                <a:spcPts val="0"/>
              </a:spcBef>
              <a:spcAft>
                <a:spcPts val="0"/>
              </a:spcAft>
              <a:buSzPts val="1400"/>
              <a:buNone/>
            </a:pPr>
            <a:r>
              <a:t>| Institutional review | Guide/institution IP office review and documented decision. | Team confirmation required. |</a:t>
            </a:r>
            <a:endParaRPr/>
          </a:p>
          <a:p xmlns:a="http://schemas.openxmlformats.org/drawingml/2006/main">
            <a:pPr marL="0" lvl="0" indent="0" algn="l">
              <a:lnSpc>
                <a:spcPct val="100000"/>
              </a:lnSpc>
              <a:spcBef>
                <a:spcPts val="0"/>
              </a:spcBef>
              <a:spcAft>
                <a:spcPts val="0"/>
              </a:spcAft>
              <a:buSzPts val="1400"/>
              <a:buNone/>
            </a:pPr>
            <a:r>
              <a:t>| Filing milestones | Official receipt, application number/date, jurisdiction, filing type, status evidence. | None supplied. |</a:t>
            </a:r>
            <a:endParaRPr/>
          </a:p>
          <a:p xmlns:a="http://schemas.openxmlformats.org/drawingml/2006/main">
            <a:pPr marL="0" lvl="0" indent="0" algn="l">
              <a:lnSpc>
                <a:spcPct val="100000"/>
              </a:lnSpc>
              <a:spcBef>
                <a:spcPts val="0"/>
              </a:spcBef>
              <a:spcAft>
                <a:spcPts val="0"/>
              </a:spcAft>
              <a:buSzPts val="1400"/>
              <a:buNone/>
            </a:pPr>
            <a:r>
              <a:t>| Later status | Publication record or grant document, distinct from initial filing. | None supplied.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paper describes scientific methods/results. A patent-oriented disclosure must identify a specific proposed invention and supporting mechanism. Use the institution's IP office to determine applicable requirements and the sequence of public release/submission/filing. This document makes no legal eligibility or filing-status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Safe spoken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Our implementation and experiment infrastructure are available. We have exploratory retrieval results and a reported LoCoMo operational pilot. We are preparing a complete matched evaluation and manuscript evidence package. Paper submission and patent filing status will be shown only with the team's corresponding records.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10.6 Evidence the team must add before the mentor meeting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paper: exact title, author order/affiliations, versioned manuscript, guide feedback, target venue, submission date/ID and receipt if submitted, acceptance notice if accepted, published URL/DOI if published.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patent: proposed invention title, disclosure/specification version, institutional review status, contributor/inventor confirmation, official application receipt and number/date if filed, publication/grant record if those stages occurred.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Track stage names separately. Drafted, submitted, accepted, and published are different paper milestones. Disclosure prepared, application filed, application published, and granted are different patent milestones.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https://arxiv.org/abs/2005.11401</a:t>
            </a:r>
            <a:endParaRPr/>
          </a:p>
          <a:p xmlns:a="http://schemas.openxmlformats.org/drawingml/2006/main">
            <a:pPr marL="0" lvl="0" indent="0" algn="l">
              <a:lnSpc>
                <a:spcPct val="100000"/>
              </a:lnSpc>
              <a:spcBef>
                <a:spcPts val="0"/>
              </a:spcBef>
              <a:spcAft>
                <a:spcPts val="0"/>
              </a:spcAft>
              <a:buSzPts val="1400"/>
              <a:buNone/>
            </a:pPr>
            <a:r>
              <a:t>https://arxiv.org/abs/2304.03442</a:t>
            </a:r>
            <a:endParaRPr/>
          </a:p>
          <a:p xmlns:a="http://schemas.openxmlformats.org/drawingml/2006/main">
            <a:pPr marL="0" lvl="0" indent="0" algn="l">
              <a:lnSpc>
                <a:spcPct val="100000"/>
              </a:lnSpc>
              <a:spcBef>
                <a:spcPts val="0"/>
              </a:spcBef>
              <a:spcAft>
                <a:spcPts val="0"/>
              </a:spcAft>
              <a:buSzPts val="1400"/>
              <a:buNone/>
            </a:pPr>
            <a:r>
              <a:t>https://arxiv.org/abs/2303.11366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Patent-oriented technical preparation (2/2)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 Additional requested section: research paper and patent progress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10.1 Actual verified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inspected repository contains source, technical documentation, benchmark code, tests, saved subset results, and pilot notes. It does not establish a manuscript submission, acceptance, published PRIMA paper, invention-disclosure submission, patent application, publication number, or grant. No manuscript or filing receipt was supplied with the request. This is a statement about available evidence, not proof that the team has done no work elsewhere.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Milestone | Evidence currently available | Honest slide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Research system implementation | E01 - E03, module tests. | Implemented research prototype. |</a:t>
            </a:r>
            <a:endParaRPr/>
          </a:p>
          <a:p xmlns:a="http://schemas.openxmlformats.org/drawingml/2006/main">
            <a:pPr marL="0" lvl="0" indent="0" algn="l">
              <a:lnSpc>
                <a:spcPct val="100000"/>
              </a:lnSpc>
              <a:spcBef>
                <a:spcPts val="0"/>
              </a:spcBef>
              <a:spcAft>
                <a:spcPts val="0"/>
              </a:spcAft>
              <a:buSzPts val="1400"/>
              <a:buNone/>
            </a:pPr>
            <a:r>
              <a:t>| Technical documentation | E04 and this review document. | Architecture and review material prepared. |</a:t>
            </a:r>
            <a:endParaRPr/>
          </a:p>
          <a:p xmlns:a="http://schemas.openxmlformats.org/drawingml/2006/main">
            <a:pPr marL="0" lvl="0" indent="0" algn="l">
              <a:lnSpc>
                <a:spcPct val="100000"/>
              </a:lnSpc>
              <a:spcBef>
                <a:spcPts val="0"/>
              </a:spcBef>
              <a:spcAft>
                <a:spcPts val="0"/>
              </a:spcAft>
              <a:buSzPts val="1400"/>
              <a:buNone/>
            </a:pPr>
            <a:r>
              <a:t>| Exploratory component experiments | E07/E08. | Saved subset results inspected; provenance reconciliation and fresh validation pending. |</a:t>
            </a:r>
            <a:endParaRPr/>
          </a:p>
          <a:p xmlns:a="http://schemas.openxmlformats.org/drawingml/2006/main">
            <a:pPr marL="0" lvl="0" indent="0" algn="l">
              <a:lnSpc>
                <a:spcPct val="100000"/>
              </a:lnSpc>
              <a:spcBef>
                <a:spcPts val="0"/>
              </a:spcBef>
              <a:spcAft>
                <a:spcPts val="0"/>
              </a:spcAft>
              <a:buSzPts val="1400"/>
              <a:buNone/>
            </a:pPr>
            <a:r>
              <a:t>| Real operational pilot | E06. | Repository-reported LoCoMo pilot, full completion unverified here. |</a:t>
            </a:r>
            <a:endParaRPr/>
          </a:p>
          <a:p xmlns:a="http://schemas.openxmlformats.org/drawingml/2006/main">
            <a:pPr marL="0" lvl="0" indent="0" algn="l">
              <a:lnSpc>
                <a:spcPct val="100000"/>
              </a:lnSpc>
              <a:spcBef>
                <a:spcPts val="0"/>
              </a:spcBef>
              <a:spcAft>
                <a:spcPts val="0"/>
              </a:spcAft>
              <a:buSzPts val="1400"/>
              <a:buNone/>
            </a:pPr>
            <a:r>
              <a:t>| Full matched final experiments | No complete validated final campaign established by inspected evidence. | Pending verification/execution. |</a:t>
            </a:r>
            <a:endParaRPr/>
          </a:p>
          <a:p xmlns:a="http://schemas.openxmlformats.org/drawingml/2006/main">
            <a:pPr marL="0" lvl="0" indent="0" algn="l">
              <a:lnSpc>
                <a:spcPct val="100000"/>
              </a:lnSpc>
              <a:spcBef>
                <a:spcPts val="0"/>
              </a:spcBef>
              <a:spcAft>
                <a:spcPts val="0"/>
              </a:spcAft>
              <a:buSzPts val="1400"/>
              <a:buNone/>
            </a:pPr>
            <a:r>
              <a:t>| PRIMA manuscript draft | No draft supplied or identified in inspected project material. | [To be added] |</a:t>
            </a:r>
            <a:endParaRPr/>
          </a:p>
          <a:p xmlns:a="http://schemas.openxmlformats.org/drawingml/2006/main">
            <a:pPr marL="0" lvl="0" indent="0" algn="l">
              <a:lnSpc>
                <a:spcPct val="100000"/>
              </a:lnSpc>
              <a:spcBef>
                <a:spcPts val="0"/>
              </a:spcBef>
              <a:spcAft>
                <a:spcPts val="0"/>
              </a:spcAft>
              <a:buSzPts val="1400"/>
              <a:buNone/>
            </a:pPr>
            <a:r>
              <a:t>| Venue and submission | No submission receipt/ID supplied. | [To be added] |</a:t>
            </a:r>
            <a:endParaRPr/>
          </a:p>
          <a:p xmlns:a="http://schemas.openxmlformats.org/drawingml/2006/main">
            <a:pPr marL="0" lvl="0" indent="0" algn="l">
              <a:lnSpc>
                <a:spcPct val="100000"/>
              </a:lnSpc>
              <a:spcBef>
                <a:spcPts val="0"/>
              </a:spcBef>
              <a:spcAft>
                <a:spcPts val="0"/>
              </a:spcAft>
              <a:buSzPts val="1400"/>
              <a:buNone/>
            </a:pPr>
            <a:r>
              <a:t>| Acceptance / publication / DOI | No acceptance notice or published record supplied. | Unverified; do not claim accepted/published. |</a:t>
            </a:r>
            <a:endParaRPr/>
          </a:p>
          <a:p xmlns:a="http://schemas.openxmlformats.org/drawingml/2006/main">
            <a:pPr marL="0" lvl="0" indent="0" algn="l">
              <a:lnSpc>
                <a:spcPct val="100000"/>
              </a:lnSpc>
              <a:spcBef>
                <a:spcPts val="0"/>
              </a:spcBef>
              <a:spcAft>
                <a:spcPts val="0"/>
              </a:spcAft>
              <a:buSzPts val="1400"/>
              <a:buNone/>
            </a:pPr>
            <a:r>
              <a:t>| Invention disclosure / patent draft | No disclosure/specification supplied. | [To be added] |</a:t>
            </a:r>
            <a:endParaRPr/>
          </a:p>
          <a:p xmlns:a="http://schemas.openxmlformats.org/drawingml/2006/main">
            <a:pPr marL="0" lvl="0" indent="0" algn="l">
              <a:lnSpc>
                <a:spcPct val="100000"/>
              </a:lnSpc>
              <a:spcBef>
                <a:spcPts val="0"/>
              </a:spcBef>
              <a:spcAft>
                <a:spcPts val="0"/>
              </a:spcAft>
              <a:buSzPts val="1400"/>
              <a:buNone/>
            </a:pPr>
            <a:r>
              <a:t>| Patent filing / publication / grant | No official receipt or record supplied. | Unverified; do not claim filed/published/granted.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10.2 Research question and candidate contribution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Suggested manuscript working title: "PRIMA-NEXT: A Typed Agent Runtime for Evidence-Based Memory, Bounded Correction, and Controlled Execution." This is proposed wording, not an existing publication title.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question: Does full PRIMA improve held-out memory-assisted QA quality and reliability compared with the same model alone and simple RAG under matched budgets, and which components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contributions to evaluate: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A unified typed boundary and explicit task/profile execution, with observable component accounting and failure semantics.</a:t>
            </a:r>
            <a:endParaRPr/>
          </a:p>
          <a:p xmlns:a="http://schemas.openxmlformats.org/drawingml/2006/main">
            <a:pPr marL="0" lvl="0" indent="0" algn="l">
              <a:lnSpc>
                <a:spcPct val="100000"/>
              </a:lnSpc>
              <a:spcBef>
                <a:spcPts val="0"/>
              </a:spcBef>
              <a:spcAft>
                <a:spcPts val="0"/>
              </a:spcAft>
              <a:buSzPts val="1400"/>
              <a:buNone/>
            </a:pPr>
            <a:r>
              <a:t>2. An integrated memory lifecycle joining selective admission, traceable hybrid retrieval, and bounded background maintenance.</a:t>
            </a:r>
            <a:endParaRPr/>
          </a:p>
          <a:p xmlns:a="http://schemas.openxmlformats.org/drawingml/2006/main">
            <a:pPr marL="0" lvl="0" indent="0" algn="l">
              <a:lnSpc>
                <a:spcPct val="100000"/>
              </a:lnSpc>
              <a:spcBef>
                <a:spcPts val="0"/>
              </a:spcBef>
              <a:spcAft>
                <a:spcPts val="0"/>
              </a:spcAft>
              <a:buSzPts val="1400"/>
              <a:buNone/>
            </a:pPr>
            <a:r>
              <a:t>3. Workflow-owned uncertainty/reflection with bounded corrections and recorded before/after outcomes.</a:t>
            </a:r>
            <a:endParaRPr/>
          </a:p>
          <a:p xmlns:a="http://schemas.openxmlformats.org/drawingml/2006/main">
            <a:pPr marL="0" lvl="0" indent="0" algn="l">
              <a:lnSpc>
                <a:spcPct val="100000"/>
              </a:lnSpc>
              <a:spcBef>
                <a:spcPts val="0"/>
              </a:spcBef>
              <a:spcAft>
                <a:spcPts val="0"/>
              </a:spcAft>
              <a:buSzPts val="1400"/>
              <a:buNone/>
            </a:pPr>
            <a:r>
              <a:t>4. A reproducible evaluation protocol separating functional tests, subset component studies, real pilots, and reportable campaigns.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descriptions of engineering work and potential research contributions. Novelty relative to prior literature and benefit over strong baselines remain to establish. RAG, memory/plan/reflection agents, and verbal feedback agents already exist. A list of familiar techniques is insufficient as a novelty claim. RAG, Generative Agents, Reflexion.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10.3 Paper structure with material and gaps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Section | Material ready to write | Evidence still needed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Abstract | Problem, runtime design, scoped evaluation objective. | Final matched outcomes. Do not invent accuracy gains. |</a:t>
            </a:r>
            <a:endParaRPr/>
          </a:p>
          <a:p xmlns:a="http://schemas.openxmlformats.org/drawingml/2006/main">
            <a:pPr marL="0" lvl="0" indent="0" algn="l">
              <a:lnSpc>
                <a:spcPct val="100000"/>
              </a:lnSpc>
              <a:spcBef>
                <a:spcPts val="0"/>
              </a:spcBef>
              <a:spcAft>
                <a:spcPts val="0"/>
              </a:spcAft>
              <a:buSzPts val="1400"/>
              <a:buNone/>
            </a:pPr>
            <a:r>
              <a:t>| Introduction | Continuing-agent evidence/memory/control problem. | Target audience and explicit research hypotheses. |</a:t>
            </a:r>
            <a:endParaRPr/>
          </a:p>
          <a:p xmlns:a="http://schemas.openxmlformats.org/drawingml/2006/main">
            <a:pPr marL="0" lvl="0" indent="0" algn="l">
              <a:lnSpc>
                <a:spcPct val="100000"/>
              </a:lnSpc>
              <a:spcBef>
                <a:spcPts val="0"/>
              </a:spcBef>
              <a:spcAft>
                <a:spcPts val="0"/>
              </a:spcAft>
              <a:buSzPts val="1400"/>
              <a:buNone/>
            </a:pPr>
            <a:r>
              <a:t>| Related work | RAG, Generative Agents, Reflexion, LoCoMo/HotpotQA/GoEmotions. | Focused comparison of mechanisms and newest relevant primary literature before submission. |</a:t>
            </a:r>
            <a:endParaRPr/>
          </a:p>
          <a:p xmlns:a="http://schemas.openxmlformats.org/drawingml/2006/main">
            <a:pPr marL="0" lvl="0" indent="0" algn="l">
              <a:lnSpc>
                <a:spcPct val="100000"/>
              </a:lnSpc>
              <a:spcBef>
                <a:spcPts val="0"/>
              </a:spcBef>
              <a:spcAft>
                <a:spcPts val="0"/>
              </a:spcAft>
              <a:buSzPts val="1400"/>
              <a:buNone/>
            </a:pPr>
            <a:r>
              <a:t>| Method | Contracts, routes, memory types, fusion/admission formulas, correction budgets. | Frozen experiment configuration and precise pseudocode matching the final implementation. |</a:t>
            </a:r>
            <a:endParaRPr/>
          </a:p>
          <a:p xmlns:a="http://schemas.openxmlformats.org/drawingml/2006/main">
            <a:pPr marL="0" lvl="0" indent="0" algn="l">
              <a:lnSpc>
                <a:spcPct val="100000"/>
              </a:lnSpc>
              <a:spcBef>
                <a:spcPts val="0"/>
              </a:spcBef>
              <a:spcAft>
                <a:spcPts val="0"/>
              </a:spcAft>
              <a:buSzPts val="1400"/>
              <a:buNone/>
            </a:pPr>
            <a:r>
              <a:t>| Experimental setup | Existing adapters, scorer/claim policy, subset metadata. | Dataset/model hashes/revisions, environment, selection protocol, seeds, failure rules. |</a:t>
            </a:r>
            <a:endParaRPr/>
          </a:p>
          <a:p xmlns:a="http://schemas.openxmlformats.org/drawingml/2006/main">
            <a:pPr marL="0" lvl="0" indent="0" algn="l">
              <a:lnSpc>
                <a:spcPct val="100000"/>
              </a:lnSpc>
              <a:spcBef>
                <a:spcPts val="0"/>
              </a:spcBef>
              <a:spcAft>
                <a:spcPts val="0"/>
              </a:spcAft>
              <a:buSzPts val="1400"/>
              <a:buNone/>
            </a:pPr>
            <a:r>
              <a:t>| Results | E07/E08 exploratory component tables and scoped E06 pilot. | Complete quality runs, aggregate/category metrics, uncertainty/statistics, actual resource cost. |</a:t>
            </a:r>
            <a:endParaRPr/>
          </a:p>
          <a:p xmlns:a="http://schemas.openxmlformats.org/drawingml/2006/main">
            <a:pPr marL="0" lvl="0" indent="0" algn="l">
              <a:lnSpc>
                <a:spcPct val="100000"/>
              </a:lnSpc>
              <a:spcBef>
                <a:spcPts val="0"/>
              </a:spcBef>
              <a:spcAft>
                <a:spcPts val="0"/>
              </a:spcAft>
              <a:buSzPts val="1400"/>
              <a:buNone/>
            </a:pPr>
            <a:r>
              <a:t>| Ablations | Proposed fixed-store and single-component experiments. | Actual matched runs and help/harm analysis. |</a:t>
            </a:r>
            <a:endParaRPr/>
          </a:p>
          <a:p xmlns:a="http://schemas.openxmlformats.org/drawingml/2006/main">
            <a:pPr marL="0" lvl="0" indent="0" algn="l">
              <a:lnSpc>
                <a:spcPct val="100000"/>
              </a:lnSpc>
              <a:spcBef>
                <a:spcPts val="0"/>
              </a:spcBef>
              <a:spcAft>
                <a:spcPts val="0"/>
              </a:spcAft>
              <a:buSzPts val="1400"/>
              <a:buNone/>
            </a:pPr>
            <a:r>
              <a:t>| Discussion | Observed retrieval bottleneck and representation tradeoff. | Generalization beyond one conversation, calibration, component contribution. |</a:t>
            </a:r>
            <a:endParaRPr/>
          </a:p>
          <a:p xmlns:a="http://schemas.openxmlformats.org/drawingml/2006/main">
            <a:pPr marL="0" lvl="0" indent="0" algn="l">
              <a:lnSpc>
                <a:spcPct val="100000"/>
              </a:lnSpc>
              <a:spcBef>
                <a:spcPts val="0"/>
              </a:spcBef>
              <a:spcAft>
                <a:spcPts val="0"/>
              </a:spcAft>
              <a:buSzPts val="1400"/>
              <a:buNone/>
            </a:pPr>
            <a:r>
              <a:t>| Limitations | Symbolic/heuristic components, persistence/isolation/tool limits, incomplete evidence. | Updated limitations after fresh fixes/runs. |</a:t>
            </a:r>
            <a:endParaRPr/>
          </a:p>
          <a:p xmlns:a="http://schemas.openxmlformats.org/drawingml/2006/main">
            <a:pPr marL="0" lvl="0" indent="0" algn="l">
              <a:lnSpc>
                <a:spcPct val="100000"/>
              </a:lnSpc>
              <a:spcBef>
                <a:spcPts val="0"/>
              </a:spcBef>
              <a:spcAft>
                <a:spcPts val="0"/>
              </a:spcAft>
              <a:buSzPts val="1400"/>
              <a:buNone/>
            </a:pPr>
            <a:r>
              <a:t>| Reproducibility | Existing source/test/runbook structure. | Validated artifact bundle, checksums, secret-free configuration, dependency freeze.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Draft abstract for discussion, without fabricated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PRIMA-NEXT is a research agent runtime that coordinates memory, evidence retrieval, affect-related signals, planning, symbolic simulation, uncertainty decisions, reflection, and controlled tools through typed task-specific routes. The design records execution and failure diagnostics and bounds correction and maintenance work. We define a matched evaluation against model-only and simple-RAG configurations using conversational-memory, multi-document QA, and emotion-classification tasks. Exploratory retrieval subsets motivate learned embeddings and careful representation selection. Complete held-out comparisons are required to establish whether the additional mechanisms improve quality sufficiently to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10.4 Experiment plan for publishable claims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Freeze dataset split/version/hash, IDs/order, source histories, model/revision, dependencies, seed, context/generation settings, and retry policy.</a:t>
            </a:r>
            <a:endParaRPr/>
          </a:p>
          <a:p xmlns:a="http://schemas.openxmlformats.org/drawingml/2006/main">
            <a:pPr marL="0" lvl="0" indent="0" algn="l">
              <a:lnSpc>
                <a:spcPct val="100000"/>
              </a:lnSpc>
              <a:spcBef>
                <a:spcPts val="0"/>
              </a:spcBef>
              <a:spcAft>
                <a:spcPts val="0"/>
              </a:spcAft>
              <a:buSzPts val="1400"/>
              <a:buNone/>
            </a:pPr>
            <a:r>
              <a:t>Run model-only, simple RAG, and full PRIMA on matched selections. Clearly define which history each baseline receives.</a:t>
            </a:r>
            <a:endParaRPr/>
          </a:p>
          <a:p xmlns:a="http://schemas.openxmlformats.org/drawingml/2006/main">
            <a:pPr marL="0" lvl="0" indent="0" algn="l">
              <a:lnSpc>
                <a:spcPct val="100000"/>
              </a:lnSpc>
              <a:spcBef>
                <a:spcPts val="0"/>
              </a:spcBef>
              <a:spcAft>
                <a:spcPts val="0"/>
              </a:spcAft>
              <a:buSzPts val="1400"/>
              <a:buNone/>
            </a:pPr>
            <a:r>
              <a:t>Separate memory-formation comparisons from fixed-store retrieval comparisons.</a:t>
            </a:r>
            <a:endParaRPr/>
          </a:p>
          <a:p xmlns:a="http://schemas.openxmlformats.org/drawingml/2006/main">
            <a:pPr marL="0" lvl="0" indent="0" algn="l">
              <a:lnSpc>
                <a:spcPct val="100000"/>
              </a:lnSpc>
              <a:spcBef>
                <a:spcPts val="0"/>
              </a:spcBef>
              <a:spcAft>
                <a:spcPts val="0"/>
              </a:spcAft>
              <a:buSzPts val="1400"/>
              <a:buNone/>
            </a:pPr>
            <a:r>
              <a:t>Measure retrieval recall/ranking, native QA metrics, coverage/abstention, execution/scoring failures, tokens/latency, and memory growth.</a:t>
            </a:r>
            <a:endParaRPr/>
          </a:p>
          <a:p xmlns:a="http://schemas.openxmlformats.org/drawingml/2006/main">
            <a:pPr marL="0" lvl="0" indent="0" algn="l">
              <a:lnSpc>
                <a:spcPct val="100000"/>
              </a:lnSpc>
              <a:spcBef>
                <a:spcPts val="0"/>
              </a:spcBef>
              <a:spcAft>
                <a:spcPts val="0"/>
              </a:spcAft>
              <a:buSzPts val="1400"/>
              <a:buNone/>
            </a:pPr>
            <a:r>
              <a:t>Run targeted graph/affect/reflection ablations. Report actual correction help/harm rather than only internal confidence lift.</a:t>
            </a:r>
            <a:endParaRPr/>
          </a:p>
          <a:p xmlns:a="http://schemas.openxmlformats.org/drawingml/2006/main">
            <a:pPr marL="0" lvl="0" indent="0" algn="l">
              <a:lnSpc>
                <a:spcPct val="100000"/>
              </a:lnSpc>
              <a:spcBef>
                <a:spcPts val="0"/>
              </a:spcBef>
              <a:spcAft>
                <a:spcPts val="0"/>
              </a:spcAft>
              <a:buSzPts val="1400"/>
              <a:buNone/>
            </a:pPr>
            <a:r>
              <a:t>Tune on development data and freeze settings before test evaluation. Keep all gold annotations evaluator-owned.</a:t>
            </a:r>
            <a:endParaRPr/>
          </a:p>
          <a:p xmlns:a="http://schemas.openxmlformats.org/drawingml/2006/main">
            <a:pPr marL="0" lvl="0" indent="0" algn="l">
              <a:lnSpc>
                <a:spcPct val="100000"/>
              </a:lnSpc>
              <a:spcBef>
                <a:spcPts val="0"/>
              </a:spcBef>
              <a:spcAft>
                <a:spcPts val="0"/>
              </a:spcAft>
              <a:buSzPts val="1400"/>
              <a:buNone/>
            </a:pPr>
            <a:r>
              <a:t>Use uncertainty estimates over suitable independent units. For conversational data, account for questions clustered in conversations rather than pretending every question is independent. Statistical methods and sample size should be fixed in the protocol.</a:t>
            </a:r>
            <a:endParaRPr/>
          </a:p>
          <a:p xmlns:a="http://schemas.openxmlformats.org/drawingml/2006/main">
            <a:pPr marL="0" lvl="0" indent="0" algn="l">
              <a:lnSpc>
                <a:spcPct val="100000"/>
              </a:lnSpc>
              <a:spcBef>
                <a:spcPts val="0"/>
              </a:spcBef>
              <a:spcAft>
                <a:spcPts val="0"/>
              </a:spcAft>
              <a:buSzPts val="1400"/>
              <a:buNone/>
            </a:pPr>
            <a:r>
              <a:t>Publish negative/neutral findings and cost tradeoffs. A simpler configuration may be the useful conclusion.</a:t>
            </a:r>
            <a:endParaRPr/>
          </a:p>
          <a:p xmlns:a="http://schemas.openxmlformats.org/drawingml/2006/main">
            <a:pPr marL="0" lvl="0" indent="0" algn="l">
              <a:lnSpc>
                <a:spcPct val="100000"/>
              </a:lnSpc>
              <a:spcBef>
                <a:spcPts val="0"/>
              </a:spcBef>
              <a:spcAft>
                <a:spcPts val="0"/>
              </a:spcAft>
              <a:buSzPts val="1400"/>
              <a:buNone/>
            </a:pPr>
            <a:r>
              <a:t>Reconcile JSON/CSV fingerprints and saved-result lineage. Preserve manifests/checkpoints and validate complete coverage before using headline numbers.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10.5 Patent-oriented technical preparation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Technical candidate to investigate: the specific interaction between task/profile-controlled execution, memory admission and maintenance, and budgeted corrections with traceable state/evidence transitions. This is a candidate disclosure topic, not an assertion of patentability.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Preparation item | What the team should produce | Current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Invention definition | A precise technical problem, mechanism, and observable effect. | Candidate framing in this document; team/guide review pending. |</a:t>
            </a:r>
            <a:endParaRPr/>
          </a:p>
          <a:p xmlns:a="http://schemas.openxmlformats.org/drawingml/2006/main">
            <a:pPr marL="0" lvl="0" indent="0" algn="l">
              <a:lnSpc>
                <a:spcPct val="100000"/>
              </a:lnSpc>
              <a:spcBef>
                <a:spcPts val="0"/>
              </a:spcBef>
              <a:spcAft>
                <a:spcPts val="0"/>
              </a:spcAft>
              <a:buSzPts val="1400"/>
              <a:buNone/>
            </a:pPr>
            <a:r>
              <a:t>| Inventor/contribution record | Named contributors and evidence of their contribution to the proposed mechanism. | Git contributors exist; inventorship is not established by that list. |</a:t>
            </a:r>
            <a:endParaRPr/>
          </a:p>
          <a:p xmlns:a="http://schemas.openxmlformats.org/drawingml/2006/main">
            <a:pPr marL="0" lvl="0" indent="0" algn="l">
              <a:lnSpc>
                <a:spcPct val="100000"/>
              </a:lnSpc>
              <a:spcBef>
                <a:spcPts val="0"/>
              </a:spcBef>
              <a:spcAft>
                <a:spcPts val="0"/>
              </a:spcAft>
              <a:buSzPts val="1400"/>
              <a:buNone/>
            </a:pPr>
            <a:r>
              <a:t>| Prior-art comparison | Claim-by-claim mechanism comparison with relevant papers and patent records. | Foundational literature identified; patent prior-art search not performed. |</a:t>
            </a:r>
            <a:endParaRPr/>
          </a:p>
          <a:p xmlns:a="http://schemas.openxmlformats.org/drawingml/2006/main">
            <a:pPr marL="0" lvl="0" indent="0" algn="l">
              <a:lnSpc>
                <a:spcPct val="100000"/>
              </a:lnSpc>
              <a:spcBef>
                <a:spcPts val="0"/>
              </a:spcBef>
              <a:spcAft>
                <a:spcPts val="0"/>
              </a:spcAft>
              <a:buSzPts val="1400"/>
              <a:buNone/>
            </a:pPr>
            <a:r>
              <a:t>| Technical disclosure | Architecture, state transitions, alternatives, reproducible example, measured effect. | Source/docs supply material; formal disclosure not supplied. |</a:t>
            </a:r>
            <a:endParaRPr/>
          </a:p>
          <a:p xmlns:a="http://schemas.openxmlformats.org/drawingml/2006/main">
            <a:pPr marL="0" lvl="0" indent="0" algn="l">
              <a:lnSpc>
                <a:spcPct val="100000"/>
              </a:lnSpc>
              <a:spcBef>
                <a:spcPts val="0"/>
              </a:spcBef>
              <a:spcAft>
                <a:spcPts val="0"/>
              </a:spcAft>
              <a:buSzPts val="1400"/>
              <a:buNone/>
            </a:pPr>
            <a:r>
              <a:t>| Institutional review | Guide/institution IP office review and documented decision. | Team confirmation required. |</a:t>
            </a:r>
            <a:endParaRPr/>
          </a:p>
          <a:p xmlns:a="http://schemas.openxmlformats.org/drawingml/2006/main">
            <a:pPr marL="0" lvl="0" indent="0" algn="l">
              <a:lnSpc>
                <a:spcPct val="100000"/>
              </a:lnSpc>
              <a:spcBef>
                <a:spcPts val="0"/>
              </a:spcBef>
              <a:spcAft>
                <a:spcPts val="0"/>
              </a:spcAft>
              <a:buSzPts val="1400"/>
              <a:buNone/>
            </a:pPr>
            <a:r>
              <a:t>| Filing milestones | Official receipt, application number/date, jurisdiction, filing type, status evidence. | None supplied. |</a:t>
            </a:r>
            <a:endParaRPr/>
          </a:p>
          <a:p xmlns:a="http://schemas.openxmlformats.org/drawingml/2006/main">
            <a:pPr marL="0" lvl="0" indent="0" algn="l">
              <a:lnSpc>
                <a:spcPct val="100000"/>
              </a:lnSpc>
              <a:spcBef>
                <a:spcPts val="0"/>
              </a:spcBef>
              <a:spcAft>
                <a:spcPts val="0"/>
              </a:spcAft>
              <a:buSzPts val="1400"/>
              <a:buNone/>
            </a:pPr>
            <a:r>
              <a:t>| Later status | Publication record or grant document, distinct from initial filing. | None supplied.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paper describes scientific methods/results. A patent-oriented disclosure must identify a specific proposed invention and supporting mechanism. Use the institution's IP office to determine applicable requirements and the sequence of public release/submission/filing. This document makes no legal eligibility or filing-status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Safe spoken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Our implementation and experiment infrastructure are available. We have exploratory retrieval results and a reported LoCoMo operational pilot. We are preparing a complete matched evaluation and manuscript evidence package. Paper submission and patent filing status will be shown only with the team's corresponding records.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10.6 Evidence the team must add before the mentor meeting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paper: exact title, author order/affiliations, versioned manuscript, guide feedback, target venue, submission date/ID and receipt if submitted, acceptance notice if accepted, published URL/DOI if published.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patent: proposed invention title, disclosure/specification version, institutional review status, contributor/inventor confirmation, official application receipt and number/date if filed, publication/grant record if those stages occurred.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Track stage names separately. Drafted, submitted, accepted, and published are different paper milestones. Disclosure prepared, application filed, application published, and granted are different patent milestones.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https://arxiv.org/abs/2005.11401</a:t>
            </a:r>
            <a:endParaRPr/>
          </a:p>
          <a:p xmlns:a="http://schemas.openxmlformats.org/drawingml/2006/main">
            <a:pPr marL="0" lvl="0" indent="0" algn="l">
              <a:lnSpc>
                <a:spcPct val="100000"/>
              </a:lnSpc>
              <a:spcBef>
                <a:spcPts val="0"/>
              </a:spcBef>
              <a:spcAft>
                <a:spcPts val="0"/>
              </a:spcAft>
              <a:buSzPts val="1400"/>
              <a:buNone/>
            </a:pPr>
            <a:r>
              <a:t>https://arxiv.org/abs/2304.03442</a:t>
            </a:r>
            <a:endParaRPr/>
          </a:p>
          <a:p xmlns:a="http://schemas.openxmlformats.org/drawingml/2006/main">
            <a:pPr marL="0" lvl="0" indent="0" algn="l">
              <a:lnSpc>
                <a:spcPct val="100000"/>
              </a:lnSpc>
              <a:spcBef>
                <a:spcPts val="0"/>
              </a:spcBef>
              <a:spcAft>
                <a:spcPts val="0"/>
              </a:spcAft>
              <a:buSzPts val="1400"/>
              <a:buNone/>
            </a:pPr>
            <a:r>
              <a:t>https://arxiv.org/abs/2303.11366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Publication and filing evidence (1/2)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 Additional requested section: research paper and patent progress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10.1 Actual verified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inspected repository contains source, technical documentation, benchmark code, tests, saved subset results, and pilot notes. It does not establish a manuscript submission, acceptance, published PRIMA paper, invention-disclosure submission, patent application, publication number, or grant. No manuscript or filing receipt was supplied with the request. This is a statement about available evidence, not proof that the team has done no work elsewhere.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Milestone | Evidence currently available | Honest slide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Research system implementation | E01 - E03, module tests. | Implemented research prototype. |</a:t>
            </a:r>
            <a:endParaRPr/>
          </a:p>
          <a:p xmlns:a="http://schemas.openxmlformats.org/drawingml/2006/main">
            <a:pPr marL="0" lvl="0" indent="0" algn="l">
              <a:lnSpc>
                <a:spcPct val="100000"/>
              </a:lnSpc>
              <a:spcBef>
                <a:spcPts val="0"/>
              </a:spcBef>
              <a:spcAft>
                <a:spcPts val="0"/>
              </a:spcAft>
              <a:buSzPts val="1400"/>
              <a:buNone/>
            </a:pPr>
            <a:r>
              <a:t>| Technical documentation | E04 and this review document. | Architecture and review material prepared. |</a:t>
            </a:r>
            <a:endParaRPr/>
          </a:p>
          <a:p xmlns:a="http://schemas.openxmlformats.org/drawingml/2006/main">
            <a:pPr marL="0" lvl="0" indent="0" algn="l">
              <a:lnSpc>
                <a:spcPct val="100000"/>
              </a:lnSpc>
              <a:spcBef>
                <a:spcPts val="0"/>
              </a:spcBef>
              <a:spcAft>
                <a:spcPts val="0"/>
              </a:spcAft>
              <a:buSzPts val="1400"/>
              <a:buNone/>
            </a:pPr>
            <a:r>
              <a:t>| Exploratory component experiments | E07/E08. | Saved subset results inspected; provenance reconciliation and fresh validation pending. |</a:t>
            </a:r>
            <a:endParaRPr/>
          </a:p>
          <a:p xmlns:a="http://schemas.openxmlformats.org/drawingml/2006/main">
            <a:pPr marL="0" lvl="0" indent="0" algn="l">
              <a:lnSpc>
                <a:spcPct val="100000"/>
              </a:lnSpc>
              <a:spcBef>
                <a:spcPts val="0"/>
              </a:spcBef>
              <a:spcAft>
                <a:spcPts val="0"/>
              </a:spcAft>
              <a:buSzPts val="1400"/>
              <a:buNone/>
            </a:pPr>
            <a:r>
              <a:t>| Real operational pilot | E06. | Repository-reported LoCoMo pilot, full completion unverified here. |</a:t>
            </a:r>
            <a:endParaRPr/>
          </a:p>
          <a:p xmlns:a="http://schemas.openxmlformats.org/drawingml/2006/main">
            <a:pPr marL="0" lvl="0" indent="0" algn="l">
              <a:lnSpc>
                <a:spcPct val="100000"/>
              </a:lnSpc>
              <a:spcBef>
                <a:spcPts val="0"/>
              </a:spcBef>
              <a:spcAft>
                <a:spcPts val="0"/>
              </a:spcAft>
              <a:buSzPts val="1400"/>
              <a:buNone/>
            </a:pPr>
            <a:r>
              <a:t>| Full matched final experiments | No complete validated final campaign established by inspected evidence. | Pending verification/execution. |</a:t>
            </a:r>
            <a:endParaRPr/>
          </a:p>
          <a:p xmlns:a="http://schemas.openxmlformats.org/drawingml/2006/main">
            <a:pPr marL="0" lvl="0" indent="0" algn="l">
              <a:lnSpc>
                <a:spcPct val="100000"/>
              </a:lnSpc>
              <a:spcBef>
                <a:spcPts val="0"/>
              </a:spcBef>
              <a:spcAft>
                <a:spcPts val="0"/>
              </a:spcAft>
              <a:buSzPts val="1400"/>
              <a:buNone/>
            </a:pPr>
            <a:r>
              <a:t>| PRIMA manuscript draft | No draft supplied or identified in inspected project material. | [To be added] |</a:t>
            </a:r>
            <a:endParaRPr/>
          </a:p>
          <a:p xmlns:a="http://schemas.openxmlformats.org/drawingml/2006/main">
            <a:pPr marL="0" lvl="0" indent="0" algn="l">
              <a:lnSpc>
                <a:spcPct val="100000"/>
              </a:lnSpc>
              <a:spcBef>
                <a:spcPts val="0"/>
              </a:spcBef>
              <a:spcAft>
                <a:spcPts val="0"/>
              </a:spcAft>
              <a:buSzPts val="1400"/>
              <a:buNone/>
            </a:pPr>
            <a:r>
              <a:t>| Venue and submission | No submission receipt/ID supplied. | [To be added] |</a:t>
            </a:r>
            <a:endParaRPr/>
          </a:p>
          <a:p xmlns:a="http://schemas.openxmlformats.org/drawingml/2006/main">
            <a:pPr marL="0" lvl="0" indent="0" algn="l">
              <a:lnSpc>
                <a:spcPct val="100000"/>
              </a:lnSpc>
              <a:spcBef>
                <a:spcPts val="0"/>
              </a:spcBef>
              <a:spcAft>
                <a:spcPts val="0"/>
              </a:spcAft>
              <a:buSzPts val="1400"/>
              <a:buNone/>
            </a:pPr>
            <a:r>
              <a:t>| Acceptance / publication / DOI | No acceptance notice or published record supplied. | Unverified; do not claim accepted/published. |</a:t>
            </a:r>
            <a:endParaRPr/>
          </a:p>
          <a:p xmlns:a="http://schemas.openxmlformats.org/drawingml/2006/main">
            <a:pPr marL="0" lvl="0" indent="0" algn="l">
              <a:lnSpc>
                <a:spcPct val="100000"/>
              </a:lnSpc>
              <a:spcBef>
                <a:spcPts val="0"/>
              </a:spcBef>
              <a:spcAft>
                <a:spcPts val="0"/>
              </a:spcAft>
              <a:buSzPts val="1400"/>
              <a:buNone/>
            </a:pPr>
            <a:r>
              <a:t>| Invention disclosure / patent draft | No disclosure/specification supplied. | [To be added] |</a:t>
            </a:r>
            <a:endParaRPr/>
          </a:p>
          <a:p xmlns:a="http://schemas.openxmlformats.org/drawingml/2006/main">
            <a:pPr marL="0" lvl="0" indent="0" algn="l">
              <a:lnSpc>
                <a:spcPct val="100000"/>
              </a:lnSpc>
              <a:spcBef>
                <a:spcPts val="0"/>
              </a:spcBef>
              <a:spcAft>
                <a:spcPts val="0"/>
              </a:spcAft>
              <a:buSzPts val="1400"/>
              <a:buNone/>
            </a:pPr>
            <a:r>
              <a:t>| Patent filing / publication / grant | No official receipt or record supplied. | Unverified; do not claim filed/published/granted.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10.2 Research question and candidate contribution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Suggested manuscript working title: "PRIMA-NEXT: A Typed Agent Runtime for Evidence-Based Memory, Bounded Correction, and Controlled Execution." This is proposed wording, not an existing publication title.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question: Does full PRIMA improve held-out memory-assisted QA quality and reliability compared with the same model alone and simple RAG under matched budgets, and which components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contributions to evaluate: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A unified typed boundary and explicit task/profile execution, with observable component accounting and failure semantics.</a:t>
            </a:r>
            <a:endParaRPr/>
          </a:p>
          <a:p xmlns:a="http://schemas.openxmlformats.org/drawingml/2006/main">
            <a:pPr marL="0" lvl="0" indent="0" algn="l">
              <a:lnSpc>
                <a:spcPct val="100000"/>
              </a:lnSpc>
              <a:spcBef>
                <a:spcPts val="0"/>
              </a:spcBef>
              <a:spcAft>
                <a:spcPts val="0"/>
              </a:spcAft>
              <a:buSzPts val="1400"/>
              <a:buNone/>
            </a:pPr>
            <a:r>
              <a:t>2. An integrated memory lifecycle joining selective admission, traceable hybrid retrieval, and bounded background maintenance.</a:t>
            </a:r>
            <a:endParaRPr/>
          </a:p>
          <a:p xmlns:a="http://schemas.openxmlformats.org/drawingml/2006/main">
            <a:pPr marL="0" lvl="0" indent="0" algn="l">
              <a:lnSpc>
                <a:spcPct val="100000"/>
              </a:lnSpc>
              <a:spcBef>
                <a:spcPts val="0"/>
              </a:spcBef>
              <a:spcAft>
                <a:spcPts val="0"/>
              </a:spcAft>
              <a:buSzPts val="1400"/>
              <a:buNone/>
            </a:pPr>
            <a:r>
              <a:t>3. Workflow-owned uncertainty/reflection with bounded corrections and recorded before/after outcomes.</a:t>
            </a:r>
            <a:endParaRPr/>
          </a:p>
          <a:p xmlns:a="http://schemas.openxmlformats.org/drawingml/2006/main">
            <a:pPr marL="0" lvl="0" indent="0" algn="l">
              <a:lnSpc>
                <a:spcPct val="100000"/>
              </a:lnSpc>
              <a:spcBef>
                <a:spcPts val="0"/>
              </a:spcBef>
              <a:spcAft>
                <a:spcPts val="0"/>
              </a:spcAft>
              <a:buSzPts val="1400"/>
              <a:buNone/>
            </a:pPr>
            <a:r>
              <a:t>4. A reproducible evaluation protocol separating functional tests, subset component studies, real pilots, and reportable campaigns.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descriptions of engineering work and potential research contributions. Novelty relative to prior literature and benefit over strong baselines remain to establish. RAG, memory/plan/reflection agents, and verbal feedback agents already exist. A list of familiar techniques is insufficient as a novelty claim. RAG, Generative Agents, Reflexion.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10.3 Paper structure with material and gaps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Section | Material ready to write | Evidence still needed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Abstract | Problem, runtime design, scoped evaluation objective. | Final matched outcomes. Do not invent accuracy gains. |</a:t>
            </a:r>
            <a:endParaRPr/>
          </a:p>
          <a:p xmlns:a="http://schemas.openxmlformats.org/drawingml/2006/main">
            <a:pPr marL="0" lvl="0" indent="0" algn="l">
              <a:lnSpc>
                <a:spcPct val="100000"/>
              </a:lnSpc>
              <a:spcBef>
                <a:spcPts val="0"/>
              </a:spcBef>
              <a:spcAft>
                <a:spcPts val="0"/>
              </a:spcAft>
              <a:buSzPts val="1400"/>
              <a:buNone/>
            </a:pPr>
            <a:r>
              <a:t>| Introduction | Continuing-agent evidence/memory/control problem. | Target audience and explicit research hypotheses. |</a:t>
            </a:r>
            <a:endParaRPr/>
          </a:p>
          <a:p xmlns:a="http://schemas.openxmlformats.org/drawingml/2006/main">
            <a:pPr marL="0" lvl="0" indent="0" algn="l">
              <a:lnSpc>
                <a:spcPct val="100000"/>
              </a:lnSpc>
              <a:spcBef>
                <a:spcPts val="0"/>
              </a:spcBef>
              <a:spcAft>
                <a:spcPts val="0"/>
              </a:spcAft>
              <a:buSzPts val="1400"/>
              <a:buNone/>
            </a:pPr>
            <a:r>
              <a:t>| Related work | RAG, Generative Agents, Reflexion, LoCoMo/HotpotQA/GoEmotions. | Focused comparison of mechanisms and newest relevant primary literature before submission. |</a:t>
            </a:r>
            <a:endParaRPr/>
          </a:p>
          <a:p xmlns:a="http://schemas.openxmlformats.org/drawingml/2006/main">
            <a:pPr marL="0" lvl="0" indent="0" algn="l">
              <a:lnSpc>
                <a:spcPct val="100000"/>
              </a:lnSpc>
              <a:spcBef>
                <a:spcPts val="0"/>
              </a:spcBef>
              <a:spcAft>
                <a:spcPts val="0"/>
              </a:spcAft>
              <a:buSzPts val="1400"/>
              <a:buNone/>
            </a:pPr>
            <a:r>
              <a:t>| Method | Contracts, routes, memory types, fusion/admission formulas, correction budgets. | Frozen experiment configuration and precise pseudocode matching the final implementation. |</a:t>
            </a:r>
            <a:endParaRPr/>
          </a:p>
          <a:p xmlns:a="http://schemas.openxmlformats.org/drawingml/2006/main">
            <a:pPr marL="0" lvl="0" indent="0" algn="l">
              <a:lnSpc>
                <a:spcPct val="100000"/>
              </a:lnSpc>
              <a:spcBef>
                <a:spcPts val="0"/>
              </a:spcBef>
              <a:spcAft>
                <a:spcPts val="0"/>
              </a:spcAft>
              <a:buSzPts val="1400"/>
              <a:buNone/>
            </a:pPr>
            <a:r>
              <a:t>| Experimental setup | Existing adapters, scorer/claim policy, subset metadata. | Dataset/model hashes/revisions, environment, selection protocol, seeds, failure rules. |</a:t>
            </a:r>
            <a:endParaRPr/>
          </a:p>
          <a:p xmlns:a="http://schemas.openxmlformats.org/drawingml/2006/main">
            <a:pPr marL="0" lvl="0" indent="0" algn="l">
              <a:lnSpc>
                <a:spcPct val="100000"/>
              </a:lnSpc>
              <a:spcBef>
                <a:spcPts val="0"/>
              </a:spcBef>
              <a:spcAft>
                <a:spcPts val="0"/>
              </a:spcAft>
              <a:buSzPts val="1400"/>
              <a:buNone/>
            </a:pPr>
            <a:r>
              <a:t>| Results | E07/E08 exploratory component tables and scoped E06 pilot. | Complete quality runs, aggregate/category metrics, uncertainty/statistics, actual resource cost. |</a:t>
            </a:r>
            <a:endParaRPr/>
          </a:p>
          <a:p xmlns:a="http://schemas.openxmlformats.org/drawingml/2006/main">
            <a:pPr marL="0" lvl="0" indent="0" algn="l">
              <a:lnSpc>
                <a:spcPct val="100000"/>
              </a:lnSpc>
              <a:spcBef>
                <a:spcPts val="0"/>
              </a:spcBef>
              <a:spcAft>
                <a:spcPts val="0"/>
              </a:spcAft>
              <a:buSzPts val="1400"/>
              <a:buNone/>
            </a:pPr>
            <a:r>
              <a:t>| Ablations | Proposed fixed-store and single-component experiments. | Actual matched runs and help/harm analysis. |</a:t>
            </a:r>
            <a:endParaRPr/>
          </a:p>
          <a:p xmlns:a="http://schemas.openxmlformats.org/drawingml/2006/main">
            <a:pPr marL="0" lvl="0" indent="0" algn="l">
              <a:lnSpc>
                <a:spcPct val="100000"/>
              </a:lnSpc>
              <a:spcBef>
                <a:spcPts val="0"/>
              </a:spcBef>
              <a:spcAft>
                <a:spcPts val="0"/>
              </a:spcAft>
              <a:buSzPts val="1400"/>
              <a:buNone/>
            </a:pPr>
            <a:r>
              <a:t>| Discussion | Observed retrieval bottleneck and representation tradeoff. | Generalization beyond one conversation, calibration, component contribution. |</a:t>
            </a:r>
            <a:endParaRPr/>
          </a:p>
          <a:p xmlns:a="http://schemas.openxmlformats.org/drawingml/2006/main">
            <a:pPr marL="0" lvl="0" indent="0" algn="l">
              <a:lnSpc>
                <a:spcPct val="100000"/>
              </a:lnSpc>
              <a:spcBef>
                <a:spcPts val="0"/>
              </a:spcBef>
              <a:spcAft>
                <a:spcPts val="0"/>
              </a:spcAft>
              <a:buSzPts val="1400"/>
              <a:buNone/>
            </a:pPr>
            <a:r>
              <a:t>| Limitations | Symbolic/heuristic components, persistence/isolation/tool limits, incomplete evidence. | Updated limitations after fresh fixes/runs. |</a:t>
            </a:r>
            <a:endParaRPr/>
          </a:p>
          <a:p xmlns:a="http://schemas.openxmlformats.org/drawingml/2006/main">
            <a:pPr marL="0" lvl="0" indent="0" algn="l">
              <a:lnSpc>
                <a:spcPct val="100000"/>
              </a:lnSpc>
              <a:spcBef>
                <a:spcPts val="0"/>
              </a:spcBef>
              <a:spcAft>
                <a:spcPts val="0"/>
              </a:spcAft>
              <a:buSzPts val="1400"/>
              <a:buNone/>
            </a:pPr>
            <a:r>
              <a:t>| Reproducibility | Existing source/test/runbook structure. | Validated artifact bundle, checksums, secret-free configuration, dependency freeze.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Draft abstract for discussion, without fabricated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PRIMA-NEXT is a research agent runtime that coordinates memory, evidence retrieval, affect-related signals, planning, symbolic simulation, uncertainty decisions, reflection, and controlled tools through typed task-specific routes. The design records execution and failure diagnostics and bounds correction and maintenance work. We define a matched evaluation against model-only and simple-RAG configurations using conversational-memory, multi-document QA, and emotion-classification tasks. Exploratory retrieval subsets motivate learned embeddings and careful representation selection. Complete held-out comparisons are required to establish whether the additional mechanisms improve quality sufficiently to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10.4 Experiment plan for publishable claims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Freeze dataset split/version/hash, IDs/order, source histories, model/revision, dependencies, seed, context/generation settings, and retry policy.</a:t>
            </a:r>
            <a:endParaRPr/>
          </a:p>
          <a:p xmlns:a="http://schemas.openxmlformats.org/drawingml/2006/main">
            <a:pPr marL="0" lvl="0" indent="0" algn="l">
              <a:lnSpc>
                <a:spcPct val="100000"/>
              </a:lnSpc>
              <a:spcBef>
                <a:spcPts val="0"/>
              </a:spcBef>
              <a:spcAft>
                <a:spcPts val="0"/>
              </a:spcAft>
              <a:buSzPts val="1400"/>
              <a:buNone/>
            </a:pPr>
            <a:r>
              <a:t>Run model-only, simple RAG, and full PRIMA on matched selections. Clearly define which history each baseline receives.</a:t>
            </a:r>
            <a:endParaRPr/>
          </a:p>
          <a:p xmlns:a="http://schemas.openxmlformats.org/drawingml/2006/main">
            <a:pPr marL="0" lvl="0" indent="0" algn="l">
              <a:lnSpc>
                <a:spcPct val="100000"/>
              </a:lnSpc>
              <a:spcBef>
                <a:spcPts val="0"/>
              </a:spcBef>
              <a:spcAft>
                <a:spcPts val="0"/>
              </a:spcAft>
              <a:buSzPts val="1400"/>
              <a:buNone/>
            </a:pPr>
            <a:r>
              <a:t>Separate memory-formation comparisons from fixed-store retrieval comparisons.</a:t>
            </a:r>
            <a:endParaRPr/>
          </a:p>
          <a:p xmlns:a="http://schemas.openxmlformats.org/drawingml/2006/main">
            <a:pPr marL="0" lvl="0" indent="0" algn="l">
              <a:lnSpc>
                <a:spcPct val="100000"/>
              </a:lnSpc>
              <a:spcBef>
                <a:spcPts val="0"/>
              </a:spcBef>
              <a:spcAft>
                <a:spcPts val="0"/>
              </a:spcAft>
              <a:buSzPts val="1400"/>
              <a:buNone/>
            </a:pPr>
            <a:r>
              <a:t>Measure retrieval recall/ranking, native QA metrics, coverage/abstention, execution/scoring failures, tokens/latency, and memory growth.</a:t>
            </a:r>
            <a:endParaRPr/>
          </a:p>
          <a:p xmlns:a="http://schemas.openxmlformats.org/drawingml/2006/main">
            <a:pPr marL="0" lvl="0" indent="0" algn="l">
              <a:lnSpc>
                <a:spcPct val="100000"/>
              </a:lnSpc>
              <a:spcBef>
                <a:spcPts val="0"/>
              </a:spcBef>
              <a:spcAft>
                <a:spcPts val="0"/>
              </a:spcAft>
              <a:buSzPts val="1400"/>
              <a:buNone/>
            </a:pPr>
            <a:r>
              <a:t>Run targeted graph/affect/reflection ablations. Report actual correction help/harm rather than only internal confidence lift.</a:t>
            </a:r>
            <a:endParaRPr/>
          </a:p>
          <a:p xmlns:a="http://schemas.openxmlformats.org/drawingml/2006/main">
            <a:pPr marL="0" lvl="0" indent="0" algn="l">
              <a:lnSpc>
                <a:spcPct val="100000"/>
              </a:lnSpc>
              <a:spcBef>
                <a:spcPts val="0"/>
              </a:spcBef>
              <a:spcAft>
                <a:spcPts val="0"/>
              </a:spcAft>
              <a:buSzPts val="1400"/>
              <a:buNone/>
            </a:pPr>
            <a:r>
              <a:t>Tune on development data and freeze settings before test evaluation. Keep all gold annotations evaluator-owned.</a:t>
            </a:r>
            <a:endParaRPr/>
          </a:p>
          <a:p xmlns:a="http://schemas.openxmlformats.org/drawingml/2006/main">
            <a:pPr marL="0" lvl="0" indent="0" algn="l">
              <a:lnSpc>
                <a:spcPct val="100000"/>
              </a:lnSpc>
              <a:spcBef>
                <a:spcPts val="0"/>
              </a:spcBef>
              <a:spcAft>
                <a:spcPts val="0"/>
              </a:spcAft>
              <a:buSzPts val="1400"/>
              <a:buNone/>
            </a:pPr>
            <a:r>
              <a:t>Use uncertainty estimates over suitable independent units. For conversational data, account for questions clustered in conversations rather than pretending every question is independent. Statistical methods and sample size should be fixed in the protocol.</a:t>
            </a:r>
            <a:endParaRPr/>
          </a:p>
          <a:p xmlns:a="http://schemas.openxmlformats.org/drawingml/2006/main">
            <a:pPr marL="0" lvl="0" indent="0" algn="l">
              <a:lnSpc>
                <a:spcPct val="100000"/>
              </a:lnSpc>
              <a:spcBef>
                <a:spcPts val="0"/>
              </a:spcBef>
              <a:spcAft>
                <a:spcPts val="0"/>
              </a:spcAft>
              <a:buSzPts val="1400"/>
              <a:buNone/>
            </a:pPr>
            <a:r>
              <a:t>Publish negative/neutral findings and cost tradeoffs. A simpler configuration may be the useful conclusion.</a:t>
            </a:r>
            <a:endParaRPr/>
          </a:p>
          <a:p xmlns:a="http://schemas.openxmlformats.org/drawingml/2006/main">
            <a:pPr marL="0" lvl="0" indent="0" algn="l">
              <a:lnSpc>
                <a:spcPct val="100000"/>
              </a:lnSpc>
              <a:spcBef>
                <a:spcPts val="0"/>
              </a:spcBef>
              <a:spcAft>
                <a:spcPts val="0"/>
              </a:spcAft>
              <a:buSzPts val="1400"/>
              <a:buNone/>
            </a:pPr>
            <a:r>
              <a:t>Reconcile JSON/CSV fingerprints and saved-result lineage. Preserve manifests/checkpoints and validate complete coverage before using headline numbers.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10.5 Patent-oriented technical preparation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Technical candidate to investigate: the specific interaction between task/profile-controlled execution, memory admission and maintenance, and budgeted corrections with traceable state/evidence transitions. This is a candidate disclosure topic, not an assertion of patentability.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Preparation item | What the team should produce | Current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Invention definition | A precise technical problem, mechanism, and observable effect. | Candidate framing in this document; team/guide review pending. |</a:t>
            </a:r>
            <a:endParaRPr/>
          </a:p>
          <a:p xmlns:a="http://schemas.openxmlformats.org/drawingml/2006/main">
            <a:pPr marL="0" lvl="0" indent="0" algn="l">
              <a:lnSpc>
                <a:spcPct val="100000"/>
              </a:lnSpc>
              <a:spcBef>
                <a:spcPts val="0"/>
              </a:spcBef>
              <a:spcAft>
                <a:spcPts val="0"/>
              </a:spcAft>
              <a:buSzPts val="1400"/>
              <a:buNone/>
            </a:pPr>
            <a:r>
              <a:t>| Inventor/contribution record | Named contributors and evidence of their contribution to the proposed mechanism. | Git contributors exist; inventorship is not established by that list. |</a:t>
            </a:r>
            <a:endParaRPr/>
          </a:p>
          <a:p xmlns:a="http://schemas.openxmlformats.org/drawingml/2006/main">
            <a:pPr marL="0" lvl="0" indent="0" algn="l">
              <a:lnSpc>
                <a:spcPct val="100000"/>
              </a:lnSpc>
              <a:spcBef>
                <a:spcPts val="0"/>
              </a:spcBef>
              <a:spcAft>
                <a:spcPts val="0"/>
              </a:spcAft>
              <a:buSzPts val="1400"/>
              <a:buNone/>
            </a:pPr>
            <a:r>
              <a:t>| Prior-art comparison | Claim-by-claim mechanism comparison with relevant papers and patent records. | Foundational literature identified; patent prior-art search not performed. |</a:t>
            </a:r>
            <a:endParaRPr/>
          </a:p>
          <a:p xmlns:a="http://schemas.openxmlformats.org/drawingml/2006/main">
            <a:pPr marL="0" lvl="0" indent="0" algn="l">
              <a:lnSpc>
                <a:spcPct val="100000"/>
              </a:lnSpc>
              <a:spcBef>
                <a:spcPts val="0"/>
              </a:spcBef>
              <a:spcAft>
                <a:spcPts val="0"/>
              </a:spcAft>
              <a:buSzPts val="1400"/>
              <a:buNone/>
            </a:pPr>
            <a:r>
              <a:t>| Technical disclosure | Architecture, state transitions, alternatives, reproducible example, measured effect. | Source/docs supply material; formal disclosure not supplied. |</a:t>
            </a:r>
            <a:endParaRPr/>
          </a:p>
          <a:p xmlns:a="http://schemas.openxmlformats.org/drawingml/2006/main">
            <a:pPr marL="0" lvl="0" indent="0" algn="l">
              <a:lnSpc>
                <a:spcPct val="100000"/>
              </a:lnSpc>
              <a:spcBef>
                <a:spcPts val="0"/>
              </a:spcBef>
              <a:spcAft>
                <a:spcPts val="0"/>
              </a:spcAft>
              <a:buSzPts val="1400"/>
              <a:buNone/>
            </a:pPr>
            <a:r>
              <a:t>| Institutional review | Guide/institution IP office review and documented decision. | Team confirmation required. |</a:t>
            </a:r>
            <a:endParaRPr/>
          </a:p>
          <a:p xmlns:a="http://schemas.openxmlformats.org/drawingml/2006/main">
            <a:pPr marL="0" lvl="0" indent="0" algn="l">
              <a:lnSpc>
                <a:spcPct val="100000"/>
              </a:lnSpc>
              <a:spcBef>
                <a:spcPts val="0"/>
              </a:spcBef>
              <a:spcAft>
                <a:spcPts val="0"/>
              </a:spcAft>
              <a:buSzPts val="1400"/>
              <a:buNone/>
            </a:pPr>
            <a:r>
              <a:t>| Filing milestones | Official receipt, application number/date, jurisdiction, filing type, status evidence. | None supplied. |</a:t>
            </a:r>
            <a:endParaRPr/>
          </a:p>
          <a:p xmlns:a="http://schemas.openxmlformats.org/drawingml/2006/main">
            <a:pPr marL="0" lvl="0" indent="0" algn="l">
              <a:lnSpc>
                <a:spcPct val="100000"/>
              </a:lnSpc>
              <a:spcBef>
                <a:spcPts val="0"/>
              </a:spcBef>
              <a:spcAft>
                <a:spcPts val="0"/>
              </a:spcAft>
              <a:buSzPts val="1400"/>
              <a:buNone/>
            </a:pPr>
            <a:r>
              <a:t>| Later status | Publication record or grant document, distinct from initial filing. | None supplied.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paper describes scientific methods/results. A patent-oriented disclosure must identify a specific proposed invention and supporting mechanism. Use the institution's IP office to determine applicable requirements and the sequence of public release/submission/filing. This document makes no legal eligibility or filing-status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Safe spoken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Our implementation and experiment infrastructure are available. We have exploratory retrieval results and a reported LoCoMo operational pilot. We are preparing a complete matched evaluation and manuscript evidence package. Paper submission and patent filing status will be shown only with the team's corresponding records.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10.6 Evidence the team must add before the mentor meeting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paper: exact title, author order/affiliations, versioned manuscript, guide feedback, target venue, submission date/ID and receipt if submitted, acceptance notice if accepted, published URL/DOI if published.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patent: proposed invention title, disclosure/specification version, institutional review status, contributor/inventor confirmation, official application receipt and number/date if filed, publication/grant record if those stages occurred.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Track stage names separately. Drafted, submitted, accepted, and published are different paper milestones. Disclosure prepared, application filed, application published, and granted are different patent milestones.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https://arxiv.org/abs/2005.11401</a:t>
            </a:r>
            <a:endParaRPr/>
          </a:p>
          <a:p xmlns:a="http://schemas.openxmlformats.org/drawingml/2006/main">
            <a:pPr marL="0" lvl="0" indent="0" algn="l">
              <a:lnSpc>
                <a:spcPct val="100000"/>
              </a:lnSpc>
              <a:spcBef>
                <a:spcPts val="0"/>
              </a:spcBef>
              <a:spcAft>
                <a:spcPts val="0"/>
              </a:spcAft>
              <a:buSzPts val="1400"/>
              <a:buNone/>
            </a:pPr>
            <a:r>
              <a:t>https://arxiv.org/abs/2304.03442</a:t>
            </a:r>
            <a:endParaRPr/>
          </a:p>
          <a:p xmlns:a="http://schemas.openxmlformats.org/drawingml/2006/main">
            <a:pPr marL="0" lvl="0" indent="0" algn="l">
              <a:lnSpc>
                <a:spcPct val="100000"/>
              </a:lnSpc>
              <a:spcBef>
                <a:spcPts val="0"/>
              </a:spcBef>
              <a:spcAft>
                <a:spcPts val="0"/>
              </a:spcAft>
              <a:buSzPts val="1400"/>
              <a:buNone/>
            </a:pPr>
            <a:r>
              <a:t>https://arxiv.org/abs/2303.11366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Publication and filing evidence (2/2)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 Additional requested section: research paper and patent progress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10.1 Actual verified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inspected repository contains source, technical documentation, benchmark code, tests, saved subset results, and pilot notes. It does not establish a manuscript submission, acceptance, published PRIMA paper, invention-disclosure submission, patent application, publication number, or grant. No manuscript or filing receipt was supplied with the request. This is a statement about available evidence, not proof that the team has done no work elsewhere.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Milestone | Evidence currently available | Honest slide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Research system implementation | E01 - E03, module tests. | Implemented research prototype. |</a:t>
            </a:r>
            <a:endParaRPr/>
          </a:p>
          <a:p xmlns:a="http://schemas.openxmlformats.org/drawingml/2006/main">
            <a:pPr marL="0" lvl="0" indent="0" algn="l">
              <a:lnSpc>
                <a:spcPct val="100000"/>
              </a:lnSpc>
              <a:spcBef>
                <a:spcPts val="0"/>
              </a:spcBef>
              <a:spcAft>
                <a:spcPts val="0"/>
              </a:spcAft>
              <a:buSzPts val="1400"/>
              <a:buNone/>
            </a:pPr>
            <a:r>
              <a:t>| Technical documentation | E04 and this review document. | Architecture and review material prepared. |</a:t>
            </a:r>
            <a:endParaRPr/>
          </a:p>
          <a:p xmlns:a="http://schemas.openxmlformats.org/drawingml/2006/main">
            <a:pPr marL="0" lvl="0" indent="0" algn="l">
              <a:lnSpc>
                <a:spcPct val="100000"/>
              </a:lnSpc>
              <a:spcBef>
                <a:spcPts val="0"/>
              </a:spcBef>
              <a:spcAft>
                <a:spcPts val="0"/>
              </a:spcAft>
              <a:buSzPts val="1400"/>
              <a:buNone/>
            </a:pPr>
            <a:r>
              <a:t>| Exploratory component experiments | E07/E08. | Saved subset results inspected; provenance reconciliation and fresh validation pending. |</a:t>
            </a:r>
            <a:endParaRPr/>
          </a:p>
          <a:p xmlns:a="http://schemas.openxmlformats.org/drawingml/2006/main">
            <a:pPr marL="0" lvl="0" indent="0" algn="l">
              <a:lnSpc>
                <a:spcPct val="100000"/>
              </a:lnSpc>
              <a:spcBef>
                <a:spcPts val="0"/>
              </a:spcBef>
              <a:spcAft>
                <a:spcPts val="0"/>
              </a:spcAft>
              <a:buSzPts val="1400"/>
              <a:buNone/>
            </a:pPr>
            <a:r>
              <a:t>| Real operational pilot | E06. | Repository-reported LoCoMo pilot, full completion unverified here. |</a:t>
            </a:r>
            <a:endParaRPr/>
          </a:p>
          <a:p xmlns:a="http://schemas.openxmlformats.org/drawingml/2006/main">
            <a:pPr marL="0" lvl="0" indent="0" algn="l">
              <a:lnSpc>
                <a:spcPct val="100000"/>
              </a:lnSpc>
              <a:spcBef>
                <a:spcPts val="0"/>
              </a:spcBef>
              <a:spcAft>
                <a:spcPts val="0"/>
              </a:spcAft>
              <a:buSzPts val="1400"/>
              <a:buNone/>
            </a:pPr>
            <a:r>
              <a:t>| Full matched final experiments | No complete validated final campaign established by inspected evidence. | Pending verification/execution. |</a:t>
            </a:r>
            <a:endParaRPr/>
          </a:p>
          <a:p xmlns:a="http://schemas.openxmlformats.org/drawingml/2006/main">
            <a:pPr marL="0" lvl="0" indent="0" algn="l">
              <a:lnSpc>
                <a:spcPct val="100000"/>
              </a:lnSpc>
              <a:spcBef>
                <a:spcPts val="0"/>
              </a:spcBef>
              <a:spcAft>
                <a:spcPts val="0"/>
              </a:spcAft>
              <a:buSzPts val="1400"/>
              <a:buNone/>
            </a:pPr>
            <a:r>
              <a:t>| PRIMA manuscript draft | No draft supplied or identified in inspected project material. | [To be added] |</a:t>
            </a:r>
            <a:endParaRPr/>
          </a:p>
          <a:p xmlns:a="http://schemas.openxmlformats.org/drawingml/2006/main">
            <a:pPr marL="0" lvl="0" indent="0" algn="l">
              <a:lnSpc>
                <a:spcPct val="100000"/>
              </a:lnSpc>
              <a:spcBef>
                <a:spcPts val="0"/>
              </a:spcBef>
              <a:spcAft>
                <a:spcPts val="0"/>
              </a:spcAft>
              <a:buSzPts val="1400"/>
              <a:buNone/>
            </a:pPr>
            <a:r>
              <a:t>| Venue and submission | No submission receipt/ID supplied. | [To be added] |</a:t>
            </a:r>
            <a:endParaRPr/>
          </a:p>
          <a:p xmlns:a="http://schemas.openxmlformats.org/drawingml/2006/main">
            <a:pPr marL="0" lvl="0" indent="0" algn="l">
              <a:lnSpc>
                <a:spcPct val="100000"/>
              </a:lnSpc>
              <a:spcBef>
                <a:spcPts val="0"/>
              </a:spcBef>
              <a:spcAft>
                <a:spcPts val="0"/>
              </a:spcAft>
              <a:buSzPts val="1400"/>
              <a:buNone/>
            </a:pPr>
            <a:r>
              <a:t>| Acceptance / publication / DOI | No acceptance notice or published record supplied. | Unverified; do not claim accepted/published. |</a:t>
            </a:r>
            <a:endParaRPr/>
          </a:p>
          <a:p xmlns:a="http://schemas.openxmlformats.org/drawingml/2006/main">
            <a:pPr marL="0" lvl="0" indent="0" algn="l">
              <a:lnSpc>
                <a:spcPct val="100000"/>
              </a:lnSpc>
              <a:spcBef>
                <a:spcPts val="0"/>
              </a:spcBef>
              <a:spcAft>
                <a:spcPts val="0"/>
              </a:spcAft>
              <a:buSzPts val="1400"/>
              <a:buNone/>
            </a:pPr>
            <a:r>
              <a:t>| Invention disclosure / patent draft | No disclosure/specification supplied. | [To be added] |</a:t>
            </a:r>
            <a:endParaRPr/>
          </a:p>
          <a:p xmlns:a="http://schemas.openxmlformats.org/drawingml/2006/main">
            <a:pPr marL="0" lvl="0" indent="0" algn="l">
              <a:lnSpc>
                <a:spcPct val="100000"/>
              </a:lnSpc>
              <a:spcBef>
                <a:spcPts val="0"/>
              </a:spcBef>
              <a:spcAft>
                <a:spcPts val="0"/>
              </a:spcAft>
              <a:buSzPts val="1400"/>
              <a:buNone/>
            </a:pPr>
            <a:r>
              <a:t>| Patent filing / publication / grant | No official receipt or record supplied. | Unverified; do not claim filed/published/granted.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10.2 Research question and candidate contribution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Suggested manuscript working title: "PRIMA-NEXT: A Typed Agent Runtime for Evidence-Based Memory, Bounded Correction, and Controlled Execution." This is proposed wording, not an existing publication title.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Primary question: Does full PRIMA improve held-out memory-assisted QA quality and reliability compared with the same model alone and simple RAG under matched budgets, and which components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Candidate contributions to evaluate: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A unified typed boundary and explicit task/profile execution, with observable component accounting and failure semantics.</a:t>
            </a:r>
            <a:endParaRPr/>
          </a:p>
          <a:p xmlns:a="http://schemas.openxmlformats.org/drawingml/2006/main">
            <a:pPr marL="0" lvl="0" indent="0" algn="l">
              <a:lnSpc>
                <a:spcPct val="100000"/>
              </a:lnSpc>
              <a:spcBef>
                <a:spcPts val="0"/>
              </a:spcBef>
              <a:spcAft>
                <a:spcPts val="0"/>
              </a:spcAft>
              <a:buSzPts val="1400"/>
              <a:buNone/>
            </a:pPr>
            <a:r>
              <a:t>2. An integrated memory lifecycle joining selective admission, traceable hybrid retrieval, and bounded background maintenance.</a:t>
            </a:r>
            <a:endParaRPr/>
          </a:p>
          <a:p xmlns:a="http://schemas.openxmlformats.org/drawingml/2006/main">
            <a:pPr marL="0" lvl="0" indent="0" algn="l">
              <a:lnSpc>
                <a:spcPct val="100000"/>
              </a:lnSpc>
              <a:spcBef>
                <a:spcPts val="0"/>
              </a:spcBef>
              <a:spcAft>
                <a:spcPts val="0"/>
              </a:spcAft>
              <a:buSzPts val="1400"/>
              <a:buNone/>
            </a:pPr>
            <a:r>
              <a:t>3. Workflow-owned uncertainty/reflection with bounded corrections and recorded before/after outcomes.</a:t>
            </a:r>
            <a:endParaRPr/>
          </a:p>
          <a:p xmlns:a="http://schemas.openxmlformats.org/drawingml/2006/main">
            <a:pPr marL="0" lvl="0" indent="0" algn="l">
              <a:lnSpc>
                <a:spcPct val="100000"/>
              </a:lnSpc>
              <a:spcBef>
                <a:spcPts val="0"/>
              </a:spcBef>
              <a:spcAft>
                <a:spcPts val="0"/>
              </a:spcAft>
              <a:buSzPts val="1400"/>
              <a:buNone/>
            </a:pPr>
            <a:r>
              <a:t>4. A reproducible evaluation protocol separating functional tests, subset component studies, real pilots, and reportable campaigns.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are descriptions of engineering work and potential research contributions. Novelty relative to prior literature and benefit over strong baselines remain to establish. RAG, memory/plan/reflection agents, and verbal feedback agents already exist. A list of familiar techniques is insufficient as a novelty claim. RAG, Generative Agents, Reflexion.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10.3 Paper structure with material and gaps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Section | Material ready to write | Evidence still needed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Abstract | Problem, runtime design, scoped evaluation objective. | Final matched outcomes. Do not invent accuracy gains. |</a:t>
            </a:r>
            <a:endParaRPr/>
          </a:p>
          <a:p xmlns:a="http://schemas.openxmlformats.org/drawingml/2006/main">
            <a:pPr marL="0" lvl="0" indent="0" algn="l">
              <a:lnSpc>
                <a:spcPct val="100000"/>
              </a:lnSpc>
              <a:spcBef>
                <a:spcPts val="0"/>
              </a:spcBef>
              <a:spcAft>
                <a:spcPts val="0"/>
              </a:spcAft>
              <a:buSzPts val="1400"/>
              <a:buNone/>
            </a:pPr>
            <a:r>
              <a:t>| Introduction | Continuing-agent evidence/memory/control problem. | Target audience and explicit research hypotheses. |</a:t>
            </a:r>
            <a:endParaRPr/>
          </a:p>
          <a:p xmlns:a="http://schemas.openxmlformats.org/drawingml/2006/main">
            <a:pPr marL="0" lvl="0" indent="0" algn="l">
              <a:lnSpc>
                <a:spcPct val="100000"/>
              </a:lnSpc>
              <a:spcBef>
                <a:spcPts val="0"/>
              </a:spcBef>
              <a:spcAft>
                <a:spcPts val="0"/>
              </a:spcAft>
              <a:buSzPts val="1400"/>
              <a:buNone/>
            </a:pPr>
            <a:r>
              <a:t>| Related work | RAG, Generative Agents, Reflexion, LoCoMo/HotpotQA/GoEmotions. | Focused comparison of mechanisms and newest relevant primary literature before submission. |</a:t>
            </a:r>
            <a:endParaRPr/>
          </a:p>
          <a:p xmlns:a="http://schemas.openxmlformats.org/drawingml/2006/main">
            <a:pPr marL="0" lvl="0" indent="0" algn="l">
              <a:lnSpc>
                <a:spcPct val="100000"/>
              </a:lnSpc>
              <a:spcBef>
                <a:spcPts val="0"/>
              </a:spcBef>
              <a:spcAft>
                <a:spcPts val="0"/>
              </a:spcAft>
              <a:buSzPts val="1400"/>
              <a:buNone/>
            </a:pPr>
            <a:r>
              <a:t>| Method | Contracts, routes, memory types, fusion/admission formulas, correction budgets. | Frozen experiment configuration and precise pseudocode matching the final implementation. |</a:t>
            </a:r>
            <a:endParaRPr/>
          </a:p>
          <a:p xmlns:a="http://schemas.openxmlformats.org/drawingml/2006/main">
            <a:pPr marL="0" lvl="0" indent="0" algn="l">
              <a:lnSpc>
                <a:spcPct val="100000"/>
              </a:lnSpc>
              <a:spcBef>
                <a:spcPts val="0"/>
              </a:spcBef>
              <a:spcAft>
                <a:spcPts val="0"/>
              </a:spcAft>
              <a:buSzPts val="1400"/>
              <a:buNone/>
            </a:pPr>
            <a:r>
              <a:t>| Experimental setup | Existing adapters, scorer/claim policy, subset metadata. | Dataset/model hashes/revisions, environment, selection protocol, seeds, failure rules. |</a:t>
            </a:r>
            <a:endParaRPr/>
          </a:p>
          <a:p xmlns:a="http://schemas.openxmlformats.org/drawingml/2006/main">
            <a:pPr marL="0" lvl="0" indent="0" algn="l">
              <a:lnSpc>
                <a:spcPct val="100000"/>
              </a:lnSpc>
              <a:spcBef>
                <a:spcPts val="0"/>
              </a:spcBef>
              <a:spcAft>
                <a:spcPts val="0"/>
              </a:spcAft>
              <a:buSzPts val="1400"/>
              <a:buNone/>
            </a:pPr>
            <a:r>
              <a:t>| Results | E07/E08 exploratory component tables and scoped E06 pilot. | Complete quality runs, aggregate/category metrics, uncertainty/statistics, actual resource cost. |</a:t>
            </a:r>
            <a:endParaRPr/>
          </a:p>
          <a:p xmlns:a="http://schemas.openxmlformats.org/drawingml/2006/main">
            <a:pPr marL="0" lvl="0" indent="0" algn="l">
              <a:lnSpc>
                <a:spcPct val="100000"/>
              </a:lnSpc>
              <a:spcBef>
                <a:spcPts val="0"/>
              </a:spcBef>
              <a:spcAft>
                <a:spcPts val="0"/>
              </a:spcAft>
              <a:buSzPts val="1400"/>
              <a:buNone/>
            </a:pPr>
            <a:r>
              <a:t>| Ablations | Proposed fixed-store and single-component experiments. | Actual matched runs and help/harm analysis. |</a:t>
            </a:r>
            <a:endParaRPr/>
          </a:p>
          <a:p xmlns:a="http://schemas.openxmlformats.org/drawingml/2006/main">
            <a:pPr marL="0" lvl="0" indent="0" algn="l">
              <a:lnSpc>
                <a:spcPct val="100000"/>
              </a:lnSpc>
              <a:spcBef>
                <a:spcPts val="0"/>
              </a:spcBef>
              <a:spcAft>
                <a:spcPts val="0"/>
              </a:spcAft>
              <a:buSzPts val="1400"/>
              <a:buNone/>
            </a:pPr>
            <a:r>
              <a:t>| Discussion | Observed retrieval bottleneck and representation tradeoff. | Generalization beyond one conversation, calibration, component contribution. |</a:t>
            </a:r>
            <a:endParaRPr/>
          </a:p>
          <a:p xmlns:a="http://schemas.openxmlformats.org/drawingml/2006/main">
            <a:pPr marL="0" lvl="0" indent="0" algn="l">
              <a:lnSpc>
                <a:spcPct val="100000"/>
              </a:lnSpc>
              <a:spcBef>
                <a:spcPts val="0"/>
              </a:spcBef>
              <a:spcAft>
                <a:spcPts val="0"/>
              </a:spcAft>
              <a:buSzPts val="1400"/>
              <a:buNone/>
            </a:pPr>
            <a:r>
              <a:t>| Limitations | Symbolic/heuristic components, persistence/isolation/tool limits, incomplete evidence. | Updated limitations after fresh fixes/runs. |</a:t>
            </a:r>
            <a:endParaRPr/>
          </a:p>
          <a:p xmlns:a="http://schemas.openxmlformats.org/drawingml/2006/main">
            <a:pPr marL="0" lvl="0" indent="0" algn="l">
              <a:lnSpc>
                <a:spcPct val="100000"/>
              </a:lnSpc>
              <a:spcBef>
                <a:spcPts val="0"/>
              </a:spcBef>
              <a:spcAft>
                <a:spcPts val="0"/>
              </a:spcAft>
              <a:buSzPts val="1400"/>
              <a:buNone/>
            </a:pPr>
            <a:r>
              <a:t>| Reproducibility | Existing source/test/runbook structure. | Validated artifact bundle, checksums, secret-free configuration, dependency freeze.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Draft abstract for discussion, without fabricated results: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PRIMA-NEXT is a research agent runtime that coordinates memory, evidence retrieval, affect-related signals, planning, symbolic simulation, uncertainty decisions, reflection, and controlled tools through typed task-specific routes. The design records execution and failure diagnostics and bounds correction and maintenance work. We define a matched evaluation against model-only and simple-RAG configurations using conversational-memory, multi-document QA, and emotion-classification tasks. Exploratory retrieval subsets motivate learned embeddings and careful representation selection. Complete held-out comparisons are required to establish whether the additional mechanisms improve quality sufficiently to justify their cost.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10.4 Experiment plan for publishable claims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Freeze dataset split/version/hash, IDs/order, source histories, model/revision, dependencies, seed, context/generation settings, and retry policy.</a:t>
            </a:r>
            <a:endParaRPr/>
          </a:p>
          <a:p xmlns:a="http://schemas.openxmlformats.org/drawingml/2006/main">
            <a:pPr marL="0" lvl="0" indent="0" algn="l">
              <a:lnSpc>
                <a:spcPct val="100000"/>
              </a:lnSpc>
              <a:spcBef>
                <a:spcPts val="0"/>
              </a:spcBef>
              <a:spcAft>
                <a:spcPts val="0"/>
              </a:spcAft>
              <a:buSzPts val="1400"/>
              <a:buNone/>
            </a:pPr>
            <a:r>
              <a:t>Run model-only, simple RAG, and full PRIMA on matched selections. Clearly define which history each baseline receives.</a:t>
            </a:r>
            <a:endParaRPr/>
          </a:p>
          <a:p xmlns:a="http://schemas.openxmlformats.org/drawingml/2006/main">
            <a:pPr marL="0" lvl="0" indent="0" algn="l">
              <a:lnSpc>
                <a:spcPct val="100000"/>
              </a:lnSpc>
              <a:spcBef>
                <a:spcPts val="0"/>
              </a:spcBef>
              <a:spcAft>
                <a:spcPts val="0"/>
              </a:spcAft>
              <a:buSzPts val="1400"/>
              <a:buNone/>
            </a:pPr>
            <a:r>
              <a:t>Separate memory-formation comparisons from fixed-store retrieval comparisons.</a:t>
            </a:r>
            <a:endParaRPr/>
          </a:p>
          <a:p xmlns:a="http://schemas.openxmlformats.org/drawingml/2006/main">
            <a:pPr marL="0" lvl="0" indent="0" algn="l">
              <a:lnSpc>
                <a:spcPct val="100000"/>
              </a:lnSpc>
              <a:spcBef>
                <a:spcPts val="0"/>
              </a:spcBef>
              <a:spcAft>
                <a:spcPts val="0"/>
              </a:spcAft>
              <a:buSzPts val="1400"/>
              <a:buNone/>
            </a:pPr>
            <a:r>
              <a:t>Measure retrieval recall/ranking, native QA metrics, coverage/abstention, execution/scoring failures, tokens/latency, and memory growth.</a:t>
            </a:r>
            <a:endParaRPr/>
          </a:p>
          <a:p xmlns:a="http://schemas.openxmlformats.org/drawingml/2006/main">
            <a:pPr marL="0" lvl="0" indent="0" algn="l">
              <a:lnSpc>
                <a:spcPct val="100000"/>
              </a:lnSpc>
              <a:spcBef>
                <a:spcPts val="0"/>
              </a:spcBef>
              <a:spcAft>
                <a:spcPts val="0"/>
              </a:spcAft>
              <a:buSzPts val="1400"/>
              <a:buNone/>
            </a:pPr>
            <a:r>
              <a:t>Run targeted graph/affect/reflection ablations. Report actual correction help/harm rather than only internal confidence lift.</a:t>
            </a:r>
            <a:endParaRPr/>
          </a:p>
          <a:p xmlns:a="http://schemas.openxmlformats.org/drawingml/2006/main">
            <a:pPr marL="0" lvl="0" indent="0" algn="l">
              <a:lnSpc>
                <a:spcPct val="100000"/>
              </a:lnSpc>
              <a:spcBef>
                <a:spcPts val="0"/>
              </a:spcBef>
              <a:spcAft>
                <a:spcPts val="0"/>
              </a:spcAft>
              <a:buSzPts val="1400"/>
              <a:buNone/>
            </a:pPr>
            <a:r>
              <a:t>Tune on development data and freeze settings before test evaluation. Keep all gold annotations evaluator-owned.</a:t>
            </a:r>
            <a:endParaRPr/>
          </a:p>
          <a:p xmlns:a="http://schemas.openxmlformats.org/drawingml/2006/main">
            <a:pPr marL="0" lvl="0" indent="0" algn="l">
              <a:lnSpc>
                <a:spcPct val="100000"/>
              </a:lnSpc>
              <a:spcBef>
                <a:spcPts val="0"/>
              </a:spcBef>
              <a:spcAft>
                <a:spcPts val="0"/>
              </a:spcAft>
              <a:buSzPts val="1400"/>
              <a:buNone/>
            </a:pPr>
            <a:r>
              <a:t>Use uncertainty estimates over suitable independent units. For conversational data, account for questions clustered in conversations rather than pretending every question is independent. Statistical methods and sample size should be fixed in the protocol.</a:t>
            </a:r>
            <a:endParaRPr/>
          </a:p>
          <a:p xmlns:a="http://schemas.openxmlformats.org/drawingml/2006/main">
            <a:pPr marL="0" lvl="0" indent="0" algn="l">
              <a:lnSpc>
                <a:spcPct val="100000"/>
              </a:lnSpc>
              <a:spcBef>
                <a:spcPts val="0"/>
              </a:spcBef>
              <a:spcAft>
                <a:spcPts val="0"/>
              </a:spcAft>
              <a:buSzPts val="1400"/>
              <a:buNone/>
            </a:pPr>
            <a:r>
              <a:t>Publish negative/neutral findings and cost tradeoffs. A simpler configuration may be the useful conclusion.</a:t>
            </a:r>
            <a:endParaRPr/>
          </a:p>
          <a:p xmlns:a="http://schemas.openxmlformats.org/drawingml/2006/main">
            <a:pPr marL="0" lvl="0" indent="0" algn="l">
              <a:lnSpc>
                <a:spcPct val="100000"/>
              </a:lnSpc>
              <a:spcBef>
                <a:spcPts val="0"/>
              </a:spcBef>
              <a:spcAft>
                <a:spcPts val="0"/>
              </a:spcAft>
              <a:buSzPts val="1400"/>
              <a:buNone/>
            </a:pPr>
            <a:r>
              <a:t>Reconcile JSON/CSV fingerprints and saved-result lineage. Preserve manifests/checkpoints and validate complete coverage before using headline numbers.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10.5 Patent-oriented technical preparation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Technical candidate to investigate: the specific interaction between task/profile-controlled execution, memory admission and maintenance, and budgeted corrections with traceable state/evidence transitions. This is a candidate disclosure topic, not an assertion of patentability.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Preparation item | What the team should produce | Current status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Invention definition | A precise technical problem, mechanism, and observable effect. | Candidate framing in this document; team/guide review pending. |</a:t>
            </a:r>
            <a:endParaRPr/>
          </a:p>
          <a:p xmlns:a="http://schemas.openxmlformats.org/drawingml/2006/main">
            <a:pPr marL="0" lvl="0" indent="0" algn="l">
              <a:lnSpc>
                <a:spcPct val="100000"/>
              </a:lnSpc>
              <a:spcBef>
                <a:spcPts val="0"/>
              </a:spcBef>
              <a:spcAft>
                <a:spcPts val="0"/>
              </a:spcAft>
              <a:buSzPts val="1400"/>
              <a:buNone/>
            </a:pPr>
            <a:r>
              <a:t>| Inventor/contribution record | Named contributors and evidence of their contribution to the proposed mechanism. | Git contributors exist; inventorship is not established by that list. |</a:t>
            </a:r>
            <a:endParaRPr/>
          </a:p>
          <a:p xmlns:a="http://schemas.openxmlformats.org/drawingml/2006/main">
            <a:pPr marL="0" lvl="0" indent="0" algn="l">
              <a:lnSpc>
                <a:spcPct val="100000"/>
              </a:lnSpc>
              <a:spcBef>
                <a:spcPts val="0"/>
              </a:spcBef>
              <a:spcAft>
                <a:spcPts val="0"/>
              </a:spcAft>
              <a:buSzPts val="1400"/>
              <a:buNone/>
            </a:pPr>
            <a:r>
              <a:t>| Prior-art comparison | Claim-by-claim mechanism comparison with relevant papers and patent records. | Foundational literature identified; patent prior-art search not performed. |</a:t>
            </a:r>
            <a:endParaRPr/>
          </a:p>
          <a:p xmlns:a="http://schemas.openxmlformats.org/drawingml/2006/main">
            <a:pPr marL="0" lvl="0" indent="0" algn="l">
              <a:lnSpc>
                <a:spcPct val="100000"/>
              </a:lnSpc>
              <a:spcBef>
                <a:spcPts val="0"/>
              </a:spcBef>
              <a:spcAft>
                <a:spcPts val="0"/>
              </a:spcAft>
              <a:buSzPts val="1400"/>
              <a:buNone/>
            </a:pPr>
            <a:r>
              <a:t>| Technical disclosure | Architecture, state transitions, alternatives, reproducible example, measured effect. | Source/docs supply material; formal disclosure not supplied. |</a:t>
            </a:r>
            <a:endParaRPr/>
          </a:p>
          <a:p xmlns:a="http://schemas.openxmlformats.org/drawingml/2006/main">
            <a:pPr marL="0" lvl="0" indent="0" algn="l">
              <a:lnSpc>
                <a:spcPct val="100000"/>
              </a:lnSpc>
              <a:spcBef>
                <a:spcPts val="0"/>
              </a:spcBef>
              <a:spcAft>
                <a:spcPts val="0"/>
              </a:spcAft>
              <a:buSzPts val="1400"/>
              <a:buNone/>
            </a:pPr>
            <a:r>
              <a:t>| Institutional review | Guide/institution IP office review and documented decision. | Team confirmation required. |</a:t>
            </a:r>
            <a:endParaRPr/>
          </a:p>
          <a:p xmlns:a="http://schemas.openxmlformats.org/drawingml/2006/main">
            <a:pPr marL="0" lvl="0" indent="0" algn="l">
              <a:lnSpc>
                <a:spcPct val="100000"/>
              </a:lnSpc>
              <a:spcBef>
                <a:spcPts val="0"/>
              </a:spcBef>
              <a:spcAft>
                <a:spcPts val="0"/>
              </a:spcAft>
              <a:buSzPts val="1400"/>
              <a:buNone/>
            </a:pPr>
            <a:r>
              <a:t>| Filing milestones | Official receipt, application number/date, jurisdiction, filing type, status evidence. | None supplied. |</a:t>
            </a:r>
            <a:endParaRPr/>
          </a:p>
          <a:p xmlns:a="http://schemas.openxmlformats.org/drawingml/2006/main">
            <a:pPr marL="0" lvl="0" indent="0" algn="l">
              <a:lnSpc>
                <a:spcPct val="100000"/>
              </a:lnSpc>
              <a:spcBef>
                <a:spcPts val="0"/>
              </a:spcBef>
              <a:spcAft>
                <a:spcPts val="0"/>
              </a:spcAft>
              <a:buSzPts val="1400"/>
              <a:buNone/>
            </a:pPr>
            <a:r>
              <a:t>| Later status | Publication record or grant document, distinct from initial filing. | None supplied.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paper describes scientific methods/results. A patent-oriented disclosure must identify a specific proposed invention and supporting mechanism. Use the institution's IP office to determine applicable requirements and the sequence of public release/submission/filing. This document makes no legal eligibility or filing-status claim.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Safe spoken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Our implementation and experiment infrastructure are available. We have exploratory retrieval results and a reported LoCoMo operational pilot. We are preparing a complete matched evaluation and manuscript evidence package. Paper submission and patent filing status will be shown only with the team's corresponding records.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10.6 Evidence the team must add before the mentor meeting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paper: exact title, author order/affiliations, versioned manuscript, guide feedback, target venue, submission date/ID and receipt if submitted, acceptance notice if accepted, published URL/DOI if published.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For a patent: proposed invention title, disclosure/specification version, institutional review status, contributor/inventor confirmation, official application receipt and number/date if filed, publication/grant record if those stages occurred.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Track stage names separately. Drafted, submitted, accepted, and published are different paper milestones. Disclosure prepared, application filed, application published, and granted are different patent milestones.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https://arxiv.org/abs/2005.11401</a:t>
            </a:r>
            <a:endParaRPr/>
          </a:p>
          <a:p xmlns:a="http://schemas.openxmlformats.org/drawingml/2006/main">
            <a:pPr marL="0" lvl="0" indent="0" algn="l">
              <a:lnSpc>
                <a:spcPct val="100000"/>
              </a:lnSpc>
              <a:spcBef>
                <a:spcPts val="0"/>
              </a:spcBef>
              <a:spcAft>
                <a:spcPts val="0"/>
              </a:spcAft>
              <a:buSzPts val="1400"/>
              <a:buNone/>
            </a:pPr>
            <a:r>
              <a:t>https://arxiv.org/abs/2304.03442</a:t>
            </a:r>
            <a:endParaRPr/>
          </a:p>
          <a:p xmlns:a="http://schemas.openxmlformats.org/drawingml/2006/main">
            <a:pPr marL="0" lvl="0" indent="0" algn="l">
              <a:lnSpc>
                <a:spcPct val="100000"/>
              </a:lnSpc>
              <a:spcBef>
                <a:spcPts val="0"/>
              </a:spcBef>
              <a:spcAft>
                <a:spcPts val="0"/>
              </a:spcAft>
              <a:buSzPts val="1400"/>
              <a:buNone/>
            </a:pPr>
            <a:r>
              <a:t>https://arxiv.org/abs/2303.11366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Timeline - Update on Pending Tasks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11. Slide 9: updated pending tasks and Gantt chart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Proposed schedule, assuming work starts on 12 October 2026. The mentor-review date, team availability, publication deadline, and owners were not supplied. Adapt this plan to those constraints. Completion dates are work targets, not commitments or predictions of publication/patent acceptance.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Proposed dates | Dependency | Done means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Confirm project/admin/publication facts | Oct 12 - 13 | Team records | Official slide fields and verifiable status records. |</a:t>
            </a:r>
            <a:endParaRPr/>
          </a:p>
          <a:p xmlns:a="http://schemas.openxmlformats.org/drawingml/2006/main">
            <a:pPr marL="0" lvl="0" indent="0" algn="l">
              <a:lnSpc>
                <a:spcPct val="100000"/>
              </a:lnSpc>
              <a:spcBef>
                <a:spcPts val="0"/>
              </a:spcBef>
              <a:spcAft>
                <a:spcPts val="0"/>
              </a:spcAft>
              <a:buSzPts val="1400"/>
              <a:buNone/>
            </a:pPr>
            <a:r>
              <a:t>| Build/rehearse unified scenario demo | Oct 12 - 16 | Existing runtime/tests, working local environment | Frozen sample, actual profile outputs, branch/tool/maintenance evidence, exported bundle. |</a:t>
            </a:r>
            <a:endParaRPr/>
          </a:p>
          <a:p xmlns:a="http://schemas.openxmlformats.org/drawingml/2006/main">
            <a:pPr marL="0" lvl="0" indent="0" algn="l">
              <a:lnSpc>
                <a:spcPct val="100000"/>
              </a:lnSpc>
              <a:spcBef>
                <a:spcPts val="0"/>
              </a:spcBef>
              <a:spcAft>
                <a:spcPts val="0"/>
              </a:spcAft>
              <a:buSzPts val="1400"/>
              <a:buNone/>
            </a:pPr>
            <a:r>
              <a:t>| Resolve environment and evidence provenance | Oct 12 - 16 | Interpreter/test execution and saved artifacts | Wider-suite run completes; JSON/CSV identities reconciled; manifest retained. |</a:t>
            </a:r>
            <a:endParaRPr/>
          </a:p>
          <a:p xmlns:a="http://schemas.openxmlformats.org/drawingml/2006/main">
            <a:pPr marL="0" lvl="0" indent="0" algn="l">
              <a:lnSpc>
                <a:spcPct val="100000"/>
              </a:lnSpc>
              <a:spcBef>
                <a:spcPts val="0"/>
              </a:spcBef>
              <a:spcAft>
                <a:spcPts val="0"/>
              </a:spcAft>
              <a:buSzPts val="1400"/>
              <a:buNone/>
            </a:pPr>
            <a:r>
              <a:t>| Validate correctness boundaries | Oct 14 - 23 | Reproducible failure cases | Isolation/idempotency/graph/commit/tool checks appropriate to chosen scope. |</a:t>
            </a:r>
            <a:endParaRPr/>
          </a:p>
          <a:p xmlns:a="http://schemas.openxmlformats.org/drawingml/2006/main">
            <a:pPr marL="0" lvl="0" indent="0" algn="l">
              <a:lnSpc>
                <a:spcPct val="100000"/>
              </a:lnSpc>
              <a:spcBef>
                <a:spcPts val="0"/>
              </a:spcBef>
              <a:spcAft>
                <a:spcPts val="0"/>
              </a:spcAft>
              <a:buSzPts val="1400"/>
              <a:buNone/>
            </a:pPr>
            <a:r>
              <a:t>| Diagnose/tune retrieval on development set | Oct 19 - 23 | Stable correctness and fixed dev protocol | Stage failure report, chosen backend/representation, frozen settings. |</a:t>
            </a:r>
            <a:endParaRPr/>
          </a:p>
          <a:p xmlns:a="http://schemas.openxmlformats.org/drawingml/2006/main">
            <a:pPr marL="0" lvl="0" indent="0" algn="l">
              <a:lnSpc>
                <a:spcPct val="100000"/>
              </a:lnSpc>
              <a:spcBef>
                <a:spcPts val="0"/>
              </a:spcBef>
              <a:spcAft>
                <a:spcPts val="0"/>
              </a:spcAft>
              <a:buSzPts val="1400"/>
              <a:buNone/>
            </a:pPr>
            <a:r>
              <a:t>| Benchmark-specific real pilots | Oct 24 - 30 | Configured model/hardware, frozen protocol | Each benchmark passes its own resource/equality/time gate. |</a:t>
            </a:r>
            <a:endParaRPr/>
          </a:p>
          <a:p xmlns:a="http://schemas.openxmlformats.org/drawingml/2006/main">
            <a:pPr marL="0" lvl="0" indent="0" algn="l">
              <a:lnSpc>
                <a:spcPct val="100000"/>
              </a:lnSpc>
              <a:spcBef>
                <a:spcPts val="0"/>
              </a:spcBef>
              <a:spcAft>
                <a:spcPts val="0"/>
              </a:spcAft>
              <a:buSzPts val="1400"/>
              <a:buNone/>
            </a:pPr>
            <a:r>
              <a:t>| Full matched campaigns and ablations | Nov 2 - 6 | Fresh pilot admission, sufficient session availability | Complete source coverage, native scores, matched identities, validated archives or explicit partial status. |</a:t>
            </a:r>
            <a:endParaRPr/>
          </a:p>
          <a:p xmlns:a="http://schemas.openxmlformats.org/drawingml/2006/main">
            <a:pPr marL="0" lvl="0" indent="0" algn="l">
              <a:lnSpc>
                <a:spcPct val="100000"/>
              </a:lnSpc>
              <a:spcBef>
                <a:spcPts val="0"/>
              </a:spcBef>
              <a:spcAft>
                <a:spcPts val="0"/>
              </a:spcAft>
              <a:buSzPts val="1400"/>
              <a:buNone/>
            </a:pPr>
            <a:r>
              <a:t>| Paper method/related-work draft | Oct 19 - 30 | Stable architecture and literature | Versioned draft with sources and honest provisional result labels. |</a:t>
            </a:r>
            <a:endParaRPr/>
          </a:p>
          <a:p xmlns:a="http://schemas.openxmlformats.org/drawingml/2006/main">
            <a:pPr marL="0" lvl="0" indent="0" algn="l">
              <a:lnSpc>
                <a:spcPct val="100000"/>
              </a:lnSpc>
              <a:spcBef>
                <a:spcPts val="0"/>
              </a:spcBef>
              <a:spcAft>
                <a:spcPts val="0"/>
              </a:spcAft>
              <a:buSzPts val="1400"/>
              <a:buNone/>
            </a:pPr>
            <a:r>
              <a:t>| Paper results/analysis/guide revision | Nov 9 - 13 | Validated final experiments | Reconciled tables, cost/limitations, complete manuscript reviewed by guide. |</a:t>
            </a:r>
            <a:endParaRPr/>
          </a:p>
          <a:p xmlns:a="http://schemas.openxmlformats.org/drawingml/2006/main">
            <a:pPr marL="0" lvl="0" indent="0" algn="l">
              <a:lnSpc>
                <a:spcPct val="100000"/>
              </a:lnSpc>
              <a:spcBef>
                <a:spcPts val="0"/>
              </a:spcBef>
              <a:spcAft>
                <a:spcPts val="0"/>
              </a:spcAft>
              <a:buSzPts val="1400"/>
              <a:buNone/>
            </a:pPr>
            <a:r>
              <a:t>| Patent disclosure/prior-art technical review | Oct 19 - Nov 6 | Guide/IP office direction | Documented mechanism comparison and institutional next-step decision. |</a:t>
            </a:r>
            <a:endParaRPr/>
          </a:p>
          <a:p xmlns:a="http://schemas.openxmlformats.org/drawingml/2006/main">
            <a:pPr marL="0" lvl="0" indent="0" algn="l">
              <a:lnSpc>
                <a:spcPct val="100000"/>
              </a:lnSpc>
              <a:spcBef>
                <a:spcPts val="0"/>
              </a:spcBef>
              <a:spcAft>
                <a:spcPts val="0"/>
              </a:spcAft>
              <a:buSzPts val="1400"/>
              <a:buNone/>
            </a:pPr>
            <a:r>
              <a:t>| Final slide/demo rehearsal and submission preparation | Nov 16 - 20 | Guide decisions and evidence | Consistent slides, rehearsed demo, approved package. Actual submission/filing remains team dependent.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gantt</a:t>
            </a:r>
            <a:endParaRPr/>
          </a:p>
          <a:p xmlns:a="http://schemas.openxmlformats.org/drawingml/2006/main">
            <a:pPr marL="0" lvl="0" indent="0" algn="l">
              <a:lnSpc>
                <a:spcPct val="100000"/>
              </a:lnSpc>
              <a:spcBef>
                <a:spcPts val="0"/>
              </a:spcBef>
              <a:spcAft>
                <a:spcPts val="0"/>
              </a:spcAft>
              <a:buSzPts val="1400"/>
              <a:buNone/>
            </a:pPr>
            <a:r>
              <a:t>    title Proposed PRIMA review and research completion work</a:t>
            </a:r>
            <a:endParaRPr/>
          </a:p>
          <a:p xmlns:a="http://schemas.openxmlformats.org/drawingml/2006/main">
            <a:pPr marL="0" lvl="0" indent="0" algn="l">
              <a:lnSpc>
                <a:spcPct val="100000"/>
              </a:lnSpc>
              <a:spcBef>
                <a:spcPts val="0"/>
              </a:spcBef>
              <a:spcAft>
                <a:spcPts val="0"/>
              </a:spcAft>
              <a:buSzPts val="1400"/>
              <a:buNone/>
            </a:pPr>
            <a:r>
              <a:t>    dateFormat YYYY-MM-DD</a:t>
            </a:r>
            <a:endParaRPr/>
          </a:p>
          <a:p xmlns:a="http://schemas.openxmlformats.org/drawingml/2006/main">
            <a:pPr marL="0" lvl="0" indent="0" algn="l">
              <a:lnSpc>
                <a:spcPct val="100000"/>
              </a:lnSpc>
              <a:spcBef>
                <a:spcPts val="0"/>
              </a:spcBef>
              <a:spcAft>
                <a:spcPts val="0"/>
              </a:spcAft>
              <a:buSzPts val="1400"/>
              <a:buNone/>
            </a:pPr>
            <a:r>
              <a:t>    axisFormat %d %b</a:t>
            </a:r>
            <a:endParaRPr/>
          </a:p>
          <a:p xmlns:a="http://schemas.openxmlformats.org/drawingml/2006/main">
            <a:pPr marL="0" lvl="0" indent="0" algn="l">
              <a:lnSpc>
                <a:spcPct val="100000"/>
              </a:lnSpc>
              <a:spcBef>
                <a:spcPts val="0"/>
              </a:spcBef>
              <a:spcAft>
                <a:spcPts val="0"/>
              </a:spcAft>
              <a:buSzPts val="1400"/>
              <a:buNone/>
            </a:pPr>
            <a:r>
              <a:t>    section Review evidence</a:t>
            </a:r>
            <a:endParaRPr/>
          </a:p>
          <a:p xmlns:a="http://schemas.openxmlformats.org/drawingml/2006/main">
            <a:pPr marL="0" lvl="0" indent="0" algn="l">
              <a:lnSpc>
                <a:spcPct val="100000"/>
              </a:lnSpc>
              <a:spcBef>
                <a:spcPts val="0"/>
              </a:spcBef>
              <a:spcAft>
                <a:spcPts val="0"/>
              </a:spcAft>
              <a:buSzPts val="1400"/>
              <a:buNone/>
            </a:pPr>
            <a:r>
              <a:t>    Confirm facts                 :a1, 2026-10-12, 2d</a:t>
            </a:r>
            <a:endParaRPr/>
          </a:p>
          <a:p xmlns:a="http://schemas.openxmlformats.org/drawingml/2006/main">
            <a:pPr marL="0" lvl="0" indent="0" algn="l">
              <a:lnSpc>
                <a:spcPct val="100000"/>
              </a:lnSpc>
              <a:spcBef>
                <a:spcPts val="0"/>
              </a:spcBef>
              <a:spcAft>
                <a:spcPts val="0"/>
              </a:spcAft>
              <a:buSzPts val="1400"/>
              <a:buNone/>
            </a:pPr>
            <a:r>
              <a:t>    Unified demo and rehearsal    :a2, 2026-10-12, 5d</a:t>
            </a:r>
            <a:endParaRPr/>
          </a:p>
          <a:p xmlns:a="http://schemas.openxmlformats.org/drawingml/2006/main">
            <a:pPr marL="0" lvl="0" indent="0" algn="l">
              <a:lnSpc>
                <a:spcPct val="100000"/>
              </a:lnSpc>
              <a:spcBef>
                <a:spcPts val="0"/>
              </a:spcBef>
              <a:spcAft>
                <a:spcPts val="0"/>
              </a:spcAft>
              <a:buSzPts val="1400"/>
              <a:buNone/>
            </a:pPr>
            <a:r>
              <a:t>    Environment and provenance    :a3, 2026-10-12, 5d</a:t>
            </a:r>
            <a:endParaRPr/>
          </a:p>
          <a:p xmlns:a="http://schemas.openxmlformats.org/drawingml/2006/main">
            <a:pPr marL="0" lvl="0" indent="0" algn="l">
              <a:lnSpc>
                <a:spcPct val="100000"/>
              </a:lnSpc>
              <a:spcBef>
                <a:spcPts val="0"/>
              </a:spcBef>
              <a:spcAft>
                <a:spcPts val="0"/>
              </a:spcAft>
              <a:buSzPts val="1400"/>
              <a:buNone/>
            </a:pPr>
            <a:r>
              <a:t>    section Technical validation</a:t>
            </a:r>
            <a:endParaRPr/>
          </a:p>
          <a:p xmlns:a="http://schemas.openxmlformats.org/drawingml/2006/main">
            <a:pPr marL="0" lvl="0" indent="0" algn="l">
              <a:lnSpc>
                <a:spcPct val="100000"/>
              </a:lnSpc>
              <a:spcBef>
                <a:spcPts val="0"/>
              </a:spcBef>
              <a:spcAft>
                <a:spcPts val="0"/>
              </a:spcAft>
              <a:buSzPts val="1400"/>
              <a:buNone/>
            </a:pPr>
            <a:r>
              <a:t>    Correctness boundaries        :b1, 2026-10-14, 10d</a:t>
            </a:r>
            <a:endParaRPr/>
          </a:p>
          <a:p xmlns:a="http://schemas.openxmlformats.org/drawingml/2006/main">
            <a:pPr marL="0" lvl="0" indent="0" algn="l">
              <a:lnSpc>
                <a:spcPct val="100000"/>
              </a:lnSpc>
              <a:spcBef>
                <a:spcPts val="0"/>
              </a:spcBef>
              <a:spcAft>
                <a:spcPts val="0"/>
              </a:spcAft>
              <a:buSzPts val="1400"/>
              <a:buNone/>
            </a:pPr>
            <a:r>
              <a:t>    Development retrieval work    :b2, 2026-10-19, 5d</a:t>
            </a:r>
            <a:endParaRPr/>
          </a:p>
          <a:p xmlns:a="http://schemas.openxmlformats.org/drawingml/2006/main">
            <a:pPr marL="0" lvl="0" indent="0" algn="l">
              <a:lnSpc>
                <a:spcPct val="100000"/>
              </a:lnSpc>
              <a:spcBef>
                <a:spcPts val="0"/>
              </a:spcBef>
              <a:spcAft>
                <a:spcPts val="0"/>
              </a:spcAft>
              <a:buSzPts val="1400"/>
              <a:buNone/>
            </a:pPr>
            <a:r>
              <a:t>    Real benchmark pilots         :b3, 2026-10-24, 7d</a:t>
            </a:r>
            <a:endParaRPr/>
          </a:p>
          <a:p xmlns:a="http://schemas.openxmlformats.org/drawingml/2006/main">
            <a:pPr marL="0" lvl="0" indent="0" algn="l">
              <a:lnSpc>
                <a:spcPct val="100000"/>
              </a:lnSpc>
              <a:spcBef>
                <a:spcPts val="0"/>
              </a:spcBef>
              <a:spcAft>
                <a:spcPts val="0"/>
              </a:spcAft>
              <a:buSzPts val="1400"/>
              <a:buNone/>
            </a:pPr>
            <a:r>
              <a:t>    Matched campaigns and ablation :b4, 2026-11-02, 5d</a:t>
            </a:r>
            <a:endParaRPr/>
          </a:p>
          <a:p xmlns:a="http://schemas.openxmlformats.org/drawingml/2006/main">
            <a:pPr marL="0" lvl="0" indent="0" algn="l">
              <a:lnSpc>
                <a:spcPct val="100000"/>
              </a:lnSpc>
              <a:spcBef>
                <a:spcPts val="0"/>
              </a:spcBef>
              <a:spcAft>
                <a:spcPts val="0"/>
              </a:spcAft>
              <a:buSzPts val="1400"/>
              <a:buNone/>
            </a:pPr>
            <a:r>
              <a:t>    section Research artifacts</a:t>
            </a:r>
            <a:endParaRPr/>
          </a:p>
          <a:p xmlns:a="http://schemas.openxmlformats.org/drawingml/2006/main">
            <a:pPr marL="0" lvl="0" indent="0" algn="l">
              <a:lnSpc>
                <a:spcPct val="100000"/>
              </a:lnSpc>
              <a:spcBef>
                <a:spcPts val="0"/>
              </a:spcBef>
              <a:spcAft>
                <a:spcPts val="0"/>
              </a:spcAft>
              <a:buSzPts val="1400"/>
              <a:buNone/>
            </a:pPr>
            <a:r>
              <a:t>    Method and related work       :c1, 2026-10-19, 12d</a:t>
            </a:r>
            <a:endParaRPr/>
          </a:p>
          <a:p xmlns:a="http://schemas.openxmlformats.org/drawingml/2006/main">
            <a:pPr marL="0" lvl="0" indent="0" algn="l">
              <a:lnSpc>
                <a:spcPct val="100000"/>
              </a:lnSpc>
              <a:spcBef>
                <a:spcPts val="0"/>
              </a:spcBef>
              <a:spcAft>
                <a:spcPts val="0"/>
              </a:spcAft>
              <a:buSzPts val="1400"/>
              <a:buNone/>
            </a:pPr>
            <a:r>
              <a:t>    Disclosure and prior art      :c2, 2026-10-19, 19d</a:t>
            </a:r>
            <a:endParaRPr/>
          </a:p>
          <a:p xmlns:a="http://schemas.openxmlformats.org/drawingml/2006/main">
            <a:pPr marL="0" lvl="0" indent="0" algn="l">
              <a:lnSpc>
                <a:spcPct val="100000"/>
              </a:lnSpc>
              <a:spcBef>
                <a:spcPts val="0"/>
              </a:spcBef>
              <a:spcAft>
                <a:spcPts val="0"/>
              </a:spcAft>
              <a:buSzPts val="1400"/>
              <a:buNone/>
            </a:pPr>
            <a:r>
              <a:t>    Results and guide revision    :c3, 2026-11-09, 5d</a:t>
            </a:r>
            <a:endParaRPr/>
          </a:p>
          <a:p xmlns:a="http://schemas.openxmlformats.org/drawingml/2006/main">
            <a:pPr marL="0" lvl="0" indent="0" algn="l">
              <a:lnSpc>
                <a:spcPct val="100000"/>
              </a:lnSpc>
              <a:spcBef>
                <a:spcPts val="0"/>
              </a:spcBef>
              <a:spcAft>
                <a:spcPts val="0"/>
              </a:spcAft>
              <a:buSzPts val="1400"/>
              <a:buNone/>
            </a:pPr>
            <a:r>
              <a:t>    Final presentation package    :c4, 2026-11-16, 5d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roles until named owners are confirmed: runtime/demo owner, evaluation owner, manuscript owner, and guide/IP liaison. Avoid assigning tasks to Git contributors without agreement. If a pilot fails, preserve the partial artifacts, fix the measured bottleneck, and reschedule the dependent full campaign rather than relabeling the sample as complete.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Pending technical tasks (1/2)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11. Slide 9: updated pending tasks and Gantt chart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Proposed schedule, assuming work starts on 12 October 2026. The mentor-review date, team availability, publication deadline, and owners were not supplied. Adapt this plan to those constraints. Completion dates are work targets, not commitments or predictions of publication/patent acceptance.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Proposed dates | Dependency | Done means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Confirm project/admin/publication facts | Oct 12 - 13 | Team records | Official slide fields and verifiable status records. |</a:t>
            </a:r>
            <a:endParaRPr/>
          </a:p>
          <a:p xmlns:a="http://schemas.openxmlformats.org/drawingml/2006/main">
            <a:pPr marL="0" lvl="0" indent="0" algn="l">
              <a:lnSpc>
                <a:spcPct val="100000"/>
              </a:lnSpc>
              <a:spcBef>
                <a:spcPts val="0"/>
              </a:spcBef>
              <a:spcAft>
                <a:spcPts val="0"/>
              </a:spcAft>
              <a:buSzPts val="1400"/>
              <a:buNone/>
            </a:pPr>
            <a:r>
              <a:t>| Build/rehearse unified scenario demo | Oct 12 - 16 | Existing runtime/tests, working local environment | Frozen sample, actual profile outputs, branch/tool/maintenance evidence, exported bundle. |</a:t>
            </a:r>
            <a:endParaRPr/>
          </a:p>
          <a:p xmlns:a="http://schemas.openxmlformats.org/drawingml/2006/main">
            <a:pPr marL="0" lvl="0" indent="0" algn="l">
              <a:lnSpc>
                <a:spcPct val="100000"/>
              </a:lnSpc>
              <a:spcBef>
                <a:spcPts val="0"/>
              </a:spcBef>
              <a:spcAft>
                <a:spcPts val="0"/>
              </a:spcAft>
              <a:buSzPts val="1400"/>
              <a:buNone/>
            </a:pPr>
            <a:r>
              <a:t>| Resolve environment and evidence provenance | Oct 12 - 16 | Interpreter/test execution and saved artifacts | Wider-suite run completes; JSON/CSV identities reconciled; manifest retained. |</a:t>
            </a:r>
            <a:endParaRPr/>
          </a:p>
          <a:p xmlns:a="http://schemas.openxmlformats.org/drawingml/2006/main">
            <a:pPr marL="0" lvl="0" indent="0" algn="l">
              <a:lnSpc>
                <a:spcPct val="100000"/>
              </a:lnSpc>
              <a:spcBef>
                <a:spcPts val="0"/>
              </a:spcBef>
              <a:spcAft>
                <a:spcPts val="0"/>
              </a:spcAft>
              <a:buSzPts val="1400"/>
              <a:buNone/>
            </a:pPr>
            <a:r>
              <a:t>| Validate correctness boundaries | Oct 14 - 23 | Reproducible failure cases | Isolation/idempotency/graph/commit/tool checks appropriate to chosen scope. |</a:t>
            </a:r>
            <a:endParaRPr/>
          </a:p>
          <a:p xmlns:a="http://schemas.openxmlformats.org/drawingml/2006/main">
            <a:pPr marL="0" lvl="0" indent="0" algn="l">
              <a:lnSpc>
                <a:spcPct val="100000"/>
              </a:lnSpc>
              <a:spcBef>
                <a:spcPts val="0"/>
              </a:spcBef>
              <a:spcAft>
                <a:spcPts val="0"/>
              </a:spcAft>
              <a:buSzPts val="1400"/>
              <a:buNone/>
            </a:pPr>
            <a:r>
              <a:t>| Diagnose/tune retrieval on development set | Oct 19 - 23 | Stable correctness and fixed dev protocol | Stage failure report, chosen backend/representation, frozen settings. |</a:t>
            </a:r>
            <a:endParaRPr/>
          </a:p>
          <a:p xmlns:a="http://schemas.openxmlformats.org/drawingml/2006/main">
            <a:pPr marL="0" lvl="0" indent="0" algn="l">
              <a:lnSpc>
                <a:spcPct val="100000"/>
              </a:lnSpc>
              <a:spcBef>
                <a:spcPts val="0"/>
              </a:spcBef>
              <a:spcAft>
                <a:spcPts val="0"/>
              </a:spcAft>
              <a:buSzPts val="1400"/>
              <a:buNone/>
            </a:pPr>
            <a:r>
              <a:t>| Benchmark-specific real pilots | Oct 24 - 30 | Configured model/hardware, frozen protocol | Each benchmark passes its own resource/equality/time gate. |</a:t>
            </a:r>
            <a:endParaRPr/>
          </a:p>
          <a:p xmlns:a="http://schemas.openxmlformats.org/drawingml/2006/main">
            <a:pPr marL="0" lvl="0" indent="0" algn="l">
              <a:lnSpc>
                <a:spcPct val="100000"/>
              </a:lnSpc>
              <a:spcBef>
                <a:spcPts val="0"/>
              </a:spcBef>
              <a:spcAft>
                <a:spcPts val="0"/>
              </a:spcAft>
              <a:buSzPts val="1400"/>
              <a:buNone/>
            </a:pPr>
            <a:r>
              <a:t>| Full matched campaigns and ablations | Nov 2 - 6 | Fresh pilot admission, sufficient session availability | Complete source coverage, native scores, matched identities, validated archives or explicit partial status. |</a:t>
            </a:r>
            <a:endParaRPr/>
          </a:p>
          <a:p xmlns:a="http://schemas.openxmlformats.org/drawingml/2006/main">
            <a:pPr marL="0" lvl="0" indent="0" algn="l">
              <a:lnSpc>
                <a:spcPct val="100000"/>
              </a:lnSpc>
              <a:spcBef>
                <a:spcPts val="0"/>
              </a:spcBef>
              <a:spcAft>
                <a:spcPts val="0"/>
              </a:spcAft>
              <a:buSzPts val="1400"/>
              <a:buNone/>
            </a:pPr>
            <a:r>
              <a:t>| Paper method/related-work draft | Oct 19 - 30 | Stable architecture and literature | Versioned draft with sources and honest provisional result labels. |</a:t>
            </a:r>
            <a:endParaRPr/>
          </a:p>
          <a:p xmlns:a="http://schemas.openxmlformats.org/drawingml/2006/main">
            <a:pPr marL="0" lvl="0" indent="0" algn="l">
              <a:lnSpc>
                <a:spcPct val="100000"/>
              </a:lnSpc>
              <a:spcBef>
                <a:spcPts val="0"/>
              </a:spcBef>
              <a:spcAft>
                <a:spcPts val="0"/>
              </a:spcAft>
              <a:buSzPts val="1400"/>
              <a:buNone/>
            </a:pPr>
            <a:r>
              <a:t>| Paper results/analysis/guide revision | Nov 9 - 13 | Validated final experiments | Reconciled tables, cost/limitations, complete manuscript reviewed by guide. |</a:t>
            </a:r>
            <a:endParaRPr/>
          </a:p>
          <a:p xmlns:a="http://schemas.openxmlformats.org/drawingml/2006/main">
            <a:pPr marL="0" lvl="0" indent="0" algn="l">
              <a:lnSpc>
                <a:spcPct val="100000"/>
              </a:lnSpc>
              <a:spcBef>
                <a:spcPts val="0"/>
              </a:spcBef>
              <a:spcAft>
                <a:spcPts val="0"/>
              </a:spcAft>
              <a:buSzPts val="1400"/>
              <a:buNone/>
            </a:pPr>
            <a:r>
              <a:t>| Patent disclosure/prior-art technical review | Oct 19 - Nov 6 | Guide/IP office direction | Documented mechanism comparison and institutional next-step decision. |</a:t>
            </a:r>
            <a:endParaRPr/>
          </a:p>
          <a:p xmlns:a="http://schemas.openxmlformats.org/drawingml/2006/main">
            <a:pPr marL="0" lvl="0" indent="0" algn="l">
              <a:lnSpc>
                <a:spcPct val="100000"/>
              </a:lnSpc>
              <a:spcBef>
                <a:spcPts val="0"/>
              </a:spcBef>
              <a:spcAft>
                <a:spcPts val="0"/>
              </a:spcAft>
              <a:buSzPts val="1400"/>
              <a:buNone/>
            </a:pPr>
            <a:r>
              <a:t>| Final slide/demo rehearsal and submission preparation | Nov 16 - 20 | Guide decisions and evidence | Consistent slides, rehearsed demo, approved package. Actual submission/filing remains team dependent.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gantt</a:t>
            </a:r>
            <a:endParaRPr/>
          </a:p>
          <a:p xmlns:a="http://schemas.openxmlformats.org/drawingml/2006/main">
            <a:pPr marL="0" lvl="0" indent="0" algn="l">
              <a:lnSpc>
                <a:spcPct val="100000"/>
              </a:lnSpc>
              <a:spcBef>
                <a:spcPts val="0"/>
              </a:spcBef>
              <a:spcAft>
                <a:spcPts val="0"/>
              </a:spcAft>
              <a:buSzPts val="1400"/>
              <a:buNone/>
            </a:pPr>
            <a:r>
              <a:t>    title Proposed PRIMA review and research completion work</a:t>
            </a:r>
            <a:endParaRPr/>
          </a:p>
          <a:p xmlns:a="http://schemas.openxmlformats.org/drawingml/2006/main">
            <a:pPr marL="0" lvl="0" indent="0" algn="l">
              <a:lnSpc>
                <a:spcPct val="100000"/>
              </a:lnSpc>
              <a:spcBef>
                <a:spcPts val="0"/>
              </a:spcBef>
              <a:spcAft>
                <a:spcPts val="0"/>
              </a:spcAft>
              <a:buSzPts val="1400"/>
              <a:buNone/>
            </a:pPr>
            <a:r>
              <a:t>    dateFormat YYYY-MM-DD</a:t>
            </a:r>
            <a:endParaRPr/>
          </a:p>
          <a:p xmlns:a="http://schemas.openxmlformats.org/drawingml/2006/main">
            <a:pPr marL="0" lvl="0" indent="0" algn="l">
              <a:lnSpc>
                <a:spcPct val="100000"/>
              </a:lnSpc>
              <a:spcBef>
                <a:spcPts val="0"/>
              </a:spcBef>
              <a:spcAft>
                <a:spcPts val="0"/>
              </a:spcAft>
              <a:buSzPts val="1400"/>
              <a:buNone/>
            </a:pPr>
            <a:r>
              <a:t>    axisFormat %d %b</a:t>
            </a:r>
            <a:endParaRPr/>
          </a:p>
          <a:p xmlns:a="http://schemas.openxmlformats.org/drawingml/2006/main">
            <a:pPr marL="0" lvl="0" indent="0" algn="l">
              <a:lnSpc>
                <a:spcPct val="100000"/>
              </a:lnSpc>
              <a:spcBef>
                <a:spcPts val="0"/>
              </a:spcBef>
              <a:spcAft>
                <a:spcPts val="0"/>
              </a:spcAft>
              <a:buSzPts val="1400"/>
              <a:buNone/>
            </a:pPr>
            <a:r>
              <a:t>    section Review evidence</a:t>
            </a:r>
            <a:endParaRPr/>
          </a:p>
          <a:p xmlns:a="http://schemas.openxmlformats.org/drawingml/2006/main">
            <a:pPr marL="0" lvl="0" indent="0" algn="l">
              <a:lnSpc>
                <a:spcPct val="100000"/>
              </a:lnSpc>
              <a:spcBef>
                <a:spcPts val="0"/>
              </a:spcBef>
              <a:spcAft>
                <a:spcPts val="0"/>
              </a:spcAft>
              <a:buSzPts val="1400"/>
              <a:buNone/>
            </a:pPr>
            <a:r>
              <a:t>    Confirm facts                 :a1, 2026-10-12, 2d</a:t>
            </a:r>
            <a:endParaRPr/>
          </a:p>
          <a:p xmlns:a="http://schemas.openxmlformats.org/drawingml/2006/main">
            <a:pPr marL="0" lvl="0" indent="0" algn="l">
              <a:lnSpc>
                <a:spcPct val="100000"/>
              </a:lnSpc>
              <a:spcBef>
                <a:spcPts val="0"/>
              </a:spcBef>
              <a:spcAft>
                <a:spcPts val="0"/>
              </a:spcAft>
              <a:buSzPts val="1400"/>
              <a:buNone/>
            </a:pPr>
            <a:r>
              <a:t>    Unified demo and rehearsal    :a2, 2026-10-12, 5d</a:t>
            </a:r>
            <a:endParaRPr/>
          </a:p>
          <a:p xmlns:a="http://schemas.openxmlformats.org/drawingml/2006/main">
            <a:pPr marL="0" lvl="0" indent="0" algn="l">
              <a:lnSpc>
                <a:spcPct val="100000"/>
              </a:lnSpc>
              <a:spcBef>
                <a:spcPts val="0"/>
              </a:spcBef>
              <a:spcAft>
                <a:spcPts val="0"/>
              </a:spcAft>
              <a:buSzPts val="1400"/>
              <a:buNone/>
            </a:pPr>
            <a:r>
              <a:t>    Environment and provenance    :a3, 2026-10-12, 5d</a:t>
            </a:r>
            <a:endParaRPr/>
          </a:p>
          <a:p xmlns:a="http://schemas.openxmlformats.org/drawingml/2006/main">
            <a:pPr marL="0" lvl="0" indent="0" algn="l">
              <a:lnSpc>
                <a:spcPct val="100000"/>
              </a:lnSpc>
              <a:spcBef>
                <a:spcPts val="0"/>
              </a:spcBef>
              <a:spcAft>
                <a:spcPts val="0"/>
              </a:spcAft>
              <a:buSzPts val="1400"/>
              <a:buNone/>
            </a:pPr>
            <a:r>
              <a:t>    section Technical validation</a:t>
            </a:r>
            <a:endParaRPr/>
          </a:p>
          <a:p xmlns:a="http://schemas.openxmlformats.org/drawingml/2006/main">
            <a:pPr marL="0" lvl="0" indent="0" algn="l">
              <a:lnSpc>
                <a:spcPct val="100000"/>
              </a:lnSpc>
              <a:spcBef>
                <a:spcPts val="0"/>
              </a:spcBef>
              <a:spcAft>
                <a:spcPts val="0"/>
              </a:spcAft>
              <a:buSzPts val="1400"/>
              <a:buNone/>
            </a:pPr>
            <a:r>
              <a:t>    Correctness boundaries        :b1, 2026-10-14, 10d</a:t>
            </a:r>
            <a:endParaRPr/>
          </a:p>
          <a:p xmlns:a="http://schemas.openxmlformats.org/drawingml/2006/main">
            <a:pPr marL="0" lvl="0" indent="0" algn="l">
              <a:lnSpc>
                <a:spcPct val="100000"/>
              </a:lnSpc>
              <a:spcBef>
                <a:spcPts val="0"/>
              </a:spcBef>
              <a:spcAft>
                <a:spcPts val="0"/>
              </a:spcAft>
              <a:buSzPts val="1400"/>
              <a:buNone/>
            </a:pPr>
            <a:r>
              <a:t>    Development retrieval work    :b2, 2026-10-19, 5d</a:t>
            </a:r>
            <a:endParaRPr/>
          </a:p>
          <a:p xmlns:a="http://schemas.openxmlformats.org/drawingml/2006/main">
            <a:pPr marL="0" lvl="0" indent="0" algn="l">
              <a:lnSpc>
                <a:spcPct val="100000"/>
              </a:lnSpc>
              <a:spcBef>
                <a:spcPts val="0"/>
              </a:spcBef>
              <a:spcAft>
                <a:spcPts val="0"/>
              </a:spcAft>
              <a:buSzPts val="1400"/>
              <a:buNone/>
            </a:pPr>
            <a:r>
              <a:t>    Real benchmark pilots         :b3, 2026-10-24, 7d</a:t>
            </a:r>
            <a:endParaRPr/>
          </a:p>
          <a:p xmlns:a="http://schemas.openxmlformats.org/drawingml/2006/main">
            <a:pPr marL="0" lvl="0" indent="0" algn="l">
              <a:lnSpc>
                <a:spcPct val="100000"/>
              </a:lnSpc>
              <a:spcBef>
                <a:spcPts val="0"/>
              </a:spcBef>
              <a:spcAft>
                <a:spcPts val="0"/>
              </a:spcAft>
              <a:buSzPts val="1400"/>
              <a:buNone/>
            </a:pPr>
            <a:r>
              <a:t>    Matched campaigns and ablation :b4, 2026-11-02, 5d</a:t>
            </a:r>
            <a:endParaRPr/>
          </a:p>
          <a:p xmlns:a="http://schemas.openxmlformats.org/drawingml/2006/main">
            <a:pPr marL="0" lvl="0" indent="0" algn="l">
              <a:lnSpc>
                <a:spcPct val="100000"/>
              </a:lnSpc>
              <a:spcBef>
                <a:spcPts val="0"/>
              </a:spcBef>
              <a:spcAft>
                <a:spcPts val="0"/>
              </a:spcAft>
              <a:buSzPts val="1400"/>
              <a:buNone/>
            </a:pPr>
            <a:r>
              <a:t>    section Research artifacts</a:t>
            </a:r>
            <a:endParaRPr/>
          </a:p>
          <a:p xmlns:a="http://schemas.openxmlformats.org/drawingml/2006/main">
            <a:pPr marL="0" lvl="0" indent="0" algn="l">
              <a:lnSpc>
                <a:spcPct val="100000"/>
              </a:lnSpc>
              <a:spcBef>
                <a:spcPts val="0"/>
              </a:spcBef>
              <a:spcAft>
                <a:spcPts val="0"/>
              </a:spcAft>
              <a:buSzPts val="1400"/>
              <a:buNone/>
            </a:pPr>
            <a:r>
              <a:t>    Method and related work       :c1, 2026-10-19, 12d</a:t>
            </a:r>
            <a:endParaRPr/>
          </a:p>
          <a:p xmlns:a="http://schemas.openxmlformats.org/drawingml/2006/main">
            <a:pPr marL="0" lvl="0" indent="0" algn="l">
              <a:lnSpc>
                <a:spcPct val="100000"/>
              </a:lnSpc>
              <a:spcBef>
                <a:spcPts val="0"/>
              </a:spcBef>
              <a:spcAft>
                <a:spcPts val="0"/>
              </a:spcAft>
              <a:buSzPts val="1400"/>
              <a:buNone/>
            </a:pPr>
            <a:r>
              <a:t>    Disclosure and prior art      :c2, 2026-10-19, 19d</a:t>
            </a:r>
            <a:endParaRPr/>
          </a:p>
          <a:p xmlns:a="http://schemas.openxmlformats.org/drawingml/2006/main">
            <a:pPr marL="0" lvl="0" indent="0" algn="l">
              <a:lnSpc>
                <a:spcPct val="100000"/>
              </a:lnSpc>
              <a:spcBef>
                <a:spcPts val="0"/>
              </a:spcBef>
              <a:spcAft>
                <a:spcPts val="0"/>
              </a:spcAft>
              <a:buSzPts val="1400"/>
              <a:buNone/>
            </a:pPr>
            <a:r>
              <a:t>    Results and guide revision    :c3, 2026-11-09, 5d</a:t>
            </a:r>
            <a:endParaRPr/>
          </a:p>
          <a:p xmlns:a="http://schemas.openxmlformats.org/drawingml/2006/main">
            <a:pPr marL="0" lvl="0" indent="0" algn="l">
              <a:lnSpc>
                <a:spcPct val="100000"/>
              </a:lnSpc>
              <a:spcBef>
                <a:spcPts val="0"/>
              </a:spcBef>
              <a:spcAft>
                <a:spcPts val="0"/>
              </a:spcAft>
              <a:buSzPts val="1400"/>
              <a:buNone/>
            </a:pPr>
            <a:r>
              <a:t>    Final presentation package    :c4, 2026-11-16, 5d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roles until named owners are confirmed: runtime/demo owner, evaluation owner, manuscript owner, and guide/IP liaison. Avoid assigning tasks to Git contributors without agreement. If a pilot fails, preserve the partial artifacts, fix the measured bottleneck, and reschedule the dependent full campaign rather than relabeling the sample as complete.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Pending technical tasks (2/2)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11. Slide 9: updated pending tasks and Gantt chart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Proposed schedule, assuming work starts on 12 October 2026. The mentor-review date, team availability, publication deadline, and owners were not supplied. Adapt this plan to those constraints. Completion dates are work targets, not commitments or predictions of publication/patent acceptance.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Proposed dates | Dependency | Done means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Confirm project/admin/publication facts | Oct 12 - 13 | Team records | Official slide fields and verifiable status records. |</a:t>
            </a:r>
            <a:endParaRPr/>
          </a:p>
          <a:p xmlns:a="http://schemas.openxmlformats.org/drawingml/2006/main">
            <a:pPr marL="0" lvl="0" indent="0" algn="l">
              <a:lnSpc>
                <a:spcPct val="100000"/>
              </a:lnSpc>
              <a:spcBef>
                <a:spcPts val="0"/>
              </a:spcBef>
              <a:spcAft>
                <a:spcPts val="0"/>
              </a:spcAft>
              <a:buSzPts val="1400"/>
              <a:buNone/>
            </a:pPr>
            <a:r>
              <a:t>| Build/rehearse unified scenario demo | Oct 12 - 16 | Existing runtime/tests, working local environment | Frozen sample, actual profile outputs, branch/tool/maintenance evidence, exported bundle. |</a:t>
            </a:r>
            <a:endParaRPr/>
          </a:p>
          <a:p xmlns:a="http://schemas.openxmlformats.org/drawingml/2006/main">
            <a:pPr marL="0" lvl="0" indent="0" algn="l">
              <a:lnSpc>
                <a:spcPct val="100000"/>
              </a:lnSpc>
              <a:spcBef>
                <a:spcPts val="0"/>
              </a:spcBef>
              <a:spcAft>
                <a:spcPts val="0"/>
              </a:spcAft>
              <a:buSzPts val="1400"/>
              <a:buNone/>
            </a:pPr>
            <a:r>
              <a:t>| Resolve environment and evidence provenance | Oct 12 - 16 | Interpreter/test execution and saved artifacts | Wider-suite run completes; JSON/CSV identities reconciled; manifest retained. |</a:t>
            </a:r>
            <a:endParaRPr/>
          </a:p>
          <a:p xmlns:a="http://schemas.openxmlformats.org/drawingml/2006/main">
            <a:pPr marL="0" lvl="0" indent="0" algn="l">
              <a:lnSpc>
                <a:spcPct val="100000"/>
              </a:lnSpc>
              <a:spcBef>
                <a:spcPts val="0"/>
              </a:spcBef>
              <a:spcAft>
                <a:spcPts val="0"/>
              </a:spcAft>
              <a:buSzPts val="1400"/>
              <a:buNone/>
            </a:pPr>
            <a:r>
              <a:t>| Validate correctness boundaries | Oct 14 - 23 | Reproducible failure cases | Isolation/idempotency/graph/commit/tool checks appropriate to chosen scope. |</a:t>
            </a:r>
            <a:endParaRPr/>
          </a:p>
          <a:p xmlns:a="http://schemas.openxmlformats.org/drawingml/2006/main">
            <a:pPr marL="0" lvl="0" indent="0" algn="l">
              <a:lnSpc>
                <a:spcPct val="100000"/>
              </a:lnSpc>
              <a:spcBef>
                <a:spcPts val="0"/>
              </a:spcBef>
              <a:spcAft>
                <a:spcPts val="0"/>
              </a:spcAft>
              <a:buSzPts val="1400"/>
              <a:buNone/>
            </a:pPr>
            <a:r>
              <a:t>| Diagnose/tune retrieval on development set | Oct 19 - 23 | Stable correctness and fixed dev protocol | Stage failure report, chosen backend/representation, frozen settings. |</a:t>
            </a:r>
            <a:endParaRPr/>
          </a:p>
          <a:p xmlns:a="http://schemas.openxmlformats.org/drawingml/2006/main">
            <a:pPr marL="0" lvl="0" indent="0" algn="l">
              <a:lnSpc>
                <a:spcPct val="100000"/>
              </a:lnSpc>
              <a:spcBef>
                <a:spcPts val="0"/>
              </a:spcBef>
              <a:spcAft>
                <a:spcPts val="0"/>
              </a:spcAft>
              <a:buSzPts val="1400"/>
              <a:buNone/>
            </a:pPr>
            <a:r>
              <a:t>| Benchmark-specific real pilots | Oct 24 - 30 | Configured model/hardware, frozen protocol | Each benchmark passes its own resource/equality/time gate. |</a:t>
            </a:r>
            <a:endParaRPr/>
          </a:p>
          <a:p xmlns:a="http://schemas.openxmlformats.org/drawingml/2006/main">
            <a:pPr marL="0" lvl="0" indent="0" algn="l">
              <a:lnSpc>
                <a:spcPct val="100000"/>
              </a:lnSpc>
              <a:spcBef>
                <a:spcPts val="0"/>
              </a:spcBef>
              <a:spcAft>
                <a:spcPts val="0"/>
              </a:spcAft>
              <a:buSzPts val="1400"/>
              <a:buNone/>
            </a:pPr>
            <a:r>
              <a:t>| Full matched campaigns and ablations | Nov 2 - 6 | Fresh pilot admission, sufficient session availability | Complete source coverage, native scores, matched identities, validated archives or explicit partial status. |</a:t>
            </a:r>
            <a:endParaRPr/>
          </a:p>
          <a:p xmlns:a="http://schemas.openxmlformats.org/drawingml/2006/main">
            <a:pPr marL="0" lvl="0" indent="0" algn="l">
              <a:lnSpc>
                <a:spcPct val="100000"/>
              </a:lnSpc>
              <a:spcBef>
                <a:spcPts val="0"/>
              </a:spcBef>
              <a:spcAft>
                <a:spcPts val="0"/>
              </a:spcAft>
              <a:buSzPts val="1400"/>
              <a:buNone/>
            </a:pPr>
            <a:r>
              <a:t>| Paper method/related-work draft | Oct 19 - 30 | Stable architecture and literature | Versioned draft with sources and honest provisional result labels. |</a:t>
            </a:r>
            <a:endParaRPr/>
          </a:p>
          <a:p xmlns:a="http://schemas.openxmlformats.org/drawingml/2006/main">
            <a:pPr marL="0" lvl="0" indent="0" algn="l">
              <a:lnSpc>
                <a:spcPct val="100000"/>
              </a:lnSpc>
              <a:spcBef>
                <a:spcPts val="0"/>
              </a:spcBef>
              <a:spcAft>
                <a:spcPts val="0"/>
              </a:spcAft>
              <a:buSzPts val="1400"/>
              <a:buNone/>
            </a:pPr>
            <a:r>
              <a:t>| Paper results/analysis/guide revision | Nov 9 - 13 | Validated final experiments | Reconciled tables, cost/limitations, complete manuscript reviewed by guide. |</a:t>
            </a:r>
            <a:endParaRPr/>
          </a:p>
          <a:p xmlns:a="http://schemas.openxmlformats.org/drawingml/2006/main">
            <a:pPr marL="0" lvl="0" indent="0" algn="l">
              <a:lnSpc>
                <a:spcPct val="100000"/>
              </a:lnSpc>
              <a:spcBef>
                <a:spcPts val="0"/>
              </a:spcBef>
              <a:spcAft>
                <a:spcPts val="0"/>
              </a:spcAft>
              <a:buSzPts val="1400"/>
              <a:buNone/>
            </a:pPr>
            <a:r>
              <a:t>| Patent disclosure/prior-art technical review | Oct 19 - Nov 6 | Guide/IP office direction | Documented mechanism comparison and institutional next-step decision. |</a:t>
            </a:r>
            <a:endParaRPr/>
          </a:p>
          <a:p xmlns:a="http://schemas.openxmlformats.org/drawingml/2006/main">
            <a:pPr marL="0" lvl="0" indent="0" algn="l">
              <a:lnSpc>
                <a:spcPct val="100000"/>
              </a:lnSpc>
              <a:spcBef>
                <a:spcPts val="0"/>
              </a:spcBef>
              <a:spcAft>
                <a:spcPts val="0"/>
              </a:spcAft>
              <a:buSzPts val="1400"/>
              <a:buNone/>
            </a:pPr>
            <a:r>
              <a:t>| Final slide/demo rehearsal and submission preparation | Nov 16 - 20 | Guide decisions and evidence | Consistent slides, rehearsed demo, approved package. Actual submission/filing remains team dependent.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gantt</a:t>
            </a:r>
            <a:endParaRPr/>
          </a:p>
          <a:p xmlns:a="http://schemas.openxmlformats.org/drawingml/2006/main">
            <a:pPr marL="0" lvl="0" indent="0" algn="l">
              <a:lnSpc>
                <a:spcPct val="100000"/>
              </a:lnSpc>
              <a:spcBef>
                <a:spcPts val="0"/>
              </a:spcBef>
              <a:spcAft>
                <a:spcPts val="0"/>
              </a:spcAft>
              <a:buSzPts val="1400"/>
              <a:buNone/>
            </a:pPr>
            <a:r>
              <a:t>    title Proposed PRIMA review and research completion work</a:t>
            </a:r>
            <a:endParaRPr/>
          </a:p>
          <a:p xmlns:a="http://schemas.openxmlformats.org/drawingml/2006/main">
            <a:pPr marL="0" lvl="0" indent="0" algn="l">
              <a:lnSpc>
                <a:spcPct val="100000"/>
              </a:lnSpc>
              <a:spcBef>
                <a:spcPts val="0"/>
              </a:spcBef>
              <a:spcAft>
                <a:spcPts val="0"/>
              </a:spcAft>
              <a:buSzPts val="1400"/>
              <a:buNone/>
            </a:pPr>
            <a:r>
              <a:t>    dateFormat YYYY-MM-DD</a:t>
            </a:r>
            <a:endParaRPr/>
          </a:p>
          <a:p xmlns:a="http://schemas.openxmlformats.org/drawingml/2006/main">
            <a:pPr marL="0" lvl="0" indent="0" algn="l">
              <a:lnSpc>
                <a:spcPct val="100000"/>
              </a:lnSpc>
              <a:spcBef>
                <a:spcPts val="0"/>
              </a:spcBef>
              <a:spcAft>
                <a:spcPts val="0"/>
              </a:spcAft>
              <a:buSzPts val="1400"/>
              <a:buNone/>
            </a:pPr>
            <a:r>
              <a:t>    axisFormat %d %b</a:t>
            </a:r>
            <a:endParaRPr/>
          </a:p>
          <a:p xmlns:a="http://schemas.openxmlformats.org/drawingml/2006/main">
            <a:pPr marL="0" lvl="0" indent="0" algn="l">
              <a:lnSpc>
                <a:spcPct val="100000"/>
              </a:lnSpc>
              <a:spcBef>
                <a:spcPts val="0"/>
              </a:spcBef>
              <a:spcAft>
                <a:spcPts val="0"/>
              </a:spcAft>
              <a:buSzPts val="1400"/>
              <a:buNone/>
            </a:pPr>
            <a:r>
              <a:t>    section Review evidence</a:t>
            </a:r>
            <a:endParaRPr/>
          </a:p>
          <a:p xmlns:a="http://schemas.openxmlformats.org/drawingml/2006/main">
            <a:pPr marL="0" lvl="0" indent="0" algn="l">
              <a:lnSpc>
                <a:spcPct val="100000"/>
              </a:lnSpc>
              <a:spcBef>
                <a:spcPts val="0"/>
              </a:spcBef>
              <a:spcAft>
                <a:spcPts val="0"/>
              </a:spcAft>
              <a:buSzPts val="1400"/>
              <a:buNone/>
            </a:pPr>
            <a:r>
              <a:t>    Confirm facts                 :a1, 2026-10-12, 2d</a:t>
            </a:r>
            <a:endParaRPr/>
          </a:p>
          <a:p xmlns:a="http://schemas.openxmlformats.org/drawingml/2006/main">
            <a:pPr marL="0" lvl="0" indent="0" algn="l">
              <a:lnSpc>
                <a:spcPct val="100000"/>
              </a:lnSpc>
              <a:spcBef>
                <a:spcPts val="0"/>
              </a:spcBef>
              <a:spcAft>
                <a:spcPts val="0"/>
              </a:spcAft>
              <a:buSzPts val="1400"/>
              <a:buNone/>
            </a:pPr>
            <a:r>
              <a:t>    Unified demo and rehearsal    :a2, 2026-10-12, 5d</a:t>
            </a:r>
            <a:endParaRPr/>
          </a:p>
          <a:p xmlns:a="http://schemas.openxmlformats.org/drawingml/2006/main">
            <a:pPr marL="0" lvl="0" indent="0" algn="l">
              <a:lnSpc>
                <a:spcPct val="100000"/>
              </a:lnSpc>
              <a:spcBef>
                <a:spcPts val="0"/>
              </a:spcBef>
              <a:spcAft>
                <a:spcPts val="0"/>
              </a:spcAft>
              <a:buSzPts val="1400"/>
              <a:buNone/>
            </a:pPr>
            <a:r>
              <a:t>    Environment and provenance    :a3, 2026-10-12, 5d</a:t>
            </a:r>
            <a:endParaRPr/>
          </a:p>
          <a:p xmlns:a="http://schemas.openxmlformats.org/drawingml/2006/main">
            <a:pPr marL="0" lvl="0" indent="0" algn="l">
              <a:lnSpc>
                <a:spcPct val="100000"/>
              </a:lnSpc>
              <a:spcBef>
                <a:spcPts val="0"/>
              </a:spcBef>
              <a:spcAft>
                <a:spcPts val="0"/>
              </a:spcAft>
              <a:buSzPts val="1400"/>
              <a:buNone/>
            </a:pPr>
            <a:r>
              <a:t>    section Technical validation</a:t>
            </a:r>
            <a:endParaRPr/>
          </a:p>
          <a:p xmlns:a="http://schemas.openxmlformats.org/drawingml/2006/main">
            <a:pPr marL="0" lvl="0" indent="0" algn="l">
              <a:lnSpc>
                <a:spcPct val="100000"/>
              </a:lnSpc>
              <a:spcBef>
                <a:spcPts val="0"/>
              </a:spcBef>
              <a:spcAft>
                <a:spcPts val="0"/>
              </a:spcAft>
              <a:buSzPts val="1400"/>
              <a:buNone/>
            </a:pPr>
            <a:r>
              <a:t>    Correctness boundaries        :b1, 2026-10-14, 10d</a:t>
            </a:r>
            <a:endParaRPr/>
          </a:p>
          <a:p xmlns:a="http://schemas.openxmlformats.org/drawingml/2006/main">
            <a:pPr marL="0" lvl="0" indent="0" algn="l">
              <a:lnSpc>
                <a:spcPct val="100000"/>
              </a:lnSpc>
              <a:spcBef>
                <a:spcPts val="0"/>
              </a:spcBef>
              <a:spcAft>
                <a:spcPts val="0"/>
              </a:spcAft>
              <a:buSzPts val="1400"/>
              <a:buNone/>
            </a:pPr>
            <a:r>
              <a:t>    Development retrieval work    :b2, 2026-10-19, 5d</a:t>
            </a:r>
            <a:endParaRPr/>
          </a:p>
          <a:p xmlns:a="http://schemas.openxmlformats.org/drawingml/2006/main">
            <a:pPr marL="0" lvl="0" indent="0" algn="l">
              <a:lnSpc>
                <a:spcPct val="100000"/>
              </a:lnSpc>
              <a:spcBef>
                <a:spcPts val="0"/>
              </a:spcBef>
              <a:spcAft>
                <a:spcPts val="0"/>
              </a:spcAft>
              <a:buSzPts val="1400"/>
              <a:buNone/>
            </a:pPr>
            <a:r>
              <a:t>    Real benchmark pilots         :b3, 2026-10-24, 7d</a:t>
            </a:r>
            <a:endParaRPr/>
          </a:p>
          <a:p xmlns:a="http://schemas.openxmlformats.org/drawingml/2006/main">
            <a:pPr marL="0" lvl="0" indent="0" algn="l">
              <a:lnSpc>
                <a:spcPct val="100000"/>
              </a:lnSpc>
              <a:spcBef>
                <a:spcPts val="0"/>
              </a:spcBef>
              <a:spcAft>
                <a:spcPts val="0"/>
              </a:spcAft>
              <a:buSzPts val="1400"/>
              <a:buNone/>
            </a:pPr>
            <a:r>
              <a:t>    Matched campaigns and ablation :b4, 2026-11-02, 5d</a:t>
            </a:r>
            <a:endParaRPr/>
          </a:p>
          <a:p xmlns:a="http://schemas.openxmlformats.org/drawingml/2006/main">
            <a:pPr marL="0" lvl="0" indent="0" algn="l">
              <a:lnSpc>
                <a:spcPct val="100000"/>
              </a:lnSpc>
              <a:spcBef>
                <a:spcPts val="0"/>
              </a:spcBef>
              <a:spcAft>
                <a:spcPts val="0"/>
              </a:spcAft>
              <a:buSzPts val="1400"/>
              <a:buNone/>
            </a:pPr>
            <a:r>
              <a:t>    section Research artifacts</a:t>
            </a:r>
            <a:endParaRPr/>
          </a:p>
          <a:p xmlns:a="http://schemas.openxmlformats.org/drawingml/2006/main">
            <a:pPr marL="0" lvl="0" indent="0" algn="l">
              <a:lnSpc>
                <a:spcPct val="100000"/>
              </a:lnSpc>
              <a:spcBef>
                <a:spcPts val="0"/>
              </a:spcBef>
              <a:spcAft>
                <a:spcPts val="0"/>
              </a:spcAft>
              <a:buSzPts val="1400"/>
              <a:buNone/>
            </a:pPr>
            <a:r>
              <a:t>    Method and related work       :c1, 2026-10-19, 12d</a:t>
            </a:r>
            <a:endParaRPr/>
          </a:p>
          <a:p xmlns:a="http://schemas.openxmlformats.org/drawingml/2006/main">
            <a:pPr marL="0" lvl="0" indent="0" algn="l">
              <a:lnSpc>
                <a:spcPct val="100000"/>
              </a:lnSpc>
              <a:spcBef>
                <a:spcPts val="0"/>
              </a:spcBef>
              <a:spcAft>
                <a:spcPts val="0"/>
              </a:spcAft>
              <a:buSzPts val="1400"/>
              <a:buNone/>
            </a:pPr>
            <a:r>
              <a:t>    Disclosure and prior art      :c2, 2026-10-19, 19d</a:t>
            </a:r>
            <a:endParaRPr/>
          </a:p>
          <a:p xmlns:a="http://schemas.openxmlformats.org/drawingml/2006/main">
            <a:pPr marL="0" lvl="0" indent="0" algn="l">
              <a:lnSpc>
                <a:spcPct val="100000"/>
              </a:lnSpc>
              <a:spcBef>
                <a:spcPts val="0"/>
              </a:spcBef>
              <a:spcAft>
                <a:spcPts val="0"/>
              </a:spcAft>
              <a:buSzPts val="1400"/>
              <a:buNone/>
            </a:pPr>
            <a:r>
              <a:t>    Results and guide revision    :c3, 2026-11-09, 5d</a:t>
            </a:r>
            <a:endParaRPr/>
          </a:p>
          <a:p xmlns:a="http://schemas.openxmlformats.org/drawingml/2006/main">
            <a:pPr marL="0" lvl="0" indent="0" algn="l">
              <a:lnSpc>
                <a:spcPct val="100000"/>
              </a:lnSpc>
              <a:spcBef>
                <a:spcPts val="0"/>
              </a:spcBef>
              <a:spcAft>
                <a:spcPts val="0"/>
              </a:spcAft>
              <a:buSzPts val="1400"/>
              <a:buNone/>
            </a:pPr>
            <a:r>
              <a:t>    Final presentation package    :c4, 2026-11-16, 5d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roles until named owners are confirmed: runtime/demo owner, evaluation owner, manuscript owner, and guide/IP liaison. Avoid assigning tasks to Git contributors without agreement. If a pilot fails, preserve the partial artifacts, fix the measured bottleneck, and reschedule the dependent full campaign rather than relabeling the sample as complete.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Pending research tasks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11. Slide 9: updated pending tasks and Gantt chart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Proposed schedule, assuming work starts on 12 October 2026. The mentor-review date, team availability, publication deadline, and owners were not supplied. Adapt this plan to those constraints. Completion dates are work targets, not commitments or predictions of publication/patent acceptance.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Proposed dates | Dependency | Done means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Confirm project/admin/publication facts | Oct 12 - 13 | Team records | Official slide fields and verifiable status records. |</a:t>
            </a:r>
            <a:endParaRPr/>
          </a:p>
          <a:p xmlns:a="http://schemas.openxmlformats.org/drawingml/2006/main">
            <a:pPr marL="0" lvl="0" indent="0" algn="l">
              <a:lnSpc>
                <a:spcPct val="100000"/>
              </a:lnSpc>
              <a:spcBef>
                <a:spcPts val="0"/>
              </a:spcBef>
              <a:spcAft>
                <a:spcPts val="0"/>
              </a:spcAft>
              <a:buSzPts val="1400"/>
              <a:buNone/>
            </a:pPr>
            <a:r>
              <a:t>| Build/rehearse unified scenario demo | Oct 12 - 16 | Existing runtime/tests, working local environment | Frozen sample, actual profile outputs, branch/tool/maintenance evidence, exported bundle. |</a:t>
            </a:r>
            <a:endParaRPr/>
          </a:p>
          <a:p xmlns:a="http://schemas.openxmlformats.org/drawingml/2006/main">
            <a:pPr marL="0" lvl="0" indent="0" algn="l">
              <a:lnSpc>
                <a:spcPct val="100000"/>
              </a:lnSpc>
              <a:spcBef>
                <a:spcPts val="0"/>
              </a:spcBef>
              <a:spcAft>
                <a:spcPts val="0"/>
              </a:spcAft>
              <a:buSzPts val="1400"/>
              <a:buNone/>
            </a:pPr>
            <a:r>
              <a:t>| Resolve environment and evidence provenance | Oct 12 - 16 | Interpreter/test execution and saved artifacts | Wider-suite run completes; JSON/CSV identities reconciled; manifest retained. |</a:t>
            </a:r>
            <a:endParaRPr/>
          </a:p>
          <a:p xmlns:a="http://schemas.openxmlformats.org/drawingml/2006/main">
            <a:pPr marL="0" lvl="0" indent="0" algn="l">
              <a:lnSpc>
                <a:spcPct val="100000"/>
              </a:lnSpc>
              <a:spcBef>
                <a:spcPts val="0"/>
              </a:spcBef>
              <a:spcAft>
                <a:spcPts val="0"/>
              </a:spcAft>
              <a:buSzPts val="1400"/>
              <a:buNone/>
            </a:pPr>
            <a:r>
              <a:t>| Validate correctness boundaries | Oct 14 - 23 | Reproducible failure cases | Isolation/idempotency/graph/commit/tool checks appropriate to chosen scope. |</a:t>
            </a:r>
            <a:endParaRPr/>
          </a:p>
          <a:p xmlns:a="http://schemas.openxmlformats.org/drawingml/2006/main">
            <a:pPr marL="0" lvl="0" indent="0" algn="l">
              <a:lnSpc>
                <a:spcPct val="100000"/>
              </a:lnSpc>
              <a:spcBef>
                <a:spcPts val="0"/>
              </a:spcBef>
              <a:spcAft>
                <a:spcPts val="0"/>
              </a:spcAft>
              <a:buSzPts val="1400"/>
              <a:buNone/>
            </a:pPr>
            <a:r>
              <a:t>| Diagnose/tune retrieval on development set | Oct 19 - 23 | Stable correctness and fixed dev protocol | Stage failure report, chosen backend/representation, frozen settings. |</a:t>
            </a:r>
            <a:endParaRPr/>
          </a:p>
          <a:p xmlns:a="http://schemas.openxmlformats.org/drawingml/2006/main">
            <a:pPr marL="0" lvl="0" indent="0" algn="l">
              <a:lnSpc>
                <a:spcPct val="100000"/>
              </a:lnSpc>
              <a:spcBef>
                <a:spcPts val="0"/>
              </a:spcBef>
              <a:spcAft>
                <a:spcPts val="0"/>
              </a:spcAft>
              <a:buSzPts val="1400"/>
              <a:buNone/>
            </a:pPr>
            <a:r>
              <a:t>| Benchmark-specific real pilots | Oct 24 - 30 | Configured model/hardware, frozen protocol | Each benchmark passes its own resource/equality/time gate. |</a:t>
            </a:r>
            <a:endParaRPr/>
          </a:p>
          <a:p xmlns:a="http://schemas.openxmlformats.org/drawingml/2006/main">
            <a:pPr marL="0" lvl="0" indent="0" algn="l">
              <a:lnSpc>
                <a:spcPct val="100000"/>
              </a:lnSpc>
              <a:spcBef>
                <a:spcPts val="0"/>
              </a:spcBef>
              <a:spcAft>
                <a:spcPts val="0"/>
              </a:spcAft>
              <a:buSzPts val="1400"/>
              <a:buNone/>
            </a:pPr>
            <a:r>
              <a:t>| Full matched campaigns and ablations | Nov 2 - 6 | Fresh pilot admission, sufficient session availability | Complete source coverage, native scores, matched identities, validated archives or explicit partial status. |</a:t>
            </a:r>
            <a:endParaRPr/>
          </a:p>
          <a:p xmlns:a="http://schemas.openxmlformats.org/drawingml/2006/main">
            <a:pPr marL="0" lvl="0" indent="0" algn="l">
              <a:lnSpc>
                <a:spcPct val="100000"/>
              </a:lnSpc>
              <a:spcBef>
                <a:spcPts val="0"/>
              </a:spcBef>
              <a:spcAft>
                <a:spcPts val="0"/>
              </a:spcAft>
              <a:buSzPts val="1400"/>
              <a:buNone/>
            </a:pPr>
            <a:r>
              <a:t>| Paper method/related-work draft | Oct 19 - 30 | Stable architecture and literature | Versioned draft with sources and honest provisional result labels. |</a:t>
            </a:r>
            <a:endParaRPr/>
          </a:p>
          <a:p xmlns:a="http://schemas.openxmlformats.org/drawingml/2006/main">
            <a:pPr marL="0" lvl="0" indent="0" algn="l">
              <a:lnSpc>
                <a:spcPct val="100000"/>
              </a:lnSpc>
              <a:spcBef>
                <a:spcPts val="0"/>
              </a:spcBef>
              <a:spcAft>
                <a:spcPts val="0"/>
              </a:spcAft>
              <a:buSzPts val="1400"/>
              <a:buNone/>
            </a:pPr>
            <a:r>
              <a:t>| Paper results/analysis/guide revision | Nov 9 - 13 | Validated final experiments | Reconciled tables, cost/limitations, complete manuscript reviewed by guide. |</a:t>
            </a:r>
            <a:endParaRPr/>
          </a:p>
          <a:p xmlns:a="http://schemas.openxmlformats.org/drawingml/2006/main">
            <a:pPr marL="0" lvl="0" indent="0" algn="l">
              <a:lnSpc>
                <a:spcPct val="100000"/>
              </a:lnSpc>
              <a:spcBef>
                <a:spcPts val="0"/>
              </a:spcBef>
              <a:spcAft>
                <a:spcPts val="0"/>
              </a:spcAft>
              <a:buSzPts val="1400"/>
              <a:buNone/>
            </a:pPr>
            <a:r>
              <a:t>| Patent disclosure/prior-art technical review | Oct 19 - Nov 6 | Guide/IP office direction | Documented mechanism comparison and institutional next-step decision. |</a:t>
            </a:r>
            <a:endParaRPr/>
          </a:p>
          <a:p xmlns:a="http://schemas.openxmlformats.org/drawingml/2006/main">
            <a:pPr marL="0" lvl="0" indent="0" algn="l">
              <a:lnSpc>
                <a:spcPct val="100000"/>
              </a:lnSpc>
              <a:spcBef>
                <a:spcPts val="0"/>
              </a:spcBef>
              <a:spcAft>
                <a:spcPts val="0"/>
              </a:spcAft>
              <a:buSzPts val="1400"/>
              <a:buNone/>
            </a:pPr>
            <a:r>
              <a:t>| Final slide/demo rehearsal and submission preparation | Nov 16 - 20 | Guide decisions and evidence | Consistent slides, rehearsed demo, approved package. Actual submission/filing remains team dependent.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gantt</a:t>
            </a:r>
            <a:endParaRPr/>
          </a:p>
          <a:p xmlns:a="http://schemas.openxmlformats.org/drawingml/2006/main">
            <a:pPr marL="0" lvl="0" indent="0" algn="l">
              <a:lnSpc>
                <a:spcPct val="100000"/>
              </a:lnSpc>
              <a:spcBef>
                <a:spcPts val="0"/>
              </a:spcBef>
              <a:spcAft>
                <a:spcPts val="0"/>
              </a:spcAft>
              <a:buSzPts val="1400"/>
              <a:buNone/>
            </a:pPr>
            <a:r>
              <a:t>    title Proposed PRIMA review and research completion work</a:t>
            </a:r>
            <a:endParaRPr/>
          </a:p>
          <a:p xmlns:a="http://schemas.openxmlformats.org/drawingml/2006/main">
            <a:pPr marL="0" lvl="0" indent="0" algn="l">
              <a:lnSpc>
                <a:spcPct val="100000"/>
              </a:lnSpc>
              <a:spcBef>
                <a:spcPts val="0"/>
              </a:spcBef>
              <a:spcAft>
                <a:spcPts val="0"/>
              </a:spcAft>
              <a:buSzPts val="1400"/>
              <a:buNone/>
            </a:pPr>
            <a:r>
              <a:t>    dateFormat YYYY-MM-DD</a:t>
            </a:r>
            <a:endParaRPr/>
          </a:p>
          <a:p xmlns:a="http://schemas.openxmlformats.org/drawingml/2006/main">
            <a:pPr marL="0" lvl="0" indent="0" algn="l">
              <a:lnSpc>
                <a:spcPct val="100000"/>
              </a:lnSpc>
              <a:spcBef>
                <a:spcPts val="0"/>
              </a:spcBef>
              <a:spcAft>
                <a:spcPts val="0"/>
              </a:spcAft>
              <a:buSzPts val="1400"/>
              <a:buNone/>
            </a:pPr>
            <a:r>
              <a:t>    axisFormat %d %b</a:t>
            </a:r>
            <a:endParaRPr/>
          </a:p>
          <a:p xmlns:a="http://schemas.openxmlformats.org/drawingml/2006/main">
            <a:pPr marL="0" lvl="0" indent="0" algn="l">
              <a:lnSpc>
                <a:spcPct val="100000"/>
              </a:lnSpc>
              <a:spcBef>
                <a:spcPts val="0"/>
              </a:spcBef>
              <a:spcAft>
                <a:spcPts val="0"/>
              </a:spcAft>
              <a:buSzPts val="1400"/>
              <a:buNone/>
            </a:pPr>
            <a:r>
              <a:t>    section Review evidence</a:t>
            </a:r>
            <a:endParaRPr/>
          </a:p>
          <a:p xmlns:a="http://schemas.openxmlformats.org/drawingml/2006/main">
            <a:pPr marL="0" lvl="0" indent="0" algn="l">
              <a:lnSpc>
                <a:spcPct val="100000"/>
              </a:lnSpc>
              <a:spcBef>
                <a:spcPts val="0"/>
              </a:spcBef>
              <a:spcAft>
                <a:spcPts val="0"/>
              </a:spcAft>
              <a:buSzPts val="1400"/>
              <a:buNone/>
            </a:pPr>
            <a:r>
              <a:t>    Confirm facts                 :a1, 2026-10-12, 2d</a:t>
            </a:r>
            <a:endParaRPr/>
          </a:p>
          <a:p xmlns:a="http://schemas.openxmlformats.org/drawingml/2006/main">
            <a:pPr marL="0" lvl="0" indent="0" algn="l">
              <a:lnSpc>
                <a:spcPct val="100000"/>
              </a:lnSpc>
              <a:spcBef>
                <a:spcPts val="0"/>
              </a:spcBef>
              <a:spcAft>
                <a:spcPts val="0"/>
              </a:spcAft>
              <a:buSzPts val="1400"/>
              <a:buNone/>
            </a:pPr>
            <a:r>
              <a:t>    Unified demo and rehearsal    :a2, 2026-10-12, 5d</a:t>
            </a:r>
            <a:endParaRPr/>
          </a:p>
          <a:p xmlns:a="http://schemas.openxmlformats.org/drawingml/2006/main">
            <a:pPr marL="0" lvl="0" indent="0" algn="l">
              <a:lnSpc>
                <a:spcPct val="100000"/>
              </a:lnSpc>
              <a:spcBef>
                <a:spcPts val="0"/>
              </a:spcBef>
              <a:spcAft>
                <a:spcPts val="0"/>
              </a:spcAft>
              <a:buSzPts val="1400"/>
              <a:buNone/>
            </a:pPr>
            <a:r>
              <a:t>    Environment and provenance    :a3, 2026-10-12, 5d</a:t>
            </a:r>
            <a:endParaRPr/>
          </a:p>
          <a:p xmlns:a="http://schemas.openxmlformats.org/drawingml/2006/main">
            <a:pPr marL="0" lvl="0" indent="0" algn="l">
              <a:lnSpc>
                <a:spcPct val="100000"/>
              </a:lnSpc>
              <a:spcBef>
                <a:spcPts val="0"/>
              </a:spcBef>
              <a:spcAft>
                <a:spcPts val="0"/>
              </a:spcAft>
              <a:buSzPts val="1400"/>
              <a:buNone/>
            </a:pPr>
            <a:r>
              <a:t>    section Technical validation</a:t>
            </a:r>
            <a:endParaRPr/>
          </a:p>
          <a:p xmlns:a="http://schemas.openxmlformats.org/drawingml/2006/main">
            <a:pPr marL="0" lvl="0" indent="0" algn="l">
              <a:lnSpc>
                <a:spcPct val="100000"/>
              </a:lnSpc>
              <a:spcBef>
                <a:spcPts val="0"/>
              </a:spcBef>
              <a:spcAft>
                <a:spcPts val="0"/>
              </a:spcAft>
              <a:buSzPts val="1400"/>
              <a:buNone/>
            </a:pPr>
            <a:r>
              <a:t>    Correctness boundaries        :b1, 2026-10-14, 10d</a:t>
            </a:r>
            <a:endParaRPr/>
          </a:p>
          <a:p xmlns:a="http://schemas.openxmlformats.org/drawingml/2006/main">
            <a:pPr marL="0" lvl="0" indent="0" algn="l">
              <a:lnSpc>
                <a:spcPct val="100000"/>
              </a:lnSpc>
              <a:spcBef>
                <a:spcPts val="0"/>
              </a:spcBef>
              <a:spcAft>
                <a:spcPts val="0"/>
              </a:spcAft>
              <a:buSzPts val="1400"/>
              <a:buNone/>
            </a:pPr>
            <a:r>
              <a:t>    Development retrieval work    :b2, 2026-10-19, 5d</a:t>
            </a:r>
            <a:endParaRPr/>
          </a:p>
          <a:p xmlns:a="http://schemas.openxmlformats.org/drawingml/2006/main">
            <a:pPr marL="0" lvl="0" indent="0" algn="l">
              <a:lnSpc>
                <a:spcPct val="100000"/>
              </a:lnSpc>
              <a:spcBef>
                <a:spcPts val="0"/>
              </a:spcBef>
              <a:spcAft>
                <a:spcPts val="0"/>
              </a:spcAft>
              <a:buSzPts val="1400"/>
              <a:buNone/>
            </a:pPr>
            <a:r>
              <a:t>    Real benchmark pilots         :b3, 2026-10-24, 7d</a:t>
            </a:r>
            <a:endParaRPr/>
          </a:p>
          <a:p xmlns:a="http://schemas.openxmlformats.org/drawingml/2006/main">
            <a:pPr marL="0" lvl="0" indent="0" algn="l">
              <a:lnSpc>
                <a:spcPct val="100000"/>
              </a:lnSpc>
              <a:spcBef>
                <a:spcPts val="0"/>
              </a:spcBef>
              <a:spcAft>
                <a:spcPts val="0"/>
              </a:spcAft>
              <a:buSzPts val="1400"/>
              <a:buNone/>
            </a:pPr>
            <a:r>
              <a:t>    Matched campaigns and ablation :b4, 2026-11-02, 5d</a:t>
            </a:r>
            <a:endParaRPr/>
          </a:p>
          <a:p xmlns:a="http://schemas.openxmlformats.org/drawingml/2006/main">
            <a:pPr marL="0" lvl="0" indent="0" algn="l">
              <a:lnSpc>
                <a:spcPct val="100000"/>
              </a:lnSpc>
              <a:spcBef>
                <a:spcPts val="0"/>
              </a:spcBef>
              <a:spcAft>
                <a:spcPts val="0"/>
              </a:spcAft>
              <a:buSzPts val="1400"/>
              <a:buNone/>
            </a:pPr>
            <a:r>
              <a:t>    section Research artifacts</a:t>
            </a:r>
            <a:endParaRPr/>
          </a:p>
          <a:p xmlns:a="http://schemas.openxmlformats.org/drawingml/2006/main">
            <a:pPr marL="0" lvl="0" indent="0" algn="l">
              <a:lnSpc>
                <a:spcPct val="100000"/>
              </a:lnSpc>
              <a:spcBef>
                <a:spcPts val="0"/>
              </a:spcBef>
              <a:spcAft>
                <a:spcPts val="0"/>
              </a:spcAft>
              <a:buSzPts val="1400"/>
              <a:buNone/>
            </a:pPr>
            <a:r>
              <a:t>    Method and related work       :c1, 2026-10-19, 12d</a:t>
            </a:r>
            <a:endParaRPr/>
          </a:p>
          <a:p xmlns:a="http://schemas.openxmlformats.org/drawingml/2006/main">
            <a:pPr marL="0" lvl="0" indent="0" algn="l">
              <a:lnSpc>
                <a:spcPct val="100000"/>
              </a:lnSpc>
              <a:spcBef>
                <a:spcPts val="0"/>
              </a:spcBef>
              <a:spcAft>
                <a:spcPts val="0"/>
              </a:spcAft>
              <a:buSzPts val="1400"/>
              <a:buNone/>
            </a:pPr>
            <a:r>
              <a:t>    Disclosure and prior art      :c2, 2026-10-19, 19d</a:t>
            </a:r>
            <a:endParaRPr/>
          </a:p>
          <a:p xmlns:a="http://schemas.openxmlformats.org/drawingml/2006/main">
            <a:pPr marL="0" lvl="0" indent="0" algn="l">
              <a:lnSpc>
                <a:spcPct val="100000"/>
              </a:lnSpc>
              <a:spcBef>
                <a:spcPts val="0"/>
              </a:spcBef>
              <a:spcAft>
                <a:spcPts val="0"/>
              </a:spcAft>
              <a:buSzPts val="1400"/>
              <a:buNone/>
            </a:pPr>
            <a:r>
              <a:t>    Results and guide revision    :c3, 2026-11-09, 5d</a:t>
            </a:r>
            <a:endParaRPr/>
          </a:p>
          <a:p xmlns:a="http://schemas.openxmlformats.org/drawingml/2006/main">
            <a:pPr marL="0" lvl="0" indent="0" algn="l">
              <a:lnSpc>
                <a:spcPct val="100000"/>
              </a:lnSpc>
              <a:spcBef>
                <a:spcPts val="0"/>
              </a:spcBef>
              <a:spcAft>
                <a:spcPts val="0"/>
              </a:spcAft>
              <a:buSzPts val="1400"/>
              <a:buNone/>
            </a:pPr>
            <a:r>
              <a:t>    Final presentation package    :c4, 2026-11-16, 5d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roles until named owners are confirmed: runtime/demo owner, evaluation owner, manuscript owner, and guide/IP liaison. Avoid assigning tasks to Git contributors without agreement. If a pilot fails, preserve the partial artifacts, fix the measured bottleneck, and reschedule the dependent full campaign rather than relabeling the sample as complete.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Proposed Gantt schedule (1/2)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11. Slide 9: updated pending tasks and Gantt chart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Proposed schedule, assuming work starts on 12 October 2026. The mentor-review date, team availability, publication deadline, and owners were not supplied. Adapt this plan to those constraints. Completion dates are work targets, not commitments or predictions of publication/patent acceptance.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Proposed dates | Dependency | Done means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Confirm project/admin/publication facts | Oct 12 - 13 | Team records | Official slide fields and verifiable status records. |</a:t>
            </a:r>
            <a:endParaRPr/>
          </a:p>
          <a:p xmlns:a="http://schemas.openxmlformats.org/drawingml/2006/main">
            <a:pPr marL="0" lvl="0" indent="0" algn="l">
              <a:lnSpc>
                <a:spcPct val="100000"/>
              </a:lnSpc>
              <a:spcBef>
                <a:spcPts val="0"/>
              </a:spcBef>
              <a:spcAft>
                <a:spcPts val="0"/>
              </a:spcAft>
              <a:buSzPts val="1400"/>
              <a:buNone/>
            </a:pPr>
            <a:r>
              <a:t>| Build/rehearse unified scenario demo | Oct 12 - 16 | Existing runtime/tests, working local environment | Frozen sample, actual profile outputs, branch/tool/maintenance evidence, exported bundle. |</a:t>
            </a:r>
            <a:endParaRPr/>
          </a:p>
          <a:p xmlns:a="http://schemas.openxmlformats.org/drawingml/2006/main">
            <a:pPr marL="0" lvl="0" indent="0" algn="l">
              <a:lnSpc>
                <a:spcPct val="100000"/>
              </a:lnSpc>
              <a:spcBef>
                <a:spcPts val="0"/>
              </a:spcBef>
              <a:spcAft>
                <a:spcPts val="0"/>
              </a:spcAft>
              <a:buSzPts val="1400"/>
              <a:buNone/>
            </a:pPr>
            <a:r>
              <a:t>| Resolve environment and evidence provenance | Oct 12 - 16 | Interpreter/test execution and saved artifacts | Wider-suite run completes; JSON/CSV identities reconciled; manifest retained. |</a:t>
            </a:r>
            <a:endParaRPr/>
          </a:p>
          <a:p xmlns:a="http://schemas.openxmlformats.org/drawingml/2006/main">
            <a:pPr marL="0" lvl="0" indent="0" algn="l">
              <a:lnSpc>
                <a:spcPct val="100000"/>
              </a:lnSpc>
              <a:spcBef>
                <a:spcPts val="0"/>
              </a:spcBef>
              <a:spcAft>
                <a:spcPts val="0"/>
              </a:spcAft>
              <a:buSzPts val="1400"/>
              <a:buNone/>
            </a:pPr>
            <a:r>
              <a:t>| Validate correctness boundaries | Oct 14 - 23 | Reproducible failure cases | Isolation/idempotency/graph/commit/tool checks appropriate to chosen scope. |</a:t>
            </a:r>
            <a:endParaRPr/>
          </a:p>
          <a:p xmlns:a="http://schemas.openxmlformats.org/drawingml/2006/main">
            <a:pPr marL="0" lvl="0" indent="0" algn="l">
              <a:lnSpc>
                <a:spcPct val="100000"/>
              </a:lnSpc>
              <a:spcBef>
                <a:spcPts val="0"/>
              </a:spcBef>
              <a:spcAft>
                <a:spcPts val="0"/>
              </a:spcAft>
              <a:buSzPts val="1400"/>
              <a:buNone/>
            </a:pPr>
            <a:r>
              <a:t>| Diagnose/tune retrieval on development set | Oct 19 - 23 | Stable correctness and fixed dev protocol | Stage failure report, chosen backend/representation, frozen settings. |</a:t>
            </a:r>
            <a:endParaRPr/>
          </a:p>
          <a:p xmlns:a="http://schemas.openxmlformats.org/drawingml/2006/main">
            <a:pPr marL="0" lvl="0" indent="0" algn="l">
              <a:lnSpc>
                <a:spcPct val="100000"/>
              </a:lnSpc>
              <a:spcBef>
                <a:spcPts val="0"/>
              </a:spcBef>
              <a:spcAft>
                <a:spcPts val="0"/>
              </a:spcAft>
              <a:buSzPts val="1400"/>
              <a:buNone/>
            </a:pPr>
            <a:r>
              <a:t>| Benchmark-specific real pilots | Oct 24 - 30 | Configured model/hardware, frozen protocol | Each benchmark passes its own resource/equality/time gate. |</a:t>
            </a:r>
            <a:endParaRPr/>
          </a:p>
          <a:p xmlns:a="http://schemas.openxmlformats.org/drawingml/2006/main">
            <a:pPr marL="0" lvl="0" indent="0" algn="l">
              <a:lnSpc>
                <a:spcPct val="100000"/>
              </a:lnSpc>
              <a:spcBef>
                <a:spcPts val="0"/>
              </a:spcBef>
              <a:spcAft>
                <a:spcPts val="0"/>
              </a:spcAft>
              <a:buSzPts val="1400"/>
              <a:buNone/>
            </a:pPr>
            <a:r>
              <a:t>| Full matched campaigns and ablations | Nov 2 - 6 | Fresh pilot admission, sufficient session availability | Complete source coverage, native scores, matched identities, validated archives or explicit partial status. |</a:t>
            </a:r>
            <a:endParaRPr/>
          </a:p>
          <a:p xmlns:a="http://schemas.openxmlformats.org/drawingml/2006/main">
            <a:pPr marL="0" lvl="0" indent="0" algn="l">
              <a:lnSpc>
                <a:spcPct val="100000"/>
              </a:lnSpc>
              <a:spcBef>
                <a:spcPts val="0"/>
              </a:spcBef>
              <a:spcAft>
                <a:spcPts val="0"/>
              </a:spcAft>
              <a:buSzPts val="1400"/>
              <a:buNone/>
            </a:pPr>
            <a:r>
              <a:t>| Paper method/related-work draft | Oct 19 - 30 | Stable architecture and literature | Versioned draft with sources and honest provisional result labels. |</a:t>
            </a:r>
            <a:endParaRPr/>
          </a:p>
          <a:p xmlns:a="http://schemas.openxmlformats.org/drawingml/2006/main">
            <a:pPr marL="0" lvl="0" indent="0" algn="l">
              <a:lnSpc>
                <a:spcPct val="100000"/>
              </a:lnSpc>
              <a:spcBef>
                <a:spcPts val="0"/>
              </a:spcBef>
              <a:spcAft>
                <a:spcPts val="0"/>
              </a:spcAft>
              <a:buSzPts val="1400"/>
              <a:buNone/>
            </a:pPr>
            <a:r>
              <a:t>| Paper results/analysis/guide revision | Nov 9 - 13 | Validated final experiments | Reconciled tables, cost/limitations, complete manuscript reviewed by guide. |</a:t>
            </a:r>
            <a:endParaRPr/>
          </a:p>
          <a:p xmlns:a="http://schemas.openxmlformats.org/drawingml/2006/main">
            <a:pPr marL="0" lvl="0" indent="0" algn="l">
              <a:lnSpc>
                <a:spcPct val="100000"/>
              </a:lnSpc>
              <a:spcBef>
                <a:spcPts val="0"/>
              </a:spcBef>
              <a:spcAft>
                <a:spcPts val="0"/>
              </a:spcAft>
              <a:buSzPts val="1400"/>
              <a:buNone/>
            </a:pPr>
            <a:r>
              <a:t>| Patent disclosure/prior-art technical review | Oct 19 - Nov 6 | Guide/IP office direction | Documented mechanism comparison and institutional next-step decision. |</a:t>
            </a:r>
            <a:endParaRPr/>
          </a:p>
          <a:p xmlns:a="http://schemas.openxmlformats.org/drawingml/2006/main">
            <a:pPr marL="0" lvl="0" indent="0" algn="l">
              <a:lnSpc>
                <a:spcPct val="100000"/>
              </a:lnSpc>
              <a:spcBef>
                <a:spcPts val="0"/>
              </a:spcBef>
              <a:spcAft>
                <a:spcPts val="0"/>
              </a:spcAft>
              <a:buSzPts val="1400"/>
              <a:buNone/>
            </a:pPr>
            <a:r>
              <a:t>| Final slide/demo rehearsal and submission preparation | Nov 16 - 20 | Guide decisions and evidence | Consistent slides, rehearsed demo, approved package. Actual submission/filing remains team dependent.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gantt</a:t>
            </a:r>
            <a:endParaRPr/>
          </a:p>
          <a:p xmlns:a="http://schemas.openxmlformats.org/drawingml/2006/main">
            <a:pPr marL="0" lvl="0" indent="0" algn="l">
              <a:lnSpc>
                <a:spcPct val="100000"/>
              </a:lnSpc>
              <a:spcBef>
                <a:spcPts val="0"/>
              </a:spcBef>
              <a:spcAft>
                <a:spcPts val="0"/>
              </a:spcAft>
              <a:buSzPts val="1400"/>
              <a:buNone/>
            </a:pPr>
            <a:r>
              <a:t>    title Proposed PRIMA review and research completion work</a:t>
            </a:r>
            <a:endParaRPr/>
          </a:p>
          <a:p xmlns:a="http://schemas.openxmlformats.org/drawingml/2006/main">
            <a:pPr marL="0" lvl="0" indent="0" algn="l">
              <a:lnSpc>
                <a:spcPct val="100000"/>
              </a:lnSpc>
              <a:spcBef>
                <a:spcPts val="0"/>
              </a:spcBef>
              <a:spcAft>
                <a:spcPts val="0"/>
              </a:spcAft>
              <a:buSzPts val="1400"/>
              <a:buNone/>
            </a:pPr>
            <a:r>
              <a:t>    dateFormat YYYY-MM-DD</a:t>
            </a:r>
            <a:endParaRPr/>
          </a:p>
          <a:p xmlns:a="http://schemas.openxmlformats.org/drawingml/2006/main">
            <a:pPr marL="0" lvl="0" indent="0" algn="l">
              <a:lnSpc>
                <a:spcPct val="100000"/>
              </a:lnSpc>
              <a:spcBef>
                <a:spcPts val="0"/>
              </a:spcBef>
              <a:spcAft>
                <a:spcPts val="0"/>
              </a:spcAft>
              <a:buSzPts val="1400"/>
              <a:buNone/>
            </a:pPr>
            <a:r>
              <a:t>    axisFormat %d %b</a:t>
            </a:r>
            <a:endParaRPr/>
          </a:p>
          <a:p xmlns:a="http://schemas.openxmlformats.org/drawingml/2006/main">
            <a:pPr marL="0" lvl="0" indent="0" algn="l">
              <a:lnSpc>
                <a:spcPct val="100000"/>
              </a:lnSpc>
              <a:spcBef>
                <a:spcPts val="0"/>
              </a:spcBef>
              <a:spcAft>
                <a:spcPts val="0"/>
              </a:spcAft>
              <a:buSzPts val="1400"/>
              <a:buNone/>
            </a:pPr>
            <a:r>
              <a:t>    section Review evidence</a:t>
            </a:r>
            <a:endParaRPr/>
          </a:p>
          <a:p xmlns:a="http://schemas.openxmlformats.org/drawingml/2006/main">
            <a:pPr marL="0" lvl="0" indent="0" algn="l">
              <a:lnSpc>
                <a:spcPct val="100000"/>
              </a:lnSpc>
              <a:spcBef>
                <a:spcPts val="0"/>
              </a:spcBef>
              <a:spcAft>
                <a:spcPts val="0"/>
              </a:spcAft>
              <a:buSzPts val="1400"/>
              <a:buNone/>
            </a:pPr>
            <a:r>
              <a:t>    Confirm facts                 :a1, 2026-10-12, 2d</a:t>
            </a:r>
            <a:endParaRPr/>
          </a:p>
          <a:p xmlns:a="http://schemas.openxmlformats.org/drawingml/2006/main">
            <a:pPr marL="0" lvl="0" indent="0" algn="l">
              <a:lnSpc>
                <a:spcPct val="100000"/>
              </a:lnSpc>
              <a:spcBef>
                <a:spcPts val="0"/>
              </a:spcBef>
              <a:spcAft>
                <a:spcPts val="0"/>
              </a:spcAft>
              <a:buSzPts val="1400"/>
              <a:buNone/>
            </a:pPr>
            <a:r>
              <a:t>    Unified demo and rehearsal    :a2, 2026-10-12, 5d</a:t>
            </a:r>
            <a:endParaRPr/>
          </a:p>
          <a:p xmlns:a="http://schemas.openxmlformats.org/drawingml/2006/main">
            <a:pPr marL="0" lvl="0" indent="0" algn="l">
              <a:lnSpc>
                <a:spcPct val="100000"/>
              </a:lnSpc>
              <a:spcBef>
                <a:spcPts val="0"/>
              </a:spcBef>
              <a:spcAft>
                <a:spcPts val="0"/>
              </a:spcAft>
              <a:buSzPts val="1400"/>
              <a:buNone/>
            </a:pPr>
            <a:r>
              <a:t>    Environment and provenance    :a3, 2026-10-12, 5d</a:t>
            </a:r>
            <a:endParaRPr/>
          </a:p>
          <a:p xmlns:a="http://schemas.openxmlformats.org/drawingml/2006/main">
            <a:pPr marL="0" lvl="0" indent="0" algn="l">
              <a:lnSpc>
                <a:spcPct val="100000"/>
              </a:lnSpc>
              <a:spcBef>
                <a:spcPts val="0"/>
              </a:spcBef>
              <a:spcAft>
                <a:spcPts val="0"/>
              </a:spcAft>
              <a:buSzPts val="1400"/>
              <a:buNone/>
            </a:pPr>
            <a:r>
              <a:t>    section Technical validation</a:t>
            </a:r>
            <a:endParaRPr/>
          </a:p>
          <a:p xmlns:a="http://schemas.openxmlformats.org/drawingml/2006/main">
            <a:pPr marL="0" lvl="0" indent="0" algn="l">
              <a:lnSpc>
                <a:spcPct val="100000"/>
              </a:lnSpc>
              <a:spcBef>
                <a:spcPts val="0"/>
              </a:spcBef>
              <a:spcAft>
                <a:spcPts val="0"/>
              </a:spcAft>
              <a:buSzPts val="1400"/>
              <a:buNone/>
            </a:pPr>
            <a:r>
              <a:t>    Correctness boundaries        :b1, 2026-10-14, 10d</a:t>
            </a:r>
            <a:endParaRPr/>
          </a:p>
          <a:p xmlns:a="http://schemas.openxmlformats.org/drawingml/2006/main">
            <a:pPr marL="0" lvl="0" indent="0" algn="l">
              <a:lnSpc>
                <a:spcPct val="100000"/>
              </a:lnSpc>
              <a:spcBef>
                <a:spcPts val="0"/>
              </a:spcBef>
              <a:spcAft>
                <a:spcPts val="0"/>
              </a:spcAft>
              <a:buSzPts val="1400"/>
              <a:buNone/>
            </a:pPr>
            <a:r>
              <a:t>    Development retrieval work    :b2, 2026-10-19, 5d</a:t>
            </a:r>
            <a:endParaRPr/>
          </a:p>
          <a:p xmlns:a="http://schemas.openxmlformats.org/drawingml/2006/main">
            <a:pPr marL="0" lvl="0" indent="0" algn="l">
              <a:lnSpc>
                <a:spcPct val="100000"/>
              </a:lnSpc>
              <a:spcBef>
                <a:spcPts val="0"/>
              </a:spcBef>
              <a:spcAft>
                <a:spcPts val="0"/>
              </a:spcAft>
              <a:buSzPts val="1400"/>
              <a:buNone/>
            </a:pPr>
            <a:r>
              <a:t>    Real benchmark pilots         :b3, 2026-10-24, 7d</a:t>
            </a:r>
            <a:endParaRPr/>
          </a:p>
          <a:p xmlns:a="http://schemas.openxmlformats.org/drawingml/2006/main">
            <a:pPr marL="0" lvl="0" indent="0" algn="l">
              <a:lnSpc>
                <a:spcPct val="100000"/>
              </a:lnSpc>
              <a:spcBef>
                <a:spcPts val="0"/>
              </a:spcBef>
              <a:spcAft>
                <a:spcPts val="0"/>
              </a:spcAft>
              <a:buSzPts val="1400"/>
              <a:buNone/>
            </a:pPr>
            <a:r>
              <a:t>    Matched campaigns and ablation :b4, 2026-11-02, 5d</a:t>
            </a:r>
            <a:endParaRPr/>
          </a:p>
          <a:p xmlns:a="http://schemas.openxmlformats.org/drawingml/2006/main">
            <a:pPr marL="0" lvl="0" indent="0" algn="l">
              <a:lnSpc>
                <a:spcPct val="100000"/>
              </a:lnSpc>
              <a:spcBef>
                <a:spcPts val="0"/>
              </a:spcBef>
              <a:spcAft>
                <a:spcPts val="0"/>
              </a:spcAft>
              <a:buSzPts val="1400"/>
              <a:buNone/>
            </a:pPr>
            <a:r>
              <a:t>    section Research artifacts</a:t>
            </a:r>
            <a:endParaRPr/>
          </a:p>
          <a:p xmlns:a="http://schemas.openxmlformats.org/drawingml/2006/main">
            <a:pPr marL="0" lvl="0" indent="0" algn="l">
              <a:lnSpc>
                <a:spcPct val="100000"/>
              </a:lnSpc>
              <a:spcBef>
                <a:spcPts val="0"/>
              </a:spcBef>
              <a:spcAft>
                <a:spcPts val="0"/>
              </a:spcAft>
              <a:buSzPts val="1400"/>
              <a:buNone/>
            </a:pPr>
            <a:r>
              <a:t>    Method and related work       :c1, 2026-10-19, 12d</a:t>
            </a:r>
            <a:endParaRPr/>
          </a:p>
          <a:p xmlns:a="http://schemas.openxmlformats.org/drawingml/2006/main">
            <a:pPr marL="0" lvl="0" indent="0" algn="l">
              <a:lnSpc>
                <a:spcPct val="100000"/>
              </a:lnSpc>
              <a:spcBef>
                <a:spcPts val="0"/>
              </a:spcBef>
              <a:spcAft>
                <a:spcPts val="0"/>
              </a:spcAft>
              <a:buSzPts val="1400"/>
              <a:buNone/>
            </a:pPr>
            <a:r>
              <a:t>    Disclosure and prior art      :c2, 2026-10-19, 19d</a:t>
            </a:r>
            <a:endParaRPr/>
          </a:p>
          <a:p xmlns:a="http://schemas.openxmlformats.org/drawingml/2006/main">
            <a:pPr marL="0" lvl="0" indent="0" algn="l">
              <a:lnSpc>
                <a:spcPct val="100000"/>
              </a:lnSpc>
              <a:spcBef>
                <a:spcPts val="0"/>
              </a:spcBef>
              <a:spcAft>
                <a:spcPts val="0"/>
              </a:spcAft>
              <a:buSzPts val="1400"/>
              <a:buNone/>
            </a:pPr>
            <a:r>
              <a:t>    Results and guide revision    :c3, 2026-11-09, 5d</a:t>
            </a:r>
            <a:endParaRPr/>
          </a:p>
          <a:p xmlns:a="http://schemas.openxmlformats.org/drawingml/2006/main">
            <a:pPr marL="0" lvl="0" indent="0" algn="l">
              <a:lnSpc>
                <a:spcPct val="100000"/>
              </a:lnSpc>
              <a:spcBef>
                <a:spcPts val="0"/>
              </a:spcBef>
              <a:spcAft>
                <a:spcPts val="0"/>
              </a:spcAft>
              <a:buSzPts val="1400"/>
              <a:buNone/>
            </a:pPr>
            <a:r>
              <a:t>    Final presentation package    :c4, 2026-11-16, 5d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roles until named owners are confirmed: runtime/demo owner, evaluation owner, manuscript owner, and guide/IP liaison. Avoid assigning tasks to Git contributors without agreement. If a pilot fails, preserve the partial artifacts, fix the measured bottleneck, and reschedule the dependent full campaign rather than relabeling the sample as complete.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Proposed Gantt schedule (2/2)</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11. Slide 9: updated pending tasks and Gantt chart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Proposed schedule, assuming work starts on 12 October 2026. The mentor-review date, team availability, publication deadline, and owners were not supplied. Adapt this plan to those constraints. Completion dates are work targets, not commitments or predictions of publication/patent acceptance.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Proposed dates | Dependency | Done means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Confirm project/admin/publication facts | Oct 12 - 13 | Team records | Official slide fields and verifiable status records. |</a:t>
            </a:r>
            <a:endParaRPr/>
          </a:p>
          <a:p xmlns:a="http://schemas.openxmlformats.org/drawingml/2006/main">
            <a:pPr marL="0" lvl="0" indent="0" algn="l">
              <a:lnSpc>
                <a:spcPct val="100000"/>
              </a:lnSpc>
              <a:spcBef>
                <a:spcPts val="0"/>
              </a:spcBef>
              <a:spcAft>
                <a:spcPts val="0"/>
              </a:spcAft>
              <a:buSzPts val="1400"/>
              <a:buNone/>
            </a:pPr>
            <a:r>
              <a:t>| Build/rehearse unified scenario demo | Oct 12 - 16 | Existing runtime/tests, working local environment | Frozen sample, actual profile outputs, branch/tool/maintenance evidence, exported bundle. |</a:t>
            </a:r>
            <a:endParaRPr/>
          </a:p>
          <a:p xmlns:a="http://schemas.openxmlformats.org/drawingml/2006/main">
            <a:pPr marL="0" lvl="0" indent="0" algn="l">
              <a:lnSpc>
                <a:spcPct val="100000"/>
              </a:lnSpc>
              <a:spcBef>
                <a:spcPts val="0"/>
              </a:spcBef>
              <a:spcAft>
                <a:spcPts val="0"/>
              </a:spcAft>
              <a:buSzPts val="1400"/>
              <a:buNone/>
            </a:pPr>
            <a:r>
              <a:t>| Resolve environment and evidence provenance | Oct 12 - 16 | Interpreter/test execution and saved artifacts | Wider-suite run completes; JSON/CSV identities reconciled; manifest retained. |</a:t>
            </a:r>
            <a:endParaRPr/>
          </a:p>
          <a:p xmlns:a="http://schemas.openxmlformats.org/drawingml/2006/main">
            <a:pPr marL="0" lvl="0" indent="0" algn="l">
              <a:lnSpc>
                <a:spcPct val="100000"/>
              </a:lnSpc>
              <a:spcBef>
                <a:spcPts val="0"/>
              </a:spcBef>
              <a:spcAft>
                <a:spcPts val="0"/>
              </a:spcAft>
              <a:buSzPts val="1400"/>
              <a:buNone/>
            </a:pPr>
            <a:r>
              <a:t>| Validate correctness boundaries | Oct 14 - 23 | Reproducible failure cases | Isolation/idempotency/graph/commit/tool checks appropriate to chosen scope. |</a:t>
            </a:r>
            <a:endParaRPr/>
          </a:p>
          <a:p xmlns:a="http://schemas.openxmlformats.org/drawingml/2006/main">
            <a:pPr marL="0" lvl="0" indent="0" algn="l">
              <a:lnSpc>
                <a:spcPct val="100000"/>
              </a:lnSpc>
              <a:spcBef>
                <a:spcPts val="0"/>
              </a:spcBef>
              <a:spcAft>
                <a:spcPts val="0"/>
              </a:spcAft>
              <a:buSzPts val="1400"/>
              <a:buNone/>
            </a:pPr>
            <a:r>
              <a:t>| Diagnose/tune retrieval on development set | Oct 19 - 23 | Stable correctness and fixed dev protocol | Stage failure report, chosen backend/representation, frozen settings. |</a:t>
            </a:r>
            <a:endParaRPr/>
          </a:p>
          <a:p xmlns:a="http://schemas.openxmlformats.org/drawingml/2006/main">
            <a:pPr marL="0" lvl="0" indent="0" algn="l">
              <a:lnSpc>
                <a:spcPct val="100000"/>
              </a:lnSpc>
              <a:spcBef>
                <a:spcPts val="0"/>
              </a:spcBef>
              <a:spcAft>
                <a:spcPts val="0"/>
              </a:spcAft>
              <a:buSzPts val="1400"/>
              <a:buNone/>
            </a:pPr>
            <a:r>
              <a:t>| Benchmark-specific real pilots | Oct 24 - 30 | Configured model/hardware, frozen protocol | Each benchmark passes its own resource/equality/time gate. |</a:t>
            </a:r>
            <a:endParaRPr/>
          </a:p>
          <a:p xmlns:a="http://schemas.openxmlformats.org/drawingml/2006/main">
            <a:pPr marL="0" lvl="0" indent="0" algn="l">
              <a:lnSpc>
                <a:spcPct val="100000"/>
              </a:lnSpc>
              <a:spcBef>
                <a:spcPts val="0"/>
              </a:spcBef>
              <a:spcAft>
                <a:spcPts val="0"/>
              </a:spcAft>
              <a:buSzPts val="1400"/>
              <a:buNone/>
            </a:pPr>
            <a:r>
              <a:t>| Full matched campaigns and ablations | Nov 2 - 6 | Fresh pilot admission, sufficient session availability | Complete source coverage, native scores, matched identities, validated archives or explicit partial status. |</a:t>
            </a:r>
            <a:endParaRPr/>
          </a:p>
          <a:p xmlns:a="http://schemas.openxmlformats.org/drawingml/2006/main">
            <a:pPr marL="0" lvl="0" indent="0" algn="l">
              <a:lnSpc>
                <a:spcPct val="100000"/>
              </a:lnSpc>
              <a:spcBef>
                <a:spcPts val="0"/>
              </a:spcBef>
              <a:spcAft>
                <a:spcPts val="0"/>
              </a:spcAft>
              <a:buSzPts val="1400"/>
              <a:buNone/>
            </a:pPr>
            <a:r>
              <a:t>| Paper method/related-work draft | Oct 19 - 30 | Stable architecture and literature | Versioned draft with sources and honest provisional result labels. |</a:t>
            </a:r>
            <a:endParaRPr/>
          </a:p>
          <a:p xmlns:a="http://schemas.openxmlformats.org/drawingml/2006/main">
            <a:pPr marL="0" lvl="0" indent="0" algn="l">
              <a:lnSpc>
                <a:spcPct val="100000"/>
              </a:lnSpc>
              <a:spcBef>
                <a:spcPts val="0"/>
              </a:spcBef>
              <a:spcAft>
                <a:spcPts val="0"/>
              </a:spcAft>
              <a:buSzPts val="1400"/>
              <a:buNone/>
            </a:pPr>
            <a:r>
              <a:t>| Paper results/analysis/guide revision | Nov 9 - 13 | Validated final experiments | Reconciled tables, cost/limitations, complete manuscript reviewed by guide. |</a:t>
            </a:r>
            <a:endParaRPr/>
          </a:p>
          <a:p xmlns:a="http://schemas.openxmlformats.org/drawingml/2006/main">
            <a:pPr marL="0" lvl="0" indent="0" algn="l">
              <a:lnSpc>
                <a:spcPct val="100000"/>
              </a:lnSpc>
              <a:spcBef>
                <a:spcPts val="0"/>
              </a:spcBef>
              <a:spcAft>
                <a:spcPts val="0"/>
              </a:spcAft>
              <a:buSzPts val="1400"/>
              <a:buNone/>
            </a:pPr>
            <a:r>
              <a:t>| Patent disclosure/prior-art technical review | Oct 19 - Nov 6 | Guide/IP office direction | Documented mechanism comparison and institutional next-step decision. |</a:t>
            </a:r>
            <a:endParaRPr/>
          </a:p>
          <a:p xmlns:a="http://schemas.openxmlformats.org/drawingml/2006/main">
            <a:pPr marL="0" lvl="0" indent="0" algn="l">
              <a:lnSpc>
                <a:spcPct val="100000"/>
              </a:lnSpc>
              <a:spcBef>
                <a:spcPts val="0"/>
              </a:spcBef>
              <a:spcAft>
                <a:spcPts val="0"/>
              </a:spcAft>
              <a:buSzPts val="1400"/>
              <a:buNone/>
            </a:pPr>
            <a:r>
              <a:t>| Final slide/demo rehearsal and submission preparation | Nov 16 - 20 | Guide decisions and evidence | Consistent slides, rehearsed demo, approved package. Actual submission/filing remains team dependent.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gantt</a:t>
            </a:r>
            <a:endParaRPr/>
          </a:p>
          <a:p xmlns:a="http://schemas.openxmlformats.org/drawingml/2006/main">
            <a:pPr marL="0" lvl="0" indent="0" algn="l">
              <a:lnSpc>
                <a:spcPct val="100000"/>
              </a:lnSpc>
              <a:spcBef>
                <a:spcPts val="0"/>
              </a:spcBef>
              <a:spcAft>
                <a:spcPts val="0"/>
              </a:spcAft>
              <a:buSzPts val="1400"/>
              <a:buNone/>
            </a:pPr>
            <a:r>
              <a:t>    title Proposed PRIMA review and research completion work</a:t>
            </a:r>
            <a:endParaRPr/>
          </a:p>
          <a:p xmlns:a="http://schemas.openxmlformats.org/drawingml/2006/main">
            <a:pPr marL="0" lvl="0" indent="0" algn="l">
              <a:lnSpc>
                <a:spcPct val="100000"/>
              </a:lnSpc>
              <a:spcBef>
                <a:spcPts val="0"/>
              </a:spcBef>
              <a:spcAft>
                <a:spcPts val="0"/>
              </a:spcAft>
              <a:buSzPts val="1400"/>
              <a:buNone/>
            </a:pPr>
            <a:r>
              <a:t>    dateFormat YYYY-MM-DD</a:t>
            </a:r>
            <a:endParaRPr/>
          </a:p>
          <a:p xmlns:a="http://schemas.openxmlformats.org/drawingml/2006/main">
            <a:pPr marL="0" lvl="0" indent="0" algn="l">
              <a:lnSpc>
                <a:spcPct val="100000"/>
              </a:lnSpc>
              <a:spcBef>
                <a:spcPts val="0"/>
              </a:spcBef>
              <a:spcAft>
                <a:spcPts val="0"/>
              </a:spcAft>
              <a:buSzPts val="1400"/>
              <a:buNone/>
            </a:pPr>
            <a:r>
              <a:t>    axisFormat %d %b</a:t>
            </a:r>
            <a:endParaRPr/>
          </a:p>
          <a:p xmlns:a="http://schemas.openxmlformats.org/drawingml/2006/main">
            <a:pPr marL="0" lvl="0" indent="0" algn="l">
              <a:lnSpc>
                <a:spcPct val="100000"/>
              </a:lnSpc>
              <a:spcBef>
                <a:spcPts val="0"/>
              </a:spcBef>
              <a:spcAft>
                <a:spcPts val="0"/>
              </a:spcAft>
              <a:buSzPts val="1400"/>
              <a:buNone/>
            </a:pPr>
            <a:r>
              <a:t>    section Review evidence</a:t>
            </a:r>
            <a:endParaRPr/>
          </a:p>
          <a:p xmlns:a="http://schemas.openxmlformats.org/drawingml/2006/main">
            <a:pPr marL="0" lvl="0" indent="0" algn="l">
              <a:lnSpc>
                <a:spcPct val="100000"/>
              </a:lnSpc>
              <a:spcBef>
                <a:spcPts val="0"/>
              </a:spcBef>
              <a:spcAft>
                <a:spcPts val="0"/>
              </a:spcAft>
              <a:buSzPts val="1400"/>
              <a:buNone/>
            </a:pPr>
            <a:r>
              <a:t>    Confirm facts                 :a1, 2026-10-12, 2d</a:t>
            </a:r>
            <a:endParaRPr/>
          </a:p>
          <a:p xmlns:a="http://schemas.openxmlformats.org/drawingml/2006/main">
            <a:pPr marL="0" lvl="0" indent="0" algn="l">
              <a:lnSpc>
                <a:spcPct val="100000"/>
              </a:lnSpc>
              <a:spcBef>
                <a:spcPts val="0"/>
              </a:spcBef>
              <a:spcAft>
                <a:spcPts val="0"/>
              </a:spcAft>
              <a:buSzPts val="1400"/>
              <a:buNone/>
            </a:pPr>
            <a:r>
              <a:t>    Unified demo and rehearsal    :a2, 2026-10-12, 5d</a:t>
            </a:r>
            <a:endParaRPr/>
          </a:p>
          <a:p xmlns:a="http://schemas.openxmlformats.org/drawingml/2006/main">
            <a:pPr marL="0" lvl="0" indent="0" algn="l">
              <a:lnSpc>
                <a:spcPct val="100000"/>
              </a:lnSpc>
              <a:spcBef>
                <a:spcPts val="0"/>
              </a:spcBef>
              <a:spcAft>
                <a:spcPts val="0"/>
              </a:spcAft>
              <a:buSzPts val="1400"/>
              <a:buNone/>
            </a:pPr>
            <a:r>
              <a:t>    Environment and provenance    :a3, 2026-10-12, 5d</a:t>
            </a:r>
            <a:endParaRPr/>
          </a:p>
          <a:p xmlns:a="http://schemas.openxmlformats.org/drawingml/2006/main">
            <a:pPr marL="0" lvl="0" indent="0" algn="l">
              <a:lnSpc>
                <a:spcPct val="100000"/>
              </a:lnSpc>
              <a:spcBef>
                <a:spcPts val="0"/>
              </a:spcBef>
              <a:spcAft>
                <a:spcPts val="0"/>
              </a:spcAft>
              <a:buSzPts val="1400"/>
              <a:buNone/>
            </a:pPr>
            <a:r>
              <a:t>    section Technical validation</a:t>
            </a:r>
            <a:endParaRPr/>
          </a:p>
          <a:p xmlns:a="http://schemas.openxmlformats.org/drawingml/2006/main">
            <a:pPr marL="0" lvl="0" indent="0" algn="l">
              <a:lnSpc>
                <a:spcPct val="100000"/>
              </a:lnSpc>
              <a:spcBef>
                <a:spcPts val="0"/>
              </a:spcBef>
              <a:spcAft>
                <a:spcPts val="0"/>
              </a:spcAft>
              <a:buSzPts val="1400"/>
              <a:buNone/>
            </a:pPr>
            <a:r>
              <a:t>    Correctness boundaries        :b1, 2026-10-14, 10d</a:t>
            </a:r>
            <a:endParaRPr/>
          </a:p>
          <a:p xmlns:a="http://schemas.openxmlformats.org/drawingml/2006/main">
            <a:pPr marL="0" lvl="0" indent="0" algn="l">
              <a:lnSpc>
                <a:spcPct val="100000"/>
              </a:lnSpc>
              <a:spcBef>
                <a:spcPts val="0"/>
              </a:spcBef>
              <a:spcAft>
                <a:spcPts val="0"/>
              </a:spcAft>
              <a:buSzPts val="1400"/>
              <a:buNone/>
            </a:pPr>
            <a:r>
              <a:t>    Development retrieval work    :b2, 2026-10-19, 5d</a:t>
            </a:r>
            <a:endParaRPr/>
          </a:p>
          <a:p xmlns:a="http://schemas.openxmlformats.org/drawingml/2006/main">
            <a:pPr marL="0" lvl="0" indent="0" algn="l">
              <a:lnSpc>
                <a:spcPct val="100000"/>
              </a:lnSpc>
              <a:spcBef>
                <a:spcPts val="0"/>
              </a:spcBef>
              <a:spcAft>
                <a:spcPts val="0"/>
              </a:spcAft>
              <a:buSzPts val="1400"/>
              <a:buNone/>
            </a:pPr>
            <a:r>
              <a:t>    Real benchmark pilots         :b3, 2026-10-24, 7d</a:t>
            </a:r>
            <a:endParaRPr/>
          </a:p>
          <a:p xmlns:a="http://schemas.openxmlformats.org/drawingml/2006/main">
            <a:pPr marL="0" lvl="0" indent="0" algn="l">
              <a:lnSpc>
                <a:spcPct val="100000"/>
              </a:lnSpc>
              <a:spcBef>
                <a:spcPts val="0"/>
              </a:spcBef>
              <a:spcAft>
                <a:spcPts val="0"/>
              </a:spcAft>
              <a:buSzPts val="1400"/>
              <a:buNone/>
            </a:pPr>
            <a:r>
              <a:t>    Matched campaigns and ablation :b4, 2026-11-02, 5d</a:t>
            </a:r>
            <a:endParaRPr/>
          </a:p>
          <a:p xmlns:a="http://schemas.openxmlformats.org/drawingml/2006/main">
            <a:pPr marL="0" lvl="0" indent="0" algn="l">
              <a:lnSpc>
                <a:spcPct val="100000"/>
              </a:lnSpc>
              <a:spcBef>
                <a:spcPts val="0"/>
              </a:spcBef>
              <a:spcAft>
                <a:spcPts val="0"/>
              </a:spcAft>
              <a:buSzPts val="1400"/>
              <a:buNone/>
            </a:pPr>
            <a:r>
              <a:t>    section Research artifacts</a:t>
            </a:r>
            <a:endParaRPr/>
          </a:p>
          <a:p xmlns:a="http://schemas.openxmlformats.org/drawingml/2006/main">
            <a:pPr marL="0" lvl="0" indent="0" algn="l">
              <a:lnSpc>
                <a:spcPct val="100000"/>
              </a:lnSpc>
              <a:spcBef>
                <a:spcPts val="0"/>
              </a:spcBef>
              <a:spcAft>
                <a:spcPts val="0"/>
              </a:spcAft>
              <a:buSzPts val="1400"/>
              <a:buNone/>
            </a:pPr>
            <a:r>
              <a:t>    Method and related work       :c1, 2026-10-19, 12d</a:t>
            </a:r>
            <a:endParaRPr/>
          </a:p>
          <a:p xmlns:a="http://schemas.openxmlformats.org/drawingml/2006/main">
            <a:pPr marL="0" lvl="0" indent="0" algn="l">
              <a:lnSpc>
                <a:spcPct val="100000"/>
              </a:lnSpc>
              <a:spcBef>
                <a:spcPts val="0"/>
              </a:spcBef>
              <a:spcAft>
                <a:spcPts val="0"/>
              </a:spcAft>
              <a:buSzPts val="1400"/>
              <a:buNone/>
            </a:pPr>
            <a:r>
              <a:t>    Disclosure and prior art      :c2, 2026-10-19, 19d</a:t>
            </a:r>
            <a:endParaRPr/>
          </a:p>
          <a:p xmlns:a="http://schemas.openxmlformats.org/drawingml/2006/main">
            <a:pPr marL="0" lvl="0" indent="0" algn="l">
              <a:lnSpc>
                <a:spcPct val="100000"/>
              </a:lnSpc>
              <a:spcBef>
                <a:spcPts val="0"/>
              </a:spcBef>
              <a:spcAft>
                <a:spcPts val="0"/>
              </a:spcAft>
              <a:buSzPts val="1400"/>
              <a:buNone/>
            </a:pPr>
            <a:r>
              <a:t>    Results and guide revision    :c3, 2026-11-09, 5d</a:t>
            </a:r>
            <a:endParaRPr/>
          </a:p>
          <a:p xmlns:a="http://schemas.openxmlformats.org/drawingml/2006/main">
            <a:pPr marL="0" lvl="0" indent="0" algn="l">
              <a:lnSpc>
                <a:spcPct val="100000"/>
              </a:lnSpc>
              <a:spcBef>
                <a:spcPts val="0"/>
              </a:spcBef>
              <a:spcAft>
                <a:spcPts val="0"/>
              </a:spcAft>
              <a:buSzPts val="1400"/>
              <a:buNone/>
            </a:pPr>
            <a:r>
              <a:t>    Final presentation package    :c4, 2026-11-16, 5d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roles until named owners are confirmed: runtime/demo owner, evaluation owner, manuscript owner, and guide/IP liaison. Avoid assigning tasks to Git contributors without agreement. If a pilot fails, preserve the partial artifacts, fix the measured bottleneck, and reschedule the dependent full campaign rather than relabeling the sample as complete.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Owners and dependency gates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11. Slide 9: updated pending tasks and Gantt chart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Proposed schedule, assuming work starts on 12 October 2026. The mentor-review date, team availability, publication deadline, and owners were not supplied. Adapt this plan to those constraints. Completion dates are work targets, not commitments or predictions of publication/patent acceptance.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Task | Proposed dates | Dependency | Done means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Confirm project/admin/publication facts | Oct 12 - 13 | Team records | Official slide fields and verifiable status records. |</a:t>
            </a:r>
            <a:endParaRPr/>
          </a:p>
          <a:p xmlns:a="http://schemas.openxmlformats.org/drawingml/2006/main">
            <a:pPr marL="0" lvl="0" indent="0" algn="l">
              <a:lnSpc>
                <a:spcPct val="100000"/>
              </a:lnSpc>
              <a:spcBef>
                <a:spcPts val="0"/>
              </a:spcBef>
              <a:spcAft>
                <a:spcPts val="0"/>
              </a:spcAft>
              <a:buSzPts val="1400"/>
              <a:buNone/>
            </a:pPr>
            <a:r>
              <a:t>| Build/rehearse unified scenario demo | Oct 12 - 16 | Existing runtime/tests, working local environment | Frozen sample, actual profile outputs, branch/tool/maintenance evidence, exported bundle. |</a:t>
            </a:r>
            <a:endParaRPr/>
          </a:p>
          <a:p xmlns:a="http://schemas.openxmlformats.org/drawingml/2006/main">
            <a:pPr marL="0" lvl="0" indent="0" algn="l">
              <a:lnSpc>
                <a:spcPct val="100000"/>
              </a:lnSpc>
              <a:spcBef>
                <a:spcPts val="0"/>
              </a:spcBef>
              <a:spcAft>
                <a:spcPts val="0"/>
              </a:spcAft>
              <a:buSzPts val="1400"/>
              <a:buNone/>
            </a:pPr>
            <a:r>
              <a:t>| Resolve environment and evidence provenance | Oct 12 - 16 | Interpreter/test execution and saved artifacts | Wider-suite run completes; JSON/CSV identities reconciled; manifest retained. |</a:t>
            </a:r>
            <a:endParaRPr/>
          </a:p>
          <a:p xmlns:a="http://schemas.openxmlformats.org/drawingml/2006/main">
            <a:pPr marL="0" lvl="0" indent="0" algn="l">
              <a:lnSpc>
                <a:spcPct val="100000"/>
              </a:lnSpc>
              <a:spcBef>
                <a:spcPts val="0"/>
              </a:spcBef>
              <a:spcAft>
                <a:spcPts val="0"/>
              </a:spcAft>
              <a:buSzPts val="1400"/>
              <a:buNone/>
            </a:pPr>
            <a:r>
              <a:t>| Validate correctness boundaries | Oct 14 - 23 | Reproducible failure cases | Isolation/idempotency/graph/commit/tool checks appropriate to chosen scope. |</a:t>
            </a:r>
            <a:endParaRPr/>
          </a:p>
          <a:p xmlns:a="http://schemas.openxmlformats.org/drawingml/2006/main">
            <a:pPr marL="0" lvl="0" indent="0" algn="l">
              <a:lnSpc>
                <a:spcPct val="100000"/>
              </a:lnSpc>
              <a:spcBef>
                <a:spcPts val="0"/>
              </a:spcBef>
              <a:spcAft>
                <a:spcPts val="0"/>
              </a:spcAft>
              <a:buSzPts val="1400"/>
              <a:buNone/>
            </a:pPr>
            <a:r>
              <a:t>| Diagnose/tune retrieval on development set | Oct 19 - 23 | Stable correctness and fixed dev protocol | Stage failure report, chosen backend/representation, frozen settings. |</a:t>
            </a:r>
            <a:endParaRPr/>
          </a:p>
          <a:p xmlns:a="http://schemas.openxmlformats.org/drawingml/2006/main">
            <a:pPr marL="0" lvl="0" indent="0" algn="l">
              <a:lnSpc>
                <a:spcPct val="100000"/>
              </a:lnSpc>
              <a:spcBef>
                <a:spcPts val="0"/>
              </a:spcBef>
              <a:spcAft>
                <a:spcPts val="0"/>
              </a:spcAft>
              <a:buSzPts val="1400"/>
              <a:buNone/>
            </a:pPr>
            <a:r>
              <a:t>| Benchmark-specific real pilots | Oct 24 - 30 | Configured model/hardware, frozen protocol | Each benchmark passes its own resource/equality/time gate. |</a:t>
            </a:r>
            <a:endParaRPr/>
          </a:p>
          <a:p xmlns:a="http://schemas.openxmlformats.org/drawingml/2006/main">
            <a:pPr marL="0" lvl="0" indent="0" algn="l">
              <a:lnSpc>
                <a:spcPct val="100000"/>
              </a:lnSpc>
              <a:spcBef>
                <a:spcPts val="0"/>
              </a:spcBef>
              <a:spcAft>
                <a:spcPts val="0"/>
              </a:spcAft>
              <a:buSzPts val="1400"/>
              <a:buNone/>
            </a:pPr>
            <a:r>
              <a:t>| Full matched campaigns and ablations | Nov 2 - 6 | Fresh pilot admission, sufficient session availability | Complete source coverage, native scores, matched identities, validated archives or explicit partial status. |</a:t>
            </a:r>
            <a:endParaRPr/>
          </a:p>
          <a:p xmlns:a="http://schemas.openxmlformats.org/drawingml/2006/main">
            <a:pPr marL="0" lvl="0" indent="0" algn="l">
              <a:lnSpc>
                <a:spcPct val="100000"/>
              </a:lnSpc>
              <a:spcBef>
                <a:spcPts val="0"/>
              </a:spcBef>
              <a:spcAft>
                <a:spcPts val="0"/>
              </a:spcAft>
              <a:buSzPts val="1400"/>
              <a:buNone/>
            </a:pPr>
            <a:r>
              <a:t>| Paper method/related-work draft | Oct 19 - 30 | Stable architecture and literature | Versioned draft with sources and honest provisional result labels. |</a:t>
            </a:r>
            <a:endParaRPr/>
          </a:p>
          <a:p xmlns:a="http://schemas.openxmlformats.org/drawingml/2006/main">
            <a:pPr marL="0" lvl="0" indent="0" algn="l">
              <a:lnSpc>
                <a:spcPct val="100000"/>
              </a:lnSpc>
              <a:spcBef>
                <a:spcPts val="0"/>
              </a:spcBef>
              <a:spcAft>
                <a:spcPts val="0"/>
              </a:spcAft>
              <a:buSzPts val="1400"/>
              <a:buNone/>
            </a:pPr>
            <a:r>
              <a:t>| Paper results/analysis/guide revision | Nov 9 - 13 | Validated final experiments | Reconciled tables, cost/limitations, complete manuscript reviewed by guide. |</a:t>
            </a:r>
            <a:endParaRPr/>
          </a:p>
          <a:p xmlns:a="http://schemas.openxmlformats.org/drawingml/2006/main">
            <a:pPr marL="0" lvl="0" indent="0" algn="l">
              <a:lnSpc>
                <a:spcPct val="100000"/>
              </a:lnSpc>
              <a:spcBef>
                <a:spcPts val="0"/>
              </a:spcBef>
              <a:spcAft>
                <a:spcPts val="0"/>
              </a:spcAft>
              <a:buSzPts val="1400"/>
              <a:buNone/>
            </a:pPr>
            <a:r>
              <a:t>| Patent disclosure/prior-art technical review | Oct 19 - Nov 6 | Guide/IP office direction | Documented mechanism comparison and institutional next-step decision. |</a:t>
            </a:r>
            <a:endParaRPr/>
          </a:p>
          <a:p xmlns:a="http://schemas.openxmlformats.org/drawingml/2006/main">
            <a:pPr marL="0" lvl="0" indent="0" algn="l">
              <a:lnSpc>
                <a:spcPct val="100000"/>
              </a:lnSpc>
              <a:spcBef>
                <a:spcPts val="0"/>
              </a:spcBef>
              <a:spcAft>
                <a:spcPts val="0"/>
              </a:spcAft>
              <a:buSzPts val="1400"/>
              <a:buNone/>
            </a:pPr>
            <a:r>
              <a:t>| Final slide/demo rehearsal and submission preparation | Nov 16 - 20 | Guide decisions and evidence | Consistent slides, rehearsed demo, approved package. Actual submission/filing remains team dependent.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``mermaid</a:t>
            </a:r>
            <a:endParaRPr/>
          </a:p>
          <a:p xmlns:a="http://schemas.openxmlformats.org/drawingml/2006/main">
            <a:pPr marL="0" lvl="0" indent="0" algn="l">
              <a:lnSpc>
                <a:spcPct val="100000"/>
              </a:lnSpc>
              <a:spcBef>
                <a:spcPts val="0"/>
              </a:spcBef>
              <a:spcAft>
                <a:spcPts val="0"/>
              </a:spcAft>
              <a:buSzPts val="1400"/>
              <a:buNone/>
            </a:pPr>
            <a:r>
              <a:t>gantt</a:t>
            </a:r>
            <a:endParaRPr/>
          </a:p>
          <a:p xmlns:a="http://schemas.openxmlformats.org/drawingml/2006/main">
            <a:pPr marL="0" lvl="0" indent="0" algn="l">
              <a:lnSpc>
                <a:spcPct val="100000"/>
              </a:lnSpc>
              <a:spcBef>
                <a:spcPts val="0"/>
              </a:spcBef>
              <a:spcAft>
                <a:spcPts val="0"/>
              </a:spcAft>
              <a:buSzPts val="1400"/>
              <a:buNone/>
            </a:pPr>
            <a:r>
              <a:t>    title Proposed PRIMA review and research completion work</a:t>
            </a:r>
            <a:endParaRPr/>
          </a:p>
          <a:p xmlns:a="http://schemas.openxmlformats.org/drawingml/2006/main">
            <a:pPr marL="0" lvl="0" indent="0" algn="l">
              <a:lnSpc>
                <a:spcPct val="100000"/>
              </a:lnSpc>
              <a:spcBef>
                <a:spcPts val="0"/>
              </a:spcBef>
              <a:spcAft>
                <a:spcPts val="0"/>
              </a:spcAft>
              <a:buSzPts val="1400"/>
              <a:buNone/>
            </a:pPr>
            <a:r>
              <a:t>    dateFormat YYYY-MM-DD</a:t>
            </a:r>
            <a:endParaRPr/>
          </a:p>
          <a:p xmlns:a="http://schemas.openxmlformats.org/drawingml/2006/main">
            <a:pPr marL="0" lvl="0" indent="0" algn="l">
              <a:lnSpc>
                <a:spcPct val="100000"/>
              </a:lnSpc>
              <a:spcBef>
                <a:spcPts val="0"/>
              </a:spcBef>
              <a:spcAft>
                <a:spcPts val="0"/>
              </a:spcAft>
              <a:buSzPts val="1400"/>
              <a:buNone/>
            </a:pPr>
            <a:r>
              <a:t>    axisFormat %d %b</a:t>
            </a:r>
            <a:endParaRPr/>
          </a:p>
          <a:p xmlns:a="http://schemas.openxmlformats.org/drawingml/2006/main">
            <a:pPr marL="0" lvl="0" indent="0" algn="l">
              <a:lnSpc>
                <a:spcPct val="100000"/>
              </a:lnSpc>
              <a:spcBef>
                <a:spcPts val="0"/>
              </a:spcBef>
              <a:spcAft>
                <a:spcPts val="0"/>
              </a:spcAft>
              <a:buSzPts val="1400"/>
              <a:buNone/>
            </a:pPr>
            <a:r>
              <a:t>    section Review evidence</a:t>
            </a:r>
            <a:endParaRPr/>
          </a:p>
          <a:p xmlns:a="http://schemas.openxmlformats.org/drawingml/2006/main">
            <a:pPr marL="0" lvl="0" indent="0" algn="l">
              <a:lnSpc>
                <a:spcPct val="100000"/>
              </a:lnSpc>
              <a:spcBef>
                <a:spcPts val="0"/>
              </a:spcBef>
              <a:spcAft>
                <a:spcPts val="0"/>
              </a:spcAft>
              <a:buSzPts val="1400"/>
              <a:buNone/>
            </a:pPr>
            <a:r>
              <a:t>    Confirm facts                 :a1, 2026-10-12, 2d</a:t>
            </a:r>
            <a:endParaRPr/>
          </a:p>
          <a:p xmlns:a="http://schemas.openxmlformats.org/drawingml/2006/main">
            <a:pPr marL="0" lvl="0" indent="0" algn="l">
              <a:lnSpc>
                <a:spcPct val="100000"/>
              </a:lnSpc>
              <a:spcBef>
                <a:spcPts val="0"/>
              </a:spcBef>
              <a:spcAft>
                <a:spcPts val="0"/>
              </a:spcAft>
              <a:buSzPts val="1400"/>
              <a:buNone/>
            </a:pPr>
            <a:r>
              <a:t>    Unified demo and rehearsal    :a2, 2026-10-12, 5d</a:t>
            </a:r>
            <a:endParaRPr/>
          </a:p>
          <a:p xmlns:a="http://schemas.openxmlformats.org/drawingml/2006/main">
            <a:pPr marL="0" lvl="0" indent="0" algn="l">
              <a:lnSpc>
                <a:spcPct val="100000"/>
              </a:lnSpc>
              <a:spcBef>
                <a:spcPts val="0"/>
              </a:spcBef>
              <a:spcAft>
                <a:spcPts val="0"/>
              </a:spcAft>
              <a:buSzPts val="1400"/>
              <a:buNone/>
            </a:pPr>
            <a:r>
              <a:t>    Environment and provenance    :a3, 2026-10-12, 5d</a:t>
            </a:r>
            <a:endParaRPr/>
          </a:p>
          <a:p xmlns:a="http://schemas.openxmlformats.org/drawingml/2006/main">
            <a:pPr marL="0" lvl="0" indent="0" algn="l">
              <a:lnSpc>
                <a:spcPct val="100000"/>
              </a:lnSpc>
              <a:spcBef>
                <a:spcPts val="0"/>
              </a:spcBef>
              <a:spcAft>
                <a:spcPts val="0"/>
              </a:spcAft>
              <a:buSzPts val="1400"/>
              <a:buNone/>
            </a:pPr>
            <a:r>
              <a:t>    section Technical validation</a:t>
            </a:r>
            <a:endParaRPr/>
          </a:p>
          <a:p xmlns:a="http://schemas.openxmlformats.org/drawingml/2006/main">
            <a:pPr marL="0" lvl="0" indent="0" algn="l">
              <a:lnSpc>
                <a:spcPct val="100000"/>
              </a:lnSpc>
              <a:spcBef>
                <a:spcPts val="0"/>
              </a:spcBef>
              <a:spcAft>
                <a:spcPts val="0"/>
              </a:spcAft>
              <a:buSzPts val="1400"/>
              <a:buNone/>
            </a:pPr>
            <a:r>
              <a:t>    Correctness boundaries        :b1, 2026-10-14, 10d</a:t>
            </a:r>
            <a:endParaRPr/>
          </a:p>
          <a:p xmlns:a="http://schemas.openxmlformats.org/drawingml/2006/main">
            <a:pPr marL="0" lvl="0" indent="0" algn="l">
              <a:lnSpc>
                <a:spcPct val="100000"/>
              </a:lnSpc>
              <a:spcBef>
                <a:spcPts val="0"/>
              </a:spcBef>
              <a:spcAft>
                <a:spcPts val="0"/>
              </a:spcAft>
              <a:buSzPts val="1400"/>
              <a:buNone/>
            </a:pPr>
            <a:r>
              <a:t>    Development retrieval work    :b2, 2026-10-19, 5d</a:t>
            </a:r>
            <a:endParaRPr/>
          </a:p>
          <a:p xmlns:a="http://schemas.openxmlformats.org/drawingml/2006/main">
            <a:pPr marL="0" lvl="0" indent="0" algn="l">
              <a:lnSpc>
                <a:spcPct val="100000"/>
              </a:lnSpc>
              <a:spcBef>
                <a:spcPts val="0"/>
              </a:spcBef>
              <a:spcAft>
                <a:spcPts val="0"/>
              </a:spcAft>
              <a:buSzPts val="1400"/>
              <a:buNone/>
            </a:pPr>
            <a:r>
              <a:t>    Real benchmark pilots         :b3, 2026-10-24, 7d</a:t>
            </a:r>
            <a:endParaRPr/>
          </a:p>
          <a:p xmlns:a="http://schemas.openxmlformats.org/drawingml/2006/main">
            <a:pPr marL="0" lvl="0" indent="0" algn="l">
              <a:lnSpc>
                <a:spcPct val="100000"/>
              </a:lnSpc>
              <a:spcBef>
                <a:spcPts val="0"/>
              </a:spcBef>
              <a:spcAft>
                <a:spcPts val="0"/>
              </a:spcAft>
              <a:buSzPts val="1400"/>
              <a:buNone/>
            </a:pPr>
            <a:r>
              <a:t>    Matched campaigns and ablation :b4, 2026-11-02, 5d</a:t>
            </a:r>
            <a:endParaRPr/>
          </a:p>
          <a:p xmlns:a="http://schemas.openxmlformats.org/drawingml/2006/main">
            <a:pPr marL="0" lvl="0" indent="0" algn="l">
              <a:lnSpc>
                <a:spcPct val="100000"/>
              </a:lnSpc>
              <a:spcBef>
                <a:spcPts val="0"/>
              </a:spcBef>
              <a:spcAft>
                <a:spcPts val="0"/>
              </a:spcAft>
              <a:buSzPts val="1400"/>
              <a:buNone/>
            </a:pPr>
            <a:r>
              <a:t>    section Research artifacts</a:t>
            </a:r>
            <a:endParaRPr/>
          </a:p>
          <a:p xmlns:a="http://schemas.openxmlformats.org/drawingml/2006/main">
            <a:pPr marL="0" lvl="0" indent="0" algn="l">
              <a:lnSpc>
                <a:spcPct val="100000"/>
              </a:lnSpc>
              <a:spcBef>
                <a:spcPts val="0"/>
              </a:spcBef>
              <a:spcAft>
                <a:spcPts val="0"/>
              </a:spcAft>
              <a:buSzPts val="1400"/>
              <a:buNone/>
            </a:pPr>
            <a:r>
              <a:t>    Method and related work       :c1, 2026-10-19, 12d</a:t>
            </a:r>
            <a:endParaRPr/>
          </a:p>
          <a:p xmlns:a="http://schemas.openxmlformats.org/drawingml/2006/main">
            <a:pPr marL="0" lvl="0" indent="0" algn="l">
              <a:lnSpc>
                <a:spcPct val="100000"/>
              </a:lnSpc>
              <a:spcBef>
                <a:spcPts val="0"/>
              </a:spcBef>
              <a:spcAft>
                <a:spcPts val="0"/>
              </a:spcAft>
              <a:buSzPts val="1400"/>
              <a:buNone/>
            </a:pPr>
            <a:r>
              <a:t>    Disclosure and prior art      :c2, 2026-10-19, 19d</a:t>
            </a:r>
            <a:endParaRPr/>
          </a:p>
          <a:p xmlns:a="http://schemas.openxmlformats.org/drawingml/2006/main">
            <a:pPr marL="0" lvl="0" indent="0" algn="l">
              <a:lnSpc>
                <a:spcPct val="100000"/>
              </a:lnSpc>
              <a:spcBef>
                <a:spcPts val="0"/>
              </a:spcBef>
              <a:spcAft>
                <a:spcPts val="0"/>
              </a:spcAft>
              <a:buSzPts val="1400"/>
              <a:buNone/>
            </a:pPr>
            <a:r>
              <a:t>    Results and guide revision    :c3, 2026-11-09, 5d</a:t>
            </a:r>
            <a:endParaRPr/>
          </a:p>
          <a:p xmlns:a="http://schemas.openxmlformats.org/drawingml/2006/main">
            <a:pPr marL="0" lvl="0" indent="0" algn="l">
              <a:lnSpc>
                <a:spcPct val="100000"/>
              </a:lnSpc>
              <a:spcBef>
                <a:spcPts val="0"/>
              </a:spcBef>
              <a:spcAft>
                <a:spcPts val="0"/>
              </a:spcAft>
              <a:buSzPts val="1400"/>
              <a:buNone/>
            </a:pPr>
            <a:r>
              <a:t>    Final presentation package    :c4, 2026-11-16, 5d</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roles until named owners are confirmed: runtime/demo owner, evaluation owner, manuscript owner, and guide/IP liaison. Avoid assigning tasks to Git contributors without agreement. If a pilot fails, preserve the partial artifacts, fix the measured bottleneck, and reschedule the dependent full campaign rather than relabeling the sample as complete.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Conclusion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12. Slide 10: conclusion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Slide-ready copy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PRIMA-NEXT implements a typed, task-specific agent runtime integrating memory, retrieval, cognitive decisions, and controlled tools.</a:t>
            </a:r>
            <a:endParaRPr/>
          </a:p>
          <a:p xmlns:a="http://schemas.openxmlformats.org/drawingml/2006/main">
            <a:pPr marL="0" lvl="0" indent="0" algn="l">
              <a:lnSpc>
                <a:spcPct val="100000"/>
              </a:lnSpc>
              <a:spcBef>
                <a:spcPts val="0"/>
              </a:spcBef>
              <a:spcAft>
                <a:spcPts val="0"/>
              </a:spcAft>
              <a:buSzPts val="1400"/>
              <a:buNone/>
            </a:pPr>
            <a:r>
              <a:t>Source/test scaffolding establishes mechanisms. A fresh focused set passed 25 tests during review preparation.</a:t>
            </a:r>
            <a:endParaRPr/>
          </a:p>
          <a:p xmlns:a="http://schemas.openxmlformats.org/drawingml/2006/main">
            <a:pPr marL="0" lvl="0" indent="0" algn="l">
              <a:lnSpc>
                <a:spcPct val="100000"/>
              </a:lnSpc>
              <a:spcBef>
                <a:spcPts val="0"/>
              </a:spcBef>
              <a:spcAft>
                <a:spcPts val="0"/>
              </a:spcAft>
              <a:buSzPts val="1400"/>
              <a:buNone/>
            </a:pPr>
            <a:r>
              <a:t>Saved 197-query retrieval experiments favor learned embeddings and raw text within their subset scope.</a:t>
            </a:r>
            <a:endParaRPr/>
          </a:p>
          <a:p xmlns:a="http://schemas.openxmlformats.org/drawingml/2006/main">
            <a:pPr marL="0" lvl="0" indent="0" algn="l">
              <a:lnSpc>
                <a:spcPct val="100000"/>
              </a:lnSpc>
              <a:spcBef>
                <a:spcPts val="0"/>
              </a:spcBef>
              <a:spcAft>
                <a:spcPts val="0"/>
              </a:spcAft>
              <a:buSzPts val="1400"/>
              <a:buNone/>
            </a:pPr>
            <a:r>
              <a:t>The reported LoCoMo pilot establishes operational feasibility for its measured configuration, while final QA quality gains and full completion remain unverified.</a:t>
            </a:r>
            <a:endParaRPr/>
          </a:p>
          <a:p xmlns:a="http://schemas.openxmlformats.org/drawingml/2006/main">
            <a:pPr marL="0" lvl="0" indent="0" algn="l">
              <a:lnSpc>
                <a:spcPct val="100000"/>
              </a:lnSpc>
              <a:spcBef>
                <a:spcPts val="0"/>
              </a:spcBef>
              <a:spcAft>
                <a:spcPts val="0"/>
              </a:spcAft>
              <a:buSzPts val="1400"/>
              <a:buNone/>
            </a:pPr>
            <a:r>
              <a:t>Immediate deliverables are the unified demo, fresh wider validation, reconciled matched campaigns, and verifiable paper/patent progress records.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Speaker closing: "The implementation gives us a system we can inspect and compare. Our next responsibility is to show a reproducible demonstration and measure which components improve outcomes. We will distinguish working mechanisms, exploratory results, and final research claims."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References: agent architectures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13. Slide 11: IEEE-style references and related-work positioning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primary research pages were checked during preparation. The list covers foundational work relevant to the current mechanism and datasets, not an exhaustive latest-literature or patent search. Use abbreviated author lists where slide space requires it.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P. Lewis et al., "Retrieval-Augmented Generation for Knowledge-Intensive NLP Tasks," arXiv:2005.11401, 2020, doi: 10.48550/arXiv.2005.11401. Primary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[2] J. S. Park, J. C. O'Brien, C. J. Cai, M. R. Morris, P. Liang, and M. S. Bernstein, "Generative Agents: Interactive Simulacra of Human Behavior," arXiv:2304.03442, 2023, doi: 10.48550/arXiv.2304.03442. Primary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[3] N. Shinn, F. Cassano, E. Berman, A. Gopinath, K. Narasimhan, and S. Yao, "Reflexion: Language Agents with Verbal Reinforcement Learning," arXiv:2303.11366, 2023, doi: 10.48550/arXiv.2303.11366. Primary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[4] A. Maharana, D.-H. Lee, S. Tulyakov, M. Bansal, F. Barbieri, and Y. Fang, "Evaluating Very Long-Term Conversational Memory of LLM Agents," in Proc. 62nd Annual Meeting of the Association for Computational Linguistics, vol. 1: Long Papers, Bangkok, Thailand, 2024, pp. 13851 - 13870, doi: 10.18653/v1/2024.acl-long.747. Primary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[5] Z. Yang, P. Qi, S. Zhang, Y. Bengio, W. W. Cohen, R. Salakhutdinov, and C. D. Manning, "HotpotQA: A Dataset for Diverse, Explainable Multi-hop Question Answering," in Proc. 2018 Conf. Empirical Methods in Natural Language Processing, Brussels, Belgium, 2018, pp. 2369 - 2380, doi: 10.18653/v1/D18-1259. Primary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[6] D. Demszky, D. Movshovitz-Attias, J. Ko, A. Cowen, G. Nemade, and S. Ravi, "GoEmotions: A Dataset of Fine-Grained Emotions," in Proc. 58th Annual Meeting of the Association for Computational Linguistics, Online, 2020, pp. 4040 - 4054, doi: 10.18653/v1/2020.acl-main.372. Primary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Prior work | Relevant established idea | PRIMA question to evaluate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RAG [1] | Generation conditioned on retrieved nonparametric evidence. | Whether extra memory/control layers beat a strong simpler retrieval baseline. |</a:t>
            </a:r>
            <a:endParaRPr/>
          </a:p>
          <a:p xmlns:a="http://schemas.openxmlformats.org/drawingml/2006/main">
            <a:pPr marL="0" lvl="0" indent="0" algn="l">
              <a:lnSpc>
                <a:spcPct val="100000"/>
              </a:lnSpc>
              <a:spcBef>
                <a:spcPts val="0"/>
              </a:spcBef>
              <a:spcAft>
                <a:spcPts val="0"/>
              </a:spcAft>
              <a:buSzPts val="1400"/>
              <a:buNone/>
            </a:pPr>
            <a:r>
              <a:t>| Generative Agents [2] | Experience memory, planning, reflection in simulated agents. | Reliability and measurable quality/cost of PRIMA's typed, bounded implementation. |</a:t>
            </a:r>
            <a:endParaRPr/>
          </a:p>
          <a:p xmlns:a="http://schemas.openxmlformats.org/drawingml/2006/main">
            <a:pPr marL="0" lvl="0" indent="0" algn="l">
              <a:lnSpc>
                <a:spcPct val="100000"/>
              </a:lnSpc>
              <a:spcBef>
                <a:spcPts val="0"/>
              </a:spcBef>
              <a:spcAft>
                <a:spcPts val="0"/>
              </a:spcAft>
              <a:buSzPts val="1400"/>
              <a:buNone/>
            </a:pPr>
            <a:r>
              <a:t>| Reflexion [3] | Linguistic feedback retained to improve subsequent behavior. | Whether PRIMA's actual bounded interventions help and how often they harm. |</a:t>
            </a:r>
            <a:endParaRPr/>
          </a:p>
          <a:p xmlns:a="http://schemas.openxmlformats.org/drawingml/2006/main">
            <a:pPr marL="0" lvl="0" indent="0" algn="l">
              <a:lnSpc>
                <a:spcPct val="100000"/>
              </a:lnSpc>
              <a:spcBef>
                <a:spcPts val="0"/>
              </a:spcBef>
              <a:spcAft>
                <a:spcPts val="0"/>
              </a:spcAft>
              <a:buSzPts val="1400"/>
              <a:buNone/>
            </a:pPr>
            <a:r>
              <a:t>| LoCoMo [4] | Long conversational history evaluation. | Historical evidence recall and answer quality under declared memory policies. |</a:t>
            </a:r>
            <a:endParaRPr/>
          </a:p>
          <a:p xmlns:a="http://schemas.openxmlformats.org/drawingml/2006/main">
            <a:pPr marL="0" lvl="0" indent="0" algn="l">
              <a:lnSpc>
                <a:spcPct val="100000"/>
              </a:lnSpc>
              <a:spcBef>
                <a:spcPts val="0"/>
              </a:spcBef>
              <a:spcAft>
                <a:spcPts val="0"/>
              </a:spcAft>
              <a:buSzPts val="1400"/>
              <a:buNone/>
            </a:pPr>
            <a:r>
              <a:t>| HotpotQA [5] | Multi-document QA with supporting-fact annotations. | Evidence acquisition and QA under supplied distractor/official-retrieved context. |</a:t>
            </a:r>
            <a:endParaRPr/>
          </a:p>
          <a:p xmlns:a="http://schemas.openxmlformats.org/drawingml/2006/main">
            <a:pPr marL="0" lvl="0" indent="0" algn="l">
              <a:lnSpc>
                <a:spcPct val="100000"/>
              </a:lnSpc>
              <a:spcBef>
                <a:spcPts val="0"/>
              </a:spcBef>
              <a:spcAft>
                <a:spcPts val="0"/>
              </a:spcAft>
              <a:buSzPts val="1400"/>
              <a:buNone/>
            </a:pPr>
            <a:r>
              <a:t>| GoEmotions [6] | Fine-grained multilabel text-emotion annotations. | Classification quality and, separately, downstream value of affect signals.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Do not transfer a cited paper's scores to PRIMA. Do not imply these papers establish PRIMA's novelty, patentability, or acceptance.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https://arxiv.org/abs/2005.11401</a:t>
            </a:r>
            <a:endParaRPr/>
          </a:p>
          <a:p xmlns:a="http://schemas.openxmlformats.org/drawingml/2006/main">
            <a:pPr marL="0" lvl="0" indent="0" algn="l">
              <a:lnSpc>
                <a:spcPct val="100000"/>
              </a:lnSpc>
              <a:spcBef>
                <a:spcPts val="0"/>
              </a:spcBef>
              <a:spcAft>
                <a:spcPts val="0"/>
              </a:spcAft>
              <a:buSzPts val="1400"/>
              <a:buNone/>
            </a:pPr>
            <a:r>
              <a:t>https://arxiv.org/abs/2304.03442</a:t>
            </a:r>
            <a:endParaRPr/>
          </a:p>
          <a:p xmlns:a="http://schemas.openxmlformats.org/drawingml/2006/main">
            <a:pPr marL="0" lvl="0" indent="0" algn="l">
              <a:lnSpc>
                <a:spcPct val="100000"/>
              </a:lnSpc>
              <a:spcBef>
                <a:spcPts val="0"/>
              </a:spcBef>
              <a:spcAft>
                <a:spcPts val="0"/>
              </a:spcAft>
              <a:buSzPts val="1400"/>
              <a:buNone/>
            </a:pPr>
            <a:r>
              <a:t>https://arxiv.org/abs/2303.11366</a:t>
            </a:r>
            <a:endParaRPr/>
          </a:p>
          <a:p xmlns:a="http://schemas.openxmlformats.org/drawingml/2006/main">
            <a:pPr marL="0" lvl="0" indent="0" algn="l">
              <a:lnSpc>
                <a:spcPct val="100000"/>
              </a:lnSpc>
              <a:spcBef>
                <a:spcPts val="0"/>
              </a:spcBef>
              <a:spcAft>
                <a:spcPts val="0"/>
              </a:spcAft>
              <a:buSzPts val="1400"/>
              <a:buNone/>
            </a:pPr>
            <a:r>
              <a:t>https://aclanthology.org/2024.acl-long.747/</a:t>
            </a:r>
            <a:endParaRPr/>
          </a:p>
          <a:p xmlns:a="http://schemas.openxmlformats.org/drawingml/2006/main">
            <a:pPr marL="0" lvl="0" indent="0" algn="l">
              <a:lnSpc>
                <a:spcPct val="100000"/>
              </a:lnSpc>
              <a:spcBef>
                <a:spcPts val="0"/>
              </a:spcBef>
              <a:spcAft>
                <a:spcPts val="0"/>
              </a:spcAft>
              <a:buSzPts val="1400"/>
              <a:buNone/>
            </a:pPr>
            <a:r>
              <a:t>https://aclanthology.org/D18-1259/</a:t>
            </a:r>
            <a:endParaRPr/>
          </a:p>
          <a:p xmlns:a="http://schemas.openxmlformats.org/drawingml/2006/main">
            <a:pPr marL="0" lvl="0" indent="0" algn="l">
              <a:lnSpc>
                <a:spcPct val="100000"/>
              </a:lnSpc>
              <a:spcBef>
                <a:spcPts val="0"/>
              </a:spcBef>
              <a:spcAft>
                <a:spcPts val="0"/>
              </a:spcAft>
              <a:buSzPts val="1400"/>
              <a:buNone/>
            </a:pPr>
            <a:r>
              <a:t>https://aclanthology.org/2020.acl-main.372/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References: evaluation datasets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13. Slide 11: IEEE-style references and related-work positioning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primary research pages were checked during preparation. The list covers foundational work relevant to the current mechanism and datasets, not an exhaustive latest-literature or patent search. Use abbreviated author lists where slide space requires it.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P. Lewis et al., "Retrieval-Augmented Generation for Knowledge-Intensive NLP Tasks," arXiv:2005.11401, 2020, doi: 10.48550/arXiv.2005.11401. Primary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[2] J. S. Park, J. C. O'Brien, C. J. Cai, M. R. Morris, P. Liang, and M. S. Bernstein, "Generative Agents: Interactive Simulacra of Human Behavior," arXiv:2304.03442, 2023, doi: 10.48550/arXiv.2304.03442. Primary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[3] N. Shinn, F. Cassano, E. Berman, A. Gopinath, K. Narasimhan, and S. Yao, "Reflexion: Language Agents with Verbal Reinforcement Learning," arXiv:2303.11366, 2023, doi: 10.48550/arXiv.2303.11366. Primary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[4] A. Maharana, D.-H. Lee, S. Tulyakov, M. Bansal, F. Barbieri, and Y. Fang, "Evaluating Very Long-Term Conversational Memory of LLM Agents," in Proc. 62nd Annual Meeting of the Association for Computational Linguistics, vol. 1: Long Papers, Bangkok, Thailand, 2024, pp. 13851 - 13870, doi: 10.18653/v1/2024.acl-long.747. Primary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[5] Z. Yang, P. Qi, S. Zhang, Y. Bengio, W. W. Cohen, R. Salakhutdinov, and C. D. Manning, "HotpotQA: A Dataset for Diverse, Explainable Multi-hop Question Answering," in Proc. 2018 Conf. Empirical Methods in Natural Language Processing, Brussels, Belgium, 2018, pp. 2369 - 2380, doi: 10.18653/v1/D18-1259. Primary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[6] D. Demszky, D. Movshovitz-Attias, J. Ko, A. Cowen, G. Nemade, and S. Ravi, "GoEmotions: A Dataset of Fine-Grained Emotions," in Proc. 58th Annual Meeting of the Association for Computational Linguistics, Online, 2020, pp. 4040 - 4054, doi: 10.18653/v1/2020.acl-main.372. Primary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Prior work | Relevant established idea | PRIMA question to evaluate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RAG [1] | Generation conditioned on retrieved nonparametric evidence. | Whether extra memory/control layers beat a strong simpler retrieval baseline. |</a:t>
            </a:r>
            <a:endParaRPr/>
          </a:p>
          <a:p xmlns:a="http://schemas.openxmlformats.org/drawingml/2006/main">
            <a:pPr marL="0" lvl="0" indent="0" algn="l">
              <a:lnSpc>
                <a:spcPct val="100000"/>
              </a:lnSpc>
              <a:spcBef>
                <a:spcPts val="0"/>
              </a:spcBef>
              <a:spcAft>
                <a:spcPts val="0"/>
              </a:spcAft>
              <a:buSzPts val="1400"/>
              <a:buNone/>
            </a:pPr>
            <a:r>
              <a:t>| Generative Agents [2] | Experience memory, planning, reflection in simulated agents. | Reliability and measurable quality/cost of PRIMA's typed, bounded implementation. |</a:t>
            </a:r>
            <a:endParaRPr/>
          </a:p>
          <a:p xmlns:a="http://schemas.openxmlformats.org/drawingml/2006/main">
            <a:pPr marL="0" lvl="0" indent="0" algn="l">
              <a:lnSpc>
                <a:spcPct val="100000"/>
              </a:lnSpc>
              <a:spcBef>
                <a:spcPts val="0"/>
              </a:spcBef>
              <a:spcAft>
                <a:spcPts val="0"/>
              </a:spcAft>
              <a:buSzPts val="1400"/>
              <a:buNone/>
            </a:pPr>
            <a:r>
              <a:t>| Reflexion [3] | Linguistic feedback retained to improve subsequent behavior. | Whether PRIMA's actual bounded interventions help and how often they harm. |</a:t>
            </a:r>
            <a:endParaRPr/>
          </a:p>
          <a:p xmlns:a="http://schemas.openxmlformats.org/drawingml/2006/main">
            <a:pPr marL="0" lvl="0" indent="0" algn="l">
              <a:lnSpc>
                <a:spcPct val="100000"/>
              </a:lnSpc>
              <a:spcBef>
                <a:spcPts val="0"/>
              </a:spcBef>
              <a:spcAft>
                <a:spcPts val="0"/>
              </a:spcAft>
              <a:buSzPts val="1400"/>
              <a:buNone/>
            </a:pPr>
            <a:r>
              <a:t>| LoCoMo [4] | Long conversational history evaluation. | Historical evidence recall and answer quality under declared memory policies. |</a:t>
            </a:r>
            <a:endParaRPr/>
          </a:p>
          <a:p xmlns:a="http://schemas.openxmlformats.org/drawingml/2006/main">
            <a:pPr marL="0" lvl="0" indent="0" algn="l">
              <a:lnSpc>
                <a:spcPct val="100000"/>
              </a:lnSpc>
              <a:spcBef>
                <a:spcPts val="0"/>
              </a:spcBef>
              <a:spcAft>
                <a:spcPts val="0"/>
              </a:spcAft>
              <a:buSzPts val="1400"/>
              <a:buNone/>
            </a:pPr>
            <a:r>
              <a:t>| HotpotQA [5] | Multi-document QA with supporting-fact annotations. | Evidence acquisition and QA under supplied distractor/official-retrieved context. |</a:t>
            </a:r>
            <a:endParaRPr/>
          </a:p>
          <a:p xmlns:a="http://schemas.openxmlformats.org/drawingml/2006/main">
            <a:pPr marL="0" lvl="0" indent="0" algn="l">
              <a:lnSpc>
                <a:spcPct val="100000"/>
              </a:lnSpc>
              <a:spcBef>
                <a:spcPts val="0"/>
              </a:spcBef>
              <a:spcAft>
                <a:spcPts val="0"/>
              </a:spcAft>
              <a:buSzPts val="1400"/>
              <a:buNone/>
            </a:pPr>
            <a:r>
              <a:t>| GoEmotions [6] | Fine-grained multilabel text-emotion annotations. | Classification quality and, separately, downstream value of affect signals.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Do not transfer a cited paper's scores to PRIMA. Do not imply these papers establish PRIMA's novelty, patentability, or acceptance.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https://arxiv.org/abs/2005.11401</a:t>
            </a:r>
            <a:endParaRPr/>
          </a:p>
          <a:p xmlns:a="http://schemas.openxmlformats.org/drawingml/2006/main">
            <a:pPr marL="0" lvl="0" indent="0" algn="l">
              <a:lnSpc>
                <a:spcPct val="100000"/>
              </a:lnSpc>
              <a:spcBef>
                <a:spcPts val="0"/>
              </a:spcBef>
              <a:spcAft>
                <a:spcPts val="0"/>
              </a:spcAft>
              <a:buSzPts val="1400"/>
              <a:buNone/>
            </a:pPr>
            <a:r>
              <a:t>https://arxiv.org/abs/2304.03442</a:t>
            </a:r>
            <a:endParaRPr/>
          </a:p>
          <a:p xmlns:a="http://schemas.openxmlformats.org/drawingml/2006/main">
            <a:pPr marL="0" lvl="0" indent="0" algn="l">
              <a:lnSpc>
                <a:spcPct val="100000"/>
              </a:lnSpc>
              <a:spcBef>
                <a:spcPts val="0"/>
              </a:spcBef>
              <a:spcAft>
                <a:spcPts val="0"/>
              </a:spcAft>
              <a:buSzPts val="1400"/>
              <a:buNone/>
            </a:pPr>
            <a:r>
              <a:t>https://arxiv.org/abs/2303.11366</a:t>
            </a:r>
            <a:endParaRPr/>
          </a:p>
          <a:p xmlns:a="http://schemas.openxmlformats.org/drawingml/2006/main">
            <a:pPr marL="0" lvl="0" indent="0" algn="l">
              <a:lnSpc>
                <a:spcPct val="100000"/>
              </a:lnSpc>
              <a:spcBef>
                <a:spcPts val="0"/>
              </a:spcBef>
              <a:spcAft>
                <a:spcPts val="0"/>
              </a:spcAft>
              <a:buSzPts val="1400"/>
              <a:buNone/>
            </a:pPr>
            <a:r>
              <a:t>https://aclanthology.org/2024.acl-long.747/</a:t>
            </a:r>
            <a:endParaRPr/>
          </a:p>
          <a:p xmlns:a="http://schemas.openxmlformats.org/drawingml/2006/main">
            <a:pPr marL="0" lvl="0" indent="0" algn="l">
              <a:lnSpc>
                <a:spcPct val="100000"/>
              </a:lnSpc>
              <a:spcBef>
                <a:spcPts val="0"/>
              </a:spcBef>
              <a:spcAft>
                <a:spcPts val="0"/>
              </a:spcAft>
              <a:buSzPts val="1400"/>
              <a:buNone/>
            </a:pPr>
            <a:r>
              <a:t>https://aclanthology.org/D18-1259/</a:t>
            </a:r>
            <a:endParaRPr/>
          </a:p>
          <a:p xmlns:a="http://schemas.openxmlformats.org/drawingml/2006/main">
            <a:pPr marL="0" lvl="0" indent="0" algn="l">
              <a:lnSpc>
                <a:spcPct val="100000"/>
              </a:lnSpc>
              <a:spcBef>
                <a:spcPts val="0"/>
              </a:spcBef>
              <a:spcAft>
                <a:spcPts val="0"/>
              </a:spcAft>
              <a:buSzPts val="1400"/>
              <a:buNone/>
            </a:pPr>
            <a:r>
              <a:t>https://aclanthology.org/2020.acl-main.372/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Related-work positioning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13. Slide 11: IEEE-style references and related-work positioning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These primary research pages were checked during preparation. The list covers foundational work relevant to the current mechanism and datasets, not an exhaustive latest-literature or patent search. Use abbreviated author lists where slide space requires it.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[1] P. Lewis et al., "Retrieval-Augmented Generation for Knowledge-Intensive NLP Tasks," arXiv:2005.11401, 2020, doi: 10.48550/arXiv.2005.11401. Primary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[2] J. S. Park, J. C. O'Brien, C. J. Cai, M. R. Morris, P. Liang, and M. S. Bernstein, "Generative Agents: Interactive Simulacra of Human Behavior," arXiv:2304.03442, 2023, doi: 10.48550/arXiv.2304.03442. Primary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[3] N. Shinn, F. Cassano, E. Berman, A. Gopinath, K. Narasimhan, and S. Yao, "Reflexion: Language Agents with Verbal Reinforcement Learning," arXiv:2303.11366, 2023, doi: 10.48550/arXiv.2303.11366. Primary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[4] A. Maharana, D.-H. Lee, S. Tulyakov, M. Bansal, F. Barbieri, and Y. Fang, "Evaluating Very Long-Term Conversational Memory of LLM Agents," in Proc. 62nd Annual Meeting of the Association for Computational Linguistics, vol. 1: Long Papers, Bangkok, Thailand, 2024, pp. 13851 - 13870, doi: 10.18653/v1/2024.acl-long.747. Primary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[5] Z. Yang, P. Qi, S. Zhang, Y. Bengio, W. W. Cohen, R. Salakhutdinov, and C. D. Manning, "HotpotQA: A Dataset for Diverse, Explainable Multi-hop Question Answering," in Proc. 2018 Conf. Empirical Methods in Natural Language Processing, Brussels, Belgium, 2018, pp. 2369 - 2380, doi: 10.18653/v1/D18-1259. Primary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[6] D. Demszky, D. Movshovitz-Attias, J. Ko, A. Cowen, G. Nemade, and S. Ravi, "GoEmotions: A Dataset of Fine-Grained Emotions," in Proc. 58th Annual Meeting of the Association for Computational Linguistics, Online, 2020, pp. 4040 - 4054, doi: 10.18653/v1/2020.acl-main.372. Primary paper.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Prior work | Relevant established idea | PRIMA question to evaluate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RAG [1] | Generation conditioned on retrieved nonparametric evidence. | Whether extra memory/control layers beat a strong simpler retrieval baseline. |</a:t>
            </a:r>
            <a:endParaRPr/>
          </a:p>
          <a:p xmlns:a="http://schemas.openxmlformats.org/drawingml/2006/main">
            <a:pPr marL="0" lvl="0" indent="0" algn="l">
              <a:lnSpc>
                <a:spcPct val="100000"/>
              </a:lnSpc>
              <a:spcBef>
                <a:spcPts val="0"/>
              </a:spcBef>
              <a:spcAft>
                <a:spcPts val="0"/>
              </a:spcAft>
              <a:buSzPts val="1400"/>
              <a:buNone/>
            </a:pPr>
            <a:r>
              <a:t>| Generative Agents [2] | Experience memory, planning, reflection in simulated agents. | Reliability and measurable quality/cost of PRIMA's typed, bounded implementation. |</a:t>
            </a:r>
            <a:endParaRPr/>
          </a:p>
          <a:p xmlns:a="http://schemas.openxmlformats.org/drawingml/2006/main">
            <a:pPr marL="0" lvl="0" indent="0" algn="l">
              <a:lnSpc>
                <a:spcPct val="100000"/>
              </a:lnSpc>
              <a:spcBef>
                <a:spcPts val="0"/>
              </a:spcBef>
              <a:spcAft>
                <a:spcPts val="0"/>
              </a:spcAft>
              <a:buSzPts val="1400"/>
              <a:buNone/>
            </a:pPr>
            <a:r>
              <a:t>| Reflexion [3] | Linguistic feedback retained to improve subsequent behavior. | Whether PRIMA's actual bounded interventions help and how often they harm. |</a:t>
            </a:r>
            <a:endParaRPr/>
          </a:p>
          <a:p xmlns:a="http://schemas.openxmlformats.org/drawingml/2006/main">
            <a:pPr marL="0" lvl="0" indent="0" algn="l">
              <a:lnSpc>
                <a:spcPct val="100000"/>
              </a:lnSpc>
              <a:spcBef>
                <a:spcPts val="0"/>
              </a:spcBef>
              <a:spcAft>
                <a:spcPts val="0"/>
              </a:spcAft>
              <a:buSzPts val="1400"/>
              <a:buNone/>
            </a:pPr>
            <a:r>
              <a:t>| LoCoMo [4] | Long conversational history evaluation. | Historical evidence recall and answer quality under declared memory policies. |</a:t>
            </a:r>
            <a:endParaRPr/>
          </a:p>
          <a:p xmlns:a="http://schemas.openxmlformats.org/drawingml/2006/main">
            <a:pPr marL="0" lvl="0" indent="0" algn="l">
              <a:lnSpc>
                <a:spcPct val="100000"/>
              </a:lnSpc>
              <a:spcBef>
                <a:spcPts val="0"/>
              </a:spcBef>
              <a:spcAft>
                <a:spcPts val="0"/>
              </a:spcAft>
              <a:buSzPts val="1400"/>
              <a:buNone/>
            </a:pPr>
            <a:r>
              <a:t>| HotpotQA [5] | Multi-document QA with supporting-fact annotations. | Evidence acquisition and QA under supplied distractor/official-retrieved context. |</a:t>
            </a:r>
            <a:endParaRPr/>
          </a:p>
          <a:p xmlns:a="http://schemas.openxmlformats.org/drawingml/2006/main">
            <a:pPr marL="0" lvl="0" indent="0" algn="l">
              <a:lnSpc>
                <a:spcPct val="100000"/>
              </a:lnSpc>
              <a:spcBef>
                <a:spcPts val="0"/>
              </a:spcBef>
              <a:spcAft>
                <a:spcPts val="0"/>
              </a:spcAft>
              <a:buSzPts val="1400"/>
              <a:buNone/>
            </a:pPr>
            <a:r>
              <a:t>| GoEmotions [6] | Fine-grained multilabel text-emotion annotations. | Classification quality and, separately, downstream value of affect signals.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Do not transfer a cited paper's scores to PRIMA. Do not imply these papers establish PRIMA's novelty, patentability, or acceptance.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https://arxiv.org/abs/2005.11401</a:t>
            </a:r>
            <a:endParaRPr/>
          </a:p>
          <a:p xmlns:a="http://schemas.openxmlformats.org/drawingml/2006/main">
            <a:pPr marL="0" lvl="0" indent="0" algn="l">
              <a:lnSpc>
                <a:spcPct val="100000"/>
              </a:lnSpc>
              <a:spcBef>
                <a:spcPts val="0"/>
              </a:spcBef>
              <a:spcAft>
                <a:spcPts val="0"/>
              </a:spcAft>
              <a:buSzPts val="1400"/>
              <a:buNone/>
            </a:pPr>
            <a:r>
              <a:t>https://arxiv.org/abs/2304.03442</a:t>
            </a:r>
            <a:endParaRPr/>
          </a:p>
          <a:p xmlns:a="http://schemas.openxmlformats.org/drawingml/2006/main">
            <a:pPr marL="0" lvl="0" indent="0" algn="l">
              <a:lnSpc>
                <a:spcPct val="100000"/>
              </a:lnSpc>
              <a:spcBef>
                <a:spcPts val="0"/>
              </a:spcBef>
              <a:spcAft>
                <a:spcPts val="0"/>
              </a:spcAft>
              <a:buSzPts val="1400"/>
              <a:buNone/>
            </a:pPr>
            <a:r>
              <a:t>https://arxiv.org/abs/2303.11366</a:t>
            </a:r>
            <a:endParaRPr/>
          </a:p>
          <a:p xmlns:a="http://schemas.openxmlformats.org/drawingml/2006/main">
            <a:pPr marL="0" lvl="0" indent="0" algn="l">
              <a:lnSpc>
                <a:spcPct val="100000"/>
              </a:lnSpc>
              <a:spcBef>
                <a:spcPts val="0"/>
              </a:spcBef>
              <a:spcAft>
                <a:spcPts val="0"/>
              </a:spcAft>
              <a:buSzPts val="1400"/>
              <a:buNone/>
            </a:pPr>
            <a:r>
              <a:t>https://aclanthology.org/2024.acl-long.747/</a:t>
            </a:r>
            <a:endParaRPr/>
          </a:p>
          <a:p xmlns:a="http://schemas.openxmlformats.org/drawingml/2006/main">
            <a:pPr marL="0" lvl="0" indent="0" algn="l">
              <a:lnSpc>
                <a:spcPct val="100000"/>
              </a:lnSpc>
              <a:spcBef>
                <a:spcPts val="0"/>
              </a:spcBef>
              <a:spcAft>
                <a:spcPts val="0"/>
              </a:spcAft>
              <a:buSzPts val="1400"/>
              <a:buNone/>
            </a:pPr>
            <a:r>
              <a:t>https://aclanthology.org/D18-1259/</a:t>
            </a:r>
            <a:endParaRPr/>
          </a:p>
          <a:p xmlns:a="http://schemas.openxmlformats.org/drawingml/2006/main">
            <a:pPr marL="0" lvl="0" indent="0" algn="l">
              <a:lnSpc>
                <a:spcPct val="100000"/>
              </a:lnSpc>
              <a:spcBef>
                <a:spcPts val="0"/>
              </a:spcBef>
              <a:spcAft>
                <a:spcPts val="0"/>
              </a:spcAft>
              <a:buSzPts val="1400"/>
              <a:buNone/>
            </a:pPr>
            <a:r>
              <a:t>https://aclanthology.org/2020.acl-main.372/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Backup: evidence definitions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0. Evidence rules and current review position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these labels consistently when speaking: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Label | What it establishes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Source verified | Implementation or a test assertion was inspected in this checkout. This alone does not mean that test passed today. |</a:t>
            </a:r>
            <a:endParaRPr/>
          </a:p>
          <a:p xmlns:a="http://schemas.openxmlformats.org/drawingml/2006/main">
            <a:pPr marL="0" lvl="0" indent="0" algn="l">
              <a:lnSpc>
                <a:spcPct val="100000"/>
              </a:lnSpc>
              <a:spcBef>
                <a:spcPts val="0"/>
              </a:spcBef>
              <a:spcAft>
                <a:spcPts val="0"/>
              </a:spcAft>
              <a:buSzPts val="1400"/>
              <a:buNone/>
            </a:pPr>
            <a:r>
              <a:t>| Fresh test | A named command actually completed during preparation on 10 October 2026. |</a:t>
            </a:r>
            <a:endParaRPr/>
          </a:p>
          <a:p xmlns:a="http://schemas.openxmlformats.org/drawingml/2006/main">
            <a:pPr marL="0" lvl="0" indent="0" algn="l">
              <a:lnSpc>
                <a:spcPct val="100000"/>
              </a:lnSpc>
              <a:spcBef>
                <a:spcPts val="0"/>
              </a:spcBef>
              <a:spcAft>
                <a:spcPts val="0"/>
              </a:spcAft>
              <a:buSzPts val="1400"/>
              <a:buNone/>
            </a:pPr>
            <a:r>
              <a:t>| Saved artifact | An existing result file was inspected. Its experiment was not independently rerun. |</a:t>
            </a:r>
            <a:endParaRPr/>
          </a:p>
          <a:p xmlns:a="http://schemas.openxmlformats.org/drawingml/2006/main">
            <a:pPr marL="0" lvl="0" indent="0" algn="l">
              <a:lnSpc>
                <a:spcPct val="100000"/>
              </a:lnSpc>
              <a:spcBef>
                <a:spcPts val="0"/>
              </a:spcBef>
              <a:spcAft>
                <a:spcPts val="0"/>
              </a:spcAft>
              <a:buSzPts val="1400"/>
              <a:buNone/>
            </a:pPr>
            <a:r>
              <a:t>| Reported pilot | A repository note reports an external hardware run, but its original archive was not revalidated during this task. |</a:t>
            </a:r>
            <a:endParaRPr/>
          </a:p>
          <a:p xmlns:a="http://schemas.openxmlformats.org/drawingml/2006/main">
            <a:pPr marL="0" lvl="0" indent="0" algn="l">
              <a:lnSpc>
                <a:spcPct val="100000"/>
              </a:lnSpc>
              <a:spcBef>
                <a:spcPts val="0"/>
              </a:spcBef>
              <a:spcAft>
                <a:spcPts val="0"/>
              </a:spcAft>
              <a:buSzPts val="1400"/>
              <a:buNone/>
            </a:pPr>
            <a:r>
              <a:t>| Proposed / pending | Work, schedule, or evaluation design still to execute. |</a:t>
            </a:r>
            <a:endParaRPr/>
          </a:p>
          <a:p xmlns:a="http://schemas.openxmlformats.org/drawingml/2006/main">
            <a:pPr marL="0" lvl="0" indent="0" algn="l">
              <a:lnSpc>
                <a:spcPct val="100000"/>
              </a:lnSpc>
              <a:spcBef>
                <a:spcPts val="0"/>
              </a:spcBef>
              <a:spcAft>
                <a:spcPts val="0"/>
              </a:spcAft>
              <a:buSzPts val="1400"/>
              <a:buNone/>
            </a:pPr>
            <a:r>
              <a:t>| Team confirmation required | Administrative or publication facts not established by the available evidence.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Defensible opening statement: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PRIMA-NEXT is an experimental Python agent runtime that combines memory, hybrid retrieval, emotion-related signals, planning, symbolic simulation, uncertainty decisions, bounded reflection, and controlled tools through one typed execution interface. The code and tests establish integration mechanisms. Saved subset experiments identify useful retrieval choices. Full matched benchmark evidence and verified publication or patent milestones remain to be completed or supplied.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0.1 Main evidence register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references below are local proof links. Later sections cite their IDs alongside more specific source and test files.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ID | Evidence | How to use 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E01 | README | Project purpose, setup, quick start, research scope, license. |</a:t>
            </a:r>
            <a:endParaRPr/>
          </a:p>
          <a:p xmlns:a="http://schemas.openxmlformats.org/drawingml/2006/main">
            <a:pPr marL="0" lvl="0" indent="0" algn="l">
              <a:lnSpc>
                <a:spcPct val="100000"/>
              </a:lnSpc>
              <a:spcBef>
                <a:spcPts val="0"/>
              </a:spcBef>
              <a:spcAft>
                <a:spcPts val="0"/>
              </a:spcAft>
              <a:buSzPts val="1400"/>
              <a:buNone/>
            </a:pPr>
            <a:r>
              <a:t>| E02 | Public contracts, route plans | Current task/profile combinations, inputs, outputs, diagnostics, budgets. |</a:t>
            </a:r>
            <a:endParaRPr/>
          </a:p>
          <a:p xmlns:a="http://schemas.openxmlformats.org/drawingml/2006/main">
            <a:pPr marL="0" lvl="0" indent="0" algn="l">
              <a:lnSpc>
                <a:spcPct val="100000"/>
              </a:lnSpc>
              <a:spcBef>
                <a:spcPts val="0"/>
              </a:spcBef>
              <a:spcAft>
                <a:spcPts val="0"/>
              </a:spcAft>
              <a:buSzPts val="1400"/>
              <a:buNone/>
            </a:pPr>
            <a:r>
              <a:t>| E03 | Runtime, workflow, orchestration | Construction, execution order, controller ownership, error handling. |</a:t>
            </a:r>
            <a:endParaRPr/>
          </a:p>
          <a:p xmlns:a="http://schemas.openxmlformats.org/drawingml/2006/main">
            <a:pPr marL="0" lvl="0" indent="0" algn="l">
              <a:lnSpc>
                <a:spcPct val="100000"/>
              </a:lnSpc>
              <a:spcBef>
                <a:spcPts val="0"/>
              </a:spcBef>
              <a:spcAft>
                <a:spcPts val="0"/>
              </a:spcAft>
              <a:buSzPts val="1400"/>
              <a:buNone/>
            </a:pPr>
            <a:r>
              <a:t>| E04 | Project explanation, file reference | Broad technical map and dated audit findings. These are explanatory secondary sources. |</a:t>
            </a:r>
            <a:endParaRPr/>
          </a:p>
          <a:p xmlns:a="http://schemas.openxmlformats.org/drawingml/2006/main">
            <a:pPr marL="0" lvl="0" indent="0" algn="l">
              <a:lnSpc>
                <a:spcPct val="100000"/>
              </a:lnSpc>
              <a:spcBef>
                <a:spcPts val="0"/>
              </a:spcBef>
              <a:spcAft>
                <a:spcPts val="0"/>
              </a:spcAft>
              <a:buSzPts val="1400"/>
              <a:buNone/>
            </a:pPr>
            <a:r>
              <a:t>| E05 | Result claim policy | Conditions for fair comparisons and reportable results. |</a:t>
            </a:r>
            <a:endParaRPr/>
          </a:p>
          <a:p xmlns:a="http://schemas.openxmlformats.org/drawingml/2006/main">
            <a:pPr marL="0" lvl="0" indent="0" algn="l">
              <a:lnSpc>
                <a:spcPct val="100000"/>
              </a:lnSpc>
              <a:spcBef>
                <a:spcPts val="0"/>
              </a:spcBef>
              <a:spcAft>
                <a:spcPts val="0"/>
              </a:spcAft>
              <a:buSzPts val="1400"/>
              <a:buNone/>
            </a:pPr>
            <a:r>
              <a:t>| E06 | 12-hour Kaggle plan | Reported October 6 LoCoMo pilot and earlier operational problems. |</a:t>
            </a:r>
            <a:endParaRPr/>
          </a:p>
          <a:p xmlns:a="http://schemas.openxmlformats.org/drawingml/2006/main">
            <a:pPr marL="0" lvl="0" indent="0" algn="l">
              <a:lnSpc>
                <a:spcPct val="100000"/>
              </a:lnSpc>
              <a:spcBef>
                <a:spcPts val="0"/>
              </a:spcBef>
              <a:spcAft>
                <a:spcPts val="0"/>
              </a:spcAft>
              <a:buSzPts val="1400"/>
              <a:buNone/>
            </a:pPr>
            <a:r>
              <a:t>| E07 | Saved embedding JSON, CSV | 197-query, one-conversation retrieval subset comparisons. |</a:t>
            </a:r>
            <a:endParaRPr/>
          </a:p>
          <a:p xmlns:a="http://schemas.openxmlformats.org/drawingml/2006/main">
            <a:pPr marL="0" lvl="0" indent="0" algn="l">
              <a:lnSpc>
                <a:spcPct val="100000"/>
              </a:lnSpc>
              <a:spcBef>
                <a:spcPts val="0"/>
              </a:spcBef>
              <a:spcAft>
                <a:spcPts val="0"/>
              </a:spcAft>
              <a:buSzPts val="1400"/>
              <a:buNone/>
            </a:pPr>
            <a:r>
              <a:t>| E08 | Saved representation JSON, CSV | Raw versus semantic/event representations using Nomic. |</a:t>
            </a:r>
            <a:endParaRPr/>
          </a:p>
          <a:p xmlns:a="http://schemas.openxmlformats.org/drawingml/2006/main">
            <a:pPr marL="0" lvl="0" indent="0" algn="l">
              <a:lnSpc>
                <a:spcPct val="100000"/>
              </a:lnSpc>
              <a:spcBef>
                <a:spcPts val="0"/>
              </a:spcBef>
              <a:spcAft>
                <a:spcPts val="0"/>
              </a:spcAft>
              <a:buSzPts val="1400"/>
              <a:buNone/>
            </a:pPr>
            <a:r>
              <a:t>| E09 | Release readiness | Historical fake-provider and fault-injection evidence, with its stated scope and limits. |</a:t>
            </a:r>
            <a:endParaRPr/>
          </a:p>
          <a:p xmlns:a="http://schemas.openxmlformats.org/drawingml/2006/main">
            <a:pPr marL="0" lvl="0" indent="0" algn="l">
              <a:lnSpc>
                <a:spcPct val="100000"/>
              </a:lnSpc>
              <a:spcBef>
                <a:spcPts val="0"/>
              </a:spcBef>
              <a:spcAft>
                <a:spcPts val="0"/>
              </a:spcAft>
              <a:buSzPts val="1400"/>
              <a:buNone/>
            </a:pPr>
            <a:r>
              <a:t>| E10 | CI workflow, quality configuration | Checks configured for Python 3.14. Configuration is not a fresh CI pass. |</a:t>
            </a:r>
            <a:endParaRPr/>
          </a:p>
          <a:p xmlns:a="http://schemas.openxmlformats.org/drawingml/2006/main">
            <a:pPr marL="0" lvl="0" indent="0" algn="l">
              <a:lnSpc>
                <a:spcPct val="100000"/>
              </a:lnSpc>
              <a:spcBef>
                <a:spcPts val="0"/>
              </a:spcBef>
              <a:spcAft>
                <a:spcPts val="0"/>
              </a:spcAft>
              <a:buSzPts val="1400"/>
              <a:buNone/>
            </a:pPr>
            <a:r>
              <a:t>| E11 | Contributors | Git-derived contributor names. This does not establish official academic team details. |</a:t>
            </a:r>
            <a:endParaRPr/>
          </a:p>
          <a:p xmlns:a="http://schemas.openxmlformats.org/drawingml/2006/main">
            <a:pPr marL="0" lvl="0" indent="0" algn="l">
              <a:lnSpc>
                <a:spcPct val="100000"/>
              </a:lnSpc>
              <a:spcBef>
                <a:spcPts val="0"/>
              </a:spcBef>
              <a:spcAft>
                <a:spcPts val="0"/>
              </a:spcAft>
              <a:buSzPts val="1400"/>
              <a:buNone/>
            </a:pPr>
            <a:r>
              <a:t>| E12 | Benchmark runbook, Kaggle smoke validation | Execution, pilot, resource, scoring, resume, and packaging procedures.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Documentation conflicts to explain: the historical architecture matrix mentions 25 pairs and nine valid routes. Current E02 defines six tasks, five profiles, 30 possible pairs, ten valid pairs. E07/E08 describe saved Python 3.10 subset runs, whereas current README/CI target Python 3.14. Older top-level ablation summaries mark learned models unavailable, while the separate final/ subset artifacts record completed learned-backend runs. Keep these experiment scopes separate. JSON and CSV backend fingerprints also differ in E07/E08, despite agreement on displayed metrics. These files therefore need provenance reconciliation before paper-grade reuse.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C:/PRIMA_next/README.md</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C:/PRIMA_next/runtime/route_profiles.py</a:t>
            </a:r>
            <a:endParaRPr/>
          </a:p>
          <a:p xmlns:a="http://schemas.openxmlformats.org/drawingml/2006/main">
            <a:pPr marL="0" lvl="0" indent="0" algn="l">
              <a:lnSpc>
                <a:spcPct val="100000"/>
              </a:lnSpc>
              <a:spcBef>
                <a:spcPts val="0"/>
              </a:spcBef>
              <a:spcAft>
                <a:spcPts val="0"/>
              </a:spcAft>
              <a:buSzPts val="1400"/>
              <a:buNone/>
            </a:pPr>
            <a:r>
              <a:t>C:/PRIMA_next/runtime/prima_runtime.py</a:t>
            </a:r>
            <a:endParaRPr/>
          </a:p>
          <a:p xmlns:a="http://schemas.openxmlformats.org/drawingml/2006/main">
            <a:pPr marL="0" lvl="0" indent="0" algn="l">
              <a:lnSpc>
                <a:spcPct val="100000"/>
              </a:lnSpc>
              <a:spcBef>
                <a:spcPts val="0"/>
              </a:spcBef>
              <a:spcAft>
                <a:spcPts val="0"/>
              </a:spcAft>
              <a:buSzPts val="1400"/>
              <a:buNone/>
            </a:pPr>
            <a:r>
              <a:t>C:/PRIMA_next/workflow/prima_workflow.py</a:t>
            </a:r>
            <a:endParaRPr/>
          </a:p>
          <a:p xmlns:a="http://schemas.openxmlformats.org/drawingml/2006/main">
            <a:pPr marL="0" lvl="0" indent="0" algn="l">
              <a:lnSpc>
                <a:spcPct val="100000"/>
              </a:lnSpc>
              <a:spcBef>
                <a:spcPts val="0"/>
              </a:spcBef>
              <a:spcAft>
                <a:spcPts val="0"/>
              </a:spcAft>
              <a:buSzPts val="1400"/>
              <a:buNone/>
            </a:pPr>
            <a:r>
              <a:t>C:/PRIMA_next/workflow/orchestration_engine.py</a:t>
            </a:r>
            <a:endParaRPr/>
          </a:p>
          <a:p xmlns:a="http://schemas.openxmlformats.org/drawingml/2006/main">
            <a:pPr marL="0" lvl="0" indent="0" algn="l">
              <a:lnSpc>
                <a:spcPct val="100000"/>
              </a:lnSpc>
              <a:spcBef>
                <a:spcPts val="0"/>
              </a:spcBef>
              <a:spcAft>
                <a:spcPts val="0"/>
              </a:spcAft>
              <a:buSzPts val="1400"/>
              <a:buNone/>
            </a:pPr>
            <a:r>
              <a:t>C:/PRIMA_next/docs/PROJECT_EXPLAINED.md</a:t>
            </a:r>
            <a:endParaRPr/>
          </a:p>
          <a:p xmlns:a="http://schemas.openxmlformats.org/drawingml/2006/main">
            <a:pPr marL="0" lvl="0" indent="0" algn="l">
              <a:lnSpc>
                <a:spcPct val="100000"/>
              </a:lnSpc>
              <a:spcBef>
                <a:spcPts val="0"/>
              </a:spcBef>
              <a:spcAft>
                <a:spcPts val="0"/>
              </a:spcAft>
              <a:buSzPts val="1400"/>
              <a:buNone/>
            </a:pPr>
            <a:r>
              <a:t>C:/PRIMA_next/docs/PROJECT_FILE_REFERENCE.md</a:t>
            </a:r>
            <a:endParaRPr/>
          </a:p>
          <a:p xmlns:a="http://schemas.openxmlformats.org/drawingml/2006/main">
            <a:pPr marL="0" lvl="0" indent="0" algn="l">
              <a:lnSpc>
                <a:spcPct val="100000"/>
              </a:lnSpc>
              <a:spcBef>
                <a:spcPts val="0"/>
              </a:spcBef>
              <a:spcAft>
                <a:spcPts val="0"/>
              </a:spcAft>
              <a:buSzPts val="1400"/>
              <a:buNone/>
            </a:pPr>
            <a:r>
              <a:t>C:/PRIMA_next/docs/benchmarks/RESULT_CLAIM_POLICY.md</a:t>
            </a:r>
            <a:endParaRPr/>
          </a:p>
          <a:p xmlns:a="http://schemas.openxmlformats.org/drawingml/2006/main">
            <a:pPr marL="0" lvl="0" indent="0" algn="l">
              <a:lnSpc>
                <a:spcPct val="100000"/>
              </a:lnSpc>
              <a:spcBef>
                <a:spcPts val="0"/>
              </a:spcBef>
              <a:spcAft>
                <a:spcPts val="0"/>
              </a:spcAft>
              <a:buSzPts val="1400"/>
              <a:buNone/>
            </a:pPr>
            <a:r>
              <a:t>C:/PRIMA_next/docs/kaggle-12-hour-plan.md</a:t>
            </a:r>
            <a:endParaRPr/>
          </a:p>
          <a:p xmlns:a="http://schemas.openxmlformats.org/drawingml/2006/main">
            <a:pPr marL="0" lvl="0" indent="0" algn="l">
              <a:lnSpc>
                <a:spcPct val="100000"/>
              </a:lnSpc>
              <a:spcBef>
                <a:spcPts val="0"/>
              </a:spcBef>
              <a:spcAft>
                <a:spcPts val="0"/>
              </a:spcAft>
              <a:buSzPts val="1400"/>
              <a:buNone/>
            </a:pPr>
            <a:r>
              <a:t>C:/PRIMA_next/evaluation/results/final/embedding_ablation_results.json</a:t>
            </a:r>
            <a:endParaRPr/>
          </a:p>
          <a:p xmlns:a="http://schemas.openxmlformats.org/drawingml/2006/main">
            <a:pPr marL="0" lvl="0" indent="0" algn="l">
              <a:lnSpc>
                <a:spcPct val="100000"/>
              </a:lnSpc>
              <a:spcBef>
                <a:spcPts val="0"/>
              </a:spcBef>
              <a:spcAft>
                <a:spcPts val="0"/>
              </a:spcAft>
              <a:buSzPts val="1400"/>
              <a:buNone/>
            </a:pPr>
            <a:r>
              <a:t>C:/PRIMA_next/evaluation/results/final/embedding_ablation.csv</a:t>
            </a:r>
            <a:endParaRPr/>
          </a:p>
          <a:p xmlns:a="http://schemas.openxmlformats.org/drawingml/2006/main">
            <a:pPr marL="0" lvl="0" indent="0" algn="l">
              <a:lnSpc>
                <a:spcPct val="100000"/>
              </a:lnSpc>
              <a:spcBef>
                <a:spcPts val="0"/>
              </a:spcBef>
              <a:spcAft>
                <a:spcPts val="0"/>
              </a:spcAft>
              <a:buSzPts val="1400"/>
              <a:buNone/>
            </a:pPr>
            <a:r>
              <a:t>C:/PRIMA_next/evaluation/results/final/representation_ablation_results.json</a:t>
            </a:r>
            <a:endParaRPr/>
          </a:p>
          <a:p xmlns:a="http://schemas.openxmlformats.org/drawingml/2006/main">
            <a:pPr marL="0" lvl="0" indent="0" algn="l">
              <a:lnSpc>
                <a:spcPct val="100000"/>
              </a:lnSpc>
              <a:spcBef>
                <a:spcPts val="0"/>
              </a:spcBef>
              <a:spcAft>
                <a:spcPts val="0"/>
              </a:spcAft>
              <a:buSzPts val="1400"/>
              <a:buNone/>
            </a:pPr>
            <a:r>
              <a:t>C:/PRIMA_next/evaluation/results/final/representation_ablation.csv</a:t>
            </a:r>
            <a:endParaRPr/>
          </a:p>
          <a:p xmlns:a="http://schemas.openxmlformats.org/drawingml/2006/main">
            <a:pPr marL="0" lvl="0" indent="0" algn="l">
              <a:lnSpc>
                <a:spcPct val="100000"/>
              </a:lnSpc>
              <a:spcBef>
                <a:spcPts val="0"/>
              </a:spcBef>
              <a:spcAft>
                <a:spcPts val="0"/>
              </a:spcAft>
              <a:buSzPts val="1400"/>
              <a:buNone/>
            </a:pPr>
            <a:r>
              <a:t>C:/PRIMA_next/docs/implementation/RELEASE_READINESS.md</a:t>
            </a:r>
            <a:endParaRPr/>
          </a:p>
          <a:p xmlns:a="http://schemas.openxmlformats.org/drawingml/2006/main">
            <a:pPr marL="0" lvl="0" indent="0" algn="l">
              <a:lnSpc>
                <a:spcPct val="100000"/>
              </a:lnSpc>
              <a:spcBef>
                <a:spcPts val="0"/>
              </a:spcBef>
              <a:spcAft>
                <a:spcPts val="0"/>
              </a:spcAft>
              <a:buSzPts val="1400"/>
              <a:buNone/>
            </a:pPr>
            <a:r>
              <a:t>C:/PRIMA_next/.github/workflows/ci.yml</a:t>
            </a:r>
            <a:endParaRPr/>
          </a:p>
          <a:p xmlns:a="http://schemas.openxmlformats.org/drawingml/2006/main">
            <a:pPr marL="0" lvl="0" indent="0" algn="l">
              <a:lnSpc>
                <a:spcPct val="100000"/>
              </a:lnSpc>
              <a:spcBef>
                <a:spcPts val="0"/>
              </a:spcBef>
              <a:spcAft>
                <a:spcPts val="0"/>
              </a:spcAft>
              <a:buSzPts val="1400"/>
              <a:buNone/>
            </a:pPr>
            <a:r>
              <a:t>C:/PRIMA_next/pyproject.toml</a:t>
            </a:r>
            <a:endParaRPr/>
          </a:p>
          <a:p xmlns:a="http://schemas.openxmlformats.org/drawingml/2006/main">
            <a:pPr marL="0" lvl="0" indent="0" algn="l">
              <a:lnSpc>
                <a:spcPct val="100000"/>
              </a:lnSpc>
              <a:spcBef>
                <a:spcPts val="0"/>
              </a:spcBef>
              <a:spcAft>
                <a:spcPts val="0"/>
              </a:spcAft>
              <a:buSzPts val="1400"/>
              <a:buNone/>
            </a:pPr>
            <a:r>
              <a:t>C:/PRIMA_next/CONTRIBUTORS.md</a:t>
            </a:r>
            <a:endParaRPr/>
          </a:p>
          <a:p xmlns:a="http://schemas.openxmlformats.org/drawingml/2006/main">
            <a:pPr marL="0" lvl="0" indent="0" algn="l">
              <a:lnSpc>
                <a:spcPct val="100000"/>
              </a:lnSpc>
              <a:spcBef>
                <a:spcPts val="0"/>
              </a:spcBef>
              <a:spcAft>
                <a:spcPts val="0"/>
              </a:spcAft>
              <a:buSzPts val="1400"/>
              <a:buNone/>
            </a:pPr>
            <a:r>
              <a:t>C:/PRIMA_next/docs/benchmarks/RUNBOOK.md</a:t>
            </a:r>
            <a:endParaRPr/>
          </a:p>
          <a:p xmlns:a="http://schemas.openxmlformats.org/drawingml/2006/main">
            <a:pPr marL="0" lvl="0" indent="0" algn="l">
              <a:lnSpc>
                <a:spcPct val="100000"/>
              </a:lnSpc>
              <a:spcBef>
                <a:spcPts val="0"/>
              </a:spcBef>
              <a:spcAft>
                <a:spcPts val="0"/>
              </a:spcAft>
              <a:buSzPts val="1400"/>
              <a:buNone/>
            </a:pPr>
            <a:r>
              <a:t>C:/PRIMA_next/docs/kaggle-smoke-validation.md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Backup: evidence register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0. Evidence rules and current review position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these labels consistently when speaking: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Label | What it establishes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Source verified | Implementation or a test assertion was inspected in this checkout. This alone does not mean that test passed today. |</a:t>
            </a:r>
            <a:endParaRPr/>
          </a:p>
          <a:p xmlns:a="http://schemas.openxmlformats.org/drawingml/2006/main">
            <a:pPr marL="0" lvl="0" indent="0" algn="l">
              <a:lnSpc>
                <a:spcPct val="100000"/>
              </a:lnSpc>
              <a:spcBef>
                <a:spcPts val="0"/>
              </a:spcBef>
              <a:spcAft>
                <a:spcPts val="0"/>
              </a:spcAft>
              <a:buSzPts val="1400"/>
              <a:buNone/>
            </a:pPr>
            <a:r>
              <a:t>| Fresh test | A named command actually completed during preparation on 10 October 2026. |</a:t>
            </a:r>
            <a:endParaRPr/>
          </a:p>
          <a:p xmlns:a="http://schemas.openxmlformats.org/drawingml/2006/main">
            <a:pPr marL="0" lvl="0" indent="0" algn="l">
              <a:lnSpc>
                <a:spcPct val="100000"/>
              </a:lnSpc>
              <a:spcBef>
                <a:spcPts val="0"/>
              </a:spcBef>
              <a:spcAft>
                <a:spcPts val="0"/>
              </a:spcAft>
              <a:buSzPts val="1400"/>
              <a:buNone/>
            </a:pPr>
            <a:r>
              <a:t>| Saved artifact | An existing result file was inspected. Its experiment was not independently rerun. |</a:t>
            </a:r>
            <a:endParaRPr/>
          </a:p>
          <a:p xmlns:a="http://schemas.openxmlformats.org/drawingml/2006/main">
            <a:pPr marL="0" lvl="0" indent="0" algn="l">
              <a:lnSpc>
                <a:spcPct val="100000"/>
              </a:lnSpc>
              <a:spcBef>
                <a:spcPts val="0"/>
              </a:spcBef>
              <a:spcAft>
                <a:spcPts val="0"/>
              </a:spcAft>
              <a:buSzPts val="1400"/>
              <a:buNone/>
            </a:pPr>
            <a:r>
              <a:t>| Reported pilot | A repository note reports an external hardware run, but its original archive was not revalidated during this task. |</a:t>
            </a:r>
            <a:endParaRPr/>
          </a:p>
          <a:p xmlns:a="http://schemas.openxmlformats.org/drawingml/2006/main">
            <a:pPr marL="0" lvl="0" indent="0" algn="l">
              <a:lnSpc>
                <a:spcPct val="100000"/>
              </a:lnSpc>
              <a:spcBef>
                <a:spcPts val="0"/>
              </a:spcBef>
              <a:spcAft>
                <a:spcPts val="0"/>
              </a:spcAft>
              <a:buSzPts val="1400"/>
              <a:buNone/>
            </a:pPr>
            <a:r>
              <a:t>| Proposed / pending | Work, schedule, or evaluation design still to execute. |</a:t>
            </a:r>
            <a:endParaRPr/>
          </a:p>
          <a:p xmlns:a="http://schemas.openxmlformats.org/drawingml/2006/main">
            <a:pPr marL="0" lvl="0" indent="0" algn="l">
              <a:lnSpc>
                <a:spcPct val="100000"/>
              </a:lnSpc>
              <a:spcBef>
                <a:spcPts val="0"/>
              </a:spcBef>
              <a:spcAft>
                <a:spcPts val="0"/>
              </a:spcAft>
              <a:buSzPts val="1400"/>
              <a:buNone/>
            </a:pPr>
            <a:r>
              <a:t>| Team confirmation required | Administrative or publication facts not established by the available evidence.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Defensible opening statement: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PRIMA-NEXT is an experimental Python agent runtime that combines memory, hybrid retrieval, emotion-related signals, planning, symbolic simulation, uncertainty decisions, bounded reflection, and controlled tools through one typed execution interface. The code and tests establish integration mechanisms. Saved subset experiments identify useful retrieval choices. Full matched benchmark evidence and verified publication or patent milestones remain to be completed or supplied.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0.1 Main evidence register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references below are local proof links. Later sections cite their IDs alongside more specific source and test files.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ID | Evidence | How to use 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E01 | README | Project purpose, setup, quick start, research scope, license. |</a:t>
            </a:r>
            <a:endParaRPr/>
          </a:p>
          <a:p xmlns:a="http://schemas.openxmlformats.org/drawingml/2006/main">
            <a:pPr marL="0" lvl="0" indent="0" algn="l">
              <a:lnSpc>
                <a:spcPct val="100000"/>
              </a:lnSpc>
              <a:spcBef>
                <a:spcPts val="0"/>
              </a:spcBef>
              <a:spcAft>
                <a:spcPts val="0"/>
              </a:spcAft>
              <a:buSzPts val="1400"/>
              <a:buNone/>
            </a:pPr>
            <a:r>
              <a:t>| E02 | Public contracts, route plans | Current task/profile combinations, inputs, outputs, diagnostics, budgets. |</a:t>
            </a:r>
            <a:endParaRPr/>
          </a:p>
          <a:p xmlns:a="http://schemas.openxmlformats.org/drawingml/2006/main">
            <a:pPr marL="0" lvl="0" indent="0" algn="l">
              <a:lnSpc>
                <a:spcPct val="100000"/>
              </a:lnSpc>
              <a:spcBef>
                <a:spcPts val="0"/>
              </a:spcBef>
              <a:spcAft>
                <a:spcPts val="0"/>
              </a:spcAft>
              <a:buSzPts val="1400"/>
              <a:buNone/>
            </a:pPr>
            <a:r>
              <a:t>| E03 | Runtime, workflow, orchestration | Construction, execution order, controller ownership, error handling. |</a:t>
            </a:r>
            <a:endParaRPr/>
          </a:p>
          <a:p xmlns:a="http://schemas.openxmlformats.org/drawingml/2006/main">
            <a:pPr marL="0" lvl="0" indent="0" algn="l">
              <a:lnSpc>
                <a:spcPct val="100000"/>
              </a:lnSpc>
              <a:spcBef>
                <a:spcPts val="0"/>
              </a:spcBef>
              <a:spcAft>
                <a:spcPts val="0"/>
              </a:spcAft>
              <a:buSzPts val="1400"/>
              <a:buNone/>
            </a:pPr>
            <a:r>
              <a:t>| E04 | Project explanation, file reference | Broad technical map and dated audit findings. These are explanatory secondary sources. |</a:t>
            </a:r>
            <a:endParaRPr/>
          </a:p>
          <a:p xmlns:a="http://schemas.openxmlformats.org/drawingml/2006/main">
            <a:pPr marL="0" lvl="0" indent="0" algn="l">
              <a:lnSpc>
                <a:spcPct val="100000"/>
              </a:lnSpc>
              <a:spcBef>
                <a:spcPts val="0"/>
              </a:spcBef>
              <a:spcAft>
                <a:spcPts val="0"/>
              </a:spcAft>
              <a:buSzPts val="1400"/>
              <a:buNone/>
            </a:pPr>
            <a:r>
              <a:t>| E05 | Result claim policy | Conditions for fair comparisons and reportable results. |</a:t>
            </a:r>
            <a:endParaRPr/>
          </a:p>
          <a:p xmlns:a="http://schemas.openxmlformats.org/drawingml/2006/main">
            <a:pPr marL="0" lvl="0" indent="0" algn="l">
              <a:lnSpc>
                <a:spcPct val="100000"/>
              </a:lnSpc>
              <a:spcBef>
                <a:spcPts val="0"/>
              </a:spcBef>
              <a:spcAft>
                <a:spcPts val="0"/>
              </a:spcAft>
              <a:buSzPts val="1400"/>
              <a:buNone/>
            </a:pPr>
            <a:r>
              <a:t>| E06 | 12-hour Kaggle plan | Reported October 6 LoCoMo pilot and earlier operational problems. |</a:t>
            </a:r>
            <a:endParaRPr/>
          </a:p>
          <a:p xmlns:a="http://schemas.openxmlformats.org/drawingml/2006/main">
            <a:pPr marL="0" lvl="0" indent="0" algn="l">
              <a:lnSpc>
                <a:spcPct val="100000"/>
              </a:lnSpc>
              <a:spcBef>
                <a:spcPts val="0"/>
              </a:spcBef>
              <a:spcAft>
                <a:spcPts val="0"/>
              </a:spcAft>
              <a:buSzPts val="1400"/>
              <a:buNone/>
            </a:pPr>
            <a:r>
              <a:t>| E07 | Saved embedding JSON, CSV | 197-query, one-conversation retrieval subset comparisons. |</a:t>
            </a:r>
            <a:endParaRPr/>
          </a:p>
          <a:p xmlns:a="http://schemas.openxmlformats.org/drawingml/2006/main">
            <a:pPr marL="0" lvl="0" indent="0" algn="l">
              <a:lnSpc>
                <a:spcPct val="100000"/>
              </a:lnSpc>
              <a:spcBef>
                <a:spcPts val="0"/>
              </a:spcBef>
              <a:spcAft>
                <a:spcPts val="0"/>
              </a:spcAft>
              <a:buSzPts val="1400"/>
              <a:buNone/>
            </a:pPr>
            <a:r>
              <a:t>| E08 | Saved representation JSON, CSV | Raw versus semantic/event representations using Nomic. |</a:t>
            </a:r>
            <a:endParaRPr/>
          </a:p>
          <a:p xmlns:a="http://schemas.openxmlformats.org/drawingml/2006/main">
            <a:pPr marL="0" lvl="0" indent="0" algn="l">
              <a:lnSpc>
                <a:spcPct val="100000"/>
              </a:lnSpc>
              <a:spcBef>
                <a:spcPts val="0"/>
              </a:spcBef>
              <a:spcAft>
                <a:spcPts val="0"/>
              </a:spcAft>
              <a:buSzPts val="1400"/>
              <a:buNone/>
            </a:pPr>
            <a:r>
              <a:t>| E09 | Release readiness | Historical fake-provider and fault-injection evidence, with its stated scope and limits. |</a:t>
            </a:r>
            <a:endParaRPr/>
          </a:p>
          <a:p xmlns:a="http://schemas.openxmlformats.org/drawingml/2006/main">
            <a:pPr marL="0" lvl="0" indent="0" algn="l">
              <a:lnSpc>
                <a:spcPct val="100000"/>
              </a:lnSpc>
              <a:spcBef>
                <a:spcPts val="0"/>
              </a:spcBef>
              <a:spcAft>
                <a:spcPts val="0"/>
              </a:spcAft>
              <a:buSzPts val="1400"/>
              <a:buNone/>
            </a:pPr>
            <a:r>
              <a:t>| E10 | CI workflow, quality configuration | Checks configured for Python 3.14. Configuration is not a fresh CI pass. |</a:t>
            </a:r>
            <a:endParaRPr/>
          </a:p>
          <a:p xmlns:a="http://schemas.openxmlformats.org/drawingml/2006/main">
            <a:pPr marL="0" lvl="0" indent="0" algn="l">
              <a:lnSpc>
                <a:spcPct val="100000"/>
              </a:lnSpc>
              <a:spcBef>
                <a:spcPts val="0"/>
              </a:spcBef>
              <a:spcAft>
                <a:spcPts val="0"/>
              </a:spcAft>
              <a:buSzPts val="1400"/>
              <a:buNone/>
            </a:pPr>
            <a:r>
              <a:t>| E11 | Contributors | Git-derived contributor names. This does not establish official academic team details. |</a:t>
            </a:r>
            <a:endParaRPr/>
          </a:p>
          <a:p xmlns:a="http://schemas.openxmlformats.org/drawingml/2006/main">
            <a:pPr marL="0" lvl="0" indent="0" algn="l">
              <a:lnSpc>
                <a:spcPct val="100000"/>
              </a:lnSpc>
              <a:spcBef>
                <a:spcPts val="0"/>
              </a:spcBef>
              <a:spcAft>
                <a:spcPts val="0"/>
              </a:spcAft>
              <a:buSzPts val="1400"/>
              <a:buNone/>
            </a:pPr>
            <a:r>
              <a:t>| E12 | Benchmark runbook, Kaggle smoke validation | Execution, pilot, resource, scoring, resume, and packaging procedures.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Documentation conflicts to explain: the historical architecture matrix mentions 25 pairs and nine valid routes. Current E02 defines six tasks, five profiles, 30 possible pairs, ten valid pairs. E07/E08 describe saved Python 3.10 subset runs, whereas current README/CI target Python 3.14. Older top-level ablation summaries mark learned models unavailable, while the separate final/ subset artifacts record completed learned-backend runs. Keep these experiment scopes separate. JSON and CSV backend fingerprints also differ in E07/E08, despite agreement on displayed metrics. These files therefore need provenance reconciliation before paper-grade reuse.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C:/PRIMA_next/README.md</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C:/PRIMA_next/runtime/route_profiles.py</a:t>
            </a:r>
            <a:endParaRPr/>
          </a:p>
          <a:p xmlns:a="http://schemas.openxmlformats.org/drawingml/2006/main">
            <a:pPr marL="0" lvl="0" indent="0" algn="l">
              <a:lnSpc>
                <a:spcPct val="100000"/>
              </a:lnSpc>
              <a:spcBef>
                <a:spcPts val="0"/>
              </a:spcBef>
              <a:spcAft>
                <a:spcPts val="0"/>
              </a:spcAft>
              <a:buSzPts val="1400"/>
              <a:buNone/>
            </a:pPr>
            <a:r>
              <a:t>C:/PRIMA_next/runtime/prima_runtime.py</a:t>
            </a:r>
            <a:endParaRPr/>
          </a:p>
          <a:p xmlns:a="http://schemas.openxmlformats.org/drawingml/2006/main">
            <a:pPr marL="0" lvl="0" indent="0" algn="l">
              <a:lnSpc>
                <a:spcPct val="100000"/>
              </a:lnSpc>
              <a:spcBef>
                <a:spcPts val="0"/>
              </a:spcBef>
              <a:spcAft>
                <a:spcPts val="0"/>
              </a:spcAft>
              <a:buSzPts val="1400"/>
              <a:buNone/>
            </a:pPr>
            <a:r>
              <a:t>C:/PRIMA_next/workflow/prima_workflow.py</a:t>
            </a:r>
            <a:endParaRPr/>
          </a:p>
          <a:p xmlns:a="http://schemas.openxmlformats.org/drawingml/2006/main">
            <a:pPr marL="0" lvl="0" indent="0" algn="l">
              <a:lnSpc>
                <a:spcPct val="100000"/>
              </a:lnSpc>
              <a:spcBef>
                <a:spcPts val="0"/>
              </a:spcBef>
              <a:spcAft>
                <a:spcPts val="0"/>
              </a:spcAft>
              <a:buSzPts val="1400"/>
              <a:buNone/>
            </a:pPr>
            <a:r>
              <a:t>C:/PRIMA_next/workflow/orchestration_engine.py</a:t>
            </a:r>
            <a:endParaRPr/>
          </a:p>
          <a:p xmlns:a="http://schemas.openxmlformats.org/drawingml/2006/main">
            <a:pPr marL="0" lvl="0" indent="0" algn="l">
              <a:lnSpc>
                <a:spcPct val="100000"/>
              </a:lnSpc>
              <a:spcBef>
                <a:spcPts val="0"/>
              </a:spcBef>
              <a:spcAft>
                <a:spcPts val="0"/>
              </a:spcAft>
              <a:buSzPts val="1400"/>
              <a:buNone/>
            </a:pPr>
            <a:r>
              <a:t>C:/PRIMA_next/docs/PROJECT_EXPLAINED.md</a:t>
            </a:r>
            <a:endParaRPr/>
          </a:p>
          <a:p xmlns:a="http://schemas.openxmlformats.org/drawingml/2006/main">
            <a:pPr marL="0" lvl="0" indent="0" algn="l">
              <a:lnSpc>
                <a:spcPct val="100000"/>
              </a:lnSpc>
              <a:spcBef>
                <a:spcPts val="0"/>
              </a:spcBef>
              <a:spcAft>
                <a:spcPts val="0"/>
              </a:spcAft>
              <a:buSzPts val="1400"/>
              <a:buNone/>
            </a:pPr>
            <a:r>
              <a:t>C:/PRIMA_next/docs/PROJECT_FILE_REFERENCE.md</a:t>
            </a:r>
            <a:endParaRPr/>
          </a:p>
          <a:p xmlns:a="http://schemas.openxmlformats.org/drawingml/2006/main">
            <a:pPr marL="0" lvl="0" indent="0" algn="l">
              <a:lnSpc>
                <a:spcPct val="100000"/>
              </a:lnSpc>
              <a:spcBef>
                <a:spcPts val="0"/>
              </a:spcBef>
              <a:spcAft>
                <a:spcPts val="0"/>
              </a:spcAft>
              <a:buSzPts val="1400"/>
              <a:buNone/>
            </a:pPr>
            <a:r>
              <a:t>C:/PRIMA_next/docs/benchmarks/RESULT_CLAIM_POLICY.md</a:t>
            </a:r>
            <a:endParaRPr/>
          </a:p>
          <a:p xmlns:a="http://schemas.openxmlformats.org/drawingml/2006/main">
            <a:pPr marL="0" lvl="0" indent="0" algn="l">
              <a:lnSpc>
                <a:spcPct val="100000"/>
              </a:lnSpc>
              <a:spcBef>
                <a:spcPts val="0"/>
              </a:spcBef>
              <a:spcAft>
                <a:spcPts val="0"/>
              </a:spcAft>
              <a:buSzPts val="1400"/>
              <a:buNone/>
            </a:pPr>
            <a:r>
              <a:t>C:/PRIMA_next/docs/kaggle-12-hour-plan.md</a:t>
            </a:r>
            <a:endParaRPr/>
          </a:p>
          <a:p xmlns:a="http://schemas.openxmlformats.org/drawingml/2006/main">
            <a:pPr marL="0" lvl="0" indent="0" algn="l">
              <a:lnSpc>
                <a:spcPct val="100000"/>
              </a:lnSpc>
              <a:spcBef>
                <a:spcPts val="0"/>
              </a:spcBef>
              <a:spcAft>
                <a:spcPts val="0"/>
              </a:spcAft>
              <a:buSzPts val="1400"/>
              <a:buNone/>
            </a:pPr>
            <a:r>
              <a:t>C:/PRIMA_next/evaluation/results/final/embedding_ablation_results.json</a:t>
            </a:r>
            <a:endParaRPr/>
          </a:p>
          <a:p xmlns:a="http://schemas.openxmlformats.org/drawingml/2006/main">
            <a:pPr marL="0" lvl="0" indent="0" algn="l">
              <a:lnSpc>
                <a:spcPct val="100000"/>
              </a:lnSpc>
              <a:spcBef>
                <a:spcPts val="0"/>
              </a:spcBef>
              <a:spcAft>
                <a:spcPts val="0"/>
              </a:spcAft>
              <a:buSzPts val="1400"/>
              <a:buNone/>
            </a:pPr>
            <a:r>
              <a:t>C:/PRIMA_next/evaluation/results/final/embedding_ablation.csv</a:t>
            </a:r>
            <a:endParaRPr/>
          </a:p>
          <a:p xmlns:a="http://schemas.openxmlformats.org/drawingml/2006/main">
            <a:pPr marL="0" lvl="0" indent="0" algn="l">
              <a:lnSpc>
                <a:spcPct val="100000"/>
              </a:lnSpc>
              <a:spcBef>
                <a:spcPts val="0"/>
              </a:spcBef>
              <a:spcAft>
                <a:spcPts val="0"/>
              </a:spcAft>
              <a:buSzPts val="1400"/>
              <a:buNone/>
            </a:pPr>
            <a:r>
              <a:t>C:/PRIMA_next/evaluation/results/final/representation_ablation_results.json</a:t>
            </a:r>
            <a:endParaRPr/>
          </a:p>
          <a:p xmlns:a="http://schemas.openxmlformats.org/drawingml/2006/main">
            <a:pPr marL="0" lvl="0" indent="0" algn="l">
              <a:lnSpc>
                <a:spcPct val="100000"/>
              </a:lnSpc>
              <a:spcBef>
                <a:spcPts val="0"/>
              </a:spcBef>
              <a:spcAft>
                <a:spcPts val="0"/>
              </a:spcAft>
              <a:buSzPts val="1400"/>
              <a:buNone/>
            </a:pPr>
            <a:r>
              <a:t>C:/PRIMA_next/evaluation/results/final/representation_ablation.csv</a:t>
            </a:r>
            <a:endParaRPr/>
          </a:p>
          <a:p xmlns:a="http://schemas.openxmlformats.org/drawingml/2006/main">
            <a:pPr marL="0" lvl="0" indent="0" algn="l">
              <a:lnSpc>
                <a:spcPct val="100000"/>
              </a:lnSpc>
              <a:spcBef>
                <a:spcPts val="0"/>
              </a:spcBef>
              <a:spcAft>
                <a:spcPts val="0"/>
              </a:spcAft>
              <a:buSzPts val="1400"/>
              <a:buNone/>
            </a:pPr>
            <a:r>
              <a:t>C:/PRIMA_next/docs/implementation/RELEASE_READINESS.md</a:t>
            </a:r>
            <a:endParaRPr/>
          </a:p>
          <a:p xmlns:a="http://schemas.openxmlformats.org/drawingml/2006/main">
            <a:pPr marL="0" lvl="0" indent="0" algn="l">
              <a:lnSpc>
                <a:spcPct val="100000"/>
              </a:lnSpc>
              <a:spcBef>
                <a:spcPts val="0"/>
              </a:spcBef>
              <a:spcAft>
                <a:spcPts val="0"/>
              </a:spcAft>
              <a:buSzPts val="1400"/>
              <a:buNone/>
            </a:pPr>
            <a:r>
              <a:t>C:/PRIMA_next/.github/workflows/ci.yml</a:t>
            </a:r>
            <a:endParaRPr/>
          </a:p>
          <a:p xmlns:a="http://schemas.openxmlformats.org/drawingml/2006/main">
            <a:pPr marL="0" lvl="0" indent="0" algn="l">
              <a:lnSpc>
                <a:spcPct val="100000"/>
              </a:lnSpc>
              <a:spcBef>
                <a:spcPts val="0"/>
              </a:spcBef>
              <a:spcAft>
                <a:spcPts val="0"/>
              </a:spcAft>
              <a:buSzPts val="1400"/>
              <a:buNone/>
            </a:pPr>
            <a:r>
              <a:t>C:/PRIMA_next/pyproject.toml</a:t>
            </a:r>
            <a:endParaRPr/>
          </a:p>
          <a:p xmlns:a="http://schemas.openxmlformats.org/drawingml/2006/main">
            <a:pPr marL="0" lvl="0" indent="0" algn="l">
              <a:lnSpc>
                <a:spcPct val="100000"/>
              </a:lnSpc>
              <a:spcBef>
                <a:spcPts val="0"/>
              </a:spcBef>
              <a:spcAft>
                <a:spcPts val="0"/>
              </a:spcAft>
              <a:buSzPts val="1400"/>
              <a:buNone/>
            </a:pPr>
            <a:r>
              <a:t>C:/PRIMA_next/CONTRIBUTORS.md</a:t>
            </a:r>
            <a:endParaRPr/>
          </a:p>
          <a:p xmlns:a="http://schemas.openxmlformats.org/drawingml/2006/main">
            <a:pPr marL="0" lvl="0" indent="0" algn="l">
              <a:lnSpc>
                <a:spcPct val="100000"/>
              </a:lnSpc>
              <a:spcBef>
                <a:spcPts val="0"/>
              </a:spcBef>
              <a:spcAft>
                <a:spcPts val="0"/>
              </a:spcAft>
              <a:buSzPts val="1400"/>
              <a:buNone/>
            </a:pPr>
            <a:r>
              <a:t>C:/PRIMA_next/docs/benchmarks/RUNBOOK.md</a:t>
            </a:r>
            <a:endParaRPr/>
          </a:p>
          <a:p xmlns:a="http://schemas.openxmlformats.org/drawingml/2006/main">
            <a:pPr marL="0" lvl="0" indent="0" algn="l">
              <a:lnSpc>
                <a:spcPct val="100000"/>
              </a:lnSpc>
              <a:spcBef>
                <a:spcPts val="0"/>
              </a:spcBef>
              <a:spcAft>
                <a:spcPts val="0"/>
              </a:spcAft>
              <a:buSzPts val="1400"/>
              <a:buNone/>
            </a:pPr>
            <a:r>
              <a:t>C:/PRIMA_next/docs/kaggle-smoke-validation.md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Backup: evidence conflicts and scope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0. Evidence rules and current review position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Use these labels consistently when speaking:</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Label | What it establishes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Source verified | Implementation or a test assertion was inspected in this checkout. This alone does not mean that test passed today. |</a:t>
            </a:r>
            <a:endParaRPr/>
          </a:p>
          <a:p xmlns:a="http://schemas.openxmlformats.org/drawingml/2006/main">
            <a:pPr marL="0" lvl="0" indent="0" algn="l">
              <a:lnSpc>
                <a:spcPct val="100000"/>
              </a:lnSpc>
              <a:spcBef>
                <a:spcPts val="0"/>
              </a:spcBef>
              <a:spcAft>
                <a:spcPts val="0"/>
              </a:spcAft>
              <a:buSzPts val="1400"/>
              <a:buNone/>
            </a:pPr>
            <a:r>
              <a:t>| Fresh test | A named command actually completed during preparation on 10 October 2026. |</a:t>
            </a:r>
            <a:endParaRPr/>
          </a:p>
          <a:p xmlns:a="http://schemas.openxmlformats.org/drawingml/2006/main">
            <a:pPr marL="0" lvl="0" indent="0" algn="l">
              <a:lnSpc>
                <a:spcPct val="100000"/>
              </a:lnSpc>
              <a:spcBef>
                <a:spcPts val="0"/>
              </a:spcBef>
              <a:spcAft>
                <a:spcPts val="0"/>
              </a:spcAft>
              <a:buSzPts val="1400"/>
              <a:buNone/>
            </a:pPr>
            <a:r>
              <a:t>| Saved artifact | An existing result file was inspected. Its experiment was not independently rerun. |</a:t>
            </a:r>
            <a:endParaRPr/>
          </a:p>
          <a:p xmlns:a="http://schemas.openxmlformats.org/drawingml/2006/main">
            <a:pPr marL="0" lvl="0" indent="0" algn="l">
              <a:lnSpc>
                <a:spcPct val="100000"/>
              </a:lnSpc>
              <a:spcBef>
                <a:spcPts val="0"/>
              </a:spcBef>
              <a:spcAft>
                <a:spcPts val="0"/>
              </a:spcAft>
              <a:buSzPts val="1400"/>
              <a:buNone/>
            </a:pPr>
            <a:r>
              <a:t>| Reported pilot | A repository note reports an external hardware run, but its original archive was not revalidated during this task. |</a:t>
            </a:r>
            <a:endParaRPr/>
          </a:p>
          <a:p xmlns:a="http://schemas.openxmlformats.org/drawingml/2006/main">
            <a:pPr marL="0" lvl="0" indent="0" algn="l">
              <a:lnSpc>
                <a:spcPct val="100000"/>
              </a:lnSpc>
              <a:spcBef>
                <a:spcPts val="0"/>
              </a:spcBef>
              <a:spcAft>
                <a:spcPts val="0"/>
              </a:spcAft>
              <a:buSzPts val="1400"/>
              <a:buNone/>
            </a:pPr>
            <a:r>
              <a:t>| Proposed / pending | Work, schedule, or evaluation design still to execute. |</a:t>
            </a:r>
            <a:endParaRPr/>
          </a:p>
          <a:p xmlns:a="http://schemas.openxmlformats.org/drawingml/2006/main">
            <a:pPr marL="0" lvl="0" indent="0" algn="l">
              <a:lnSpc>
                <a:spcPct val="100000"/>
              </a:lnSpc>
              <a:spcBef>
                <a:spcPts val="0"/>
              </a:spcBef>
              <a:spcAft>
                <a:spcPts val="0"/>
              </a:spcAft>
              <a:buSzPts val="1400"/>
              <a:buNone/>
            </a:pPr>
            <a:r>
              <a:t>| Team confirmation required | Administrative or publication facts not established by the available evidence.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Defensible opening statement: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PRIMA-NEXT is an experimental Python agent runtime that combines memory, hybrid retrieval, emotion-related signals, planning, symbolic simulation, uncertainty decisions, bounded reflection, and controlled tools through one typed execution interface. The code and tests establish integration mechanisms. Saved subset experiments identify useful retrieval choices. Full matched benchmark evidence and verified publication or patent milestones remain to be completed or supplied.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0.1 Main evidence register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references below are local proof links. Later sections cite their IDs alongside more specific source and test files.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ID | Evidence | How to use it |</a:t>
            </a:r>
            <a:endParaRPr/>
          </a:p>
          <a:p xmlns:a="http://schemas.openxmlformats.org/drawingml/2006/main">
            <a:pPr marL="0" lvl="0" indent="0" algn="l">
              <a:lnSpc>
                <a:spcPct val="100000"/>
              </a:lnSpc>
              <a:spcBef>
                <a:spcPts val="0"/>
              </a:spcBef>
              <a:spcAft>
                <a:spcPts val="0"/>
              </a:spcAft>
              <a:buSzPts val="1400"/>
              <a:buNone/>
            </a:pPr>
            <a:r>
              <a:t>|---|---|---|</a:t>
            </a:r>
            <a:endParaRPr/>
          </a:p>
          <a:p xmlns:a="http://schemas.openxmlformats.org/drawingml/2006/main">
            <a:pPr marL="0" lvl="0" indent="0" algn="l">
              <a:lnSpc>
                <a:spcPct val="100000"/>
              </a:lnSpc>
              <a:spcBef>
                <a:spcPts val="0"/>
              </a:spcBef>
              <a:spcAft>
                <a:spcPts val="0"/>
              </a:spcAft>
              <a:buSzPts val="1400"/>
              <a:buNone/>
            </a:pPr>
            <a:r>
              <a:t>| E01 | README | Project purpose, setup, quick start, research scope, license. |</a:t>
            </a:r>
            <a:endParaRPr/>
          </a:p>
          <a:p xmlns:a="http://schemas.openxmlformats.org/drawingml/2006/main">
            <a:pPr marL="0" lvl="0" indent="0" algn="l">
              <a:lnSpc>
                <a:spcPct val="100000"/>
              </a:lnSpc>
              <a:spcBef>
                <a:spcPts val="0"/>
              </a:spcBef>
              <a:spcAft>
                <a:spcPts val="0"/>
              </a:spcAft>
              <a:buSzPts val="1400"/>
              <a:buNone/>
            </a:pPr>
            <a:r>
              <a:t>| E02 | Public contracts, route plans | Current task/profile combinations, inputs, outputs, diagnostics, budgets. |</a:t>
            </a:r>
            <a:endParaRPr/>
          </a:p>
          <a:p xmlns:a="http://schemas.openxmlformats.org/drawingml/2006/main">
            <a:pPr marL="0" lvl="0" indent="0" algn="l">
              <a:lnSpc>
                <a:spcPct val="100000"/>
              </a:lnSpc>
              <a:spcBef>
                <a:spcPts val="0"/>
              </a:spcBef>
              <a:spcAft>
                <a:spcPts val="0"/>
              </a:spcAft>
              <a:buSzPts val="1400"/>
              <a:buNone/>
            </a:pPr>
            <a:r>
              <a:t>| E03 | Runtime, workflow, orchestration | Construction, execution order, controller ownership, error handling. |</a:t>
            </a:r>
            <a:endParaRPr/>
          </a:p>
          <a:p xmlns:a="http://schemas.openxmlformats.org/drawingml/2006/main">
            <a:pPr marL="0" lvl="0" indent="0" algn="l">
              <a:lnSpc>
                <a:spcPct val="100000"/>
              </a:lnSpc>
              <a:spcBef>
                <a:spcPts val="0"/>
              </a:spcBef>
              <a:spcAft>
                <a:spcPts val="0"/>
              </a:spcAft>
              <a:buSzPts val="1400"/>
              <a:buNone/>
            </a:pPr>
            <a:r>
              <a:t>| E04 | Project explanation, file reference | Broad technical map and dated audit findings. These are explanatory secondary sources. |</a:t>
            </a:r>
            <a:endParaRPr/>
          </a:p>
          <a:p xmlns:a="http://schemas.openxmlformats.org/drawingml/2006/main">
            <a:pPr marL="0" lvl="0" indent="0" algn="l">
              <a:lnSpc>
                <a:spcPct val="100000"/>
              </a:lnSpc>
              <a:spcBef>
                <a:spcPts val="0"/>
              </a:spcBef>
              <a:spcAft>
                <a:spcPts val="0"/>
              </a:spcAft>
              <a:buSzPts val="1400"/>
              <a:buNone/>
            </a:pPr>
            <a:r>
              <a:t>| E05 | Result claim policy | Conditions for fair comparisons and reportable results. |</a:t>
            </a:r>
            <a:endParaRPr/>
          </a:p>
          <a:p xmlns:a="http://schemas.openxmlformats.org/drawingml/2006/main">
            <a:pPr marL="0" lvl="0" indent="0" algn="l">
              <a:lnSpc>
                <a:spcPct val="100000"/>
              </a:lnSpc>
              <a:spcBef>
                <a:spcPts val="0"/>
              </a:spcBef>
              <a:spcAft>
                <a:spcPts val="0"/>
              </a:spcAft>
              <a:buSzPts val="1400"/>
              <a:buNone/>
            </a:pPr>
            <a:r>
              <a:t>| E06 | 12-hour Kaggle plan | Reported October 6 LoCoMo pilot and earlier operational problems. |</a:t>
            </a:r>
            <a:endParaRPr/>
          </a:p>
          <a:p xmlns:a="http://schemas.openxmlformats.org/drawingml/2006/main">
            <a:pPr marL="0" lvl="0" indent="0" algn="l">
              <a:lnSpc>
                <a:spcPct val="100000"/>
              </a:lnSpc>
              <a:spcBef>
                <a:spcPts val="0"/>
              </a:spcBef>
              <a:spcAft>
                <a:spcPts val="0"/>
              </a:spcAft>
              <a:buSzPts val="1400"/>
              <a:buNone/>
            </a:pPr>
            <a:r>
              <a:t>| E07 | Saved embedding JSON, CSV | 197-query, one-conversation retrieval subset comparisons. |</a:t>
            </a:r>
            <a:endParaRPr/>
          </a:p>
          <a:p xmlns:a="http://schemas.openxmlformats.org/drawingml/2006/main">
            <a:pPr marL="0" lvl="0" indent="0" algn="l">
              <a:lnSpc>
                <a:spcPct val="100000"/>
              </a:lnSpc>
              <a:spcBef>
                <a:spcPts val="0"/>
              </a:spcBef>
              <a:spcAft>
                <a:spcPts val="0"/>
              </a:spcAft>
              <a:buSzPts val="1400"/>
              <a:buNone/>
            </a:pPr>
            <a:r>
              <a:t>| E08 | Saved representation JSON, CSV | Raw versus semantic/event representations using Nomic. |</a:t>
            </a:r>
            <a:endParaRPr/>
          </a:p>
          <a:p xmlns:a="http://schemas.openxmlformats.org/drawingml/2006/main">
            <a:pPr marL="0" lvl="0" indent="0" algn="l">
              <a:lnSpc>
                <a:spcPct val="100000"/>
              </a:lnSpc>
              <a:spcBef>
                <a:spcPts val="0"/>
              </a:spcBef>
              <a:spcAft>
                <a:spcPts val="0"/>
              </a:spcAft>
              <a:buSzPts val="1400"/>
              <a:buNone/>
            </a:pPr>
            <a:r>
              <a:t>| E09 | Release readiness | Historical fake-provider and fault-injection evidence, with its stated scope and limits. |</a:t>
            </a:r>
            <a:endParaRPr/>
          </a:p>
          <a:p xmlns:a="http://schemas.openxmlformats.org/drawingml/2006/main">
            <a:pPr marL="0" lvl="0" indent="0" algn="l">
              <a:lnSpc>
                <a:spcPct val="100000"/>
              </a:lnSpc>
              <a:spcBef>
                <a:spcPts val="0"/>
              </a:spcBef>
              <a:spcAft>
                <a:spcPts val="0"/>
              </a:spcAft>
              <a:buSzPts val="1400"/>
              <a:buNone/>
            </a:pPr>
            <a:r>
              <a:t>| E10 | CI workflow, quality configuration | Checks configured for Python 3.14. Configuration is not a fresh CI pass. |</a:t>
            </a:r>
            <a:endParaRPr/>
          </a:p>
          <a:p xmlns:a="http://schemas.openxmlformats.org/drawingml/2006/main">
            <a:pPr marL="0" lvl="0" indent="0" algn="l">
              <a:lnSpc>
                <a:spcPct val="100000"/>
              </a:lnSpc>
              <a:spcBef>
                <a:spcPts val="0"/>
              </a:spcBef>
              <a:spcAft>
                <a:spcPts val="0"/>
              </a:spcAft>
              <a:buSzPts val="1400"/>
              <a:buNone/>
            </a:pPr>
            <a:r>
              <a:t>| E11 | Contributors | Git-derived contributor names. This does not establish official academic team details. |</a:t>
            </a:r>
            <a:endParaRPr/>
          </a:p>
          <a:p xmlns:a="http://schemas.openxmlformats.org/drawingml/2006/main">
            <a:pPr marL="0" lvl="0" indent="0" algn="l">
              <a:lnSpc>
                <a:spcPct val="100000"/>
              </a:lnSpc>
              <a:spcBef>
                <a:spcPts val="0"/>
              </a:spcBef>
              <a:spcAft>
                <a:spcPts val="0"/>
              </a:spcAft>
              <a:buSzPts val="1400"/>
              <a:buNone/>
            </a:pPr>
            <a:r>
              <a:t>| E12 | Benchmark runbook, Kaggle smoke validation | Execution, pilot, resource, scoring, resume, and packaging procedures. |</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Documentation conflicts to explain: the historical architecture matrix mentions 25 pairs and nine valid routes. Current E02 defines six tasks, five profiles, 30 possible pairs, ten valid pairs. E07/E08 describe saved Python 3.10 subset runs, whereas current README/CI target Python 3.14. Older top-level ablation summaries mark learned models unavailable, while the separate final/ subset artifacts record completed learned-backend runs. Keep these experiment scopes separate. JSON and CSV backend fingerprints also differ in E07/E08, despite agreement on displayed metrics. These files therefore need provenance reconciliation before paper-grade reuse.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C:/PRIMA_next/README.md</a:t>
            </a:r>
            <a:endParaRPr/>
          </a:p>
          <a:p xmlns:a="http://schemas.openxmlformats.org/drawingml/2006/main">
            <a:pPr marL="0" lvl="0" indent="0" algn="l">
              <a:lnSpc>
                <a:spcPct val="100000"/>
              </a:lnSpc>
              <a:spcBef>
                <a:spcPts val="0"/>
              </a:spcBef>
              <a:spcAft>
                <a:spcPts val="0"/>
              </a:spcAft>
              <a:buSzPts val="1400"/>
              <a:buNone/>
            </a:pPr>
            <a:r>
              <a:t>C:/PRIMA_next/runtime/contracts.py</a:t>
            </a:r>
            <a:endParaRPr/>
          </a:p>
          <a:p xmlns:a="http://schemas.openxmlformats.org/drawingml/2006/main">
            <a:pPr marL="0" lvl="0" indent="0" algn="l">
              <a:lnSpc>
                <a:spcPct val="100000"/>
              </a:lnSpc>
              <a:spcBef>
                <a:spcPts val="0"/>
              </a:spcBef>
              <a:spcAft>
                <a:spcPts val="0"/>
              </a:spcAft>
              <a:buSzPts val="1400"/>
              <a:buNone/>
            </a:pPr>
            <a:r>
              <a:t>C:/PRIMA_next/runtime/route_profiles.py</a:t>
            </a:r>
            <a:endParaRPr/>
          </a:p>
          <a:p xmlns:a="http://schemas.openxmlformats.org/drawingml/2006/main">
            <a:pPr marL="0" lvl="0" indent="0" algn="l">
              <a:lnSpc>
                <a:spcPct val="100000"/>
              </a:lnSpc>
              <a:spcBef>
                <a:spcPts val="0"/>
              </a:spcBef>
              <a:spcAft>
                <a:spcPts val="0"/>
              </a:spcAft>
              <a:buSzPts val="1400"/>
              <a:buNone/>
            </a:pPr>
            <a:r>
              <a:t>C:/PRIMA_next/runtime/prima_runtime.py</a:t>
            </a:r>
            <a:endParaRPr/>
          </a:p>
          <a:p xmlns:a="http://schemas.openxmlformats.org/drawingml/2006/main">
            <a:pPr marL="0" lvl="0" indent="0" algn="l">
              <a:lnSpc>
                <a:spcPct val="100000"/>
              </a:lnSpc>
              <a:spcBef>
                <a:spcPts val="0"/>
              </a:spcBef>
              <a:spcAft>
                <a:spcPts val="0"/>
              </a:spcAft>
              <a:buSzPts val="1400"/>
              <a:buNone/>
            </a:pPr>
            <a:r>
              <a:t>C:/PRIMA_next/workflow/prima_workflow.py</a:t>
            </a:r>
            <a:endParaRPr/>
          </a:p>
          <a:p xmlns:a="http://schemas.openxmlformats.org/drawingml/2006/main">
            <a:pPr marL="0" lvl="0" indent="0" algn="l">
              <a:lnSpc>
                <a:spcPct val="100000"/>
              </a:lnSpc>
              <a:spcBef>
                <a:spcPts val="0"/>
              </a:spcBef>
              <a:spcAft>
                <a:spcPts val="0"/>
              </a:spcAft>
              <a:buSzPts val="1400"/>
              <a:buNone/>
            </a:pPr>
            <a:r>
              <a:t>C:/PRIMA_next/workflow/orchestration_engine.py</a:t>
            </a:r>
            <a:endParaRPr/>
          </a:p>
          <a:p xmlns:a="http://schemas.openxmlformats.org/drawingml/2006/main">
            <a:pPr marL="0" lvl="0" indent="0" algn="l">
              <a:lnSpc>
                <a:spcPct val="100000"/>
              </a:lnSpc>
              <a:spcBef>
                <a:spcPts val="0"/>
              </a:spcBef>
              <a:spcAft>
                <a:spcPts val="0"/>
              </a:spcAft>
              <a:buSzPts val="1400"/>
              <a:buNone/>
            </a:pPr>
            <a:r>
              <a:t>C:/PRIMA_next/docs/PROJECT_EXPLAINED.md</a:t>
            </a:r>
            <a:endParaRPr/>
          </a:p>
          <a:p xmlns:a="http://schemas.openxmlformats.org/drawingml/2006/main">
            <a:pPr marL="0" lvl="0" indent="0" algn="l">
              <a:lnSpc>
                <a:spcPct val="100000"/>
              </a:lnSpc>
              <a:spcBef>
                <a:spcPts val="0"/>
              </a:spcBef>
              <a:spcAft>
                <a:spcPts val="0"/>
              </a:spcAft>
              <a:buSzPts val="1400"/>
              <a:buNone/>
            </a:pPr>
            <a:r>
              <a:t>C:/PRIMA_next/docs/PROJECT_FILE_REFERENCE.md</a:t>
            </a:r>
            <a:endParaRPr/>
          </a:p>
          <a:p xmlns:a="http://schemas.openxmlformats.org/drawingml/2006/main">
            <a:pPr marL="0" lvl="0" indent="0" algn="l">
              <a:lnSpc>
                <a:spcPct val="100000"/>
              </a:lnSpc>
              <a:spcBef>
                <a:spcPts val="0"/>
              </a:spcBef>
              <a:spcAft>
                <a:spcPts val="0"/>
              </a:spcAft>
              <a:buSzPts val="1400"/>
              <a:buNone/>
            </a:pPr>
            <a:r>
              <a:t>C:/PRIMA_next/docs/benchmarks/RESULT_CLAIM_POLICY.md</a:t>
            </a:r>
            <a:endParaRPr/>
          </a:p>
          <a:p xmlns:a="http://schemas.openxmlformats.org/drawingml/2006/main">
            <a:pPr marL="0" lvl="0" indent="0" algn="l">
              <a:lnSpc>
                <a:spcPct val="100000"/>
              </a:lnSpc>
              <a:spcBef>
                <a:spcPts val="0"/>
              </a:spcBef>
              <a:spcAft>
                <a:spcPts val="0"/>
              </a:spcAft>
              <a:buSzPts val="1400"/>
              <a:buNone/>
            </a:pPr>
            <a:r>
              <a:t>C:/PRIMA_next/docs/kaggle-12-hour-plan.md</a:t>
            </a:r>
            <a:endParaRPr/>
          </a:p>
          <a:p xmlns:a="http://schemas.openxmlformats.org/drawingml/2006/main">
            <a:pPr marL="0" lvl="0" indent="0" algn="l">
              <a:lnSpc>
                <a:spcPct val="100000"/>
              </a:lnSpc>
              <a:spcBef>
                <a:spcPts val="0"/>
              </a:spcBef>
              <a:spcAft>
                <a:spcPts val="0"/>
              </a:spcAft>
              <a:buSzPts val="1400"/>
              <a:buNone/>
            </a:pPr>
            <a:r>
              <a:t>C:/PRIMA_next/evaluation/results/final/embedding_ablation_results.json</a:t>
            </a:r>
            <a:endParaRPr/>
          </a:p>
          <a:p xmlns:a="http://schemas.openxmlformats.org/drawingml/2006/main">
            <a:pPr marL="0" lvl="0" indent="0" algn="l">
              <a:lnSpc>
                <a:spcPct val="100000"/>
              </a:lnSpc>
              <a:spcBef>
                <a:spcPts val="0"/>
              </a:spcBef>
              <a:spcAft>
                <a:spcPts val="0"/>
              </a:spcAft>
              <a:buSzPts val="1400"/>
              <a:buNone/>
            </a:pPr>
            <a:r>
              <a:t>C:/PRIMA_next/evaluation/results/final/embedding_ablation.csv</a:t>
            </a:r>
            <a:endParaRPr/>
          </a:p>
          <a:p xmlns:a="http://schemas.openxmlformats.org/drawingml/2006/main">
            <a:pPr marL="0" lvl="0" indent="0" algn="l">
              <a:lnSpc>
                <a:spcPct val="100000"/>
              </a:lnSpc>
              <a:spcBef>
                <a:spcPts val="0"/>
              </a:spcBef>
              <a:spcAft>
                <a:spcPts val="0"/>
              </a:spcAft>
              <a:buSzPts val="1400"/>
              <a:buNone/>
            </a:pPr>
            <a:r>
              <a:t>C:/PRIMA_next/evaluation/results/final/representation_ablation_results.json</a:t>
            </a:r>
            <a:endParaRPr/>
          </a:p>
          <a:p xmlns:a="http://schemas.openxmlformats.org/drawingml/2006/main">
            <a:pPr marL="0" lvl="0" indent="0" algn="l">
              <a:lnSpc>
                <a:spcPct val="100000"/>
              </a:lnSpc>
              <a:spcBef>
                <a:spcPts val="0"/>
              </a:spcBef>
              <a:spcAft>
                <a:spcPts val="0"/>
              </a:spcAft>
              <a:buSzPts val="1400"/>
              <a:buNone/>
            </a:pPr>
            <a:r>
              <a:t>C:/PRIMA_next/evaluation/results/final/representation_ablation.csv</a:t>
            </a:r>
            <a:endParaRPr/>
          </a:p>
          <a:p xmlns:a="http://schemas.openxmlformats.org/drawingml/2006/main">
            <a:pPr marL="0" lvl="0" indent="0" algn="l">
              <a:lnSpc>
                <a:spcPct val="100000"/>
              </a:lnSpc>
              <a:spcBef>
                <a:spcPts val="0"/>
              </a:spcBef>
              <a:spcAft>
                <a:spcPts val="0"/>
              </a:spcAft>
              <a:buSzPts val="1400"/>
              <a:buNone/>
            </a:pPr>
            <a:r>
              <a:t>C:/PRIMA_next/docs/implementation/RELEASE_READINESS.md</a:t>
            </a:r>
            <a:endParaRPr/>
          </a:p>
          <a:p xmlns:a="http://schemas.openxmlformats.org/drawingml/2006/main">
            <a:pPr marL="0" lvl="0" indent="0" algn="l">
              <a:lnSpc>
                <a:spcPct val="100000"/>
              </a:lnSpc>
              <a:spcBef>
                <a:spcPts val="0"/>
              </a:spcBef>
              <a:spcAft>
                <a:spcPts val="0"/>
              </a:spcAft>
              <a:buSzPts val="1400"/>
              <a:buNone/>
            </a:pPr>
            <a:r>
              <a:t>C:/PRIMA_next/.github/workflows/ci.yml</a:t>
            </a:r>
            <a:endParaRPr/>
          </a:p>
          <a:p xmlns:a="http://schemas.openxmlformats.org/drawingml/2006/main">
            <a:pPr marL="0" lvl="0" indent="0" algn="l">
              <a:lnSpc>
                <a:spcPct val="100000"/>
              </a:lnSpc>
              <a:spcBef>
                <a:spcPts val="0"/>
              </a:spcBef>
              <a:spcAft>
                <a:spcPts val="0"/>
              </a:spcAft>
              <a:buSzPts val="1400"/>
              <a:buNone/>
            </a:pPr>
            <a:r>
              <a:t>C:/PRIMA_next/pyproject.toml</a:t>
            </a:r>
            <a:endParaRPr/>
          </a:p>
          <a:p xmlns:a="http://schemas.openxmlformats.org/drawingml/2006/main">
            <a:pPr marL="0" lvl="0" indent="0" algn="l">
              <a:lnSpc>
                <a:spcPct val="100000"/>
              </a:lnSpc>
              <a:spcBef>
                <a:spcPts val="0"/>
              </a:spcBef>
              <a:spcAft>
                <a:spcPts val="0"/>
              </a:spcAft>
              <a:buSzPts val="1400"/>
              <a:buNone/>
            </a:pPr>
            <a:r>
              <a:t>C:/PRIMA_next/CONTRIBUTORS.md</a:t>
            </a:r>
            <a:endParaRPr/>
          </a:p>
          <a:p xmlns:a="http://schemas.openxmlformats.org/drawingml/2006/main">
            <a:pPr marL="0" lvl="0" indent="0" algn="l">
              <a:lnSpc>
                <a:spcPct val="100000"/>
              </a:lnSpc>
              <a:spcBef>
                <a:spcPts val="0"/>
              </a:spcBef>
              <a:spcAft>
                <a:spcPts val="0"/>
              </a:spcAft>
              <a:buSzPts val="1400"/>
              <a:buNone/>
            </a:pPr>
            <a:r>
              <a:t>C:/PRIMA_next/docs/benchmarks/RUNBOOK.md</a:t>
            </a:r>
            <a:endParaRPr/>
          </a:p>
          <a:p xmlns:a="http://schemas.openxmlformats.org/drawingml/2006/main">
            <a:pPr marL="0" lvl="0" indent="0" algn="l">
              <a:lnSpc>
                <a:spcPct val="100000"/>
              </a:lnSpc>
              <a:spcBef>
                <a:spcPts val="0"/>
              </a:spcBef>
              <a:spcAft>
                <a:spcPts val="0"/>
              </a:spcAft>
              <a:buSzPts val="1400"/>
              <a:buNone/>
            </a:pPr>
            <a:r>
              <a:t>C:/PRIMA_next/docs/kaggle-smoke-validation.md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Backup: novelty, affect and baselines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15. Mentor questions: detailed answer bank</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exactly is new in your project?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implemented work is the integration and control design: a typed request boundary, explicit task/profile routes, traceable memory/evidence processing, workflow-owned bounded corrections, and controlled execution with diagnostics. Scientific novelty must be established against prior systems and through evaluation. We should not claim that memory, RAG, graph traversal, or reflection itself is new. [E02/E03, references 1 - 3]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Why do you need emotion in a factual QA system?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hypothesis is that text-affect signals can inform memory salience, temporal state, and reflection triggers in continuing interactions. Emotion classification accuracy alone does not prove factual QA improvement. We need a matched affect-off ablation and an error/cost analysis. Some tasks may work best with affect excluded. [Affect source,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Is your model-only baseline fair if it cannot see the private history?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It is a declared no-retrieval baseline, useful for quantifying the value of giving the model memory access. For stronger attribution we should also compare simple RAG on the same stored source and, where feasible, a long-context baseline with the same history explicitly supplied. We must specify information access instead of implying all variants know identical facts. [Section 7.4]</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Is the world model learned?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 The current world path uses deterministic symbolic transitions/rules and produces constraint/risk predictions. We can show its implementation and invocation. We need outcome validation before treating the estimates as calibrated probabilities or claiming realistic world prediction. [World source, Section 4.3]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How do you know memory helps?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We do not yet have verified full matched evidence proving the complete memory system helps. Saved component experiments show retrieval differences on one 197-query conversation subset. The future quality comparison must score memory-assisted answers against the same model and simpler retrieval under declared source access and matched settings. [E07/E08]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did the latest real pilot prove?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repository reports 30-question sequential/concurrent equality, zero execution failures, completed maintenance, and an admitted time projection for a specific LoCoMo configuration. It does not prove a complete full run or better QA. The reported 15-case quality comparison decreased F1 by 1.08 percentage points.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is the difference between internal confidence and correctness?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Confidence combines engineered subsystem signals. Correctness is independently scored against held-out references. Calibration requires testing whether reported confidence agrees with observed correctness. A high score or confidence increase after reflection is insufficient evidence of an improved answer. [Aggregator, Section 8.3]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Why not keep all the conversation history forever?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Selective admission and maintenance aim to reduce irrelevant storage/context work and preserve useful evidence. Their usefulness must be measured against an all-history policy. Current soft forgetting changes retention behavior but does not implement complete physical deletion of personal data. [Memory source, E04]</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How do you prevent benchmark answer leakage?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Gold labels/answers/supporting facts stay evaluator-owned for scoring and artifacts. They must not influence prompts, retrieval queries, routing, reflection, or request metadata. Production advice uses runtime signals. Legacy truth-aware evaluation helpers cannot enter that path. Boundary tests and artifact inspection support this rule. E05, [reflection boundary tests]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How do you prove that a module actually ran?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Show executed-component diagnostics, trace events, typed controller output, and where the next phase consumed that output. Planned/enabled components alone are insufficient. For conditional branches and cold maintenance, show the relevant trigger and completion boundary. [E02, runtime diagnostic tests]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Does your tool executor securely sandbox arbitrary 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It validates schemas, enforces application policy/allowlists, checks tags, and records outcomes. That does not establish OS/process isolation of arbitrary handlers. Awaitable timeouts also do not bound a handler that blocks synchronously before returning. The demo should use harmless registered local handlers. [Tool source]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happens when the provider fails or returns invalid JSON?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architecture preserves typed failure and diagnostic information. Release tests explicitly cover timeout, rate limits, malformed/truncated structured output, and store failure. These tests are source evidence here, not a fresh complete pass. Rehearse fault cases in the functional demo and preserve actual outcomes. [E09, release tests]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Is the system production ready?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It is research software with substantial control and evaluation infrastructure. Full deployment requires a chosen scope, current complete validation, isolation/access control, durable pending work if promised, reliable side-effect handling, and recovery evidence. Tests with fake providers and historical readiness notes cannot establish those guarantees for a new deployed environment. [E01/E04/E09]</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is the publication/patent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available evidence supports implementation, documentation, exploratory experiments, and a reported pilot. No verified submission/acceptance/filing record was supplied. Use the team's actual versioned draft and official receipts to update Section 10. Until then, report those stages as unverified. [Section 10.1]</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will you finish next?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unified scenario demo and fresh execution evidence come first. Reconcile artifact provenance and validate correctness boundaries, then freeze development choices and run admitted real matched campaigns. Those results support the manuscript and a technical invention disclosure if the guide/institution directs that work. [Section 11]</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C:/PRIMA_next/tests/reasoning/test_reflection_boundary.py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Backup: world model, memory and pilot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15. Mentor questions: detailed answer bank</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exactly is new in your project?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implemented work is the integration and control design: a typed request boundary, explicit task/profile routes, traceable memory/evidence processing, workflow-owned bounded corrections, and controlled execution with diagnostics. Scientific novelty must be established against prior systems and through evaluation. We should not claim that memory, RAG, graph traversal, or reflection itself is new. [E02/E03, references 1 - 3]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Why do you need emotion in a factual QA system?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hypothesis is that text-affect signals can inform memory salience, temporal state, and reflection triggers in continuing interactions. Emotion classification accuracy alone does not prove factual QA improvement. We need a matched affect-off ablation and an error/cost analysis. Some tasks may work best with affect excluded. [Affect source,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Is your model-only baseline fair if it cannot see the private history?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It is a declared no-retrieval baseline, useful for quantifying the value of giving the model memory access. For stronger attribution we should also compare simple RAG on the same stored source and, where feasible, a long-context baseline with the same history explicitly supplied. We must specify information access instead of implying all variants know identical facts. [Section 7.4]</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Is the world model learned?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 The current world path uses deterministic symbolic transitions/rules and produces constraint/risk predictions. We can show its implementation and invocation. We need outcome validation before treating the estimates as calibrated probabilities or claiming realistic world prediction. [World source, Section 4.3]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How do you know memory helps?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We do not yet have verified full matched evidence proving the complete memory system helps. Saved component experiments show retrieval differences on one 197-query conversation subset. The future quality comparison must score memory-assisted answers against the same model and simpler retrieval under declared source access and matched settings. [E07/E08]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did the latest real pilot prove?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repository reports 30-question sequential/concurrent equality, zero execution failures, completed maintenance, and an admitted time projection for a specific LoCoMo configuration. It does not prove a complete full run or better QA. The reported 15-case quality comparison decreased F1 by 1.08 percentage points.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is the difference between internal confidence and correctness?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Confidence combines engineered subsystem signals. Correctness is independently scored against held-out references. Calibration requires testing whether reported confidence agrees with observed correctness. A high score or confidence increase after reflection is insufficient evidence of an improved answer. [Aggregator, Section 8.3]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Why not keep all the conversation history forever?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Selective admission and maintenance aim to reduce irrelevant storage/context work and preserve useful evidence. Their usefulness must be measured against an all-history policy. Current soft forgetting changes retention behavior but does not implement complete physical deletion of personal data. [Memory source, E04]</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How do you prevent benchmark answer leakage?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Gold labels/answers/supporting facts stay evaluator-owned for scoring and artifacts. They must not influence prompts, retrieval queries, routing, reflection, or request metadata. Production advice uses runtime signals. Legacy truth-aware evaluation helpers cannot enter that path. Boundary tests and artifact inspection support this rule. E05, [reflection boundary tests]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How do you prove that a module actually ran?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Show executed-component diagnostics, trace events, typed controller output, and where the next phase consumed that output. Planned/enabled components alone are insufficient. For conditional branches and cold maintenance, show the relevant trigger and completion boundary. [E02, runtime diagnostic tests]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Does your tool executor securely sandbox arbitrary 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It validates schemas, enforces application policy/allowlists, checks tags, and records outcomes. That does not establish OS/process isolation of arbitrary handlers. Awaitable timeouts also do not bound a handler that blocks synchronously before returning. The demo should use harmless registered local handlers. [Tool source]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happens when the provider fails or returns invalid JSON?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architecture preserves typed failure and diagnostic information. Release tests explicitly cover timeout, rate limits, malformed/truncated structured output, and store failure. These tests are source evidence here, not a fresh complete pass. Rehearse fault cases in the functional demo and preserve actual outcomes. [E09, release tests]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Is the system production ready?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It is research software with substantial control and evaluation infrastructure. Full deployment requires a chosen scope, current complete validation, isolation/access control, durable pending work if promised, reliable side-effect handling, and recovery evidence. Tests with fake providers and historical readiness notes cannot establish those guarantees for a new deployed environment. [E01/E04/E09]</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is the publication/patent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available evidence supports implementation, documentation, exploratory experiments, and a reported pilot. No verified submission/acceptance/filing record was supplied. Use the team's actual versioned draft and official receipts to update Section 10. Until then, report those stages as unverified. [Section 10.1]</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will you finish next?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unified scenario demo and fresh execution evidence come first. Reconcile artifact provenance and validate correctness boundaries, then freeze development choices and run admitted real matched campaigns. Those results support the manuscript and a technical invention disclosure if the guide/institution directs that work. [Section 11]</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C:/PRIMA_next/tests/reasoning/test_reflection_boundary.py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Backup: confidence, leakage and traces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15. Mentor questions: detailed answer bank</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exactly is new in your project?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implemented work is the integration and control design: a typed request boundary, explicit task/profile routes, traceable memory/evidence processing, workflow-owned bounded corrections, and controlled execution with diagnostics. Scientific novelty must be established against prior systems and through evaluation. We should not claim that memory, RAG, graph traversal, or reflection itself is new. [E02/E03, references 1 - 3]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Why do you need emotion in a factual QA system?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hypothesis is that text-affect signals can inform memory salience, temporal state, and reflection triggers in continuing interactions. Emotion classification accuracy alone does not prove factual QA improvement. We need a matched affect-off ablation and an error/cost analysis. Some tasks may work best with affect excluded. [Affect source,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Is your model-only baseline fair if it cannot see the private history?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It is a declared no-retrieval baseline, useful for quantifying the value of giving the model memory access. For stronger attribution we should also compare simple RAG on the same stored source and, where feasible, a long-context baseline with the same history explicitly supplied. We must specify information access instead of implying all variants know identical facts. [Section 7.4]</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Is the world model learned?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 The current world path uses deterministic symbolic transitions/rules and produces constraint/risk predictions. We can show its implementation and invocation. We need outcome validation before treating the estimates as calibrated probabilities or claiming realistic world prediction. [World source, Section 4.3]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How do you know memory helps?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We do not yet have verified full matched evidence proving the complete memory system helps. Saved component experiments show retrieval differences on one 197-query conversation subset. The future quality comparison must score memory-assisted answers against the same model and simpler retrieval under declared source access and matched settings. [E07/E08]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did the latest real pilot prove?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repository reports 30-question sequential/concurrent equality, zero execution failures, completed maintenance, and an admitted time projection for a specific LoCoMo configuration. It does not prove a complete full run or better QA. The reported 15-case quality comparison decreased F1 by 1.08 percentage points.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is the difference between internal confidence and correctness?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Confidence combines engineered subsystem signals. Correctness is independently scored against held-out references. Calibration requires testing whether reported confidence agrees with observed correctness. A high score or confidence increase after reflection is insufficient evidence of an improved answer. [Aggregator, Section 8.3]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Why not keep all the conversation history forever?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Selective admission and maintenance aim to reduce irrelevant storage/context work and preserve useful evidence. Their usefulness must be measured against an all-history policy. Current soft forgetting changes retention behavior but does not implement complete physical deletion of personal data. [Memory source, E04]</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How do you prevent benchmark answer leakage?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Gold labels/answers/supporting facts stay evaluator-owned for scoring and artifacts. They must not influence prompts, retrieval queries, routing, reflection, or request metadata. Production advice uses runtime signals. Legacy truth-aware evaluation helpers cannot enter that path. Boundary tests and artifact inspection support this rule. E05, [reflection boundary tests]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How do you prove that a module actually ran?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Show executed-component diagnostics, trace events, typed controller output, and where the next phase consumed that output. Planned/enabled components alone are insufficient. For conditional branches and cold maintenance, show the relevant trigger and completion boundary. [E02, runtime diagnostic tests]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Does your tool executor securely sandbox arbitrary 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It validates schemas, enforces application policy/allowlists, checks tags, and records outcomes. That does not establish OS/process isolation of arbitrary handlers. Awaitable timeouts also do not bound a handler that blocks synchronously before returning. The demo should use harmless registered local handlers. [Tool source]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happens when the provider fails or returns invalid JSON?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architecture preserves typed failure and diagnostic information. Release tests explicitly cover timeout, rate limits, malformed/truncated structured output, and store failure. These tests are source evidence here, not a fresh complete pass. Rehearse fault cases in the functional demo and preserve actual outcomes. [E09, release tests]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Is the system production ready?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It is research software with substantial control and evaluation infrastructure. Full deployment requires a chosen scope, current complete validation, isolation/access control, durable pending work if promised, reliable side-effect handling, and recovery evidence. Tests with fake providers and historical readiness notes cannot establish those guarantees for a new deployed environment. [E01/E04/E09]</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is the publication/patent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available evidence supports implementation, documentation, exploratory experiments, and a reported pilot. No verified submission/acceptance/filing record was supplied. Use the team's actual versioned draft and official receipts to update Section 10. Until then, report those stages as unverified. [Section 10.1]</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will you finish next?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unified scenario demo and fresh execution evidence come first. Reconcile artifact provenance and validate correctness boundaries, then freeze development choices and run admitted real matched campaigns. Those results support the manuscript and a technical invention disclosure if the guide/institution directs that work. [Section 11]</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C:/PRIMA_next/tests/reasoning/test_reflection_boundary.py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Backup: tool failures and readiness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15. Mentor questions: detailed answer bank</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exactly is new in your project?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implemented work is the integration and control design: a typed request boundary, explicit task/profile routes, traceable memory/evidence processing, workflow-owned bounded corrections, and controlled execution with diagnostics. Scientific novelty must be established against prior systems and through evaluation. We should not claim that memory, RAG, graph traversal, or reflection itself is new. [E02/E03, references 1 - 3]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Why do you need emotion in a factual QA system?</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hypothesis is that text-affect signals can inform memory salience, temporal state, and reflection triggers in continuing interactions. Emotion classification accuracy alone does not prove factual QA improvement. We need a matched affect-off ablation and an error/cost analysis. Some tasks may work best with affect excluded. [Affect source, E05]</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Is your model-only baseline fair if it cannot see the private history?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It is a declared no-retrieval baseline, useful for quantifying the value of giving the model memory access. For stronger attribution we should also compare simple RAG on the same stored source and, where feasible, a long-context baseline with the same history explicitly supplied. We must specify information access instead of implying all variants know identical facts. [Section 7.4]</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Is the world model learned?</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No. The current world path uses deterministic symbolic transitions/rules and produces constraint/risk predictions. We can show its implementation and invocation. We need outcome validation before treating the estimates as calibrated probabilities or claiming realistic world prediction. [World source, Section 4.3]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How do you know memory helps?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We do not yet have verified full matched evidence proving the complete memory system helps. Saved component experiments show retrieval differences on one 197-query conversation subset. The future quality comparison must score memory-assisted answers against the same model and simpler retrieval under declared source access and matched settings. [E07/E08]</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did the latest real pilot prove?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repository reports 30-question sequential/concurrent equality, zero execution failures, completed maintenance, and an admitted time projection for a specific LoCoMo configuration. It does not prove a complete full run or better QA. The reported 15-case quality comparison decreased F1 by 1.08 percentage points. [E06]</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is the difference between internal confidence and correctness?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Confidence combines engineered subsystem signals. Correctness is independently scored against held-out references. Calibration requires testing whether reported confidence agrees with observed correctness. A high score or confidence increase after reflection is insufficient evidence of an improved answer. [Aggregator, Section 8.3]</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Why not keep all the conversation history forever?</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Selective admission and maintenance aim to reduce irrelevant storage/context work and preserve useful evidence. Their usefulness must be measured against an all-history policy. Current soft forgetting changes retention behavior but does not implement complete physical deletion of personal data. [Memory source, E04]</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How do you prevent benchmark answer leakage?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Gold labels/answers/supporting facts stay evaluator-owned for scoring and artifacts. They must not influence prompts, retrieval queries, routing, reflection, or request metadata. Production advice uses runtime signals. Legacy truth-aware evaluation helpers cannot enter that path. Boundary tests and artifact inspection support this rule. E05, [reflection boundary tests]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How do you prove that a module actually ran?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Show executed-component diagnostics, trace events, typed controller output, and where the next phase consumed that output. Planned/enabled components alone are insufficient. For conditional branches and cold maintenance, show the relevant trigger and completion boundary. [E02, runtime diagnostic tests]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Does your tool executor securely sandbox arbitrary code?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It validates schemas, enforces application policy/allowlists, checks tags, and records outcomes. That does not establish OS/process isolation of arbitrary handlers. Awaitable timeouts also do not bound a handler that blocks synchronously before returning. The demo should use harmless registered local handlers. [Tool source]</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happens when the provider fails or returns invalid JSON?</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architecture preserves typed failure and diagnostic information. Release tests explicitly cover timeout, rate limits, malformed/truncated structured output, and store failure. These tests are source evidence here, not a fresh complete pass. Rehearse fault cases in the functional demo and preserve actual outcomes. [E09, release tests]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Is the system production ready?</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It is research software with substantial control and evaluation infrastructure. Full deployment requires a chosen scope, current complete validation, isolation/access control, durable pending work if promised, reliable side-effect handling, and recovery evidence. Tests with fake providers and historical readiness notes cannot establish those guarantees for a new deployed environment. [E01/E04/E09]</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is the publication/patent status?</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available evidence supports implementation, documentation, exploratory experiments, and a reported pilot. No verified submission/acceptance/filing record was supplied. Use the team's actual versioned draft and official receipts to update Section 10. Until then, report those stages as unverified. [Section 10.1]</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 What will you finish next?</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The unified scenario demo and fresh execution evidence come first. Reconcile artifact provenance and validate correctness boundaries, then freeze development choices and run admitted real matched campaigns. Those results support the manuscript and a technical invention disclosure if the guide/institution directs that work. [Section 11]</a:t>
            </a:r>
            <a:endParaRPr/>
          </a:p>
          <a:p xmlns:a="http://schemas.openxmlformats.org/drawingml/2006/main">
            <a:pPr marL="0" lvl="0" indent="0" algn="l">
              <a:lnSpc>
                <a:spcPct val="100000"/>
              </a:lnSpc>
              <a:spcBef>
                <a:spcPts val="0"/>
              </a:spcBef>
              <a:spcAft>
                <a:spcPts val="0"/>
              </a:spcAft>
              <a:buSzPts val="1400"/>
              <a:buNone/>
            </a:pPr>
            <a:r>
              <a:t/>
            </a:r>
            <a:endParaRPr/>
          </a:p>
          <a:p xmlns:a="http://schemas.openxmlformats.org/drawingml/2006/main">
            <a:pPr marL="0" lvl="0" indent="0" algn="l">
              <a:lnSpc>
                <a:spcPct val="100000"/>
              </a:lnSpc>
              <a:spcBef>
                <a:spcPts val="0"/>
              </a:spcBef>
              <a:spcAft>
                <a:spcPts val="0"/>
              </a:spcAft>
              <a:buSzPts val="1400"/>
              <a:buNone/>
            </a:pPr>
            <a:r>
              <a:t>Evidence: C:/PRIMA_next/docs/MENTOR_REVIEW_PHASE3_REVIEW2.md</a:t>
            </a:r>
            <a:endParaRPr/>
          </a:p>
          <a:p xmlns:a="http://schemas.openxmlformats.org/drawingml/2006/main">
            <a:pPr marL="0" lvl="0" indent="0" algn="l">
              <a:lnSpc>
                <a:spcPct val="100000"/>
              </a:lnSpc>
              <a:spcBef>
                <a:spcPts val="0"/>
              </a:spcBef>
              <a:spcAft>
                <a:spcPts val="0"/>
              </a:spcAft>
              <a:buSzPts val="1400"/>
              <a:buNone/>
            </a:pPr>
            <a:r>
              <a:t>Source commit: 4cd51950b22abbab22a0553348df51a36ac20c30</a:t>
            </a:r>
            <a:endParaRPr/>
          </a:p>
          <a:p xmlns:a="http://schemas.openxmlformats.org/drawingml/2006/main">
            <a:pPr marL="0" lvl="0" indent="0" algn="l">
              <a:lnSpc>
                <a:spcPct val="100000"/>
              </a:lnSpc>
              <a:spcBef>
                <a:spcPts val="0"/>
              </a:spcBef>
              <a:spcAft>
                <a:spcPts val="0"/>
              </a:spcAft>
              <a:buSzPts val="1400"/>
              <a:buNone/>
            </a:pPr>
            <a:r>
              <a:t>Evidence preparation date: 10 October 2026</a:t>
            </a:r>
            <a:endParaRPr/>
          </a:p>
          <a:p xmlns:a="http://schemas.openxmlformats.org/drawingml/2006/main">
            <a:pPr marL="0" lvl="0" indent="0" algn="l">
              <a:lnSpc>
                <a:spcPct val="100000"/>
              </a:lnSpc>
              <a:spcBef>
                <a:spcPts val="0"/>
              </a:spcBef>
              <a:spcAft>
                <a:spcPts val="0"/>
              </a:spcAft>
              <a:buSzPts val="1400"/>
              <a:buNone/>
            </a:pPr>
            <a:r>
              <a:t>C:/PRIMA_next/tests/reasoning/test_reflection_boundary.py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Discussion: architecture, demonstration evidence, evaluation design, and research next steps. Official personal details remain for the team to add.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8fd3e2321d4d0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1603b42f70f4e0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bc33336d0ce4b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d2c614de4534b1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ab4936d1c0f4ef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437f49a3374eb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762013f056f474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b1f3ed6386548a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aeb1b3a498c4cc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9d58215e5834b3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93598b5e4714a1f" /></Relationships>
</file>

<file path=ppt/slideLayouts/slideLayout1.xml><?xml version="1.0" encoding="utf-8"?>
<p:sldLayout xmlns:p="http://schemas.openxmlformats.org/presentationml/2006/main" showMasterSp="0" matchingName="Blank" type="blank">
  <p:cSld name="BLANK">
    <p:spTree>
      <p:nvGrpSpPr>
        <p:cNvPr id="1" name=""/>
        <p:cNvGrpSpPr/>
        <p:nvPr/>
      </p:nvGrpSpPr>
      <p:grpSpPr>
        <a:xfrm xmlns:a="http://schemas.openxmlformats.org/drawingml/2006/main"/>
      </p:grpSpPr>
      <p:sp>
        <p:nvSpPr>
          <p:cNvPr id="19" name="Google Shape;19;p14">
            <a:extLst xmlns:a="http://schemas.openxmlformats.org/drawingml/2006/main">
              <a:ext uri="{FF2B5EF4-FFF2-40B4-BE49-F238E27FC236}">
                <a16:creationId xmlns:a16="http://schemas.microsoft.com/office/drawing/2014/main" id="{4E7769A3-15D2-435D-ADB3-314D5795DB09}"/>
              </a:ext>
            </a:extLst>
          </p:cNvPr>
          <p:cNvSpPr>
            <a:spLocks xmlns:a="http://schemas.openxmlformats.org/drawingml/2006/main" noGrp="1"/>
          </p:cNvSpPr>
          <p:nvPr/>
        </p:nvSpPr>
        <p:spPr>
          <a:xfrm xmlns:a="http://schemas.openxmlformats.org/drawingml/2006/main">
            <a:off x="3175" y="6400800"/>
            <a:ext cx="12188825" cy="4572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20" name="Google Shape;20;p14">
            <a:extLst xmlns:a="http://schemas.openxmlformats.org/drawingml/2006/main">
              <a:ext uri="{FF2B5EF4-FFF2-40B4-BE49-F238E27FC236}">
                <a16:creationId xmlns:a16="http://schemas.microsoft.com/office/drawing/2014/main" id="{F4FD868D-A154-4F18-A23C-BF36DF3B49DC}"/>
              </a:ext>
            </a:extLst>
          </p:cNvPr>
          <p:cNvSpPr>
            <a:spLocks xmlns:a="http://schemas.openxmlformats.org/drawingml/2006/main" noGrp="1"/>
          </p:cNvSpPr>
          <p:nvPr/>
        </p:nvSpPr>
        <p:spPr>
          <a:xfrm xmlns:a="http://schemas.openxmlformats.org/drawingml/2006/main">
            <a:off x="15" y="6334316"/>
            <a:ext cx="12188825" cy="64008"/>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21" name="Google Shape;21;p14">
            <a:extLst xmlns:a="http://schemas.openxmlformats.org/drawingml/2006/main">
              <a:ext uri="{FF2B5EF4-FFF2-40B4-BE49-F238E27FC236}">
                <a16:creationId xmlns:a16="http://schemas.microsoft.com/office/drawing/2014/main" id="{1C933BE5-624D-4EEA-9582-38E05228A9A7}"/>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2" name="Google Shape;22;p14">
            <a:extLst xmlns:a="http://schemas.openxmlformats.org/drawingml/2006/main">
              <a:ext uri="{FF2B5EF4-FFF2-40B4-BE49-F238E27FC236}">
                <a16:creationId xmlns:a16="http://schemas.microsoft.com/office/drawing/2014/main" id="{6CA1D430-F2A0-41C4-97E8-B9D6D5F4DB68}"/>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rgbClr val="FFFFFF"/>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3" name="Google Shape;23;p14">
            <a:extLst xmlns:a="http://schemas.openxmlformats.org/drawingml/2006/main">
              <a:ext uri="{FF2B5EF4-FFF2-40B4-BE49-F238E27FC236}">
                <a16:creationId xmlns:a16="http://schemas.microsoft.com/office/drawing/2014/main" id="{273C21A0-71F9-47FF-85D9-6D766C0974F8}"/>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showMasterSp="0" matchingName="Title Slide" type="title">
  <p:cSld name="TITLE">
    <p:spTree>
      <p:nvGrpSpPr>
        <p:cNvPr id="1" name=""/>
        <p:cNvGrpSpPr/>
        <p:nvPr/>
      </p:nvGrpSpPr>
      <p:grpSpPr>
        <a:xfrm xmlns:a="http://schemas.openxmlformats.org/drawingml/2006/main"/>
      </p:grpSpPr>
      <p:sp>
        <p:nvSpPr>
          <p:cNvPr id="25" name="Google Shape;25;p15">
            <a:extLst xmlns:a="http://schemas.openxmlformats.org/drawingml/2006/main">
              <a:ext uri="{FF2B5EF4-FFF2-40B4-BE49-F238E27FC236}">
                <a16:creationId xmlns:a16="http://schemas.microsoft.com/office/drawing/2014/main" id="{9C649C4B-9E5D-41BF-B2E1-27D1F3ACCDF5}"/>
              </a:ext>
            </a:extLst>
          </p:cNvPr>
          <p:cNvSpPr>
            <a:spLocks xmlns:a="http://schemas.openxmlformats.org/drawingml/2006/main" noGrp="1"/>
          </p:cNvSpPr>
          <p:nvPr/>
        </p:nvSpPr>
        <p:spPr>
          <a:xfrm xmlns:a="http://schemas.openxmlformats.org/drawingml/2006/main">
            <a:off x="3175" y="6400800"/>
            <a:ext cx="12188825" cy="4572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26" name="Google Shape;26;p15">
            <a:extLst xmlns:a="http://schemas.openxmlformats.org/drawingml/2006/main">
              <a:ext uri="{FF2B5EF4-FFF2-40B4-BE49-F238E27FC236}">
                <a16:creationId xmlns:a16="http://schemas.microsoft.com/office/drawing/2014/main" id="{7B377C51-7010-4C52-8ED6-AB593964C1B5}"/>
              </a:ext>
            </a:extLst>
          </p:cNvPr>
          <p:cNvSpPr>
            <a:spLocks xmlns:a="http://schemas.openxmlformats.org/drawingml/2006/main" noGrp="1"/>
          </p:cNvSpPr>
          <p:nvPr/>
        </p:nvSpPr>
        <p:spPr>
          <a:xfrm xmlns:a="http://schemas.openxmlformats.org/drawingml/2006/main">
            <a:off x="15" y="6334316"/>
            <a:ext cx="12188825" cy="64008"/>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27" name="Google Shape;27;p15">
            <a:extLst xmlns:a="http://schemas.openxmlformats.org/drawingml/2006/main">
              <a:ext uri="{FF2B5EF4-FFF2-40B4-BE49-F238E27FC236}">
                <a16:creationId xmlns:a16="http://schemas.microsoft.com/office/drawing/2014/main" id="{472986AC-557B-4BAE-B9FC-591BB3C32BBE}"/>
              </a:ext>
            </a:extLst>
          </p:cNvPr>
          <p:cNvSpPr>
            <a:spLocks xmlns:a="http://schemas.openxmlformats.org/drawingml/2006/main" noGrp="1"/>
          </p:cNvSpPr>
          <p:nvPr>
            <p:ph type="ctrTitle" idx="0"/>
          </p:nvPr>
        </p:nvSpPr>
        <p:spPr>
          <a:xfrm xmlns:a="http://schemas.openxmlformats.org/drawingml/2006/main">
            <a:off x="1097280" y="758952"/>
            <a:ext cx="10058400" cy="3566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85000"/>
              </a:lnSpc>
              <a:spcBef>
                <a:spcPts val="0"/>
              </a:spcBef>
              <a:spcAft>
                <a:spcPts val="0"/>
              </a:spcAft>
              <a:buClr>
                <a:srgbClr val="262626"/>
              </a:buClr>
              <a:buSzPts val="8000"/>
              <a:buFont typeface="Calibri"/>
              <a:buNone/>
              <a:defRPr sz="8000">
                <a:solidFill>
                  <a:srgbClr val="262626"/>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8" name="Google Shape;28;p15">
            <a:extLst xmlns:a="http://schemas.openxmlformats.org/drawingml/2006/main">
              <a:ext uri="{FF2B5EF4-FFF2-40B4-BE49-F238E27FC236}">
                <a16:creationId xmlns:a16="http://schemas.microsoft.com/office/drawing/2014/main" id="{CB616202-11E0-4DF9-BC64-FC508B9A3B34}"/>
              </a:ext>
            </a:extLst>
          </p:cNvPr>
          <p:cNvSpPr>
            <a:spLocks xmlns:a="http://schemas.openxmlformats.org/drawingml/2006/main" noGrp="1"/>
          </p:cNvSpPr>
          <p:nvPr>
            <p:ph type="subTitle" idx="1"/>
          </p:nvPr>
        </p:nvSpPr>
        <p:spPr>
          <a:xfrm xmlns:a="http://schemas.openxmlformats.org/drawingml/2006/main">
            <a:off x="1100051" y="4455620"/>
            <a:ext cx="100584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lnSpc>
                <a:spcPct val="90000"/>
              </a:lnSpc>
              <a:spcBef>
                <a:spcPts val="1200"/>
              </a:spcBef>
              <a:spcAft>
                <a:spcPts val="0"/>
              </a:spcAft>
              <a:buSzPts val="2400"/>
              <a:buNone/>
              <a:defRPr sz="2400" cap="none">
                <a:solidFill>
                  <a:schemeClr val="dk2"/>
                </a:solidFill>
                <a:latin typeface="Calibri"/>
                <a:ea typeface="Calibri"/>
                <a:cs typeface="Calibri"/>
              </a:defRPr>
            </a:lvl1pPr>
            <a:lvl2pPr algn="ctr">
              <a:lnSpc>
                <a:spcPct val="90000"/>
              </a:lnSpc>
              <a:spcBef>
                <a:spcPts val="200"/>
              </a:spcBef>
              <a:spcAft>
                <a:spcPts val="0"/>
              </a:spcAft>
              <a:buSzPts val="2400"/>
              <a:buNone/>
              <a:defRPr sz="2400"/>
            </a:lvl2pPr>
            <a:lvl3pPr algn="ctr">
              <a:lnSpc>
                <a:spcPct val="90000"/>
              </a:lnSpc>
              <a:spcBef>
                <a:spcPts val="400"/>
              </a:spcBef>
              <a:spcAft>
                <a:spcPts val="0"/>
              </a:spcAft>
              <a:buSzPts val="2400"/>
              <a:buNone/>
              <a:defRPr sz="2400"/>
            </a:lvl3pPr>
            <a:lvl4pPr algn="ctr">
              <a:lnSpc>
                <a:spcPct val="90000"/>
              </a:lnSpc>
              <a:spcBef>
                <a:spcPts val="400"/>
              </a:spcBef>
              <a:spcAft>
                <a:spcPts val="0"/>
              </a:spcAft>
              <a:buSzPts val="2000"/>
              <a:buNone/>
              <a:defRPr sz="2000"/>
            </a:lvl4pPr>
            <a:lvl5pPr algn="ctr">
              <a:lnSpc>
                <a:spcPct val="90000"/>
              </a:lnSpc>
              <a:spcBef>
                <a:spcPts val="400"/>
              </a:spcBef>
              <a:spcAft>
                <a:spcPts val="0"/>
              </a:spcAft>
              <a:buSzPts val="2000"/>
              <a:buNone/>
              <a:defRPr sz="2000"/>
            </a:lvl5pPr>
            <a:lvl6pPr algn="ctr">
              <a:lnSpc>
                <a:spcPct val="90000"/>
              </a:lnSpc>
              <a:spcBef>
                <a:spcPts val="400"/>
              </a:spcBef>
              <a:spcAft>
                <a:spcPts val="0"/>
              </a:spcAft>
              <a:buSzPts val="2000"/>
              <a:buNone/>
              <a:defRPr sz="2000"/>
            </a:lvl6pPr>
            <a:lvl7pPr algn="ctr">
              <a:lnSpc>
                <a:spcPct val="90000"/>
              </a:lnSpc>
              <a:spcBef>
                <a:spcPts val="400"/>
              </a:spcBef>
              <a:spcAft>
                <a:spcPts val="0"/>
              </a:spcAft>
              <a:buSzPts val="2000"/>
              <a:buNone/>
              <a:defRPr sz="2000"/>
            </a:lvl7pPr>
            <a:lvl8pPr algn="ctr">
              <a:lnSpc>
                <a:spcPct val="90000"/>
              </a:lnSpc>
              <a:spcBef>
                <a:spcPts val="400"/>
              </a:spcBef>
              <a:spcAft>
                <a:spcPts val="0"/>
              </a:spcAft>
              <a:buSzPts val="2000"/>
              <a:buNone/>
              <a:defRPr sz="2000"/>
            </a:lvl8pPr>
            <a:lvl9pPr algn="ctr">
              <a:lnSpc>
                <a:spcPct val="90000"/>
              </a:lnSpc>
              <a:spcBef>
                <a:spcPts val="400"/>
              </a:spcBef>
              <a:spcAft>
                <a:spcPts val="400"/>
              </a:spcAft>
              <a:buSzPts val="2000"/>
              <a:buNone/>
              <a:defRPr sz="2000"/>
            </a:lvl9pPr>
          </a:lstStyle>
          <a:p xmlns:a="http://schemas.openxmlformats.org/drawingml/2006/main">
            <a:endParaRPr/>
          </a:p>
        </p:txBody>
      </p:sp>
      <p:sp>
        <p:nvSpPr>
          <p:cNvPr id="29" name="Google Shape;29;p15">
            <a:extLst xmlns:a="http://schemas.openxmlformats.org/drawingml/2006/main">
              <a:ext uri="{FF2B5EF4-FFF2-40B4-BE49-F238E27FC236}">
                <a16:creationId xmlns:a16="http://schemas.microsoft.com/office/drawing/2014/main" id="{5BBAF335-1401-439D-BF6D-6E615A1AAD16}"/>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15">
            <a:extLst xmlns:a="http://schemas.openxmlformats.org/drawingml/2006/main">
              <a:ext uri="{FF2B5EF4-FFF2-40B4-BE49-F238E27FC236}">
                <a16:creationId xmlns:a16="http://schemas.microsoft.com/office/drawing/2014/main" id="{E73C8B73-3221-4461-99C4-1CB610E61D98}"/>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1" name="Google Shape;31;p15">
            <a:extLst xmlns:a="http://schemas.openxmlformats.org/drawingml/2006/main">
              <a:ext uri="{FF2B5EF4-FFF2-40B4-BE49-F238E27FC236}">
                <a16:creationId xmlns:a16="http://schemas.microsoft.com/office/drawing/2014/main" id="{2747ACD1-2C5B-4B94-A8A9-381F90987315}"/>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32" name="Google Shape;32;p15">
            <a:extLst xmlns:a="http://schemas.openxmlformats.org/drawingml/2006/main">
              <a:ext uri="{FF2B5EF4-FFF2-40B4-BE49-F238E27FC236}">
                <a16:creationId xmlns:a16="http://schemas.microsoft.com/office/drawing/2014/main" id="{3C0BFB3B-1D83-4375-BF81-479C7B2D4991}"/>
              </a:ext>
            </a:extLst>
          </p:cNvPr>
          <p:cNvCxnSpPr/>
          <p:nvPr/>
        </p:nvCxnSpPr>
        <p:spPr>
          <a:xfrm xmlns:a="http://schemas.openxmlformats.org/drawingml/2006/main">
            <a:off x="1207658" y="4343400"/>
            <a:ext cx="9875520" cy="0"/>
          </a:xfrm>
          <a:prstGeom xmlns:a="http://schemas.openxmlformats.org/drawingml/2006/main" prst="straightConnector1">
            <a:avLst/>
          </a:prstGeom>
          <a:ln xmlns:a="http://schemas.openxmlformats.org/drawingml/2006/main" w="9525" cap="flat">
            <a:solidFill>
              <a:srgbClr val="7F7F7F"/>
            </a:solidFill>
            <a:prstDash val="solid"/>
            <a:round/>
            <a:headEnd type="none" w="sm" len="sm"/>
            <a:tailEnd type="none" w="sm" len="sm"/>
          </a:ln>
        </p:spPr>
      </p:cxn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34" name="Google Shape;34;p16">
            <a:extLst xmlns:a="http://schemas.openxmlformats.org/drawingml/2006/main">
              <a:ext uri="{FF2B5EF4-FFF2-40B4-BE49-F238E27FC236}">
                <a16:creationId xmlns:a16="http://schemas.microsoft.com/office/drawing/2014/main" id="{59326DEE-9431-446A-96B7-A0856045438D}"/>
              </a:ext>
            </a:extLst>
          </p:cNvPr>
          <p:cNvSpPr>
            <a:spLocks xmlns:a="http://schemas.openxmlformats.org/drawingml/2006/main" noGrp="1"/>
          </p:cNvSpPr>
          <p:nvPr>
            <p:ph type="title" idx="0"/>
          </p:nvPr>
        </p:nvSpPr>
        <p:spPr>
          <a:xfrm xmlns:a="http://schemas.openxmlformats.org/drawingml/2006/main">
            <a:off x="1097280" y="286603"/>
            <a:ext cx="10058400" cy="14507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85000"/>
              </a:lnSpc>
              <a:spcBef>
                <a:spcPts val="0"/>
              </a:spcBef>
              <a:spcAft>
                <a:spcPts val="0"/>
              </a:spcAft>
              <a:buClr>
                <a:srgbClr val="3F3F3F"/>
              </a:buClr>
              <a:buSzPts val="4800"/>
              <a:buFont typeface="Calibri"/>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5" name="Google Shape;35;p16">
            <a:extLst xmlns:a="http://schemas.openxmlformats.org/drawingml/2006/main">
              <a:ext uri="{FF2B5EF4-FFF2-40B4-BE49-F238E27FC236}">
                <a16:creationId xmlns:a16="http://schemas.microsoft.com/office/drawing/2014/main" id="{3B6CFE47-C0C2-4D64-86CF-454DE185AFFC}"/>
              </a:ext>
            </a:extLst>
          </p:cNvPr>
          <p:cNvSpPr>
            <a:spLocks xmlns:a="http://schemas.openxmlformats.org/drawingml/2006/main" noGrp="1"/>
          </p:cNvSpPr>
          <p:nvPr>
            <p:ph type="body" idx="1"/>
          </p:nvPr>
        </p:nvSpPr>
        <p:spPr>
          <a:xfrm xmlns:a="http://schemas.openxmlformats.org/drawingml/2006/main">
            <a:off x="1097280" y="1845734"/>
            <a:ext cx="1005840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45700" rIns="0" bIns="45700" anchor="t">
            <a:normAutofit/>
          </a:bodyPr>
          <a:lstStyle xmlns:a="http://schemas.openxmlformats.org/drawingml/2006/main">
            <a:lvl1pPr marL="457200" indent="-342900" algn="l">
              <a:lnSpc>
                <a:spcPct val="90000"/>
              </a:lnSpc>
              <a:spcBef>
                <a:spcPts val="1200"/>
              </a:spcBef>
              <a:spcAft>
                <a:spcPts val="0"/>
              </a:spcAft>
              <a:buSzPts val="1800"/>
              <a:buChar char=" "/>
              <a:defRPr/>
            </a:lvl1pPr>
            <a:lvl2pPr marL="914400" indent="-342900" algn="l">
              <a:lnSpc>
                <a:spcPct val="90000"/>
              </a:lnSpc>
              <a:spcBef>
                <a:spcPts val="200"/>
              </a:spcBef>
              <a:spcAft>
                <a:spcPts val="0"/>
              </a:spcAft>
              <a:buSzPts val="1800"/>
              <a:buChar char="◦"/>
              <a:defRPr/>
            </a:lvl2pPr>
            <a:lvl3pPr marL="1371600" indent="-342900" algn="l">
              <a:lnSpc>
                <a:spcPct val="90000"/>
              </a:lnSpc>
              <a:spcBef>
                <a:spcPts val="400"/>
              </a:spcBef>
              <a:spcAft>
                <a:spcPts val="0"/>
              </a:spcAft>
              <a:buSzPts val="1800"/>
              <a:buChar char="◦"/>
              <a:defRPr/>
            </a:lvl3pPr>
            <a:lvl4pPr marL="1828800" indent="-342900" algn="l">
              <a:lnSpc>
                <a:spcPct val="90000"/>
              </a:lnSpc>
              <a:spcBef>
                <a:spcPts val="400"/>
              </a:spcBef>
              <a:spcAft>
                <a:spcPts val="0"/>
              </a:spcAft>
              <a:buSzPts val="1800"/>
              <a:buChar char="◦"/>
              <a:defRPr/>
            </a:lvl4pPr>
            <a:lvl5pPr marL="2286000" indent="-342900" algn="l">
              <a:lnSpc>
                <a:spcPct val="90000"/>
              </a:lnSpc>
              <a:spcBef>
                <a:spcPts val="400"/>
              </a:spcBef>
              <a:spcAft>
                <a:spcPts val="0"/>
              </a:spcAft>
              <a:buSzPts val="1800"/>
              <a:buChar char="◦"/>
              <a:defRPr/>
            </a:lvl5pPr>
            <a:lvl6pPr marL="2743200" indent="-342900" algn="l">
              <a:lnSpc>
                <a:spcPct val="90000"/>
              </a:lnSpc>
              <a:spcBef>
                <a:spcPts val="400"/>
              </a:spcBef>
              <a:spcAft>
                <a:spcPts val="0"/>
              </a:spcAft>
              <a:buSzPts val="1800"/>
              <a:buChar char="◦"/>
              <a:defRPr/>
            </a:lvl6pPr>
            <a:lvl7pPr marL="3200400" indent="-342900" algn="l">
              <a:lnSpc>
                <a:spcPct val="90000"/>
              </a:lnSpc>
              <a:spcBef>
                <a:spcPts val="400"/>
              </a:spcBef>
              <a:spcAft>
                <a:spcPts val="0"/>
              </a:spcAft>
              <a:buSzPts val="1800"/>
              <a:buChar char="◦"/>
              <a:defRPr/>
            </a:lvl7pPr>
            <a:lvl8pPr marL="3657600" indent="-342900" algn="l">
              <a:lnSpc>
                <a:spcPct val="90000"/>
              </a:lnSpc>
              <a:spcBef>
                <a:spcPts val="400"/>
              </a:spcBef>
              <a:spcAft>
                <a:spcPts val="0"/>
              </a:spcAft>
              <a:buSzPts val="1800"/>
              <a:buChar char="◦"/>
              <a:defRPr/>
            </a:lvl8pPr>
            <a:lvl9pPr marL="4114800" indent="-342900" algn="l">
              <a:lnSpc>
                <a:spcPct val="90000"/>
              </a:lnSpc>
              <a:spcBef>
                <a:spcPts val="400"/>
              </a:spcBef>
              <a:spcAft>
                <a:spcPts val="400"/>
              </a:spcAft>
              <a:buSzPts val="1800"/>
              <a:buChar char="◦"/>
              <a:defRPr/>
            </a:lvl9pPr>
          </a:lstStyle>
          <a:p xmlns:a="http://schemas.openxmlformats.org/drawingml/2006/main">
            <a:endParaRPr/>
          </a:p>
        </p:txBody>
      </p:sp>
      <p:sp>
        <p:nvSpPr>
          <p:cNvPr id="36" name="Google Shape;36;p16">
            <a:extLst xmlns:a="http://schemas.openxmlformats.org/drawingml/2006/main">
              <a:ext uri="{FF2B5EF4-FFF2-40B4-BE49-F238E27FC236}">
                <a16:creationId xmlns:a16="http://schemas.microsoft.com/office/drawing/2014/main" id="{F422D6A8-2252-4649-8590-E17E6568B9E8}"/>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16">
            <a:extLst xmlns:a="http://schemas.openxmlformats.org/drawingml/2006/main">
              <a:ext uri="{FF2B5EF4-FFF2-40B4-BE49-F238E27FC236}">
                <a16:creationId xmlns:a16="http://schemas.microsoft.com/office/drawing/2014/main" id="{33B16406-01B9-4C3D-907F-993FB209CFCD}"/>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8" name="Google Shape;38;p16">
            <a:extLst xmlns:a="http://schemas.openxmlformats.org/drawingml/2006/main">
              <a:ext uri="{FF2B5EF4-FFF2-40B4-BE49-F238E27FC236}">
                <a16:creationId xmlns:a16="http://schemas.microsoft.com/office/drawing/2014/main" id="{8C2A1751-3812-483F-9C37-93A89D941B08}"/>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showMasterSp="0" matchingName="Section Header" type="secHead">
  <p:cSld name="SECTION_HEADER">
    <p:bg>
      <p:bgPr>
        <a:solidFill xmlns:a="http://schemas.openxmlformats.org/drawingml/2006/main">
          <a:schemeClr val="lt1"/>
        </a:solidFill>
      </p:bgPr>
    </p:bg>
    <p:spTree>
      <p:nvGrpSpPr>
        <p:cNvPr id="1" name=""/>
        <p:cNvGrpSpPr/>
        <p:nvPr/>
      </p:nvGrpSpPr>
      <p:grpSpPr>
        <a:xfrm xmlns:a="http://schemas.openxmlformats.org/drawingml/2006/main"/>
      </p:grpSpPr>
      <p:sp>
        <p:nvSpPr>
          <p:cNvPr id="40" name="Google Shape;40;p17">
            <a:extLst xmlns:a="http://schemas.openxmlformats.org/drawingml/2006/main">
              <a:ext uri="{FF2B5EF4-FFF2-40B4-BE49-F238E27FC236}">
                <a16:creationId xmlns:a16="http://schemas.microsoft.com/office/drawing/2014/main" id="{AE72F84D-4F46-4D4B-81F8-F08599379A30}"/>
              </a:ext>
            </a:extLst>
          </p:cNvPr>
          <p:cNvSpPr>
            <a:spLocks xmlns:a="http://schemas.openxmlformats.org/drawingml/2006/main" noGrp="1"/>
          </p:cNvSpPr>
          <p:nvPr/>
        </p:nvSpPr>
        <p:spPr>
          <a:xfrm xmlns:a="http://schemas.openxmlformats.org/drawingml/2006/main">
            <a:off x="3175" y="6400800"/>
            <a:ext cx="12188825" cy="4572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41" name="Google Shape;41;p17">
            <a:extLst xmlns:a="http://schemas.openxmlformats.org/drawingml/2006/main">
              <a:ext uri="{FF2B5EF4-FFF2-40B4-BE49-F238E27FC236}">
                <a16:creationId xmlns:a16="http://schemas.microsoft.com/office/drawing/2014/main" id="{9AD51EE3-9CD8-4B5C-9E36-1B42E2922248}"/>
              </a:ext>
            </a:extLst>
          </p:cNvPr>
          <p:cNvSpPr>
            <a:spLocks xmlns:a="http://schemas.openxmlformats.org/drawingml/2006/main" noGrp="1"/>
          </p:cNvSpPr>
          <p:nvPr/>
        </p:nvSpPr>
        <p:spPr>
          <a:xfrm xmlns:a="http://schemas.openxmlformats.org/drawingml/2006/main">
            <a:off x="15" y="6334316"/>
            <a:ext cx="12188825" cy="64008"/>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42" name="Google Shape;42;p17">
            <a:extLst xmlns:a="http://schemas.openxmlformats.org/drawingml/2006/main">
              <a:ext uri="{FF2B5EF4-FFF2-40B4-BE49-F238E27FC236}">
                <a16:creationId xmlns:a16="http://schemas.microsoft.com/office/drawing/2014/main" id="{782BB944-A9E3-45E5-9279-C6E3A81216C1}"/>
              </a:ext>
            </a:extLst>
          </p:cNvPr>
          <p:cNvSpPr>
            <a:spLocks xmlns:a="http://schemas.openxmlformats.org/drawingml/2006/main" noGrp="1"/>
          </p:cNvSpPr>
          <p:nvPr>
            <p:ph type="title" idx="0"/>
          </p:nvPr>
        </p:nvSpPr>
        <p:spPr>
          <a:xfrm xmlns:a="http://schemas.openxmlformats.org/drawingml/2006/main">
            <a:off x="1097280" y="758952"/>
            <a:ext cx="10058400" cy="3566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85000"/>
              </a:lnSpc>
              <a:spcBef>
                <a:spcPts val="0"/>
              </a:spcBef>
              <a:spcAft>
                <a:spcPts val="0"/>
              </a:spcAft>
              <a:buClr>
                <a:srgbClr val="262626"/>
              </a:buClr>
              <a:buSzPts val="8000"/>
              <a:buFont typeface="Calibri"/>
              <a:buNone/>
              <a:defRPr sz="8000" b="0">
                <a:solidFill>
                  <a:srgbClr val="262626"/>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17">
            <a:extLst xmlns:a="http://schemas.openxmlformats.org/drawingml/2006/main">
              <a:ext uri="{FF2B5EF4-FFF2-40B4-BE49-F238E27FC236}">
                <a16:creationId xmlns:a16="http://schemas.microsoft.com/office/drawing/2014/main" id="{560ABA34-2BE7-4EE0-B062-78E0CD2AB9AB}"/>
              </a:ext>
            </a:extLst>
          </p:cNvPr>
          <p:cNvSpPr>
            <a:spLocks xmlns:a="http://schemas.openxmlformats.org/drawingml/2006/main" noGrp="1"/>
          </p:cNvSpPr>
          <p:nvPr>
            <p:ph type="body" idx="1"/>
          </p:nvPr>
        </p:nvSpPr>
        <p:spPr>
          <a:xfrm xmlns:a="http://schemas.openxmlformats.org/drawingml/2006/main">
            <a:off x="1097280" y="4453128"/>
            <a:ext cx="100584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200"/>
              </a:spcBef>
              <a:spcAft>
                <a:spcPts val="0"/>
              </a:spcAft>
              <a:buSzPts val="2400"/>
              <a:buNone/>
              <a:defRPr sz="2400" cap="none">
                <a:solidFill>
                  <a:schemeClr val="dk2"/>
                </a:solidFill>
                <a:latin typeface="Calibri"/>
                <a:ea typeface="Calibri"/>
                <a:cs typeface="Calibri"/>
              </a:defRPr>
            </a:lvl1pPr>
            <a:lvl2pPr marL="914400" indent="-228600" algn="l">
              <a:lnSpc>
                <a:spcPct val="90000"/>
              </a:lnSpc>
              <a:spcBef>
                <a:spcPts val="200"/>
              </a:spcBef>
              <a:spcAft>
                <a:spcPts val="0"/>
              </a:spcAft>
              <a:buSzPts val="1800"/>
              <a:buNone/>
              <a:defRPr sz="1800">
                <a:solidFill>
                  <a:srgbClr val="888888"/>
                </a:solidFill>
              </a:defRPr>
            </a:lvl2pPr>
            <a:lvl3pPr marL="1371600" indent="-228600" algn="l">
              <a:lnSpc>
                <a:spcPct val="90000"/>
              </a:lnSpc>
              <a:spcBef>
                <a:spcPts val="400"/>
              </a:spcBef>
              <a:spcAft>
                <a:spcPts val="0"/>
              </a:spcAft>
              <a:buSzPts val="1600"/>
              <a:buNone/>
              <a:defRPr sz="1600">
                <a:solidFill>
                  <a:srgbClr val="888888"/>
                </a:solidFill>
              </a:defRPr>
            </a:lvl3pPr>
            <a:lvl4pPr marL="1828800" indent="-228600" algn="l">
              <a:lnSpc>
                <a:spcPct val="90000"/>
              </a:lnSpc>
              <a:spcBef>
                <a:spcPts val="400"/>
              </a:spcBef>
              <a:spcAft>
                <a:spcPts val="0"/>
              </a:spcAft>
              <a:buSzPts val="1400"/>
              <a:buNone/>
              <a:defRPr sz="1400">
                <a:solidFill>
                  <a:srgbClr val="888888"/>
                </a:solidFill>
              </a:defRPr>
            </a:lvl4pPr>
            <a:lvl5pPr marL="2286000" indent="-228600" algn="l">
              <a:lnSpc>
                <a:spcPct val="90000"/>
              </a:lnSpc>
              <a:spcBef>
                <a:spcPts val="400"/>
              </a:spcBef>
              <a:spcAft>
                <a:spcPts val="0"/>
              </a:spcAft>
              <a:buSzPts val="1400"/>
              <a:buNone/>
              <a:defRPr sz="1400">
                <a:solidFill>
                  <a:srgbClr val="888888"/>
                </a:solidFill>
              </a:defRPr>
            </a:lvl5pPr>
            <a:lvl6pPr marL="2743200" indent="-228600" algn="l">
              <a:lnSpc>
                <a:spcPct val="90000"/>
              </a:lnSpc>
              <a:spcBef>
                <a:spcPts val="400"/>
              </a:spcBef>
              <a:spcAft>
                <a:spcPts val="0"/>
              </a:spcAft>
              <a:buSzPts val="1400"/>
              <a:buNone/>
              <a:defRPr sz="1400">
                <a:solidFill>
                  <a:srgbClr val="888888"/>
                </a:solidFill>
              </a:defRPr>
            </a:lvl6pPr>
            <a:lvl7pPr marL="3200400" indent="-228600" algn="l">
              <a:lnSpc>
                <a:spcPct val="90000"/>
              </a:lnSpc>
              <a:spcBef>
                <a:spcPts val="400"/>
              </a:spcBef>
              <a:spcAft>
                <a:spcPts val="0"/>
              </a:spcAft>
              <a:buSzPts val="1400"/>
              <a:buNone/>
              <a:defRPr sz="1400">
                <a:solidFill>
                  <a:srgbClr val="888888"/>
                </a:solidFill>
              </a:defRPr>
            </a:lvl7pPr>
            <a:lvl8pPr marL="3657600" indent="-228600" algn="l">
              <a:lnSpc>
                <a:spcPct val="90000"/>
              </a:lnSpc>
              <a:spcBef>
                <a:spcPts val="400"/>
              </a:spcBef>
              <a:spcAft>
                <a:spcPts val="0"/>
              </a:spcAft>
              <a:buSzPts val="1400"/>
              <a:buNone/>
              <a:defRPr sz="1400">
                <a:solidFill>
                  <a:srgbClr val="888888"/>
                </a:solidFill>
              </a:defRPr>
            </a:lvl8pPr>
            <a:lvl9pPr marL="4114800" indent="-228600" algn="l">
              <a:lnSpc>
                <a:spcPct val="90000"/>
              </a:lnSpc>
              <a:spcBef>
                <a:spcPts val="400"/>
              </a:spcBef>
              <a:spcAft>
                <a:spcPts val="400"/>
              </a:spcAft>
              <a:buSzPts val="1400"/>
              <a:buNone/>
              <a:defRPr sz="1400">
                <a:solidFill>
                  <a:srgbClr val="888888"/>
                </a:solidFill>
              </a:defRPr>
            </a:lvl9pPr>
          </a:lstStyle>
          <a:p xmlns:a="http://schemas.openxmlformats.org/drawingml/2006/main">
            <a:endParaRPr/>
          </a:p>
        </p:txBody>
      </p:sp>
      <p:sp>
        <p:nvSpPr>
          <p:cNvPr id="44" name="Google Shape;44;p17">
            <a:extLst xmlns:a="http://schemas.openxmlformats.org/drawingml/2006/main">
              <a:ext uri="{FF2B5EF4-FFF2-40B4-BE49-F238E27FC236}">
                <a16:creationId xmlns:a16="http://schemas.microsoft.com/office/drawing/2014/main" id="{311D90E5-359D-4750-82C7-1A32006FD333}"/>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5" name="Google Shape;45;p17">
            <a:extLst xmlns:a="http://schemas.openxmlformats.org/drawingml/2006/main">
              <a:ext uri="{FF2B5EF4-FFF2-40B4-BE49-F238E27FC236}">
                <a16:creationId xmlns:a16="http://schemas.microsoft.com/office/drawing/2014/main" id="{DF6AD614-CC6D-4F44-8338-9AE471058A0A}"/>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6" name="Google Shape;46;p17">
            <a:extLst xmlns:a="http://schemas.openxmlformats.org/drawingml/2006/main">
              <a:ext uri="{FF2B5EF4-FFF2-40B4-BE49-F238E27FC236}">
                <a16:creationId xmlns:a16="http://schemas.microsoft.com/office/drawing/2014/main" id="{B9520127-DB8D-4870-B337-ACF754ACB7C8}"/>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47" name="Google Shape;47;p17">
            <a:extLst xmlns:a="http://schemas.openxmlformats.org/drawingml/2006/main">
              <a:ext uri="{FF2B5EF4-FFF2-40B4-BE49-F238E27FC236}">
                <a16:creationId xmlns:a16="http://schemas.microsoft.com/office/drawing/2014/main" id="{6A2BB07E-3051-4436-9581-4C7295F54FFD}"/>
              </a:ext>
            </a:extLst>
          </p:cNvPr>
          <p:cNvCxnSpPr/>
          <p:nvPr/>
        </p:nvCxnSpPr>
        <p:spPr>
          <a:xfrm xmlns:a="http://schemas.openxmlformats.org/drawingml/2006/main">
            <a:off x="1207658" y="4343400"/>
            <a:ext cx="9875520" cy="0"/>
          </a:xfrm>
          <a:prstGeom xmlns:a="http://schemas.openxmlformats.org/drawingml/2006/main" prst="straightConnector1">
            <a:avLst/>
          </a:prstGeom>
          <a:ln xmlns:a="http://schemas.openxmlformats.org/drawingml/2006/main" w="9525" cap="flat">
            <a:solidFill>
              <a:srgbClr val="7F7F7F"/>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9" name="Google Shape;49;p18">
            <a:extLst xmlns:a="http://schemas.openxmlformats.org/drawingml/2006/main">
              <a:ext uri="{FF2B5EF4-FFF2-40B4-BE49-F238E27FC236}">
                <a16:creationId xmlns:a16="http://schemas.microsoft.com/office/drawing/2014/main" id="{0D467019-E852-415F-A760-3B1F78857388}"/>
              </a:ext>
            </a:extLst>
          </p:cNvPr>
          <p:cNvSpPr>
            <a:spLocks xmlns:a="http://schemas.openxmlformats.org/drawingml/2006/main" noGrp="1"/>
          </p:cNvSpPr>
          <p:nvPr>
            <p:ph type="title" idx="0"/>
          </p:nvPr>
        </p:nvSpPr>
        <p:spPr>
          <a:xfrm xmlns:a="http://schemas.openxmlformats.org/drawingml/2006/main">
            <a:off x="1097280" y="286603"/>
            <a:ext cx="10058400" cy="14507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85000"/>
              </a:lnSpc>
              <a:spcBef>
                <a:spcPts val="0"/>
              </a:spcBef>
              <a:spcAft>
                <a:spcPts val="0"/>
              </a:spcAft>
              <a:buClr>
                <a:srgbClr val="3F3F3F"/>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0" name="Google Shape;50;p18">
            <a:extLst xmlns:a="http://schemas.openxmlformats.org/drawingml/2006/main">
              <a:ext uri="{FF2B5EF4-FFF2-40B4-BE49-F238E27FC236}">
                <a16:creationId xmlns:a16="http://schemas.microsoft.com/office/drawing/2014/main" id="{696BDB4B-D714-45AC-AFD6-4264F89D4E4A}"/>
              </a:ext>
            </a:extLst>
          </p:cNvPr>
          <p:cNvSpPr>
            <a:spLocks xmlns:a="http://schemas.openxmlformats.org/drawingml/2006/main" noGrp="1"/>
          </p:cNvSpPr>
          <p:nvPr>
            <p:ph type="body" idx="1"/>
          </p:nvPr>
        </p:nvSpPr>
        <p:spPr>
          <a:xfrm xmlns:a="http://schemas.openxmlformats.org/drawingml/2006/main">
            <a:off x="1097279" y="1845734"/>
            <a:ext cx="493776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45700" rIns="0" bIns="45700" anchor="t">
            <a:normAutofit/>
          </a:bodyPr>
          <a:lstStyle xmlns:a="http://schemas.openxmlformats.org/drawingml/2006/main">
            <a:lvl1pPr marL="457200" indent="-342900" algn="l">
              <a:lnSpc>
                <a:spcPct val="90000"/>
              </a:lnSpc>
              <a:spcBef>
                <a:spcPts val="1200"/>
              </a:spcBef>
              <a:spcAft>
                <a:spcPts val="0"/>
              </a:spcAft>
              <a:buSzPts val="1800"/>
              <a:buChar char=" "/>
              <a:defRPr/>
            </a:lvl1pPr>
            <a:lvl2pPr marL="914400" indent="-342900" algn="l">
              <a:lnSpc>
                <a:spcPct val="90000"/>
              </a:lnSpc>
              <a:spcBef>
                <a:spcPts val="200"/>
              </a:spcBef>
              <a:spcAft>
                <a:spcPts val="0"/>
              </a:spcAft>
              <a:buSzPts val="1800"/>
              <a:buChar char="◦"/>
              <a:defRPr/>
            </a:lvl2pPr>
            <a:lvl3pPr marL="1371600" indent="-342900" algn="l">
              <a:lnSpc>
                <a:spcPct val="90000"/>
              </a:lnSpc>
              <a:spcBef>
                <a:spcPts val="400"/>
              </a:spcBef>
              <a:spcAft>
                <a:spcPts val="0"/>
              </a:spcAft>
              <a:buSzPts val="1800"/>
              <a:buChar char="◦"/>
              <a:defRPr/>
            </a:lvl3pPr>
            <a:lvl4pPr marL="1828800" indent="-342900" algn="l">
              <a:lnSpc>
                <a:spcPct val="90000"/>
              </a:lnSpc>
              <a:spcBef>
                <a:spcPts val="400"/>
              </a:spcBef>
              <a:spcAft>
                <a:spcPts val="0"/>
              </a:spcAft>
              <a:buSzPts val="1800"/>
              <a:buChar char="◦"/>
              <a:defRPr/>
            </a:lvl4pPr>
            <a:lvl5pPr marL="2286000" indent="-342900" algn="l">
              <a:lnSpc>
                <a:spcPct val="90000"/>
              </a:lnSpc>
              <a:spcBef>
                <a:spcPts val="400"/>
              </a:spcBef>
              <a:spcAft>
                <a:spcPts val="0"/>
              </a:spcAft>
              <a:buSzPts val="1800"/>
              <a:buChar char="◦"/>
              <a:defRPr/>
            </a:lvl5pPr>
            <a:lvl6pPr marL="2743200" indent="-342900" algn="l">
              <a:lnSpc>
                <a:spcPct val="90000"/>
              </a:lnSpc>
              <a:spcBef>
                <a:spcPts val="400"/>
              </a:spcBef>
              <a:spcAft>
                <a:spcPts val="0"/>
              </a:spcAft>
              <a:buSzPts val="1800"/>
              <a:buChar char="◦"/>
              <a:defRPr/>
            </a:lvl6pPr>
            <a:lvl7pPr marL="3200400" indent="-342900" algn="l">
              <a:lnSpc>
                <a:spcPct val="90000"/>
              </a:lnSpc>
              <a:spcBef>
                <a:spcPts val="400"/>
              </a:spcBef>
              <a:spcAft>
                <a:spcPts val="0"/>
              </a:spcAft>
              <a:buSzPts val="1800"/>
              <a:buChar char="◦"/>
              <a:defRPr/>
            </a:lvl7pPr>
            <a:lvl8pPr marL="3657600" indent="-342900" algn="l">
              <a:lnSpc>
                <a:spcPct val="90000"/>
              </a:lnSpc>
              <a:spcBef>
                <a:spcPts val="400"/>
              </a:spcBef>
              <a:spcAft>
                <a:spcPts val="0"/>
              </a:spcAft>
              <a:buSzPts val="1800"/>
              <a:buChar char="◦"/>
              <a:defRPr/>
            </a:lvl8pPr>
            <a:lvl9pPr marL="4114800" indent="-342900" algn="l">
              <a:lnSpc>
                <a:spcPct val="90000"/>
              </a:lnSpc>
              <a:spcBef>
                <a:spcPts val="400"/>
              </a:spcBef>
              <a:spcAft>
                <a:spcPts val="400"/>
              </a:spcAft>
              <a:buSzPts val="1800"/>
              <a:buChar char="◦"/>
              <a:defRPr/>
            </a:lvl9pPr>
          </a:lstStyle>
          <a:p xmlns:a="http://schemas.openxmlformats.org/drawingml/2006/main">
            <a:endParaRPr/>
          </a:p>
        </p:txBody>
      </p:sp>
      <p:sp>
        <p:nvSpPr>
          <p:cNvPr id="51" name="Google Shape;51;p18">
            <a:extLst xmlns:a="http://schemas.openxmlformats.org/drawingml/2006/main">
              <a:ext uri="{FF2B5EF4-FFF2-40B4-BE49-F238E27FC236}">
                <a16:creationId xmlns:a16="http://schemas.microsoft.com/office/drawing/2014/main" id="{96CAC820-8998-4C35-95DF-CE0D5CBFCE1C}"/>
              </a:ext>
            </a:extLst>
          </p:cNvPr>
          <p:cNvSpPr>
            <a:spLocks xmlns:a="http://schemas.openxmlformats.org/drawingml/2006/main" noGrp="1"/>
          </p:cNvSpPr>
          <p:nvPr>
            <p:ph type="body" idx="2"/>
          </p:nvPr>
        </p:nvSpPr>
        <p:spPr>
          <a:xfrm xmlns:a="http://schemas.openxmlformats.org/drawingml/2006/main">
            <a:off x="6217920" y="1845735"/>
            <a:ext cx="493776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45700" rIns="0" bIns="45700" anchor="t">
            <a:normAutofit/>
          </a:bodyPr>
          <a:lstStyle xmlns:a="http://schemas.openxmlformats.org/drawingml/2006/main">
            <a:lvl1pPr marL="457200" indent="-342900" algn="l">
              <a:lnSpc>
                <a:spcPct val="90000"/>
              </a:lnSpc>
              <a:spcBef>
                <a:spcPts val="1200"/>
              </a:spcBef>
              <a:spcAft>
                <a:spcPts val="0"/>
              </a:spcAft>
              <a:buSzPts val="1800"/>
              <a:buChar char=" "/>
              <a:defRPr/>
            </a:lvl1pPr>
            <a:lvl2pPr marL="914400" indent="-342900" algn="l">
              <a:lnSpc>
                <a:spcPct val="90000"/>
              </a:lnSpc>
              <a:spcBef>
                <a:spcPts val="200"/>
              </a:spcBef>
              <a:spcAft>
                <a:spcPts val="0"/>
              </a:spcAft>
              <a:buSzPts val="1800"/>
              <a:buChar char="◦"/>
              <a:defRPr/>
            </a:lvl2pPr>
            <a:lvl3pPr marL="1371600" indent="-342900" algn="l">
              <a:lnSpc>
                <a:spcPct val="90000"/>
              </a:lnSpc>
              <a:spcBef>
                <a:spcPts val="400"/>
              </a:spcBef>
              <a:spcAft>
                <a:spcPts val="0"/>
              </a:spcAft>
              <a:buSzPts val="1800"/>
              <a:buChar char="◦"/>
              <a:defRPr/>
            </a:lvl3pPr>
            <a:lvl4pPr marL="1828800" indent="-342900" algn="l">
              <a:lnSpc>
                <a:spcPct val="90000"/>
              </a:lnSpc>
              <a:spcBef>
                <a:spcPts val="400"/>
              </a:spcBef>
              <a:spcAft>
                <a:spcPts val="0"/>
              </a:spcAft>
              <a:buSzPts val="1800"/>
              <a:buChar char="◦"/>
              <a:defRPr/>
            </a:lvl4pPr>
            <a:lvl5pPr marL="2286000" indent="-342900" algn="l">
              <a:lnSpc>
                <a:spcPct val="90000"/>
              </a:lnSpc>
              <a:spcBef>
                <a:spcPts val="400"/>
              </a:spcBef>
              <a:spcAft>
                <a:spcPts val="0"/>
              </a:spcAft>
              <a:buSzPts val="1800"/>
              <a:buChar char="◦"/>
              <a:defRPr/>
            </a:lvl5pPr>
            <a:lvl6pPr marL="2743200" indent="-342900" algn="l">
              <a:lnSpc>
                <a:spcPct val="90000"/>
              </a:lnSpc>
              <a:spcBef>
                <a:spcPts val="400"/>
              </a:spcBef>
              <a:spcAft>
                <a:spcPts val="0"/>
              </a:spcAft>
              <a:buSzPts val="1800"/>
              <a:buChar char="◦"/>
              <a:defRPr/>
            </a:lvl6pPr>
            <a:lvl7pPr marL="3200400" indent="-342900" algn="l">
              <a:lnSpc>
                <a:spcPct val="90000"/>
              </a:lnSpc>
              <a:spcBef>
                <a:spcPts val="400"/>
              </a:spcBef>
              <a:spcAft>
                <a:spcPts val="0"/>
              </a:spcAft>
              <a:buSzPts val="1800"/>
              <a:buChar char="◦"/>
              <a:defRPr/>
            </a:lvl7pPr>
            <a:lvl8pPr marL="3657600" indent="-342900" algn="l">
              <a:lnSpc>
                <a:spcPct val="90000"/>
              </a:lnSpc>
              <a:spcBef>
                <a:spcPts val="400"/>
              </a:spcBef>
              <a:spcAft>
                <a:spcPts val="0"/>
              </a:spcAft>
              <a:buSzPts val="1800"/>
              <a:buChar char="◦"/>
              <a:defRPr/>
            </a:lvl8pPr>
            <a:lvl9pPr marL="4114800" indent="-342900" algn="l">
              <a:lnSpc>
                <a:spcPct val="90000"/>
              </a:lnSpc>
              <a:spcBef>
                <a:spcPts val="400"/>
              </a:spcBef>
              <a:spcAft>
                <a:spcPts val="400"/>
              </a:spcAft>
              <a:buSzPts val="1800"/>
              <a:buChar char="◦"/>
              <a:defRPr/>
            </a:lvl9pPr>
          </a:lstStyle>
          <a:p xmlns:a="http://schemas.openxmlformats.org/drawingml/2006/main">
            <a:endParaRPr/>
          </a:p>
        </p:txBody>
      </p:sp>
      <p:sp>
        <p:nvSpPr>
          <p:cNvPr id="52" name="Google Shape;52;p18">
            <a:extLst xmlns:a="http://schemas.openxmlformats.org/drawingml/2006/main">
              <a:ext uri="{FF2B5EF4-FFF2-40B4-BE49-F238E27FC236}">
                <a16:creationId xmlns:a16="http://schemas.microsoft.com/office/drawing/2014/main" id="{E6F605AF-28BD-4E28-B3DE-63FA292410D3}"/>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3" name="Google Shape;53;p18">
            <a:extLst xmlns:a="http://schemas.openxmlformats.org/drawingml/2006/main">
              <a:ext uri="{FF2B5EF4-FFF2-40B4-BE49-F238E27FC236}">
                <a16:creationId xmlns:a16="http://schemas.microsoft.com/office/drawing/2014/main" id="{0F42696D-0C71-4FB6-8B05-D254A2777F65}"/>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4" name="Google Shape;54;p18">
            <a:extLst xmlns:a="http://schemas.openxmlformats.org/drawingml/2006/main">
              <a:ext uri="{FF2B5EF4-FFF2-40B4-BE49-F238E27FC236}">
                <a16:creationId xmlns:a16="http://schemas.microsoft.com/office/drawing/2014/main" id="{4F5C5497-38EF-4A06-8FF5-F6519084E20D}"/>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6" name="Google Shape;56;p19">
            <a:extLst xmlns:a="http://schemas.openxmlformats.org/drawingml/2006/main">
              <a:ext uri="{FF2B5EF4-FFF2-40B4-BE49-F238E27FC236}">
                <a16:creationId xmlns:a16="http://schemas.microsoft.com/office/drawing/2014/main" id="{DF2CF15A-510C-4867-A79E-11500335EA19}"/>
              </a:ext>
            </a:extLst>
          </p:cNvPr>
          <p:cNvSpPr>
            <a:spLocks xmlns:a="http://schemas.openxmlformats.org/drawingml/2006/main" noGrp="1"/>
          </p:cNvSpPr>
          <p:nvPr>
            <p:ph type="title" idx="0"/>
          </p:nvPr>
        </p:nvSpPr>
        <p:spPr>
          <a:xfrm xmlns:a="http://schemas.openxmlformats.org/drawingml/2006/main">
            <a:off x="1097280" y="286603"/>
            <a:ext cx="10058400" cy="14507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85000"/>
              </a:lnSpc>
              <a:spcBef>
                <a:spcPts val="0"/>
              </a:spcBef>
              <a:spcAft>
                <a:spcPts val="0"/>
              </a:spcAft>
              <a:buClr>
                <a:srgbClr val="3F3F3F"/>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7" name="Google Shape;57;p19">
            <a:extLst xmlns:a="http://schemas.openxmlformats.org/drawingml/2006/main">
              <a:ext uri="{FF2B5EF4-FFF2-40B4-BE49-F238E27FC236}">
                <a16:creationId xmlns:a16="http://schemas.microsoft.com/office/drawing/2014/main" id="{5FD57A3C-330C-49BC-864D-40DA85668554}"/>
              </a:ext>
            </a:extLst>
          </p:cNvPr>
          <p:cNvSpPr>
            <a:spLocks xmlns:a="http://schemas.openxmlformats.org/drawingml/2006/main" noGrp="1"/>
          </p:cNvSpPr>
          <p:nvPr>
            <p:ph type="body" idx="1"/>
          </p:nvPr>
        </p:nvSpPr>
        <p:spPr>
          <a:xfrm xmlns:a="http://schemas.openxmlformats.org/drawingml/2006/main">
            <a:off x="1097280" y="1846052"/>
            <a:ext cx="4937760" cy="7362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1200"/>
              </a:spcBef>
              <a:spcAft>
                <a:spcPts val="0"/>
              </a:spcAft>
              <a:buSzPts val="2000"/>
              <a:buNone/>
              <a:defRPr sz="2000" b="0" cap="none">
                <a:solidFill>
                  <a:schemeClr val="dk2"/>
                </a:solidFill>
              </a:defRPr>
            </a:lvl1pPr>
            <a:lvl2pPr marL="914400" indent="-228600" algn="l">
              <a:lnSpc>
                <a:spcPct val="90000"/>
              </a:lnSpc>
              <a:spcBef>
                <a:spcPts val="200"/>
              </a:spcBef>
              <a:spcAft>
                <a:spcPts val="0"/>
              </a:spcAft>
              <a:buSzPts val="2000"/>
              <a:buNone/>
              <a:defRPr sz="2000" b="1"/>
            </a:lvl2pPr>
            <a:lvl3pPr marL="1371600" indent="-228600" algn="l">
              <a:lnSpc>
                <a:spcPct val="90000"/>
              </a:lnSpc>
              <a:spcBef>
                <a:spcPts val="400"/>
              </a:spcBef>
              <a:spcAft>
                <a:spcPts val="0"/>
              </a:spcAft>
              <a:buSzPts val="1800"/>
              <a:buNone/>
              <a:defRPr sz="1800" b="1"/>
            </a:lvl3pPr>
            <a:lvl4pPr marL="1828800" indent="-228600" algn="l">
              <a:lnSpc>
                <a:spcPct val="90000"/>
              </a:lnSpc>
              <a:spcBef>
                <a:spcPts val="400"/>
              </a:spcBef>
              <a:spcAft>
                <a:spcPts val="0"/>
              </a:spcAft>
              <a:buSzPts val="1600"/>
              <a:buNone/>
              <a:defRPr sz="1600" b="1"/>
            </a:lvl4pPr>
            <a:lvl5pPr marL="2286000" indent="-228600" algn="l">
              <a:lnSpc>
                <a:spcPct val="90000"/>
              </a:lnSpc>
              <a:spcBef>
                <a:spcPts val="400"/>
              </a:spcBef>
              <a:spcAft>
                <a:spcPts val="0"/>
              </a:spcAft>
              <a:buSzPts val="1600"/>
              <a:buNone/>
              <a:defRPr sz="1600" b="1"/>
            </a:lvl5pPr>
            <a:lvl6pPr marL="2743200" indent="-228600" algn="l">
              <a:lnSpc>
                <a:spcPct val="90000"/>
              </a:lnSpc>
              <a:spcBef>
                <a:spcPts val="400"/>
              </a:spcBef>
              <a:spcAft>
                <a:spcPts val="0"/>
              </a:spcAft>
              <a:buSzPts val="1600"/>
              <a:buNone/>
              <a:defRPr sz="1600" b="1"/>
            </a:lvl6pPr>
            <a:lvl7pPr marL="3200400" indent="-228600" algn="l">
              <a:lnSpc>
                <a:spcPct val="90000"/>
              </a:lnSpc>
              <a:spcBef>
                <a:spcPts val="400"/>
              </a:spcBef>
              <a:spcAft>
                <a:spcPts val="0"/>
              </a:spcAft>
              <a:buSzPts val="1600"/>
              <a:buNone/>
              <a:defRPr sz="1600" b="1"/>
            </a:lvl7pPr>
            <a:lvl8pPr marL="3657600" indent="-228600" algn="l">
              <a:lnSpc>
                <a:spcPct val="90000"/>
              </a:lnSpc>
              <a:spcBef>
                <a:spcPts val="400"/>
              </a:spcBef>
              <a:spcAft>
                <a:spcPts val="0"/>
              </a:spcAft>
              <a:buSzPts val="1600"/>
              <a:buNone/>
              <a:defRPr sz="1600" b="1"/>
            </a:lvl8pPr>
            <a:lvl9pPr marL="4114800" indent="-228600" algn="l">
              <a:lnSpc>
                <a:spcPct val="90000"/>
              </a:lnSpc>
              <a:spcBef>
                <a:spcPts val="400"/>
              </a:spcBef>
              <a:spcAft>
                <a:spcPts val="400"/>
              </a:spcAft>
              <a:buSzPts val="1600"/>
              <a:buNone/>
              <a:defRPr sz="1600" b="1"/>
            </a:lvl9pPr>
          </a:lstStyle>
          <a:p xmlns:a="http://schemas.openxmlformats.org/drawingml/2006/main">
            <a:endParaRPr/>
          </a:p>
        </p:txBody>
      </p:sp>
      <p:sp>
        <p:nvSpPr>
          <p:cNvPr id="58" name="Google Shape;58;p19">
            <a:extLst xmlns:a="http://schemas.openxmlformats.org/drawingml/2006/main">
              <a:ext uri="{FF2B5EF4-FFF2-40B4-BE49-F238E27FC236}">
                <a16:creationId xmlns:a16="http://schemas.microsoft.com/office/drawing/2014/main" id="{B321A8B6-E752-47D2-940A-DECE845843CD}"/>
              </a:ext>
            </a:extLst>
          </p:cNvPr>
          <p:cNvSpPr>
            <a:spLocks xmlns:a="http://schemas.openxmlformats.org/drawingml/2006/main" noGrp="1"/>
          </p:cNvSpPr>
          <p:nvPr>
            <p:ph type="body" idx="2"/>
          </p:nvPr>
        </p:nvSpPr>
        <p:spPr>
          <a:xfrm xmlns:a="http://schemas.openxmlformats.org/drawingml/2006/main">
            <a:off x="1097280" y="2582334"/>
            <a:ext cx="4937760" cy="337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45700" rIns="0" bIns="45700" anchor="t">
            <a:normAutofit/>
          </a:bodyPr>
          <a:lstStyle xmlns:a="http://schemas.openxmlformats.org/drawingml/2006/main">
            <a:lvl1pPr marL="457200" indent="-342900" algn="l">
              <a:lnSpc>
                <a:spcPct val="90000"/>
              </a:lnSpc>
              <a:spcBef>
                <a:spcPts val="1200"/>
              </a:spcBef>
              <a:spcAft>
                <a:spcPts val="0"/>
              </a:spcAft>
              <a:buSzPts val="1800"/>
              <a:buChar char=" "/>
              <a:defRPr/>
            </a:lvl1pPr>
            <a:lvl2pPr marL="914400" indent="-342900" algn="l">
              <a:lnSpc>
                <a:spcPct val="90000"/>
              </a:lnSpc>
              <a:spcBef>
                <a:spcPts val="200"/>
              </a:spcBef>
              <a:spcAft>
                <a:spcPts val="0"/>
              </a:spcAft>
              <a:buSzPts val="1800"/>
              <a:buChar char="◦"/>
              <a:defRPr/>
            </a:lvl2pPr>
            <a:lvl3pPr marL="1371600" indent="-342900" algn="l">
              <a:lnSpc>
                <a:spcPct val="90000"/>
              </a:lnSpc>
              <a:spcBef>
                <a:spcPts val="400"/>
              </a:spcBef>
              <a:spcAft>
                <a:spcPts val="0"/>
              </a:spcAft>
              <a:buSzPts val="1800"/>
              <a:buChar char="◦"/>
              <a:defRPr/>
            </a:lvl3pPr>
            <a:lvl4pPr marL="1828800" indent="-342900" algn="l">
              <a:lnSpc>
                <a:spcPct val="90000"/>
              </a:lnSpc>
              <a:spcBef>
                <a:spcPts val="400"/>
              </a:spcBef>
              <a:spcAft>
                <a:spcPts val="0"/>
              </a:spcAft>
              <a:buSzPts val="1800"/>
              <a:buChar char="◦"/>
              <a:defRPr/>
            </a:lvl4pPr>
            <a:lvl5pPr marL="2286000" indent="-342900" algn="l">
              <a:lnSpc>
                <a:spcPct val="90000"/>
              </a:lnSpc>
              <a:spcBef>
                <a:spcPts val="400"/>
              </a:spcBef>
              <a:spcAft>
                <a:spcPts val="0"/>
              </a:spcAft>
              <a:buSzPts val="1800"/>
              <a:buChar char="◦"/>
              <a:defRPr/>
            </a:lvl5pPr>
            <a:lvl6pPr marL="2743200" indent="-342900" algn="l">
              <a:lnSpc>
                <a:spcPct val="90000"/>
              </a:lnSpc>
              <a:spcBef>
                <a:spcPts val="400"/>
              </a:spcBef>
              <a:spcAft>
                <a:spcPts val="0"/>
              </a:spcAft>
              <a:buSzPts val="1800"/>
              <a:buChar char="◦"/>
              <a:defRPr/>
            </a:lvl6pPr>
            <a:lvl7pPr marL="3200400" indent="-342900" algn="l">
              <a:lnSpc>
                <a:spcPct val="90000"/>
              </a:lnSpc>
              <a:spcBef>
                <a:spcPts val="400"/>
              </a:spcBef>
              <a:spcAft>
                <a:spcPts val="0"/>
              </a:spcAft>
              <a:buSzPts val="1800"/>
              <a:buChar char="◦"/>
              <a:defRPr/>
            </a:lvl7pPr>
            <a:lvl8pPr marL="3657600" indent="-342900" algn="l">
              <a:lnSpc>
                <a:spcPct val="90000"/>
              </a:lnSpc>
              <a:spcBef>
                <a:spcPts val="400"/>
              </a:spcBef>
              <a:spcAft>
                <a:spcPts val="0"/>
              </a:spcAft>
              <a:buSzPts val="1800"/>
              <a:buChar char="◦"/>
              <a:defRPr/>
            </a:lvl8pPr>
            <a:lvl9pPr marL="4114800" indent="-342900" algn="l">
              <a:lnSpc>
                <a:spcPct val="90000"/>
              </a:lnSpc>
              <a:spcBef>
                <a:spcPts val="400"/>
              </a:spcBef>
              <a:spcAft>
                <a:spcPts val="400"/>
              </a:spcAft>
              <a:buSzPts val="1800"/>
              <a:buChar char="◦"/>
              <a:defRPr/>
            </a:lvl9pPr>
          </a:lstStyle>
          <a:p xmlns:a="http://schemas.openxmlformats.org/drawingml/2006/main">
            <a:endParaRPr/>
          </a:p>
        </p:txBody>
      </p:sp>
      <p:sp>
        <p:nvSpPr>
          <p:cNvPr id="59" name="Google Shape;59;p19">
            <a:extLst xmlns:a="http://schemas.openxmlformats.org/drawingml/2006/main">
              <a:ext uri="{FF2B5EF4-FFF2-40B4-BE49-F238E27FC236}">
                <a16:creationId xmlns:a16="http://schemas.microsoft.com/office/drawing/2014/main" id="{035DEBB8-11E0-4136-A82F-846A24967ABD}"/>
              </a:ext>
            </a:extLst>
          </p:cNvPr>
          <p:cNvSpPr>
            <a:spLocks xmlns:a="http://schemas.openxmlformats.org/drawingml/2006/main" noGrp="1"/>
          </p:cNvSpPr>
          <p:nvPr>
            <p:ph type="body" idx="3"/>
          </p:nvPr>
        </p:nvSpPr>
        <p:spPr>
          <a:xfrm xmlns:a="http://schemas.openxmlformats.org/drawingml/2006/main">
            <a:off x="6217920" y="1846052"/>
            <a:ext cx="4937760" cy="7362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1200"/>
              </a:spcBef>
              <a:spcAft>
                <a:spcPts val="0"/>
              </a:spcAft>
              <a:buSzPts val="2000"/>
              <a:buNone/>
              <a:defRPr sz="2000" b="0" cap="none">
                <a:solidFill>
                  <a:schemeClr val="dk2"/>
                </a:solidFill>
              </a:defRPr>
            </a:lvl1pPr>
            <a:lvl2pPr marL="914400" indent="-228600" algn="l">
              <a:lnSpc>
                <a:spcPct val="90000"/>
              </a:lnSpc>
              <a:spcBef>
                <a:spcPts val="200"/>
              </a:spcBef>
              <a:spcAft>
                <a:spcPts val="0"/>
              </a:spcAft>
              <a:buSzPts val="2000"/>
              <a:buNone/>
              <a:defRPr sz="2000" b="1"/>
            </a:lvl2pPr>
            <a:lvl3pPr marL="1371600" indent="-228600" algn="l">
              <a:lnSpc>
                <a:spcPct val="90000"/>
              </a:lnSpc>
              <a:spcBef>
                <a:spcPts val="400"/>
              </a:spcBef>
              <a:spcAft>
                <a:spcPts val="0"/>
              </a:spcAft>
              <a:buSzPts val="1800"/>
              <a:buNone/>
              <a:defRPr sz="1800" b="1"/>
            </a:lvl3pPr>
            <a:lvl4pPr marL="1828800" indent="-228600" algn="l">
              <a:lnSpc>
                <a:spcPct val="90000"/>
              </a:lnSpc>
              <a:spcBef>
                <a:spcPts val="400"/>
              </a:spcBef>
              <a:spcAft>
                <a:spcPts val="0"/>
              </a:spcAft>
              <a:buSzPts val="1600"/>
              <a:buNone/>
              <a:defRPr sz="1600" b="1"/>
            </a:lvl4pPr>
            <a:lvl5pPr marL="2286000" indent="-228600" algn="l">
              <a:lnSpc>
                <a:spcPct val="90000"/>
              </a:lnSpc>
              <a:spcBef>
                <a:spcPts val="400"/>
              </a:spcBef>
              <a:spcAft>
                <a:spcPts val="0"/>
              </a:spcAft>
              <a:buSzPts val="1600"/>
              <a:buNone/>
              <a:defRPr sz="1600" b="1"/>
            </a:lvl5pPr>
            <a:lvl6pPr marL="2743200" indent="-228600" algn="l">
              <a:lnSpc>
                <a:spcPct val="90000"/>
              </a:lnSpc>
              <a:spcBef>
                <a:spcPts val="400"/>
              </a:spcBef>
              <a:spcAft>
                <a:spcPts val="0"/>
              </a:spcAft>
              <a:buSzPts val="1600"/>
              <a:buNone/>
              <a:defRPr sz="1600" b="1"/>
            </a:lvl6pPr>
            <a:lvl7pPr marL="3200400" indent="-228600" algn="l">
              <a:lnSpc>
                <a:spcPct val="90000"/>
              </a:lnSpc>
              <a:spcBef>
                <a:spcPts val="400"/>
              </a:spcBef>
              <a:spcAft>
                <a:spcPts val="0"/>
              </a:spcAft>
              <a:buSzPts val="1600"/>
              <a:buNone/>
              <a:defRPr sz="1600" b="1"/>
            </a:lvl7pPr>
            <a:lvl8pPr marL="3657600" indent="-228600" algn="l">
              <a:lnSpc>
                <a:spcPct val="90000"/>
              </a:lnSpc>
              <a:spcBef>
                <a:spcPts val="400"/>
              </a:spcBef>
              <a:spcAft>
                <a:spcPts val="0"/>
              </a:spcAft>
              <a:buSzPts val="1600"/>
              <a:buNone/>
              <a:defRPr sz="1600" b="1"/>
            </a:lvl8pPr>
            <a:lvl9pPr marL="4114800" indent="-228600" algn="l">
              <a:lnSpc>
                <a:spcPct val="90000"/>
              </a:lnSpc>
              <a:spcBef>
                <a:spcPts val="400"/>
              </a:spcBef>
              <a:spcAft>
                <a:spcPts val="400"/>
              </a:spcAft>
              <a:buSzPts val="1600"/>
              <a:buNone/>
              <a:defRPr sz="1600" b="1"/>
            </a:lvl9pPr>
          </a:lstStyle>
          <a:p xmlns:a="http://schemas.openxmlformats.org/drawingml/2006/main">
            <a:endParaRPr/>
          </a:p>
        </p:txBody>
      </p:sp>
      <p:sp>
        <p:nvSpPr>
          <p:cNvPr id="60" name="Google Shape;60;p19">
            <a:extLst xmlns:a="http://schemas.openxmlformats.org/drawingml/2006/main">
              <a:ext uri="{FF2B5EF4-FFF2-40B4-BE49-F238E27FC236}">
                <a16:creationId xmlns:a16="http://schemas.microsoft.com/office/drawing/2014/main" id="{B5E1C724-8CCF-4CF8-8B78-8249C99F123A}"/>
              </a:ext>
            </a:extLst>
          </p:cNvPr>
          <p:cNvSpPr>
            <a:spLocks xmlns:a="http://schemas.openxmlformats.org/drawingml/2006/main" noGrp="1"/>
          </p:cNvSpPr>
          <p:nvPr>
            <p:ph type="body" idx="4"/>
          </p:nvPr>
        </p:nvSpPr>
        <p:spPr>
          <a:xfrm xmlns:a="http://schemas.openxmlformats.org/drawingml/2006/main">
            <a:off x="6217920" y="2582334"/>
            <a:ext cx="4937760" cy="337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45700" rIns="0" bIns="45700" anchor="t">
            <a:normAutofit/>
          </a:bodyPr>
          <a:lstStyle xmlns:a="http://schemas.openxmlformats.org/drawingml/2006/main">
            <a:lvl1pPr marL="457200" indent="-342900" algn="l">
              <a:lnSpc>
                <a:spcPct val="90000"/>
              </a:lnSpc>
              <a:spcBef>
                <a:spcPts val="1200"/>
              </a:spcBef>
              <a:spcAft>
                <a:spcPts val="0"/>
              </a:spcAft>
              <a:buSzPts val="1800"/>
              <a:buChar char=" "/>
              <a:defRPr/>
            </a:lvl1pPr>
            <a:lvl2pPr marL="914400" indent="-342900" algn="l">
              <a:lnSpc>
                <a:spcPct val="90000"/>
              </a:lnSpc>
              <a:spcBef>
                <a:spcPts val="200"/>
              </a:spcBef>
              <a:spcAft>
                <a:spcPts val="0"/>
              </a:spcAft>
              <a:buSzPts val="1800"/>
              <a:buChar char="◦"/>
              <a:defRPr/>
            </a:lvl2pPr>
            <a:lvl3pPr marL="1371600" indent="-342900" algn="l">
              <a:lnSpc>
                <a:spcPct val="90000"/>
              </a:lnSpc>
              <a:spcBef>
                <a:spcPts val="400"/>
              </a:spcBef>
              <a:spcAft>
                <a:spcPts val="0"/>
              </a:spcAft>
              <a:buSzPts val="1800"/>
              <a:buChar char="◦"/>
              <a:defRPr/>
            </a:lvl3pPr>
            <a:lvl4pPr marL="1828800" indent="-342900" algn="l">
              <a:lnSpc>
                <a:spcPct val="90000"/>
              </a:lnSpc>
              <a:spcBef>
                <a:spcPts val="400"/>
              </a:spcBef>
              <a:spcAft>
                <a:spcPts val="0"/>
              </a:spcAft>
              <a:buSzPts val="1800"/>
              <a:buChar char="◦"/>
              <a:defRPr/>
            </a:lvl4pPr>
            <a:lvl5pPr marL="2286000" indent="-342900" algn="l">
              <a:lnSpc>
                <a:spcPct val="90000"/>
              </a:lnSpc>
              <a:spcBef>
                <a:spcPts val="400"/>
              </a:spcBef>
              <a:spcAft>
                <a:spcPts val="0"/>
              </a:spcAft>
              <a:buSzPts val="1800"/>
              <a:buChar char="◦"/>
              <a:defRPr/>
            </a:lvl5pPr>
            <a:lvl6pPr marL="2743200" indent="-342900" algn="l">
              <a:lnSpc>
                <a:spcPct val="90000"/>
              </a:lnSpc>
              <a:spcBef>
                <a:spcPts val="400"/>
              </a:spcBef>
              <a:spcAft>
                <a:spcPts val="0"/>
              </a:spcAft>
              <a:buSzPts val="1800"/>
              <a:buChar char="◦"/>
              <a:defRPr/>
            </a:lvl6pPr>
            <a:lvl7pPr marL="3200400" indent="-342900" algn="l">
              <a:lnSpc>
                <a:spcPct val="90000"/>
              </a:lnSpc>
              <a:spcBef>
                <a:spcPts val="400"/>
              </a:spcBef>
              <a:spcAft>
                <a:spcPts val="0"/>
              </a:spcAft>
              <a:buSzPts val="1800"/>
              <a:buChar char="◦"/>
              <a:defRPr/>
            </a:lvl7pPr>
            <a:lvl8pPr marL="3657600" indent="-342900" algn="l">
              <a:lnSpc>
                <a:spcPct val="90000"/>
              </a:lnSpc>
              <a:spcBef>
                <a:spcPts val="400"/>
              </a:spcBef>
              <a:spcAft>
                <a:spcPts val="0"/>
              </a:spcAft>
              <a:buSzPts val="1800"/>
              <a:buChar char="◦"/>
              <a:defRPr/>
            </a:lvl8pPr>
            <a:lvl9pPr marL="4114800" indent="-342900" algn="l">
              <a:lnSpc>
                <a:spcPct val="90000"/>
              </a:lnSpc>
              <a:spcBef>
                <a:spcPts val="400"/>
              </a:spcBef>
              <a:spcAft>
                <a:spcPts val="400"/>
              </a:spcAft>
              <a:buSzPts val="1800"/>
              <a:buChar char="◦"/>
              <a:defRPr/>
            </a:lvl9pPr>
          </a:lstStyle>
          <a:p xmlns:a="http://schemas.openxmlformats.org/drawingml/2006/main">
            <a:endParaRPr/>
          </a:p>
        </p:txBody>
      </p:sp>
      <p:sp>
        <p:nvSpPr>
          <p:cNvPr id="61" name="Google Shape;61;p19">
            <a:extLst xmlns:a="http://schemas.openxmlformats.org/drawingml/2006/main">
              <a:ext uri="{FF2B5EF4-FFF2-40B4-BE49-F238E27FC236}">
                <a16:creationId xmlns:a16="http://schemas.microsoft.com/office/drawing/2014/main" id="{E077A42B-D762-42C9-AD75-179FAD11EC55}"/>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2" name="Google Shape;62;p19">
            <a:extLst xmlns:a="http://schemas.openxmlformats.org/drawingml/2006/main">
              <a:ext uri="{FF2B5EF4-FFF2-40B4-BE49-F238E27FC236}">
                <a16:creationId xmlns:a16="http://schemas.microsoft.com/office/drawing/2014/main" id="{6EA99BE0-10BF-41FC-9E26-61A227A9FC8C}"/>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3" name="Google Shape;63;p19">
            <a:extLst xmlns:a="http://schemas.openxmlformats.org/drawingml/2006/main">
              <a:ext uri="{FF2B5EF4-FFF2-40B4-BE49-F238E27FC236}">
                <a16:creationId xmlns:a16="http://schemas.microsoft.com/office/drawing/2014/main" id="{DE021449-69FF-41B7-BFBE-32CC1D58526C}"/>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65" name="Google Shape;65;p20">
            <a:extLst xmlns:a="http://schemas.openxmlformats.org/drawingml/2006/main">
              <a:ext uri="{FF2B5EF4-FFF2-40B4-BE49-F238E27FC236}">
                <a16:creationId xmlns:a16="http://schemas.microsoft.com/office/drawing/2014/main" id="{5C98D721-7F1C-47E9-8F0E-9D0EBDBF8E43}"/>
              </a:ext>
            </a:extLst>
          </p:cNvPr>
          <p:cNvSpPr>
            <a:spLocks xmlns:a="http://schemas.openxmlformats.org/drawingml/2006/main" noGrp="1"/>
          </p:cNvSpPr>
          <p:nvPr>
            <p:ph type="title" idx="0"/>
          </p:nvPr>
        </p:nvSpPr>
        <p:spPr>
          <a:xfrm xmlns:a="http://schemas.openxmlformats.org/drawingml/2006/main">
            <a:off x="1097280" y="286603"/>
            <a:ext cx="10058400" cy="14507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85000"/>
              </a:lnSpc>
              <a:spcBef>
                <a:spcPts val="0"/>
              </a:spcBef>
              <a:spcAft>
                <a:spcPts val="0"/>
              </a:spcAft>
              <a:buClr>
                <a:srgbClr val="3F3F3F"/>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6" name="Google Shape;66;p20">
            <a:extLst xmlns:a="http://schemas.openxmlformats.org/drawingml/2006/main">
              <a:ext uri="{FF2B5EF4-FFF2-40B4-BE49-F238E27FC236}">
                <a16:creationId xmlns:a16="http://schemas.microsoft.com/office/drawing/2014/main" id="{2C974CD5-128A-4901-BBE5-1ADBF2827517}"/>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20">
            <a:extLst xmlns:a="http://schemas.openxmlformats.org/drawingml/2006/main">
              <a:ext uri="{FF2B5EF4-FFF2-40B4-BE49-F238E27FC236}">
                <a16:creationId xmlns:a16="http://schemas.microsoft.com/office/drawing/2014/main" id="{14259FD6-0A3D-48D4-B532-D989189395F5}"/>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20">
            <a:extLst xmlns:a="http://schemas.openxmlformats.org/drawingml/2006/main">
              <a:ext uri="{FF2B5EF4-FFF2-40B4-BE49-F238E27FC236}">
                <a16:creationId xmlns:a16="http://schemas.microsoft.com/office/drawing/2014/main" id="{D0C45798-D6D8-4CA8-BFC8-F0D6E4416660}"/>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showMasterSp="0" matchingName="Content with Caption" type="objTx">
  <p:cSld name="OBJECT_WITH_CAPTION_TEXT">
    <p:spTree>
      <p:nvGrpSpPr>
        <p:cNvPr id="1" name=""/>
        <p:cNvGrpSpPr/>
        <p:nvPr/>
      </p:nvGrpSpPr>
      <p:grpSpPr>
        <a:xfrm xmlns:a="http://schemas.openxmlformats.org/drawingml/2006/main"/>
      </p:grpSpPr>
      <p:sp>
        <p:nvSpPr>
          <p:cNvPr id="70" name="Google Shape;70;p21">
            <a:extLst xmlns:a="http://schemas.openxmlformats.org/drawingml/2006/main">
              <a:ext uri="{FF2B5EF4-FFF2-40B4-BE49-F238E27FC236}">
                <a16:creationId xmlns:a16="http://schemas.microsoft.com/office/drawing/2014/main" id="{FF434089-034E-45A6-876A-141D8EDB30CE}"/>
              </a:ext>
            </a:extLst>
          </p:cNvPr>
          <p:cNvSpPr>
            <a:spLocks xmlns:a="http://schemas.openxmlformats.org/drawingml/2006/main" noGrp="1"/>
          </p:cNvSpPr>
          <p:nvPr/>
        </p:nvSpPr>
        <p:spPr>
          <a:xfrm xmlns:a="http://schemas.openxmlformats.org/drawingml/2006/main">
            <a:off x="16" y="0"/>
            <a:ext cx="4050791" cy="6858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71" name="Google Shape;71;p21">
            <a:extLst xmlns:a="http://schemas.openxmlformats.org/drawingml/2006/main">
              <a:ext uri="{FF2B5EF4-FFF2-40B4-BE49-F238E27FC236}">
                <a16:creationId xmlns:a16="http://schemas.microsoft.com/office/drawing/2014/main" id="{73E0B81D-21D5-4590-8E0C-221A848395AD}"/>
              </a:ext>
            </a:extLst>
          </p:cNvPr>
          <p:cNvSpPr>
            <a:spLocks xmlns:a="http://schemas.openxmlformats.org/drawingml/2006/main" noGrp="1"/>
          </p:cNvSpPr>
          <p:nvPr/>
        </p:nvSpPr>
        <p:spPr>
          <a:xfrm xmlns:a="http://schemas.openxmlformats.org/drawingml/2006/main">
            <a:off x="4040071" y="0"/>
            <a:ext cx="64008"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72" name="Google Shape;72;p21">
            <a:extLst xmlns:a="http://schemas.openxmlformats.org/drawingml/2006/main">
              <a:ext uri="{FF2B5EF4-FFF2-40B4-BE49-F238E27FC236}">
                <a16:creationId xmlns:a16="http://schemas.microsoft.com/office/drawing/2014/main" id="{E00E17DB-C400-40E6-AF91-4FD4CF09CAB5}"/>
              </a:ext>
            </a:extLst>
          </p:cNvPr>
          <p:cNvSpPr>
            <a:spLocks xmlns:a="http://schemas.openxmlformats.org/drawingml/2006/main" noGrp="1"/>
          </p:cNvSpPr>
          <p:nvPr>
            <p:ph type="title" idx="0"/>
          </p:nvPr>
        </p:nvSpPr>
        <p:spPr>
          <a:xfrm xmlns:a="http://schemas.openxmlformats.org/drawingml/2006/main">
            <a:off x="457200" y="594359"/>
            <a:ext cx="3200400" cy="228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85000"/>
              </a:lnSpc>
              <a:spcBef>
                <a:spcPts val="0"/>
              </a:spcBef>
              <a:spcAft>
                <a:spcPts val="0"/>
              </a:spcAft>
              <a:buClr>
                <a:srgbClr val="FFFFFF"/>
              </a:buClr>
              <a:buSzPts val="3600"/>
              <a:buFont typeface="Calibri"/>
              <a:buNone/>
              <a:defRPr sz="3600" b="0">
                <a:solidFill>
                  <a:srgbClr val="FFFFFF"/>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3" name="Google Shape;73;p21">
            <a:extLst xmlns:a="http://schemas.openxmlformats.org/drawingml/2006/main">
              <a:ext uri="{FF2B5EF4-FFF2-40B4-BE49-F238E27FC236}">
                <a16:creationId xmlns:a16="http://schemas.microsoft.com/office/drawing/2014/main" id="{B5FF9184-E268-492E-9159-47B2E3AEDB85}"/>
              </a:ext>
            </a:extLst>
          </p:cNvPr>
          <p:cNvSpPr>
            <a:spLocks xmlns:a="http://schemas.openxmlformats.org/drawingml/2006/main" noGrp="1"/>
          </p:cNvSpPr>
          <p:nvPr>
            <p:ph type="body" idx="1"/>
          </p:nvPr>
        </p:nvSpPr>
        <p:spPr>
          <a:xfrm xmlns:a="http://schemas.openxmlformats.org/drawingml/2006/main">
            <a:off x="4800600" y="731520"/>
            <a:ext cx="6492240" cy="525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45700" rIns="0" bIns="45700" anchor="t">
            <a:normAutofit/>
          </a:bodyPr>
          <a:lstStyle xmlns:a="http://schemas.openxmlformats.org/drawingml/2006/main">
            <a:lvl1pPr marL="457200" indent="-342900" algn="l">
              <a:lnSpc>
                <a:spcPct val="90000"/>
              </a:lnSpc>
              <a:spcBef>
                <a:spcPts val="1200"/>
              </a:spcBef>
              <a:spcAft>
                <a:spcPts val="0"/>
              </a:spcAft>
              <a:buSzPts val="1800"/>
              <a:buChar char=" "/>
              <a:defRPr/>
            </a:lvl1pPr>
            <a:lvl2pPr marL="914400" indent="-342900" algn="l">
              <a:lnSpc>
                <a:spcPct val="90000"/>
              </a:lnSpc>
              <a:spcBef>
                <a:spcPts val="200"/>
              </a:spcBef>
              <a:spcAft>
                <a:spcPts val="0"/>
              </a:spcAft>
              <a:buSzPts val="1800"/>
              <a:buChar char="◦"/>
              <a:defRPr/>
            </a:lvl2pPr>
            <a:lvl3pPr marL="1371600" indent="-342900" algn="l">
              <a:lnSpc>
                <a:spcPct val="90000"/>
              </a:lnSpc>
              <a:spcBef>
                <a:spcPts val="400"/>
              </a:spcBef>
              <a:spcAft>
                <a:spcPts val="0"/>
              </a:spcAft>
              <a:buSzPts val="1800"/>
              <a:buChar char="◦"/>
              <a:defRPr/>
            </a:lvl3pPr>
            <a:lvl4pPr marL="1828800" indent="-342900" algn="l">
              <a:lnSpc>
                <a:spcPct val="90000"/>
              </a:lnSpc>
              <a:spcBef>
                <a:spcPts val="400"/>
              </a:spcBef>
              <a:spcAft>
                <a:spcPts val="0"/>
              </a:spcAft>
              <a:buSzPts val="1800"/>
              <a:buChar char="◦"/>
              <a:defRPr/>
            </a:lvl4pPr>
            <a:lvl5pPr marL="2286000" indent="-342900" algn="l">
              <a:lnSpc>
                <a:spcPct val="90000"/>
              </a:lnSpc>
              <a:spcBef>
                <a:spcPts val="400"/>
              </a:spcBef>
              <a:spcAft>
                <a:spcPts val="0"/>
              </a:spcAft>
              <a:buSzPts val="1800"/>
              <a:buChar char="◦"/>
              <a:defRPr/>
            </a:lvl5pPr>
            <a:lvl6pPr marL="2743200" indent="-342900" algn="l">
              <a:lnSpc>
                <a:spcPct val="90000"/>
              </a:lnSpc>
              <a:spcBef>
                <a:spcPts val="400"/>
              </a:spcBef>
              <a:spcAft>
                <a:spcPts val="0"/>
              </a:spcAft>
              <a:buSzPts val="1800"/>
              <a:buChar char="◦"/>
              <a:defRPr/>
            </a:lvl6pPr>
            <a:lvl7pPr marL="3200400" indent="-342900" algn="l">
              <a:lnSpc>
                <a:spcPct val="90000"/>
              </a:lnSpc>
              <a:spcBef>
                <a:spcPts val="400"/>
              </a:spcBef>
              <a:spcAft>
                <a:spcPts val="0"/>
              </a:spcAft>
              <a:buSzPts val="1800"/>
              <a:buChar char="◦"/>
              <a:defRPr/>
            </a:lvl7pPr>
            <a:lvl8pPr marL="3657600" indent="-342900" algn="l">
              <a:lnSpc>
                <a:spcPct val="90000"/>
              </a:lnSpc>
              <a:spcBef>
                <a:spcPts val="400"/>
              </a:spcBef>
              <a:spcAft>
                <a:spcPts val="0"/>
              </a:spcAft>
              <a:buSzPts val="1800"/>
              <a:buChar char="◦"/>
              <a:defRPr/>
            </a:lvl8pPr>
            <a:lvl9pPr marL="4114800" indent="-342900" algn="l">
              <a:lnSpc>
                <a:spcPct val="90000"/>
              </a:lnSpc>
              <a:spcBef>
                <a:spcPts val="400"/>
              </a:spcBef>
              <a:spcAft>
                <a:spcPts val="400"/>
              </a:spcAft>
              <a:buSzPts val="1800"/>
              <a:buChar char="◦"/>
              <a:defRPr/>
            </a:lvl9pPr>
          </a:lstStyle>
          <a:p xmlns:a="http://schemas.openxmlformats.org/drawingml/2006/main">
            <a:endParaRPr/>
          </a:p>
        </p:txBody>
      </p:sp>
      <p:sp>
        <p:nvSpPr>
          <p:cNvPr id="74" name="Google Shape;74;p21">
            <a:extLst xmlns:a="http://schemas.openxmlformats.org/drawingml/2006/main">
              <a:ext uri="{FF2B5EF4-FFF2-40B4-BE49-F238E27FC236}">
                <a16:creationId xmlns:a16="http://schemas.microsoft.com/office/drawing/2014/main" id="{E6687581-7942-46BB-B4E5-8552008FA9CC}"/>
              </a:ext>
            </a:extLst>
          </p:cNvPr>
          <p:cNvSpPr>
            <a:spLocks xmlns:a="http://schemas.openxmlformats.org/drawingml/2006/main" noGrp="1"/>
          </p:cNvSpPr>
          <p:nvPr>
            <p:ph type="body" idx="2"/>
          </p:nvPr>
        </p:nvSpPr>
        <p:spPr>
          <a:xfrm xmlns:a="http://schemas.openxmlformats.org/drawingml/2006/main">
            <a:off x="457200" y="2926080"/>
            <a:ext cx="3200400" cy="33791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200"/>
              </a:spcBef>
              <a:spcAft>
                <a:spcPts val="0"/>
              </a:spcAft>
              <a:buSzPts val="1500"/>
              <a:buNone/>
              <a:defRPr sz="1500">
                <a:solidFill>
                  <a:srgbClr val="FFFFFF"/>
                </a:solidFill>
              </a:defRPr>
            </a:lvl1pPr>
            <a:lvl2pPr marL="914400" indent="-228600" algn="l">
              <a:lnSpc>
                <a:spcPct val="90000"/>
              </a:lnSpc>
              <a:spcBef>
                <a:spcPts val="200"/>
              </a:spcBef>
              <a:spcAft>
                <a:spcPts val="0"/>
              </a:spcAft>
              <a:buSzPts val="1200"/>
              <a:buNone/>
              <a:defRPr sz="1200"/>
            </a:lvl2pPr>
            <a:lvl3pPr marL="1371600" indent="-228600" algn="l">
              <a:lnSpc>
                <a:spcPct val="90000"/>
              </a:lnSpc>
              <a:spcBef>
                <a:spcPts val="400"/>
              </a:spcBef>
              <a:spcAft>
                <a:spcPts val="0"/>
              </a:spcAft>
              <a:buSzPts val="1000"/>
              <a:buNone/>
              <a:defRPr sz="1000"/>
            </a:lvl3pPr>
            <a:lvl4pPr marL="1828800" indent="-228600" algn="l">
              <a:lnSpc>
                <a:spcPct val="90000"/>
              </a:lnSpc>
              <a:spcBef>
                <a:spcPts val="400"/>
              </a:spcBef>
              <a:spcAft>
                <a:spcPts val="0"/>
              </a:spcAft>
              <a:buSzPts val="900"/>
              <a:buNone/>
              <a:defRPr sz="900"/>
            </a:lvl4pPr>
            <a:lvl5pPr marL="2286000" indent="-228600" algn="l">
              <a:lnSpc>
                <a:spcPct val="90000"/>
              </a:lnSpc>
              <a:spcBef>
                <a:spcPts val="400"/>
              </a:spcBef>
              <a:spcAft>
                <a:spcPts val="0"/>
              </a:spcAft>
              <a:buSzPts val="900"/>
              <a:buNone/>
              <a:defRPr sz="900"/>
            </a:lvl5pPr>
            <a:lvl6pPr marL="2743200" indent="-228600" algn="l">
              <a:lnSpc>
                <a:spcPct val="90000"/>
              </a:lnSpc>
              <a:spcBef>
                <a:spcPts val="400"/>
              </a:spcBef>
              <a:spcAft>
                <a:spcPts val="0"/>
              </a:spcAft>
              <a:buSzPts val="900"/>
              <a:buNone/>
              <a:defRPr sz="900"/>
            </a:lvl6pPr>
            <a:lvl7pPr marL="3200400" indent="-228600" algn="l">
              <a:lnSpc>
                <a:spcPct val="90000"/>
              </a:lnSpc>
              <a:spcBef>
                <a:spcPts val="400"/>
              </a:spcBef>
              <a:spcAft>
                <a:spcPts val="0"/>
              </a:spcAft>
              <a:buSzPts val="900"/>
              <a:buNone/>
              <a:defRPr sz="900"/>
            </a:lvl7pPr>
            <a:lvl8pPr marL="3657600" indent="-228600" algn="l">
              <a:lnSpc>
                <a:spcPct val="90000"/>
              </a:lnSpc>
              <a:spcBef>
                <a:spcPts val="400"/>
              </a:spcBef>
              <a:spcAft>
                <a:spcPts val="0"/>
              </a:spcAft>
              <a:buSzPts val="900"/>
              <a:buNone/>
              <a:defRPr sz="900"/>
            </a:lvl8pPr>
            <a:lvl9pPr marL="4114800" indent="-228600" algn="l">
              <a:lnSpc>
                <a:spcPct val="90000"/>
              </a:lnSpc>
              <a:spcBef>
                <a:spcPts val="400"/>
              </a:spcBef>
              <a:spcAft>
                <a:spcPts val="400"/>
              </a:spcAft>
              <a:buSzPts val="900"/>
              <a:buNone/>
              <a:defRPr sz="900"/>
            </a:lvl9pPr>
          </a:lstStyle>
          <a:p xmlns:a="http://schemas.openxmlformats.org/drawingml/2006/main">
            <a:endParaRPr/>
          </a:p>
        </p:txBody>
      </p:sp>
      <p:sp>
        <p:nvSpPr>
          <p:cNvPr id="75" name="Google Shape;75;p21">
            <a:extLst xmlns:a="http://schemas.openxmlformats.org/drawingml/2006/main">
              <a:ext uri="{FF2B5EF4-FFF2-40B4-BE49-F238E27FC236}">
                <a16:creationId xmlns:a16="http://schemas.microsoft.com/office/drawing/2014/main" id="{4D2A6FB2-AD3E-4074-8F73-005C16272350}"/>
              </a:ext>
            </a:extLst>
          </p:cNvPr>
          <p:cNvSpPr>
            <a:spLocks xmlns:a="http://schemas.openxmlformats.org/drawingml/2006/main" noGrp="1"/>
          </p:cNvSpPr>
          <p:nvPr>
            <p:ph type="dt" idx="10"/>
          </p:nvPr>
        </p:nvSpPr>
        <p:spPr>
          <a:xfrm xmlns:a="http://schemas.openxmlformats.org/drawingml/2006/main">
            <a:off x="465512" y="6459785"/>
            <a:ext cx="261851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6" name="Google Shape;76;p21">
            <a:extLst xmlns:a="http://schemas.openxmlformats.org/drawingml/2006/main">
              <a:ext uri="{FF2B5EF4-FFF2-40B4-BE49-F238E27FC236}">
                <a16:creationId xmlns:a16="http://schemas.microsoft.com/office/drawing/2014/main" id="{430E8616-0951-4FC6-A5AD-44F43C3F9E12}"/>
              </a:ext>
            </a:extLst>
          </p:cNvPr>
          <p:cNvSpPr>
            <a:spLocks xmlns:a="http://schemas.openxmlformats.org/drawingml/2006/main" noGrp="1"/>
          </p:cNvSpPr>
          <p:nvPr>
            <p:ph type="ftr" idx="11"/>
          </p:nvPr>
        </p:nvSpPr>
        <p:spPr>
          <a:xfrm xmlns:a="http://schemas.openxmlformats.org/drawingml/2006/main">
            <a:off x="4800600" y="6459785"/>
            <a:ext cx="4648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2"/>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7" name="Google Shape;77;p21">
            <a:extLst xmlns:a="http://schemas.openxmlformats.org/drawingml/2006/main">
              <a:ext uri="{FF2B5EF4-FFF2-40B4-BE49-F238E27FC236}">
                <a16:creationId xmlns:a16="http://schemas.microsoft.com/office/drawing/2014/main" id="{2C701B40-9BB4-43A2-B82F-2CA1A65C8077}"/>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defRPr>
            </a:lvl1pPr>
            <a:lvl2pPr marL="0" marR="0"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defRPr>
            </a:lvl2pPr>
            <a:lvl3pPr marL="0" marR="0"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defRPr>
            </a:lvl3pPr>
            <a:lvl4pPr marL="0" marR="0"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defRPr>
            </a:lvl4pPr>
            <a:lvl5pPr marL="0" marR="0"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defRPr>
            </a:lvl5pPr>
            <a:lvl6pPr marL="0" marR="0"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defRPr>
            </a:lvl6pPr>
            <a:lvl7pPr marL="0" marR="0"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defRPr>
            </a:lvl7pPr>
            <a:lvl8pPr marL="0" marR="0"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defRPr>
            </a:lvl8pPr>
            <a:lvl9pPr marL="0" marR="0"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showMasterSp="0" matchingName="Picture with Caption" type="picTx">
  <p:cSld name="PICTURE_WITH_CAPTION_TEXT">
    <p:spTree>
      <p:nvGrpSpPr>
        <p:cNvPr id="1" name=""/>
        <p:cNvGrpSpPr/>
        <p:nvPr/>
      </p:nvGrpSpPr>
      <p:grpSpPr>
        <a:xfrm xmlns:a="http://schemas.openxmlformats.org/drawingml/2006/main"/>
      </p:grpSpPr>
      <p:sp>
        <p:nvSpPr>
          <p:cNvPr id="79" name="Google Shape;79;p22">
            <a:extLst xmlns:a="http://schemas.openxmlformats.org/drawingml/2006/main">
              <a:ext uri="{FF2B5EF4-FFF2-40B4-BE49-F238E27FC236}">
                <a16:creationId xmlns:a16="http://schemas.microsoft.com/office/drawing/2014/main" id="{200B9B33-734B-4214-826B-F1C008698F85}"/>
              </a:ext>
            </a:extLst>
          </p:cNvPr>
          <p:cNvSpPr>
            <a:spLocks xmlns:a="http://schemas.openxmlformats.org/drawingml/2006/main" noGrp="1"/>
          </p:cNvSpPr>
          <p:nvPr/>
        </p:nvSpPr>
        <p:spPr>
          <a:xfrm xmlns:a="http://schemas.openxmlformats.org/drawingml/2006/main">
            <a:off x="0" y="4953000"/>
            <a:ext cx="12188825" cy="19050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80" name="Google Shape;80;p22">
            <a:extLst xmlns:a="http://schemas.openxmlformats.org/drawingml/2006/main">
              <a:ext uri="{FF2B5EF4-FFF2-40B4-BE49-F238E27FC236}">
                <a16:creationId xmlns:a16="http://schemas.microsoft.com/office/drawing/2014/main" id="{294B9563-B4A6-47EE-B46E-FB1A4374E916}"/>
              </a:ext>
            </a:extLst>
          </p:cNvPr>
          <p:cNvSpPr>
            <a:spLocks xmlns:a="http://schemas.openxmlformats.org/drawingml/2006/main" noGrp="1"/>
          </p:cNvSpPr>
          <p:nvPr/>
        </p:nvSpPr>
        <p:spPr>
          <a:xfrm xmlns:a="http://schemas.openxmlformats.org/drawingml/2006/main">
            <a:off x="15" y="4915076"/>
            <a:ext cx="12188825" cy="64008"/>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81" name="Google Shape;81;p22">
            <a:extLst xmlns:a="http://schemas.openxmlformats.org/drawingml/2006/main">
              <a:ext uri="{FF2B5EF4-FFF2-40B4-BE49-F238E27FC236}">
                <a16:creationId xmlns:a16="http://schemas.microsoft.com/office/drawing/2014/main" id="{46608097-9961-4902-ACCB-572AA6CDC499}"/>
              </a:ext>
            </a:extLst>
          </p:cNvPr>
          <p:cNvSpPr>
            <a:spLocks xmlns:a="http://schemas.openxmlformats.org/drawingml/2006/main" noGrp="1"/>
          </p:cNvSpPr>
          <p:nvPr>
            <p:ph type="title" idx="0"/>
          </p:nvPr>
        </p:nvSpPr>
        <p:spPr>
          <a:xfrm xmlns:a="http://schemas.openxmlformats.org/drawingml/2006/main">
            <a:off x="1097280" y="5074920"/>
            <a:ext cx="10113264"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0" rIns="91425" bIns="0" anchor="b">
            <a:noAutofit/>
          </a:bodyPr>
          <a:lstStyle xmlns:a="http://schemas.openxmlformats.org/drawingml/2006/main">
            <a:lvl1pPr algn="l">
              <a:lnSpc>
                <a:spcPct val="85000"/>
              </a:lnSpc>
              <a:spcBef>
                <a:spcPts val="0"/>
              </a:spcBef>
              <a:spcAft>
                <a:spcPts val="0"/>
              </a:spcAft>
              <a:buClr>
                <a:srgbClr val="FFFFFF"/>
              </a:buClr>
              <a:buSzPts val="3600"/>
              <a:buFont typeface="Calibri"/>
              <a:buNone/>
              <a:defRPr sz="3600" b="0">
                <a:solidFill>
                  <a:srgbClr val="FFFFFF"/>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2" name="Google Shape;82;p22">
            <a:extLst xmlns:a="http://schemas.openxmlformats.org/drawingml/2006/main">
              <a:ext uri="{FF2B5EF4-FFF2-40B4-BE49-F238E27FC236}">
                <a16:creationId xmlns:a16="http://schemas.microsoft.com/office/drawing/2014/main" id="{6992D3C1-8B9A-4F46-B01D-EE45E22C6A77}"/>
              </a:ext>
            </a:extLst>
          </p:cNvPr>
          <p:cNvSpPr>
            <a:spLocks xmlns:a="http://schemas.openxmlformats.org/drawingml/2006/main" noGrp="1"/>
          </p:cNvSpPr>
          <p:nvPr>
            <p:ph type="pic" idx="2"/>
          </p:nvPr>
        </p:nvSpPr>
        <p:spPr>
          <a:xfrm xmlns:a="http://schemas.openxmlformats.org/drawingml/2006/main">
            <a:off x="15" y="0"/>
            <a:ext cx="12191985" cy="4915076"/>
          </a:xfrm>
          <a:prstGeom xmlns:a="http://schemas.openxmlformats.org/drawingml/2006/main" prst="rect">
            <a:avLst/>
          </a:prstGeom>
          <a:noFill xmlns:a="http://schemas.openxmlformats.org/drawingml/2006/main"/>
          <a:ln xmlns:a="http://schemas.openxmlformats.org/drawingml/2006/main">
            <a:noFill/>
          </a:ln>
        </p:spPr>
      </p:sp>
      <p:sp>
        <p:nvSpPr>
          <p:cNvPr id="83" name="Google Shape;83;p22">
            <a:extLst xmlns:a="http://schemas.openxmlformats.org/drawingml/2006/main">
              <a:ext uri="{FF2B5EF4-FFF2-40B4-BE49-F238E27FC236}">
                <a16:creationId xmlns:a16="http://schemas.microsoft.com/office/drawing/2014/main" id="{A699CD8B-0919-4C7E-9863-B060381B9EA5}"/>
              </a:ext>
            </a:extLst>
          </p:cNvPr>
          <p:cNvSpPr>
            <a:spLocks xmlns:a="http://schemas.openxmlformats.org/drawingml/2006/main" noGrp="1"/>
          </p:cNvSpPr>
          <p:nvPr>
            <p:ph type="body" idx="1"/>
          </p:nvPr>
        </p:nvSpPr>
        <p:spPr>
          <a:xfrm xmlns:a="http://schemas.openxmlformats.org/drawingml/2006/main">
            <a:off x="1097280" y="5907023"/>
            <a:ext cx="10113264"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0" rIns="91425" bIns="0" anchor="t">
            <a:normAutofit/>
          </a:bodyPr>
          <a:lstStyle xmlns:a="http://schemas.openxmlformats.org/drawingml/2006/main">
            <a:lvl1pPr marL="457200" indent="-228600" algn="l">
              <a:lnSpc>
                <a:spcPct val="90000"/>
              </a:lnSpc>
              <a:spcBef>
                <a:spcPts val="0"/>
              </a:spcBef>
              <a:spcAft>
                <a:spcPts val="0"/>
              </a:spcAft>
              <a:buSzPts val="1500"/>
              <a:buNone/>
              <a:defRPr sz="1500">
                <a:solidFill>
                  <a:srgbClr val="FFFFFF"/>
                </a:solidFill>
              </a:defRPr>
            </a:lvl1pPr>
            <a:lvl2pPr marL="914400" indent="-228600" algn="l">
              <a:lnSpc>
                <a:spcPct val="90000"/>
              </a:lnSpc>
              <a:spcBef>
                <a:spcPts val="600"/>
              </a:spcBef>
              <a:spcAft>
                <a:spcPts val="0"/>
              </a:spcAft>
              <a:buSzPts val="1200"/>
              <a:buNone/>
              <a:defRPr sz="1200"/>
            </a:lvl2pPr>
            <a:lvl3pPr marL="1371600" indent="-228600" algn="l">
              <a:lnSpc>
                <a:spcPct val="90000"/>
              </a:lnSpc>
              <a:spcBef>
                <a:spcPts val="400"/>
              </a:spcBef>
              <a:spcAft>
                <a:spcPts val="0"/>
              </a:spcAft>
              <a:buSzPts val="1000"/>
              <a:buNone/>
              <a:defRPr sz="1000"/>
            </a:lvl3pPr>
            <a:lvl4pPr marL="1828800" indent="-228600" algn="l">
              <a:lnSpc>
                <a:spcPct val="90000"/>
              </a:lnSpc>
              <a:spcBef>
                <a:spcPts val="400"/>
              </a:spcBef>
              <a:spcAft>
                <a:spcPts val="0"/>
              </a:spcAft>
              <a:buSzPts val="900"/>
              <a:buNone/>
              <a:defRPr sz="900"/>
            </a:lvl4pPr>
            <a:lvl5pPr marL="2286000" indent="-228600" algn="l">
              <a:lnSpc>
                <a:spcPct val="90000"/>
              </a:lnSpc>
              <a:spcBef>
                <a:spcPts val="400"/>
              </a:spcBef>
              <a:spcAft>
                <a:spcPts val="0"/>
              </a:spcAft>
              <a:buSzPts val="900"/>
              <a:buNone/>
              <a:defRPr sz="900"/>
            </a:lvl5pPr>
            <a:lvl6pPr marL="2743200" indent="-228600" algn="l">
              <a:lnSpc>
                <a:spcPct val="90000"/>
              </a:lnSpc>
              <a:spcBef>
                <a:spcPts val="400"/>
              </a:spcBef>
              <a:spcAft>
                <a:spcPts val="0"/>
              </a:spcAft>
              <a:buSzPts val="900"/>
              <a:buNone/>
              <a:defRPr sz="900"/>
            </a:lvl6pPr>
            <a:lvl7pPr marL="3200400" indent="-228600" algn="l">
              <a:lnSpc>
                <a:spcPct val="90000"/>
              </a:lnSpc>
              <a:spcBef>
                <a:spcPts val="400"/>
              </a:spcBef>
              <a:spcAft>
                <a:spcPts val="0"/>
              </a:spcAft>
              <a:buSzPts val="900"/>
              <a:buNone/>
              <a:defRPr sz="900"/>
            </a:lvl7pPr>
            <a:lvl8pPr marL="3657600" indent="-228600" algn="l">
              <a:lnSpc>
                <a:spcPct val="90000"/>
              </a:lnSpc>
              <a:spcBef>
                <a:spcPts val="400"/>
              </a:spcBef>
              <a:spcAft>
                <a:spcPts val="0"/>
              </a:spcAft>
              <a:buSzPts val="900"/>
              <a:buNone/>
              <a:defRPr sz="900"/>
            </a:lvl8pPr>
            <a:lvl9pPr marL="4114800" indent="-228600" algn="l">
              <a:lnSpc>
                <a:spcPct val="90000"/>
              </a:lnSpc>
              <a:spcBef>
                <a:spcPts val="400"/>
              </a:spcBef>
              <a:spcAft>
                <a:spcPts val="400"/>
              </a:spcAft>
              <a:buSzPts val="900"/>
              <a:buNone/>
              <a:defRPr sz="900"/>
            </a:lvl9pPr>
          </a:lstStyle>
          <a:p xmlns:a="http://schemas.openxmlformats.org/drawingml/2006/main">
            <a:endParaRPr/>
          </a:p>
        </p:txBody>
      </p:sp>
      <p:sp>
        <p:nvSpPr>
          <p:cNvPr id="84" name="Google Shape;84;p22">
            <a:extLst xmlns:a="http://schemas.openxmlformats.org/drawingml/2006/main">
              <a:ext uri="{FF2B5EF4-FFF2-40B4-BE49-F238E27FC236}">
                <a16:creationId xmlns:a16="http://schemas.microsoft.com/office/drawing/2014/main" id="{78A42418-D9D5-4DDA-8A00-5AA25AB45AB0}"/>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5" name="Google Shape;85;p22">
            <a:extLst xmlns:a="http://schemas.openxmlformats.org/drawingml/2006/main">
              <a:ext uri="{FF2B5EF4-FFF2-40B4-BE49-F238E27FC236}">
                <a16:creationId xmlns:a16="http://schemas.microsoft.com/office/drawing/2014/main" id="{6AB4C661-7022-423E-93C1-62B50FA73766}"/>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22">
            <a:extLst xmlns:a="http://schemas.openxmlformats.org/drawingml/2006/main">
              <a:ext uri="{FF2B5EF4-FFF2-40B4-BE49-F238E27FC236}">
                <a16:creationId xmlns:a16="http://schemas.microsoft.com/office/drawing/2014/main" id="{4A922190-075D-4344-B8D1-1E0B84BD2D37}"/>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88" name="Google Shape;88;p23">
            <a:extLst xmlns:a="http://schemas.openxmlformats.org/drawingml/2006/main">
              <a:ext uri="{FF2B5EF4-FFF2-40B4-BE49-F238E27FC236}">
                <a16:creationId xmlns:a16="http://schemas.microsoft.com/office/drawing/2014/main" id="{5261DE8E-293A-431A-B9D1-08AE59D05822}"/>
              </a:ext>
            </a:extLst>
          </p:cNvPr>
          <p:cNvSpPr>
            <a:spLocks xmlns:a="http://schemas.openxmlformats.org/drawingml/2006/main" noGrp="1"/>
          </p:cNvSpPr>
          <p:nvPr>
            <p:ph type="title" idx="0"/>
          </p:nvPr>
        </p:nvSpPr>
        <p:spPr>
          <a:xfrm xmlns:a="http://schemas.openxmlformats.org/drawingml/2006/main">
            <a:off x="1097280" y="286603"/>
            <a:ext cx="10058400" cy="14507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85000"/>
              </a:lnSpc>
              <a:spcBef>
                <a:spcPts val="0"/>
              </a:spcBef>
              <a:spcAft>
                <a:spcPts val="0"/>
              </a:spcAft>
              <a:buClr>
                <a:srgbClr val="3F3F3F"/>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9" name="Google Shape;89;p23">
            <a:extLst xmlns:a="http://schemas.openxmlformats.org/drawingml/2006/main">
              <a:ext uri="{FF2B5EF4-FFF2-40B4-BE49-F238E27FC236}">
                <a16:creationId xmlns:a16="http://schemas.microsoft.com/office/drawing/2014/main" id="{492109F5-2CC1-4784-AC4E-5F4197DDD465}"/>
              </a:ext>
            </a:extLst>
          </p:cNvPr>
          <p:cNvSpPr>
            <a:spLocks xmlns:a="http://schemas.openxmlformats.org/drawingml/2006/main" noGrp="1"/>
          </p:cNvSpPr>
          <p:nvPr>
            <p:ph type="body" idx="1"/>
          </p:nvPr>
        </p:nvSpPr>
        <p:spPr>
          <a:xfrm xmlns:a="http://schemas.openxmlformats.org/drawingml/2006/main" rot="5400000">
            <a:off x="4114800" y="-1171786"/>
            <a:ext cx="4023360" cy="10058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700" tIns="0" rIns="45700" bIns="0" anchor="t">
            <a:normAutofit/>
          </a:bodyPr>
          <a:lstStyle xmlns:a="http://schemas.openxmlformats.org/drawingml/2006/main">
            <a:lvl1pPr marL="457200" indent="-342900" algn="l">
              <a:lnSpc>
                <a:spcPct val="90000"/>
              </a:lnSpc>
              <a:spcBef>
                <a:spcPts val="1200"/>
              </a:spcBef>
              <a:spcAft>
                <a:spcPts val="0"/>
              </a:spcAft>
              <a:buSzPts val="1800"/>
              <a:buChar char=" "/>
              <a:defRPr/>
            </a:lvl1pPr>
            <a:lvl2pPr marL="914400" indent="-342900" algn="l">
              <a:lnSpc>
                <a:spcPct val="90000"/>
              </a:lnSpc>
              <a:spcBef>
                <a:spcPts val="200"/>
              </a:spcBef>
              <a:spcAft>
                <a:spcPts val="0"/>
              </a:spcAft>
              <a:buSzPts val="1800"/>
              <a:buChar char="◦"/>
              <a:defRPr/>
            </a:lvl2pPr>
            <a:lvl3pPr marL="1371600" indent="-342900" algn="l">
              <a:lnSpc>
                <a:spcPct val="90000"/>
              </a:lnSpc>
              <a:spcBef>
                <a:spcPts val="400"/>
              </a:spcBef>
              <a:spcAft>
                <a:spcPts val="0"/>
              </a:spcAft>
              <a:buSzPts val="1800"/>
              <a:buChar char="◦"/>
              <a:defRPr/>
            </a:lvl3pPr>
            <a:lvl4pPr marL="1828800" indent="-342900" algn="l">
              <a:lnSpc>
                <a:spcPct val="90000"/>
              </a:lnSpc>
              <a:spcBef>
                <a:spcPts val="400"/>
              </a:spcBef>
              <a:spcAft>
                <a:spcPts val="0"/>
              </a:spcAft>
              <a:buSzPts val="1800"/>
              <a:buChar char="◦"/>
              <a:defRPr/>
            </a:lvl4pPr>
            <a:lvl5pPr marL="2286000" indent="-342900" algn="l">
              <a:lnSpc>
                <a:spcPct val="90000"/>
              </a:lnSpc>
              <a:spcBef>
                <a:spcPts val="400"/>
              </a:spcBef>
              <a:spcAft>
                <a:spcPts val="0"/>
              </a:spcAft>
              <a:buSzPts val="1800"/>
              <a:buChar char="◦"/>
              <a:defRPr/>
            </a:lvl5pPr>
            <a:lvl6pPr marL="2743200" indent="-342900" algn="l">
              <a:lnSpc>
                <a:spcPct val="90000"/>
              </a:lnSpc>
              <a:spcBef>
                <a:spcPts val="400"/>
              </a:spcBef>
              <a:spcAft>
                <a:spcPts val="0"/>
              </a:spcAft>
              <a:buSzPts val="1800"/>
              <a:buChar char="◦"/>
              <a:defRPr/>
            </a:lvl6pPr>
            <a:lvl7pPr marL="3200400" indent="-342900" algn="l">
              <a:lnSpc>
                <a:spcPct val="90000"/>
              </a:lnSpc>
              <a:spcBef>
                <a:spcPts val="400"/>
              </a:spcBef>
              <a:spcAft>
                <a:spcPts val="0"/>
              </a:spcAft>
              <a:buSzPts val="1800"/>
              <a:buChar char="◦"/>
              <a:defRPr/>
            </a:lvl7pPr>
            <a:lvl8pPr marL="3657600" indent="-342900" algn="l">
              <a:lnSpc>
                <a:spcPct val="90000"/>
              </a:lnSpc>
              <a:spcBef>
                <a:spcPts val="400"/>
              </a:spcBef>
              <a:spcAft>
                <a:spcPts val="0"/>
              </a:spcAft>
              <a:buSzPts val="1800"/>
              <a:buChar char="◦"/>
              <a:defRPr/>
            </a:lvl8pPr>
            <a:lvl9pPr marL="4114800" indent="-342900" algn="l">
              <a:lnSpc>
                <a:spcPct val="90000"/>
              </a:lnSpc>
              <a:spcBef>
                <a:spcPts val="400"/>
              </a:spcBef>
              <a:spcAft>
                <a:spcPts val="400"/>
              </a:spcAft>
              <a:buSzPts val="1800"/>
              <a:buChar char="◦"/>
              <a:defRPr/>
            </a:lvl9pPr>
          </a:lstStyle>
          <a:p xmlns:a="http://schemas.openxmlformats.org/drawingml/2006/main">
            <a:endParaRPr/>
          </a:p>
        </p:txBody>
      </p:sp>
      <p:sp>
        <p:nvSpPr>
          <p:cNvPr id="90" name="Google Shape;90;p23">
            <a:extLst xmlns:a="http://schemas.openxmlformats.org/drawingml/2006/main">
              <a:ext uri="{FF2B5EF4-FFF2-40B4-BE49-F238E27FC236}">
                <a16:creationId xmlns:a16="http://schemas.microsoft.com/office/drawing/2014/main" id="{D0C4C105-E7DA-43E4-9DC7-77BF047350A2}"/>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91" name="Google Shape;91;p23">
            <a:extLst xmlns:a="http://schemas.openxmlformats.org/drawingml/2006/main">
              <a:ext uri="{FF2B5EF4-FFF2-40B4-BE49-F238E27FC236}">
                <a16:creationId xmlns:a16="http://schemas.microsoft.com/office/drawing/2014/main" id="{8B54575C-FAB3-4EC6-9D6D-D2647CCA10CE}"/>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92" name="Google Shape;92;p23">
            <a:extLst xmlns:a="http://schemas.openxmlformats.org/drawingml/2006/main">
              <a:ext uri="{FF2B5EF4-FFF2-40B4-BE49-F238E27FC236}">
                <a16:creationId xmlns:a16="http://schemas.microsoft.com/office/drawing/2014/main" id="{B0F6AA8A-F8F6-4EC1-8B70-6A2AE0F4AF5F}"/>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showMasterSp="0" matchingName="Vertical Title and Text" type="vertTitleAndTx">
  <p:cSld name="VERTICAL_TITLE_AND_VERTICAL_TEXT">
    <p:spTree>
      <p:nvGrpSpPr>
        <p:cNvPr id="1" name=""/>
        <p:cNvGrpSpPr/>
        <p:nvPr/>
      </p:nvGrpSpPr>
      <p:grpSpPr>
        <a:xfrm xmlns:a="http://schemas.openxmlformats.org/drawingml/2006/main"/>
      </p:grpSpPr>
      <p:sp>
        <p:nvSpPr>
          <p:cNvPr id="94" name="Google Shape;94;p24">
            <a:extLst xmlns:a="http://schemas.openxmlformats.org/drawingml/2006/main">
              <a:ext uri="{FF2B5EF4-FFF2-40B4-BE49-F238E27FC236}">
                <a16:creationId xmlns:a16="http://schemas.microsoft.com/office/drawing/2014/main" id="{4003F0C7-E47D-41F7-86B6-0CF33BA96871}"/>
              </a:ext>
            </a:extLst>
          </p:cNvPr>
          <p:cNvSpPr>
            <a:spLocks xmlns:a="http://schemas.openxmlformats.org/drawingml/2006/main" noGrp="1"/>
          </p:cNvSpPr>
          <p:nvPr/>
        </p:nvSpPr>
        <p:spPr>
          <a:xfrm xmlns:a="http://schemas.openxmlformats.org/drawingml/2006/main">
            <a:off x="3175" y="6400800"/>
            <a:ext cx="12188825" cy="4572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95" name="Google Shape;95;p24">
            <a:extLst xmlns:a="http://schemas.openxmlformats.org/drawingml/2006/main">
              <a:ext uri="{FF2B5EF4-FFF2-40B4-BE49-F238E27FC236}">
                <a16:creationId xmlns:a16="http://schemas.microsoft.com/office/drawing/2014/main" id="{8C2F1761-BF93-40FB-8DAB-8E9845BC52F5}"/>
              </a:ext>
            </a:extLst>
          </p:cNvPr>
          <p:cNvSpPr>
            <a:spLocks xmlns:a="http://schemas.openxmlformats.org/drawingml/2006/main" noGrp="1"/>
          </p:cNvSpPr>
          <p:nvPr/>
        </p:nvSpPr>
        <p:spPr>
          <a:xfrm xmlns:a="http://schemas.openxmlformats.org/drawingml/2006/main">
            <a:off x="15" y="6334316"/>
            <a:ext cx="12188825" cy="64008"/>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96" name="Google Shape;96;p24">
            <a:extLst xmlns:a="http://schemas.openxmlformats.org/drawingml/2006/main">
              <a:ext uri="{FF2B5EF4-FFF2-40B4-BE49-F238E27FC236}">
                <a16:creationId xmlns:a16="http://schemas.microsoft.com/office/drawing/2014/main" id="{FC77A428-8F4A-41CE-8391-FA6FECDA548C}"/>
              </a:ext>
            </a:extLst>
          </p:cNvPr>
          <p:cNvSpPr>
            <a:spLocks xmlns:a="http://schemas.openxmlformats.org/drawingml/2006/main" noGrp="1"/>
          </p:cNvSpPr>
          <p:nvPr>
            <p:ph type="title" idx="0"/>
          </p:nvPr>
        </p:nvSpPr>
        <p:spPr>
          <a:xfrm xmlns:a="http://schemas.openxmlformats.org/drawingml/2006/main" rot="5400000">
            <a:off x="7160640" y="1979039"/>
            <a:ext cx="5757421" cy="262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85000"/>
              </a:lnSpc>
              <a:spcBef>
                <a:spcPts val="0"/>
              </a:spcBef>
              <a:spcAft>
                <a:spcPts val="0"/>
              </a:spcAft>
              <a:buClr>
                <a:srgbClr val="3F3F3F"/>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97" name="Google Shape;97;p24">
            <a:extLst xmlns:a="http://schemas.openxmlformats.org/drawingml/2006/main">
              <a:ext uri="{FF2B5EF4-FFF2-40B4-BE49-F238E27FC236}">
                <a16:creationId xmlns:a16="http://schemas.microsoft.com/office/drawing/2014/main" id="{58737EF2-6C25-4616-AD63-96D880E203F8}"/>
              </a:ext>
            </a:extLst>
          </p:cNvPr>
          <p:cNvSpPr>
            <a:spLocks xmlns:a="http://schemas.openxmlformats.org/drawingml/2006/main" noGrp="1"/>
          </p:cNvSpPr>
          <p:nvPr>
            <p:ph type="body" idx="1"/>
          </p:nvPr>
        </p:nvSpPr>
        <p:spPr>
          <a:xfrm xmlns:a="http://schemas.openxmlformats.org/drawingml/2006/main" rot="5400000">
            <a:off x="1826639" y="-573661"/>
            <a:ext cx="5757422" cy="773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700" tIns="0" rIns="45700" bIns="0" anchor="t">
            <a:normAutofit/>
          </a:bodyPr>
          <a:lstStyle xmlns:a="http://schemas.openxmlformats.org/drawingml/2006/main">
            <a:lvl1pPr marL="457200" indent="-342900" algn="l">
              <a:lnSpc>
                <a:spcPct val="90000"/>
              </a:lnSpc>
              <a:spcBef>
                <a:spcPts val="1200"/>
              </a:spcBef>
              <a:spcAft>
                <a:spcPts val="0"/>
              </a:spcAft>
              <a:buSzPts val="1800"/>
              <a:buChar char=" "/>
              <a:defRPr/>
            </a:lvl1pPr>
            <a:lvl2pPr marL="914400" indent="-342900" algn="l">
              <a:lnSpc>
                <a:spcPct val="90000"/>
              </a:lnSpc>
              <a:spcBef>
                <a:spcPts val="200"/>
              </a:spcBef>
              <a:spcAft>
                <a:spcPts val="0"/>
              </a:spcAft>
              <a:buSzPts val="1800"/>
              <a:buChar char="◦"/>
              <a:defRPr/>
            </a:lvl2pPr>
            <a:lvl3pPr marL="1371600" indent="-342900" algn="l">
              <a:lnSpc>
                <a:spcPct val="90000"/>
              </a:lnSpc>
              <a:spcBef>
                <a:spcPts val="400"/>
              </a:spcBef>
              <a:spcAft>
                <a:spcPts val="0"/>
              </a:spcAft>
              <a:buSzPts val="1800"/>
              <a:buChar char="◦"/>
              <a:defRPr/>
            </a:lvl3pPr>
            <a:lvl4pPr marL="1828800" indent="-342900" algn="l">
              <a:lnSpc>
                <a:spcPct val="90000"/>
              </a:lnSpc>
              <a:spcBef>
                <a:spcPts val="400"/>
              </a:spcBef>
              <a:spcAft>
                <a:spcPts val="0"/>
              </a:spcAft>
              <a:buSzPts val="1800"/>
              <a:buChar char="◦"/>
              <a:defRPr/>
            </a:lvl4pPr>
            <a:lvl5pPr marL="2286000" indent="-342900" algn="l">
              <a:lnSpc>
                <a:spcPct val="90000"/>
              </a:lnSpc>
              <a:spcBef>
                <a:spcPts val="400"/>
              </a:spcBef>
              <a:spcAft>
                <a:spcPts val="0"/>
              </a:spcAft>
              <a:buSzPts val="1800"/>
              <a:buChar char="◦"/>
              <a:defRPr/>
            </a:lvl5pPr>
            <a:lvl6pPr marL="2743200" indent="-342900" algn="l">
              <a:lnSpc>
                <a:spcPct val="90000"/>
              </a:lnSpc>
              <a:spcBef>
                <a:spcPts val="400"/>
              </a:spcBef>
              <a:spcAft>
                <a:spcPts val="0"/>
              </a:spcAft>
              <a:buSzPts val="1800"/>
              <a:buChar char="◦"/>
              <a:defRPr/>
            </a:lvl6pPr>
            <a:lvl7pPr marL="3200400" indent="-342900" algn="l">
              <a:lnSpc>
                <a:spcPct val="90000"/>
              </a:lnSpc>
              <a:spcBef>
                <a:spcPts val="400"/>
              </a:spcBef>
              <a:spcAft>
                <a:spcPts val="0"/>
              </a:spcAft>
              <a:buSzPts val="1800"/>
              <a:buChar char="◦"/>
              <a:defRPr/>
            </a:lvl7pPr>
            <a:lvl8pPr marL="3657600" indent="-342900" algn="l">
              <a:lnSpc>
                <a:spcPct val="90000"/>
              </a:lnSpc>
              <a:spcBef>
                <a:spcPts val="400"/>
              </a:spcBef>
              <a:spcAft>
                <a:spcPts val="0"/>
              </a:spcAft>
              <a:buSzPts val="1800"/>
              <a:buChar char="◦"/>
              <a:defRPr/>
            </a:lvl8pPr>
            <a:lvl9pPr marL="4114800" indent="-342900" algn="l">
              <a:lnSpc>
                <a:spcPct val="90000"/>
              </a:lnSpc>
              <a:spcBef>
                <a:spcPts val="400"/>
              </a:spcBef>
              <a:spcAft>
                <a:spcPts val="400"/>
              </a:spcAft>
              <a:buSzPts val="1800"/>
              <a:buChar char="◦"/>
              <a:defRPr/>
            </a:lvl9pPr>
          </a:lstStyle>
          <a:p xmlns:a="http://schemas.openxmlformats.org/drawingml/2006/main">
            <a:endParaRPr/>
          </a:p>
        </p:txBody>
      </p:sp>
      <p:sp>
        <p:nvSpPr>
          <p:cNvPr id="98" name="Google Shape;98;p24">
            <a:extLst xmlns:a="http://schemas.openxmlformats.org/drawingml/2006/main">
              <a:ext uri="{FF2B5EF4-FFF2-40B4-BE49-F238E27FC236}">
                <a16:creationId xmlns:a16="http://schemas.microsoft.com/office/drawing/2014/main" id="{40B0D6FB-806E-47E4-9EF4-BC00A811AA9E}"/>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99" name="Google Shape;99;p24">
            <a:extLst xmlns:a="http://schemas.openxmlformats.org/drawingml/2006/main">
              <a:ext uri="{FF2B5EF4-FFF2-40B4-BE49-F238E27FC236}">
                <a16:creationId xmlns:a16="http://schemas.microsoft.com/office/drawing/2014/main" id="{B535093B-AA29-4EA0-BDEC-80DC22DF3A8A}"/>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00" name="Google Shape;100;p24">
            <a:extLst xmlns:a="http://schemas.openxmlformats.org/drawingml/2006/main">
              <a:ext uri="{FF2B5EF4-FFF2-40B4-BE49-F238E27FC236}">
                <a16:creationId xmlns:a16="http://schemas.microsoft.com/office/drawing/2014/main" id="{6B106418-FDA6-4942-A19D-76861D854F62}"/>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e7e321e4b04431" /><Relationship Type="http://schemas.openxmlformats.org/officeDocument/2006/relationships/slideLayout" Target="/ppt/slideLayouts/slideLayout1.xml" Id="R165670272f9444b7" /><Relationship Type="http://schemas.openxmlformats.org/officeDocument/2006/relationships/slideLayout" Target="/ppt/slideLayouts/slideLayout2.xml" Id="R1b0ab917a4f14c3e" /><Relationship Type="http://schemas.openxmlformats.org/officeDocument/2006/relationships/slideLayout" Target="/ppt/slideLayouts/slideLayout3.xml" Id="R1485bfbd87074734" /><Relationship Type="http://schemas.openxmlformats.org/officeDocument/2006/relationships/slideLayout" Target="/ppt/slideLayouts/slideLayout4.xml" Id="R125360170ed84024" /><Relationship Type="http://schemas.openxmlformats.org/officeDocument/2006/relationships/slideLayout" Target="/ppt/slideLayouts/slideLayout5.xml" Id="R30801f601803489b" /><Relationship Type="http://schemas.openxmlformats.org/officeDocument/2006/relationships/slideLayout" Target="/ppt/slideLayouts/slideLayout6.xml" Id="Rd7e518a1e1ef40c4" /><Relationship Type="http://schemas.openxmlformats.org/officeDocument/2006/relationships/slideLayout" Target="/ppt/slideLayouts/slideLayout7.xml" Id="Rdc9dafe14f1246ca" /><Relationship Type="http://schemas.openxmlformats.org/officeDocument/2006/relationships/slideLayout" Target="/ppt/slideLayouts/slideLayout8.xml" Id="R8b585c751afb44df" /><Relationship Type="http://schemas.openxmlformats.org/officeDocument/2006/relationships/slideLayout" Target="/ppt/slideLayouts/slideLayout9.xml" Id="R6f2e553477b54640" /><Relationship Type="http://schemas.openxmlformats.org/officeDocument/2006/relationships/slideLayout" Target="/ppt/slideLayouts/slideLayout10.xml" Id="R7e63555656de4816" /><Relationship Type="http://schemas.openxmlformats.org/officeDocument/2006/relationships/slideLayout" Target="/ppt/slideLayouts/slideLayout11.xml" Id="R807da7296d9445af"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3">
            <a:extLst xmlns:a="http://schemas.openxmlformats.org/drawingml/2006/main">
              <a:ext uri="{FF2B5EF4-FFF2-40B4-BE49-F238E27FC236}">
                <a16:creationId xmlns:a16="http://schemas.microsoft.com/office/drawing/2014/main" id="{3BB8F821-2D16-4AE0-AABA-1F3B30F8D418}"/>
              </a:ext>
            </a:extLst>
          </p:cNvPr>
          <p:cNvSpPr>
            <a:spLocks xmlns:a="http://schemas.openxmlformats.org/drawingml/2006/main" noGrp="1"/>
          </p:cNvSpPr>
          <p:nvPr/>
        </p:nvSpPr>
        <p:spPr>
          <a:xfrm xmlns:a="http://schemas.openxmlformats.org/drawingml/2006/main">
            <a:off x="1" y="6400800"/>
            <a:ext cx="12192000" cy="4572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11" name="Google Shape;11;p13">
            <a:extLst xmlns:a="http://schemas.openxmlformats.org/drawingml/2006/main">
              <a:ext uri="{FF2B5EF4-FFF2-40B4-BE49-F238E27FC236}">
                <a16:creationId xmlns:a16="http://schemas.microsoft.com/office/drawing/2014/main" id="{8CBBF8F2-2F44-467F-9FF9-3683D1BE7CBD}"/>
              </a:ext>
            </a:extLst>
          </p:cNvPr>
          <p:cNvSpPr>
            <a:spLocks xmlns:a="http://schemas.openxmlformats.org/drawingml/2006/main" noGrp="1"/>
          </p:cNvSpPr>
          <p:nvPr/>
        </p:nvSpPr>
        <p:spPr>
          <a:xfrm xmlns:a="http://schemas.openxmlformats.org/drawingml/2006/main">
            <a:off x="0" y="6334316"/>
            <a:ext cx="12192001" cy="65998"/>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12" name="Google Shape;12;p13">
            <a:extLst xmlns:a="http://schemas.openxmlformats.org/drawingml/2006/main">
              <a:ext uri="{FF2B5EF4-FFF2-40B4-BE49-F238E27FC236}">
                <a16:creationId xmlns:a16="http://schemas.microsoft.com/office/drawing/2014/main" id="{3C839616-2C39-415D-99B9-4853E7476782}"/>
              </a:ext>
            </a:extLst>
          </p:cNvPr>
          <p:cNvSpPr>
            <a:spLocks xmlns:a="http://schemas.openxmlformats.org/drawingml/2006/main" noGrp="1"/>
          </p:cNvSpPr>
          <p:nvPr>
            <p:ph type="title" idx="0"/>
          </p:nvPr>
        </p:nvSpPr>
        <p:spPr>
          <a:xfrm xmlns:a="http://schemas.openxmlformats.org/drawingml/2006/main">
            <a:off x="1097280" y="286603"/>
            <a:ext cx="10058400" cy="14507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R="0" algn="l">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9pPr>
          </a:lstStyle>
          <a:p xmlns:a="http://schemas.openxmlformats.org/drawingml/2006/main">
            <a:endParaRPr/>
          </a:p>
        </p:txBody>
      </p:sp>
      <p:sp>
        <p:nvSpPr>
          <p:cNvPr id="13" name="Google Shape;13;p13">
            <a:extLst xmlns:a="http://schemas.openxmlformats.org/drawingml/2006/main">
              <a:ext uri="{FF2B5EF4-FFF2-40B4-BE49-F238E27FC236}">
                <a16:creationId xmlns:a16="http://schemas.microsoft.com/office/drawing/2014/main" id="{205E6E13-B396-4F29-8FC6-B5F2A6820E01}"/>
              </a:ext>
            </a:extLst>
          </p:cNvPr>
          <p:cNvSpPr>
            <a:spLocks xmlns:a="http://schemas.openxmlformats.org/drawingml/2006/main" noGrp="1"/>
          </p:cNvSpPr>
          <p:nvPr>
            <p:ph type="body" idx="1"/>
          </p:nvPr>
        </p:nvSpPr>
        <p:spPr>
          <a:xfrm xmlns:a="http://schemas.openxmlformats.org/drawingml/2006/main">
            <a:off x="1097280" y="1845734"/>
            <a:ext cx="1005840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45700" rIns="0" bIns="45700" anchor="t">
            <a:normAutofit/>
          </a:bodyPr>
          <a:lstStyle xmlns:a="http://schemas.openxmlformats.org/drawingml/2006/main">
            <a:lvl1pPr marL="457200" marR="0" indent="-355600" algn="l">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defRPr>
            </a:lvl1pPr>
            <a:lvl2pPr marL="914400" marR="0" indent="-342900" algn="l">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defRPr>
            </a:lvl2pPr>
            <a:lvl3pPr marL="1371600" marR="0"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defRPr>
            </a:lvl3pPr>
            <a:lvl4pPr marL="1828800" marR="0"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defRPr>
            </a:lvl4pPr>
            <a:lvl5pPr marL="2286000" marR="0"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defRPr>
            </a:lvl5pPr>
            <a:lvl6pPr marL="2743200" marR="0"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defRPr>
            </a:lvl6pPr>
            <a:lvl7pPr marL="3200400" marR="0"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defRPr>
            </a:lvl7pPr>
            <a:lvl8pPr marL="3657600" marR="0" indent="-317500" algn="l">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defRPr>
            </a:lvl8pPr>
            <a:lvl9pPr marL="4114800" marR="0" indent="-317500" algn="l">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defRPr>
            </a:lvl9pPr>
          </a:lstStyle>
          <a:p xmlns:a="http://schemas.openxmlformats.org/drawingml/2006/main">
            <a:endParaRPr/>
          </a:p>
        </p:txBody>
      </p:sp>
      <p:sp>
        <p:nvSpPr>
          <p:cNvPr id="14" name="Google Shape;14;p13">
            <a:extLst xmlns:a="http://schemas.openxmlformats.org/drawingml/2006/main">
              <a:ext uri="{FF2B5EF4-FFF2-40B4-BE49-F238E27FC236}">
                <a16:creationId xmlns:a16="http://schemas.microsoft.com/office/drawing/2014/main" id="{B4C3319E-8185-427A-AC2D-7A111097407A}"/>
              </a:ext>
            </a:extLst>
          </p:cNvPr>
          <p:cNvSpPr>
            <a:spLocks xmlns:a="http://schemas.openxmlformats.org/drawingml/2006/main" noGrp="1"/>
          </p:cNvSpPr>
          <p:nvPr>
            <p:ph type="dt" idx="10"/>
          </p:nvPr>
        </p:nvSpPr>
        <p:spPr>
          <a:xfrm xmlns:a="http://schemas.openxmlformats.org/drawingml/2006/main">
            <a:off x="1097280" y="6459785"/>
            <a:ext cx="2472271"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900" b="0" i="0" u="none" strike="noStrike" cap="none">
                <a:solidFill>
                  <a:srgbClr val="FFFFFF"/>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xmlns:a="http://schemas.openxmlformats.org/drawingml/2006/main">
            <a:endParaRPr/>
          </a:p>
        </p:txBody>
      </p:sp>
      <p:sp>
        <p:nvSpPr>
          <p:cNvPr id="15" name="Google Shape;15;p13">
            <a:extLst xmlns:a="http://schemas.openxmlformats.org/drawingml/2006/main">
              <a:ext uri="{FF2B5EF4-FFF2-40B4-BE49-F238E27FC236}">
                <a16:creationId xmlns:a16="http://schemas.microsoft.com/office/drawing/2014/main" id="{EC3329D4-A274-4365-880A-83BCA288B77B}"/>
              </a:ext>
            </a:extLst>
          </p:cNvPr>
          <p:cNvSpPr>
            <a:spLocks xmlns:a="http://schemas.openxmlformats.org/drawingml/2006/main" noGrp="1"/>
          </p:cNvSpPr>
          <p:nvPr>
            <p:ph type="ftr" idx="11"/>
          </p:nvPr>
        </p:nvSpPr>
        <p:spPr>
          <a:xfrm xmlns:a="http://schemas.openxmlformats.org/drawingml/2006/main">
            <a:off x="3686185" y="6459785"/>
            <a:ext cx="482280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900" b="0" i="0" u="none" strike="noStrike" cap="none">
                <a:solidFill>
                  <a:srgbClr val="FFFFFF"/>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xmlns:a="http://schemas.openxmlformats.org/drawingml/2006/main">
            <a:endParaRPr/>
          </a:p>
        </p:txBody>
      </p:sp>
      <p:sp>
        <p:nvSpPr>
          <p:cNvPr id="16" name="Google Shape;16;p13">
            <a:extLst xmlns:a="http://schemas.openxmlformats.org/drawingml/2006/main">
              <a:ext uri="{FF2B5EF4-FFF2-40B4-BE49-F238E27FC236}">
                <a16:creationId xmlns:a16="http://schemas.microsoft.com/office/drawing/2014/main" id="{71A8AD56-C4B1-418A-82C5-F00BBAAFE721}"/>
              </a:ext>
            </a:extLst>
          </p:cNvPr>
          <p:cNvSpPr>
            <a:spLocks xmlns:a="http://schemas.openxmlformats.org/drawingml/2006/main" noGrp="1"/>
          </p:cNvSpPr>
          <p:nvPr>
            <p:ph type="sldNum" idx="12"/>
          </p:nvPr>
        </p:nvSpPr>
        <p:spPr>
          <a:xfrm xmlns:a="http://schemas.openxmlformats.org/drawingml/2006/main">
            <a:off x="9900458" y="6459785"/>
            <a:ext cx="1312025"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defRPr>
            </a:lvl1pPr>
            <a:lvl2pPr marL="0" marR="0" indent="0" algn="r">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defRPr>
            </a:lvl2pPr>
            <a:lvl3pPr marL="0" marR="0" indent="0" algn="r">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defRPr>
            </a:lvl3pPr>
            <a:lvl4pPr marL="0" marR="0" indent="0" algn="r">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defRPr>
            </a:lvl4pPr>
            <a:lvl5pPr marL="0" marR="0" indent="0" algn="r">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defRPr>
            </a:lvl5pPr>
            <a:lvl6pPr marL="0" marR="0" indent="0" algn="r">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defRPr>
            </a:lvl6pPr>
            <a:lvl7pPr marL="0" marR="0" indent="0" algn="r">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defRPr>
            </a:lvl7pPr>
            <a:lvl8pPr marL="0" marR="0" indent="0" algn="r">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defRPr>
            </a:lvl8pPr>
            <a:lvl9pPr marL="0" marR="0" indent="0" algn="r">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7" name="Google Shape;17;p13">
            <a:extLst xmlns:a="http://schemas.openxmlformats.org/drawingml/2006/main">
              <a:ext uri="{FF2B5EF4-FFF2-40B4-BE49-F238E27FC236}">
                <a16:creationId xmlns:a16="http://schemas.microsoft.com/office/drawing/2014/main" id="{EB0CA518-6518-46B6-A700-58F9C56519D3}"/>
              </a:ext>
            </a:extLst>
          </p:cNvPr>
          <p:cNvCxnSpPr/>
          <p:nvPr/>
        </p:nvCxnSpPr>
        <p:spPr>
          <a:xfrm xmlns:a="http://schemas.openxmlformats.org/drawingml/2006/main">
            <a:off x="1193532" y="1737845"/>
            <a:ext cx="9966960" cy="0"/>
          </a:xfrm>
          <a:prstGeom xmlns:a="http://schemas.openxmlformats.org/drawingml/2006/main" prst="straightConnector1">
            <a:avLst/>
          </a:prstGeom>
          <a:ln xmlns:a="http://schemas.openxmlformats.org/drawingml/2006/main" w="9525" cap="flat">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65670272f9444b7"/>
    <p:sldLayoutId xmlns:r="http://schemas.openxmlformats.org/officeDocument/2006/relationships" id="2147483650" r:id="R1b0ab917a4f14c3e"/>
    <p:sldLayoutId xmlns:r="http://schemas.openxmlformats.org/officeDocument/2006/relationships" id="2147483651" r:id="R1485bfbd87074734"/>
    <p:sldLayoutId xmlns:r="http://schemas.openxmlformats.org/officeDocument/2006/relationships" id="2147483652" r:id="R125360170ed84024"/>
    <p:sldLayoutId xmlns:r="http://schemas.openxmlformats.org/officeDocument/2006/relationships" id="2147483653" r:id="R30801f601803489b"/>
    <p:sldLayoutId xmlns:r="http://schemas.openxmlformats.org/officeDocument/2006/relationships" id="2147483654" r:id="Rd7e518a1e1ef40c4"/>
    <p:sldLayoutId xmlns:r="http://schemas.openxmlformats.org/officeDocument/2006/relationships" id="2147483655" r:id="Rdc9dafe14f1246ca"/>
    <p:sldLayoutId xmlns:r="http://schemas.openxmlformats.org/officeDocument/2006/relationships" id="2147483656" r:id="R8b585c751afb44df"/>
    <p:sldLayoutId xmlns:r="http://schemas.openxmlformats.org/officeDocument/2006/relationships" id="2147483657" r:id="R6f2e553477b54640"/>
    <p:sldLayoutId xmlns:r="http://schemas.openxmlformats.org/officeDocument/2006/relationships" id="2147483658" r:id="R7e63555656de4816"/>
    <p:sldLayoutId xmlns:r="http://schemas.openxmlformats.org/officeDocument/2006/relationships" id="2147483659" r:id="R807da7296d9445af"/>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cef124b4ea4422" /><Relationship Type="http://schemas.openxmlformats.org/officeDocument/2006/relationships/image" Target="/ppt/media/image.png" Id="Rb12d830140d44f4a" /><Relationship Type="http://schemas.openxmlformats.org/officeDocument/2006/relationships/notesSlide" Target="/ppt/notesSlides/notesSlide1.xml" Id="Rd9b2c02217f840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2e3e61b6b5045cc" /><Relationship Type="http://schemas.openxmlformats.org/officeDocument/2006/relationships/image" Target="/ppt/media/image.png" Id="R9368ff3385cc420d" /><Relationship Type="http://schemas.openxmlformats.org/officeDocument/2006/relationships/notesSlide" Target="/ppt/notesSlides/notesSlide2.xml" Id="R741f1923a05242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e644da0bc94cc6" /><Relationship Type="http://schemas.openxmlformats.org/officeDocument/2006/relationships/image" Target="/ppt/media/image.png" Id="R8c14f88d96d84b0d" /><Relationship Type="http://schemas.openxmlformats.org/officeDocument/2006/relationships/notesSlide" Target="/ppt/notesSlides/notesSlide3.xml" Id="R32460a335ab94d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645426ec180409a" /><Relationship Type="http://schemas.openxmlformats.org/officeDocument/2006/relationships/image" Target="/ppt/media/image.png" Id="Rf4c3a1157b9d44a0" /><Relationship Type="http://schemas.openxmlformats.org/officeDocument/2006/relationships/notesSlide" Target="/ppt/notesSlides/notesSlide4.xml" Id="R279259c078d24c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d4a2d9112c4e2a" /><Relationship Type="http://schemas.openxmlformats.org/officeDocument/2006/relationships/image" Target="/ppt/media/image.png" Id="R898c66d035a34dd5" /><Relationship Type="http://schemas.openxmlformats.org/officeDocument/2006/relationships/notesSlide" Target="/ppt/notesSlides/notesSlide5.xml" Id="R94d60beb47bc40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c3517527d345cd" /><Relationship Type="http://schemas.openxmlformats.org/officeDocument/2006/relationships/image" Target="/ppt/media/image.png" Id="R0330a8b0727745d7" /><Relationship Type="http://schemas.openxmlformats.org/officeDocument/2006/relationships/notesSlide" Target="/ppt/notesSlides/notesSlide6.xml" Id="R4152462797b74e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8988a9715e2455f" /><Relationship Type="http://schemas.openxmlformats.org/officeDocument/2006/relationships/image" Target="/ppt/media/image.png" Id="R5879996aeb4e4971" /><Relationship Type="http://schemas.openxmlformats.org/officeDocument/2006/relationships/notesSlide" Target="/ppt/notesSlides/notesSlide7.xml" Id="R713258bceae349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da806c3c13d4390" /><Relationship Type="http://schemas.openxmlformats.org/officeDocument/2006/relationships/image" Target="/ppt/media/image.png" Id="Re4db454ff19e4b30" /><Relationship Type="http://schemas.openxmlformats.org/officeDocument/2006/relationships/notesSlide" Target="/ppt/notesSlides/notesSlide8.xml" Id="R9b66535c83a849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e9bd0b26ef74df3" /><Relationship Type="http://schemas.openxmlformats.org/officeDocument/2006/relationships/image" Target="/ppt/media/image.png" Id="R02d0470d7b8b4687" /><Relationship Type="http://schemas.openxmlformats.org/officeDocument/2006/relationships/notesSlide" Target="/ppt/notesSlides/notesSlide9.xml" Id="R329f9a191ba2467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85acdf456e74be5" /><Relationship Type="http://schemas.openxmlformats.org/officeDocument/2006/relationships/image" Target="/ppt/media/image.png" Id="Rc55d2d2b7e864ae0" /><Relationship Type="http://schemas.openxmlformats.org/officeDocument/2006/relationships/notesSlide" Target="/ppt/notesSlides/notesSlide10.xml" Id="R3a3a274fa3c749e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43942d7e92d4927" /><Relationship Type="http://schemas.openxmlformats.org/officeDocument/2006/relationships/image" Target="/ppt/media/image.png" Id="Rc7a28502d2384b26" /><Relationship Type="http://schemas.openxmlformats.org/officeDocument/2006/relationships/notesSlide" Target="/ppt/notesSlides/notesSlide11.xml" Id="Rc747cf3f1441452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c02a3e626b34672" /><Relationship Type="http://schemas.openxmlformats.org/officeDocument/2006/relationships/image" Target="/ppt/media/image.png" Id="R128bcbc27efa41e8" /><Relationship Type="http://schemas.openxmlformats.org/officeDocument/2006/relationships/notesSlide" Target="/ppt/notesSlides/notesSlide12.xml" Id="R016f5beb71bd410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c597145f9b34ffe" /><Relationship Type="http://schemas.openxmlformats.org/officeDocument/2006/relationships/image" Target="/ppt/media/image.png" Id="R5934722276db45e2" /><Relationship Type="http://schemas.openxmlformats.org/officeDocument/2006/relationships/notesSlide" Target="/ppt/notesSlides/notesSlide13.xml" Id="Rf838cb29b3b944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7c692e0e0854f48" /><Relationship Type="http://schemas.openxmlformats.org/officeDocument/2006/relationships/image" Target="/ppt/media/image.png" Id="Rfd04ced7445849ae" /><Relationship Type="http://schemas.openxmlformats.org/officeDocument/2006/relationships/notesSlide" Target="/ppt/notesSlides/notesSlide14.xml" Id="Rb873ca68b0ea493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06b2f0f1d854c0a" /><Relationship Type="http://schemas.openxmlformats.org/officeDocument/2006/relationships/image" Target="/ppt/media/image.png" Id="R9797675b319e4299" /><Relationship Type="http://schemas.openxmlformats.org/officeDocument/2006/relationships/notesSlide" Target="/ppt/notesSlides/notesSlide15.xml" Id="Rec85ee3eb39f4a7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b5a9a03196148b0" /><Relationship Type="http://schemas.openxmlformats.org/officeDocument/2006/relationships/image" Target="/ppt/media/image.png" Id="Rcfc6d5428bc948e7" /><Relationship Type="http://schemas.openxmlformats.org/officeDocument/2006/relationships/notesSlide" Target="/ppt/notesSlides/notesSlide16.xml" Id="Rbbd29a2215404f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a0e9562bf874e5b" /><Relationship Type="http://schemas.openxmlformats.org/officeDocument/2006/relationships/image" Target="/ppt/media/image.png" Id="Rf7de0a01df3d4670" /><Relationship Type="http://schemas.openxmlformats.org/officeDocument/2006/relationships/notesSlide" Target="/ppt/notesSlides/notesSlide17.xml" Id="R306835f952bd48e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a27d0cd78b84247" /><Relationship Type="http://schemas.openxmlformats.org/officeDocument/2006/relationships/image" Target="/ppt/media/image.png" Id="R345fa2c14cca4a04" /><Relationship Type="http://schemas.openxmlformats.org/officeDocument/2006/relationships/notesSlide" Target="/ppt/notesSlides/notesSlide18.xml" Id="R07e6b144da914a3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dd401a00cd04611" /><Relationship Type="http://schemas.openxmlformats.org/officeDocument/2006/relationships/image" Target="/ppt/media/image.png" Id="R9e4210b5e27c4950" /><Relationship Type="http://schemas.openxmlformats.org/officeDocument/2006/relationships/notesSlide" Target="/ppt/notesSlides/notesSlide19.xml" Id="Rfd16e52381504c0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ae502f3e8dd4988" /><Relationship Type="http://schemas.openxmlformats.org/officeDocument/2006/relationships/image" Target="/ppt/media/image.png" Id="Rfd9823755c784666" /><Relationship Type="http://schemas.openxmlformats.org/officeDocument/2006/relationships/notesSlide" Target="/ppt/notesSlides/notesSlide20.xml" Id="R25485a53b768486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5d52c0c0a8241ec" /><Relationship Type="http://schemas.openxmlformats.org/officeDocument/2006/relationships/image" Target="/ppt/media/image.png" Id="Raef05fa2acbd4dd8" /><Relationship Type="http://schemas.openxmlformats.org/officeDocument/2006/relationships/notesSlide" Target="/ppt/notesSlides/notesSlide21.xml" Id="R6f0561b89f284b8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8c3fe4b1e1046fe" /><Relationship Type="http://schemas.openxmlformats.org/officeDocument/2006/relationships/image" Target="/ppt/media/image.png" Id="R741d1a32e7684be5" /><Relationship Type="http://schemas.openxmlformats.org/officeDocument/2006/relationships/notesSlide" Target="/ppt/notesSlides/notesSlide22.xml" Id="R50a347020b1e4c8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33889808e6f4469" /><Relationship Type="http://schemas.openxmlformats.org/officeDocument/2006/relationships/image" Target="/ppt/media/image.png" Id="R5aae7a44de054f10" /><Relationship Type="http://schemas.openxmlformats.org/officeDocument/2006/relationships/notesSlide" Target="/ppt/notesSlides/notesSlide23.xml" Id="Rf66575b2b8f34ad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2aefd0368c5402a" /><Relationship Type="http://schemas.openxmlformats.org/officeDocument/2006/relationships/image" Target="/ppt/media/image.png" Id="R8114ea12ff194d7c" /><Relationship Type="http://schemas.openxmlformats.org/officeDocument/2006/relationships/notesSlide" Target="/ppt/notesSlides/notesSlide24.xml" Id="Rbdfaf7a7b2f5484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a8ca912981d452a" /><Relationship Type="http://schemas.openxmlformats.org/officeDocument/2006/relationships/image" Target="/ppt/media/image.png" Id="R8cae0b04b4fb4524" /><Relationship Type="http://schemas.openxmlformats.org/officeDocument/2006/relationships/notesSlide" Target="/ppt/notesSlides/notesSlide25.xml" Id="R7fc374f33ef04d1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0b8f0ceaad14400" /><Relationship Type="http://schemas.openxmlformats.org/officeDocument/2006/relationships/image" Target="/ppt/media/image.png" Id="R572a51a2462945c8" /><Relationship Type="http://schemas.openxmlformats.org/officeDocument/2006/relationships/notesSlide" Target="/ppt/notesSlides/notesSlide26.xml" Id="Rbe22300f137647d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26ee3e542e34fce" /><Relationship Type="http://schemas.openxmlformats.org/officeDocument/2006/relationships/image" Target="/ppt/media/image.png" Id="R212cd90cc68f4d88" /><Relationship Type="http://schemas.openxmlformats.org/officeDocument/2006/relationships/notesSlide" Target="/ppt/notesSlides/notesSlide27.xml" Id="Rad77939ae7db4ce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9ad14fb6ec04441" /><Relationship Type="http://schemas.openxmlformats.org/officeDocument/2006/relationships/image" Target="/ppt/media/image.png" Id="R97e27966e0634858" /><Relationship Type="http://schemas.openxmlformats.org/officeDocument/2006/relationships/notesSlide" Target="/ppt/notesSlides/notesSlide28.xml" Id="R2474ac1bce914c4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b01747648aa463a" /><Relationship Type="http://schemas.openxmlformats.org/officeDocument/2006/relationships/image" Target="/ppt/media/image.png" Id="R43f967b0c3474499" /><Relationship Type="http://schemas.openxmlformats.org/officeDocument/2006/relationships/notesSlide" Target="/ppt/notesSlides/notesSlide29.xml" Id="R701f24b842ee407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8fb5df1009545b9" /><Relationship Type="http://schemas.openxmlformats.org/officeDocument/2006/relationships/image" Target="/ppt/media/image.png" Id="Rb1d9ae1f47194e15" /><Relationship Type="http://schemas.openxmlformats.org/officeDocument/2006/relationships/notesSlide" Target="/ppt/notesSlides/notesSlide30.xml" Id="Rcf8b11bd5a414c3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25c55bae4b14428" /><Relationship Type="http://schemas.openxmlformats.org/officeDocument/2006/relationships/image" Target="/ppt/media/image.png" Id="Rf066e42e39c6414b" /><Relationship Type="http://schemas.openxmlformats.org/officeDocument/2006/relationships/notesSlide" Target="/ppt/notesSlides/notesSlide31.xml" Id="Recbdc5713f41464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bf5619cf01b4c4e" /><Relationship Type="http://schemas.openxmlformats.org/officeDocument/2006/relationships/image" Target="/ppt/media/image.png" Id="R2b827d6ca3924034" /><Relationship Type="http://schemas.openxmlformats.org/officeDocument/2006/relationships/notesSlide" Target="/ppt/notesSlides/notesSlide32.xml" Id="Re34837ec93614df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21a671890f742e4" /><Relationship Type="http://schemas.openxmlformats.org/officeDocument/2006/relationships/image" Target="/ppt/media/image.png" Id="Rf248d9221c7942fb" /><Relationship Type="http://schemas.openxmlformats.org/officeDocument/2006/relationships/notesSlide" Target="/ppt/notesSlides/notesSlide33.xml" Id="R4ce4ce9e7f004c3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436ee901ae54aff" /><Relationship Type="http://schemas.openxmlformats.org/officeDocument/2006/relationships/image" Target="/ppt/media/image.png" Id="R4e67c0146b1a4837" /><Relationship Type="http://schemas.openxmlformats.org/officeDocument/2006/relationships/notesSlide" Target="/ppt/notesSlides/notesSlide34.xml" Id="R288440fcdef64f8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e43d02d60bf4a57" /><Relationship Type="http://schemas.openxmlformats.org/officeDocument/2006/relationships/image" Target="/ppt/media/image.png" Id="R719f32e4573541ed" /><Relationship Type="http://schemas.openxmlformats.org/officeDocument/2006/relationships/notesSlide" Target="/ppt/notesSlides/notesSlide35.xml" Id="Rd082628a020c491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fa2a83afbfa4f09" /><Relationship Type="http://schemas.openxmlformats.org/officeDocument/2006/relationships/image" Target="/ppt/media/image.png" Id="R33e022be5bfb4fc6" /><Relationship Type="http://schemas.openxmlformats.org/officeDocument/2006/relationships/notesSlide" Target="/ppt/notesSlides/notesSlide36.xml" Id="R0e87196d49b0411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525d9af07ad4d41" /><Relationship Type="http://schemas.openxmlformats.org/officeDocument/2006/relationships/image" Target="/ppt/media/image.png" Id="R066a25ee458c454a" /><Relationship Type="http://schemas.openxmlformats.org/officeDocument/2006/relationships/notesSlide" Target="/ppt/notesSlides/notesSlide37.xml" Id="R9c928e4d8f604a8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19a4f983ee949b1" /><Relationship Type="http://schemas.openxmlformats.org/officeDocument/2006/relationships/image" Target="/ppt/media/image.png" Id="Rbec215422358428f" /><Relationship Type="http://schemas.openxmlformats.org/officeDocument/2006/relationships/notesSlide" Target="/ppt/notesSlides/notesSlide38.xml" Id="R2a65ee55439d418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af574ab824e34b64" /><Relationship Type="http://schemas.openxmlformats.org/officeDocument/2006/relationships/image" Target="/ppt/media/image.png" Id="R5cd4fd6607b64cd7" /><Relationship Type="http://schemas.openxmlformats.org/officeDocument/2006/relationships/notesSlide" Target="/ppt/notesSlides/notesSlide39.xml" Id="R9235e534ddd7424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51edfd20009541ed" /><Relationship Type="http://schemas.openxmlformats.org/officeDocument/2006/relationships/image" Target="/ppt/media/image.png" Id="R3586acf1bceb414b" /><Relationship Type="http://schemas.openxmlformats.org/officeDocument/2006/relationships/notesSlide" Target="/ppt/notesSlides/notesSlide40.xml" Id="R132ea7a40a1d420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c258cd0598f34279" /><Relationship Type="http://schemas.openxmlformats.org/officeDocument/2006/relationships/image" Target="/ppt/media/image.png" Id="Rf6e94eb6561e4323" /><Relationship Type="http://schemas.openxmlformats.org/officeDocument/2006/relationships/notesSlide" Target="/ppt/notesSlides/notesSlide41.xml" Id="R536c73e671df4af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767abf8fb05f41f3" /><Relationship Type="http://schemas.openxmlformats.org/officeDocument/2006/relationships/image" Target="/ppt/media/image.png" Id="R529f9b2c911346fe" /><Relationship Type="http://schemas.openxmlformats.org/officeDocument/2006/relationships/notesSlide" Target="/ppt/notesSlides/notesSlide42.xml" Id="R93b2dbae02d946f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54b21abcca18443f" /><Relationship Type="http://schemas.openxmlformats.org/officeDocument/2006/relationships/image" Target="/ppt/media/image.png" Id="Rc2d7e29efac64fe1" /><Relationship Type="http://schemas.openxmlformats.org/officeDocument/2006/relationships/notesSlide" Target="/ppt/notesSlides/notesSlide43.xml" Id="Rfffa4b88b83047d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e5558666c9dc4317" /><Relationship Type="http://schemas.openxmlformats.org/officeDocument/2006/relationships/image" Target="/ppt/media/image.png" Id="R32ce7198b3cb40d1" /><Relationship Type="http://schemas.openxmlformats.org/officeDocument/2006/relationships/notesSlide" Target="/ppt/notesSlides/notesSlide44.xml" Id="Ra62b01283107443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65f821e3859d4c66" /><Relationship Type="http://schemas.openxmlformats.org/officeDocument/2006/relationships/image" Target="/ppt/media/image.png" Id="Reac9b60e218b4049" /><Relationship Type="http://schemas.openxmlformats.org/officeDocument/2006/relationships/notesSlide" Target="/ppt/notesSlides/notesSlide45.xml" Id="Rc3a974f233d8407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d6f1b88917014e2f" /><Relationship Type="http://schemas.openxmlformats.org/officeDocument/2006/relationships/image" Target="/ppt/media/image.png" Id="R36521415941742ce" /><Relationship Type="http://schemas.openxmlformats.org/officeDocument/2006/relationships/notesSlide" Target="/ppt/notesSlides/notesSlide46.xml" Id="Rbe7e2155571743e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729095fd133b4825" /><Relationship Type="http://schemas.openxmlformats.org/officeDocument/2006/relationships/image" Target="/ppt/media/image.png" Id="Rf786d8f049a24e5f" /><Relationship Type="http://schemas.openxmlformats.org/officeDocument/2006/relationships/notesSlide" Target="/ppt/notesSlides/notesSlide47.xml" Id="Rd7b3f263b06b442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3fd60e5092cd463f" /><Relationship Type="http://schemas.openxmlformats.org/officeDocument/2006/relationships/image" Target="/ppt/media/image.png" Id="Rb60bf2f031574cb3" /><Relationship Type="http://schemas.openxmlformats.org/officeDocument/2006/relationships/notesSlide" Target="/ppt/notesSlides/notesSlide48.xml" Id="Rd21bb0e9379a48b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c1401c1589dd4248" /><Relationship Type="http://schemas.openxmlformats.org/officeDocument/2006/relationships/image" Target="/ppt/media/image.png" Id="R2ff2be0adacc4705" /><Relationship Type="http://schemas.openxmlformats.org/officeDocument/2006/relationships/notesSlide" Target="/ppt/notesSlides/notesSlide49.xml" Id="Rb0c262b5b27d415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f3c0eb9624a942b4" /><Relationship Type="http://schemas.openxmlformats.org/officeDocument/2006/relationships/image" Target="/ppt/media/image.png" Id="Rab1266cef18e4253" /><Relationship Type="http://schemas.openxmlformats.org/officeDocument/2006/relationships/notesSlide" Target="/ppt/notesSlides/notesSlide50.xml" Id="Ra53612d4c1eb475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a9552e9ae8e64a3b" /><Relationship Type="http://schemas.openxmlformats.org/officeDocument/2006/relationships/image" Target="/ppt/media/image.png" Id="R9eddbd9eac954f7f" /><Relationship Type="http://schemas.openxmlformats.org/officeDocument/2006/relationships/notesSlide" Target="/ppt/notesSlides/notesSlide51.xml" Id="Rb9647e47249142b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e78c1ad77dd54d6f" /><Relationship Type="http://schemas.openxmlformats.org/officeDocument/2006/relationships/image" Target="/ppt/media/image.png" Id="R70fbfb6e2c464e9f" /><Relationship Type="http://schemas.openxmlformats.org/officeDocument/2006/relationships/notesSlide" Target="/ppt/notesSlides/notesSlide52.xml" Id="Rac4a7e12afcb4ba8"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8e58cbf391944039" /><Relationship Type="http://schemas.openxmlformats.org/officeDocument/2006/relationships/image" Target="/ppt/media/image.png" Id="Rcf8eecae3e674941" /><Relationship Type="http://schemas.openxmlformats.org/officeDocument/2006/relationships/notesSlide" Target="/ppt/notesSlides/notesSlide53.xml" Id="R0f9d8efabe2d407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2b3e8ce7dd9f49c9" /><Relationship Type="http://schemas.openxmlformats.org/officeDocument/2006/relationships/image" Target="/ppt/media/image.png" Id="R49b323bbd4e74f1a" /><Relationship Type="http://schemas.openxmlformats.org/officeDocument/2006/relationships/notesSlide" Target="/ppt/notesSlides/notesSlide54.xml" Id="Rda85a4f864b54ee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e0a632f90d8a4b7d" /><Relationship Type="http://schemas.openxmlformats.org/officeDocument/2006/relationships/image" Target="/ppt/media/image.png" Id="Rd0d816a2d6004b8b" /><Relationship Type="http://schemas.openxmlformats.org/officeDocument/2006/relationships/notesSlide" Target="/ppt/notesSlides/notesSlide55.xml" Id="R695c2620baf4470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38741168ec494ffe" /><Relationship Type="http://schemas.openxmlformats.org/officeDocument/2006/relationships/image" Target="/ppt/media/image.png" Id="Re16d165f508d4e25" /><Relationship Type="http://schemas.openxmlformats.org/officeDocument/2006/relationships/notesSlide" Target="/ppt/notesSlides/notesSlide56.xml" Id="R1f546649637449cd"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b211b891aa944dd8" /><Relationship Type="http://schemas.openxmlformats.org/officeDocument/2006/relationships/image" Target="/ppt/media/image.png" Id="R4f937c34357d44a2" /><Relationship Type="http://schemas.openxmlformats.org/officeDocument/2006/relationships/notesSlide" Target="/ppt/notesSlides/notesSlide57.xml" Id="Ra8dc337008054a1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8338cc4b79a428f" /><Relationship Type="http://schemas.openxmlformats.org/officeDocument/2006/relationships/image" Target="/ppt/media/image.png" Id="R56f1de5ccdc84629" /><Relationship Type="http://schemas.openxmlformats.org/officeDocument/2006/relationships/notesSlide" Target="/ppt/notesSlides/notesSlide58.xml" Id="R0b8958a2121b440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4aa3d91fd9e9489f" /><Relationship Type="http://schemas.openxmlformats.org/officeDocument/2006/relationships/image" Target="/ppt/media/image.png" Id="R65f3f8efd96f4cb4" /><Relationship Type="http://schemas.openxmlformats.org/officeDocument/2006/relationships/notesSlide" Target="/ppt/notesSlides/notesSlide59.xml" Id="R0c517ca7fe8d4a65"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c659f31359614c4b" /><Relationship Type="http://schemas.openxmlformats.org/officeDocument/2006/relationships/image" Target="/ppt/media/image.png" Id="R3bf8f5a2ed7647a2" /><Relationship Type="http://schemas.openxmlformats.org/officeDocument/2006/relationships/notesSlide" Target="/ppt/notesSlides/notesSlide60.xml" Id="R7a8794957d654ffd"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fc9c33f1da0c442f" /><Relationship Type="http://schemas.openxmlformats.org/officeDocument/2006/relationships/image" Target="/ppt/media/image.png" Id="R73594fc24a694925" /><Relationship Type="http://schemas.openxmlformats.org/officeDocument/2006/relationships/notesSlide" Target="/ppt/notesSlides/notesSlide61.xml" Id="R278426a487b5445b"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5b03896226e643f4" /><Relationship Type="http://schemas.openxmlformats.org/officeDocument/2006/relationships/image" Target="/ppt/media/image.png" Id="R84dad947d8d74ce2" /><Relationship Type="http://schemas.openxmlformats.org/officeDocument/2006/relationships/notesSlide" Target="/ppt/notesSlides/notesSlide62.xml" Id="R9b3f17c23e2443e5"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8ea08ea1690a427a" /><Relationship Type="http://schemas.openxmlformats.org/officeDocument/2006/relationships/image" Target="/ppt/media/image.png" Id="Rc20687751334416c" /><Relationship Type="http://schemas.openxmlformats.org/officeDocument/2006/relationships/notesSlide" Target="/ppt/notesSlides/notesSlide63.xml" Id="Ra7feee1f8744435b"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a40be92a04c341f9" /><Relationship Type="http://schemas.openxmlformats.org/officeDocument/2006/relationships/image" Target="/ppt/media/image.png" Id="Rdb2e919156524ff9" /><Relationship Type="http://schemas.openxmlformats.org/officeDocument/2006/relationships/notesSlide" Target="/ppt/notesSlides/notesSlide64.xml" Id="R3051ea1467304737"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dde2a9159e1b4175" /><Relationship Type="http://schemas.openxmlformats.org/officeDocument/2006/relationships/image" Target="/ppt/media/image.png" Id="R6a0d676c96ae4e52" /><Relationship Type="http://schemas.openxmlformats.org/officeDocument/2006/relationships/notesSlide" Target="/ppt/notesSlides/notesSlide65.xml" Id="Re415f476f24a4deb"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8d999cb202f54e1e" /><Relationship Type="http://schemas.openxmlformats.org/officeDocument/2006/relationships/image" Target="/ppt/media/image.png" Id="R3c2f93fb2c0945fd" /><Relationship Type="http://schemas.openxmlformats.org/officeDocument/2006/relationships/notesSlide" Target="/ppt/notesSlides/notesSlide66.xml" Id="R2f18c523725a4e2c"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1041918d3c3f41f6" /><Relationship Type="http://schemas.openxmlformats.org/officeDocument/2006/relationships/image" Target="/ppt/media/image.png" Id="Rf797f2f817394d56" /><Relationship Type="http://schemas.openxmlformats.org/officeDocument/2006/relationships/notesSlide" Target="/ppt/notesSlides/notesSlide67.xml" Id="Rad57379ecdb94ff1"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d8e1e94899b94ebf" /><Relationship Type="http://schemas.openxmlformats.org/officeDocument/2006/relationships/image" Target="/ppt/media/image.png" Id="Re18932cca60947dc" /><Relationship Type="http://schemas.openxmlformats.org/officeDocument/2006/relationships/notesSlide" Target="/ppt/notesSlides/notesSlide68.xml" Id="Rf3752af79516402e"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3709556f6a5c49af" /><Relationship Type="http://schemas.openxmlformats.org/officeDocument/2006/relationships/image" Target="/ppt/media/image.png" Id="Ra2fdfcb8f6944f87" /><Relationship Type="http://schemas.openxmlformats.org/officeDocument/2006/relationships/notesSlide" Target="/ppt/notesSlides/notesSlide69.xml" Id="Rdd87378b57754d52"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4f902b57e5dc4341" /><Relationship Type="http://schemas.openxmlformats.org/officeDocument/2006/relationships/image" Target="/ppt/media/image.png" Id="Rb74bfb6679904adb" /><Relationship Type="http://schemas.openxmlformats.org/officeDocument/2006/relationships/notesSlide" Target="/ppt/notesSlides/notesSlide70.xml" Id="R9b49895d56624adb"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5b9433c555714d6a" /><Relationship Type="http://schemas.openxmlformats.org/officeDocument/2006/relationships/image" Target="/ppt/media/image.png" Id="R67d0bd957a4c4788" /><Relationship Type="http://schemas.openxmlformats.org/officeDocument/2006/relationships/notesSlide" Target="/ppt/notesSlides/notesSlide71.xml" Id="R75cab32351bb43e9"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04d5dca4ac2c4fea" /><Relationship Type="http://schemas.openxmlformats.org/officeDocument/2006/relationships/image" Target="/ppt/media/image.png" Id="R3d31c24e709740e0" /><Relationship Type="http://schemas.openxmlformats.org/officeDocument/2006/relationships/notesSlide" Target="/ppt/notesSlides/notesSlide72.xml" Id="Raab5442126804a1a"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27a593de8f104dd7" /><Relationship Type="http://schemas.openxmlformats.org/officeDocument/2006/relationships/image" Target="/ppt/media/image.png" Id="Rf56f03e4aa0a42d4" /><Relationship Type="http://schemas.openxmlformats.org/officeDocument/2006/relationships/notesSlide" Target="/ppt/notesSlides/notesSlide73.xml" Id="R7e271705e0ce4e0f"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9efa0f1828c6463f" /><Relationship Type="http://schemas.openxmlformats.org/officeDocument/2006/relationships/image" Target="/ppt/media/image.png" Id="Rce2a77803ce04004" /><Relationship Type="http://schemas.openxmlformats.org/officeDocument/2006/relationships/notesSlide" Target="/ppt/notesSlides/notesSlide74.xml" Id="R59f8182e1ac3439b"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423cb00f1ff34d72" /><Relationship Type="http://schemas.openxmlformats.org/officeDocument/2006/relationships/image" Target="/ppt/media/image.png" Id="R10d80d9e98e245df" /><Relationship Type="http://schemas.openxmlformats.org/officeDocument/2006/relationships/notesSlide" Target="/ppt/notesSlides/notesSlide75.xml" Id="R12cc6257ab9140f8"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16a33e8fae6c491b" /><Relationship Type="http://schemas.openxmlformats.org/officeDocument/2006/relationships/image" Target="/ppt/media/image.png" Id="R1949a671198549b1" /><Relationship Type="http://schemas.openxmlformats.org/officeDocument/2006/relationships/notesSlide" Target="/ppt/notesSlides/notesSlide76.xml" Id="R1a7b65d004b345b1"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f40bdf79cccc43bb" /><Relationship Type="http://schemas.openxmlformats.org/officeDocument/2006/relationships/image" Target="/ppt/media/image.png" Id="Rdfac720b061548a9" /><Relationship Type="http://schemas.openxmlformats.org/officeDocument/2006/relationships/notesSlide" Target="/ppt/notesSlides/notesSlide77.xml" Id="R55865a2fc3e44ece"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a1ff38f8feba44b0" /><Relationship Type="http://schemas.openxmlformats.org/officeDocument/2006/relationships/image" Target="/ppt/media/image.png" Id="R220e72d117b7460f" /><Relationship Type="http://schemas.openxmlformats.org/officeDocument/2006/relationships/notesSlide" Target="/ppt/notesSlides/notesSlide78.xml" Id="Rb20223b5a43e42aa"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eaa81f69b7404c8b" /><Relationship Type="http://schemas.openxmlformats.org/officeDocument/2006/relationships/image" Target="/ppt/media/image.png" Id="Reeb526487e6245ed" /><Relationship Type="http://schemas.openxmlformats.org/officeDocument/2006/relationships/notesSlide" Target="/ppt/notesSlides/notesSlide79.xml" Id="R4fa7876cec894a1d"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47ceeff5f3484db5" /><Relationship Type="http://schemas.openxmlformats.org/officeDocument/2006/relationships/image" Target="/ppt/media/image.png" Id="Rca6ace1407294cb3" /><Relationship Type="http://schemas.openxmlformats.org/officeDocument/2006/relationships/notesSlide" Target="/ppt/notesSlides/notesSlide80.xml" Id="R6aac796f888e487b"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4357e505ee2645dd" /><Relationship Type="http://schemas.openxmlformats.org/officeDocument/2006/relationships/image" Target="/ppt/media/image.png" Id="R40146553012e4542" /><Relationship Type="http://schemas.openxmlformats.org/officeDocument/2006/relationships/notesSlide" Target="/ppt/notesSlides/notesSlide81.xml" Id="Ra523fa989fa04c67"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f40ba61c74f84f3c" /><Relationship Type="http://schemas.openxmlformats.org/officeDocument/2006/relationships/image" Target="/ppt/media/image.png" Id="R6f2b7c10fec64e41" /><Relationship Type="http://schemas.openxmlformats.org/officeDocument/2006/relationships/notesSlide" Target="/ppt/notesSlides/notesSlide82.xml" Id="R3454cfed1fc54127"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fa3109dabf56413b" /><Relationship Type="http://schemas.openxmlformats.org/officeDocument/2006/relationships/image" Target="/ppt/media/image.png" Id="R74abd5eb6e114973" /><Relationship Type="http://schemas.openxmlformats.org/officeDocument/2006/relationships/notesSlide" Target="/ppt/notesSlides/notesSlide83.xml" Id="R0814667b91fd417d"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6c99563f854a4e82" /><Relationship Type="http://schemas.openxmlformats.org/officeDocument/2006/relationships/image" Target="/ppt/media/image.png" Id="R92d4d78e0af94f9e" /><Relationship Type="http://schemas.openxmlformats.org/officeDocument/2006/relationships/notesSlide" Target="/ppt/notesSlides/notesSlide84.xml" Id="R257b5feba235447d"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8cceebed60054a6d" /><Relationship Type="http://schemas.openxmlformats.org/officeDocument/2006/relationships/image" Target="/ppt/media/image.png" Id="Ra2b572e606b54c55" /><Relationship Type="http://schemas.openxmlformats.org/officeDocument/2006/relationships/notesSlide" Target="/ppt/notesSlides/notesSlide85.xml" Id="Rbfa0583fe3224655"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5a4ff02131004b02" /><Relationship Type="http://schemas.openxmlformats.org/officeDocument/2006/relationships/image" Target="/ppt/media/image.png" Id="R9e13460c52e2449e" /><Relationship Type="http://schemas.openxmlformats.org/officeDocument/2006/relationships/notesSlide" Target="/ppt/notesSlides/notesSlide86.xml" Id="R35342c382534473a"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cb526a0a1d2f4d9a" /><Relationship Type="http://schemas.openxmlformats.org/officeDocument/2006/relationships/image" Target="/ppt/media/image.png" Id="R8cf893cbfd314bc5" /><Relationship Type="http://schemas.openxmlformats.org/officeDocument/2006/relationships/notesSlide" Target="/ppt/notesSlides/notesSlide87.xml" Id="R5e8a65ea5fa24f5c"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d4d559812aca4944" /><Relationship Type="http://schemas.openxmlformats.org/officeDocument/2006/relationships/image" Target="/ppt/media/image.png" Id="R7f018136f7144e3f" /><Relationship Type="http://schemas.openxmlformats.org/officeDocument/2006/relationships/notesSlide" Target="/ppt/notesSlides/notesSlide88.xml" Id="R1ac683acc9aa4bc7"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010d460543614619" /><Relationship Type="http://schemas.openxmlformats.org/officeDocument/2006/relationships/image" Target="/ppt/media/image.png" Id="R85dcee8951544215" /><Relationship Type="http://schemas.openxmlformats.org/officeDocument/2006/relationships/notesSlide" Target="/ppt/notesSlides/notesSlide89.xml" Id="R3b3b37674b274fed"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70cbd8b5597942a4" /><Relationship Type="http://schemas.openxmlformats.org/officeDocument/2006/relationships/image" Target="/ppt/media/image.png" Id="Rd4547fcf628b4c90" /><Relationship Type="http://schemas.openxmlformats.org/officeDocument/2006/relationships/notesSlide" Target="/ppt/notesSlides/notesSlide90.xml" Id="R5cad3ddfb5ed4eaa"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0564e0308c1c4973" /><Relationship Type="http://schemas.openxmlformats.org/officeDocument/2006/relationships/image" Target="/ppt/media/image.png" Id="R73b75312f1ec4ff3" /><Relationship Type="http://schemas.openxmlformats.org/officeDocument/2006/relationships/notesSlide" Target="/ppt/notesSlides/notesSlide91.xml" Id="Ra987e1dd3c384a5c"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cc5422b1e9554675" /><Relationship Type="http://schemas.openxmlformats.org/officeDocument/2006/relationships/image" Target="/ppt/media/image.png" Id="R9e71892b38284fde" /><Relationship Type="http://schemas.openxmlformats.org/officeDocument/2006/relationships/notesSlide" Target="/ppt/notesSlides/notesSlide92.xml" Id="Ra0027eb7225249fc"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14743062bb554ad5" /><Relationship Type="http://schemas.openxmlformats.org/officeDocument/2006/relationships/image" Target="/ppt/media/image.png" Id="R9e570cd1d7e94b11" /><Relationship Type="http://schemas.openxmlformats.org/officeDocument/2006/relationships/notesSlide" Target="/ppt/notesSlides/notesSlide93.xml" Id="Rfcd660fab7124dcd"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d4fa1fd108494282" /><Relationship Type="http://schemas.openxmlformats.org/officeDocument/2006/relationships/image" Target="/ppt/media/image.png" Id="Rd37f1492c7714975" /><Relationship Type="http://schemas.openxmlformats.org/officeDocument/2006/relationships/notesSlide" Target="/ppt/notesSlides/notesSlide94.xml" Id="R85b068c7f3234b6f"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854f8d45fe994651" /><Relationship Type="http://schemas.openxmlformats.org/officeDocument/2006/relationships/notesSlide" Target="/ppt/notesSlides/notesSlide95.xml" Id="R119bca11f75a48c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07" name="Google Shape;107;g3785cdd0013_0_0">
            <a:extLst xmlns:a="http://schemas.openxmlformats.org/drawingml/2006/main">
              <a:ext uri="{FF2B5EF4-FFF2-40B4-BE49-F238E27FC236}">
                <a16:creationId xmlns:a16="http://schemas.microsoft.com/office/drawing/2014/main" id="{B933BD82-B75C-41A4-8C5E-6A28AD5DCCA9}"/>
              </a:ext>
            </a:extLst>
          </p:cNvPr>
          <p:cNvSpPr>
            <a:spLocks xmlns:a="http://schemas.openxmlformats.org/drawingml/2006/main" noGrp="1"/>
          </p:cNvSpPr>
          <p:nvPr/>
        </p:nvSpPr>
        <p:spPr>
          <a:xfrm xmlns:a="http://schemas.openxmlformats.org/drawingml/2006/main">
            <a:off x="2387991" y="990600"/>
            <a:ext cx="7924800" cy="138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800" b="0" i="0" u="none" strike="noStrike" cap="none">
                <a:solidFill>
                  <a:schemeClr val="dk1"/>
                </a:solidFill>
                <a:latin typeface="Trebuchet MS"/>
                <a:ea typeface="Trebuchet MS"/>
                <a:cs typeface="Trebuchet MS"/>
              </a:rPr>
              <a:t>UE23CS441A </a:t>
            </a:r>
            <a:r>
              <a:rPr sz="2800" b="0" i="0" u="none" strike="noStrike" cap="none">
                <a:solidFill>
                  <a:schemeClr val="dk1"/>
                </a:solidFill>
                <a:latin typeface="Trebuchet MS"/>
                <a:ea typeface="Trebuchet MS"/>
                <a:cs typeface="Trebuchet MS"/>
              </a:rPr>
              <a:t>– Capstone Project Phase – 3</a:t>
            </a:r>
            <a:endParaRPr sz="2800" b="0" i="0" u="none" strike="noStrike" cap="none">
              <a:solidFill>
                <a:schemeClr val="dk1"/>
              </a:solidFill>
              <a:latin typeface="Trebuchet MS"/>
              <a:ea typeface="Trebuchet MS"/>
              <a:cs typeface="Trebuchet MS"/>
            </a:endParaRPr>
          </a:p>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800" b="0" i="0" u="none" strike="noStrike" cap="none">
                <a:solidFill>
                  <a:schemeClr val="dk1"/>
                </a:solidFill>
                <a:latin typeface="Trebuchet MS"/>
                <a:ea typeface="Trebuchet MS"/>
                <a:cs typeface="Trebuchet MS"/>
              </a:rPr>
              <a:t> </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800" b="0" i="0" u="none" strike="noStrike" cap="none">
                <a:solidFill>
                  <a:schemeClr val="accent2"/>
                </a:solidFill>
                <a:latin typeface="Trebuchet MS"/>
                <a:ea typeface="Trebuchet MS"/>
                <a:cs typeface="Trebuchet MS"/>
              </a:rPr>
              <a:t>Project Progress Review # </a:t>
            </a:r>
            <a:r>
              <a:rPr sz="2800">
                <a:solidFill>
                  <a:schemeClr val="accent2"/>
                </a:solidFill>
                <a:latin typeface="Trebuchet MS"/>
                <a:ea typeface="Trebuchet MS"/>
                <a:cs typeface="Trebuchet MS"/>
              </a:rPr>
              <a:t>2</a:t>
            </a:r>
            <a:endParaRPr sz="2800" b="0" i="0" u="none" strike="noStrike" cap="none">
              <a:solidFill>
                <a:schemeClr val="accent2"/>
              </a:solidFill>
              <a:latin typeface="Trebuchet MS"/>
              <a:ea typeface="Trebuchet MS"/>
              <a:cs typeface="Trebuchet MS"/>
            </a:endParaRPr>
          </a:p>
        </p:txBody>
      </p:sp>
      <p:sp>
        <p:nvSpPr>
          <p:cNvPr id="108" name="Google Shape;108;g3785cdd0013_0_0">
            <a:extLst xmlns:a="http://schemas.openxmlformats.org/drawingml/2006/main">
              <a:ext uri="{FF2B5EF4-FFF2-40B4-BE49-F238E27FC236}">
                <a16:creationId xmlns:a16="http://schemas.microsoft.com/office/drawing/2014/main" id="{31D1E0E0-EB00-4EF8-9D02-33C5B7462F35}"/>
              </a:ext>
            </a:extLst>
          </p:cNvPr>
          <p:cNvSpPr>
            <a:spLocks xmlns:a="http://schemas.openxmlformats.org/drawingml/2006/main" noGrp="1"/>
          </p:cNvSpPr>
          <p:nvPr/>
        </p:nvSpPr>
        <p:spPr>
          <a:xfrm xmlns:a="http://schemas.openxmlformats.org/drawingml/2006/main">
            <a:off x="1828800" y="4419600"/>
            <a:ext cx="9048750" cy="167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5250" tIns="38100" rIns="95250" bIns="38100" anchor="t">
            <a:noAutofit/>
          </a:bodyPr>
          <a:lstStyle xmlns:a="http://schemas.openxmlformats.org/drawingml/2006/main">
            <a:defPPr>
              <a:defRPr sz="2400">
                <a:solidFill>
                  <a:srgbClr val="E48312"/>
                </a:solidFill>
                <a:latin typeface="Trebuchet MS"/>
                <a:ea typeface="Trebuchet MS"/>
                <a:cs typeface="Trebuchet MS"/>
              </a:defRPr>
            </a:defPPr>
          </a:lstStyle>
          <a:p xmlns:a="http://schemas.openxmlformats.org/drawingml/2006/main">
            <a:pPr marL="0" marR="0" lvl="0" indent="0" algn="l">
              <a:lnSpc>
                <a:spcPct val="100000"/>
              </a:lnSpc>
              <a:spcBef>
                <a:spcPts val="0"/>
              </a:spcBef>
              <a:spcAft>
                <a:spcPts val="0"/>
              </a:spcAft>
              <a:buClr>
                <a:srgbClr val="000000"/>
              </a:buClr>
              <a:buSzPts val="2400"/>
              <a:buFont typeface="Arial"/>
              <a:buNone/>
              <a:defRPr sz="2400">
                <a:solidFill>
                  <a:srgbClr val="E48312"/>
                </a:solidFill>
                <a:latin typeface="Trebuchet MS"/>
                <a:ea typeface="Trebuchet MS"/>
                <a:cs typeface="Trebuchet MS"/>
              </a:defRPr>
            </a:pPr>
            <a:r>
              <a:rPr sz="2400" b="0" i="0" u="none" strike="noStrike" cap="none">
                <a:solidFill>
                  <a:srgbClr val="E48312"/>
                </a:solidFill>
                <a:latin typeface="Trebuchet MS"/>
                <a:ea typeface="Trebuchet MS"/>
                <a:cs typeface="Trebuchet MS"/>
              </a:rPr>
              <a:t>Project Title   : PRIMA-NEXT</a:t>
            </a:r>
            <a:endParaRPr sz="2400" b="0" i="0" u="none" strike="noStrike" cap="none">
              <a:solidFill>
                <a:schemeClr val="accent1"/>
              </a:solidFill>
              <a:latin typeface="Trebuchet MS"/>
              <a:ea typeface="Trebuchet MS"/>
              <a:cs typeface="Trebuchet MS"/>
            </a:endParaRPr>
          </a:p>
          <a:p xmlns:a="http://schemas.openxmlformats.org/drawingml/2006/main">
            <a:pPr marL="0" marR="0" lvl="0" indent="0" algn="l">
              <a:lnSpc>
                <a:spcPct val="100000"/>
              </a:lnSpc>
              <a:spcBef>
                <a:spcPts val="0"/>
              </a:spcBef>
              <a:spcAft>
                <a:spcPts val="0"/>
              </a:spcAft>
              <a:buClr>
                <a:srgbClr val="000000"/>
              </a:buClr>
              <a:buSzPts val="2400"/>
              <a:buFont typeface="Arial"/>
              <a:buNone/>
              <a:defRPr sz="2400">
                <a:solidFill>
                  <a:srgbClr val="E48312"/>
                </a:solidFill>
                <a:latin typeface="Trebuchet MS"/>
                <a:ea typeface="Trebuchet MS"/>
                <a:cs typeface="Trebuchet MS"/>
              </a:defRPr>
            </a:pPr>
            <a:r>
              <a:rPr sz="2400" b="0" i="0" u="none" strike="noStrike" cap="none">
                <a:solidFill>
                  <a:srgbClr val="E48312"/>
                </a:solidFill>
                <a:latin typeface="Trebuchet MS"/>
                <a:ea typeface="Trebuchet MS"/>
                <a:cs typeface="Trebuchet MS"/>
              </a:rPr>
              <a:t>Project ID       : [To be added]</a:t>
            </a:r>
            <a:endParaRPr sz="2400" b="0" i="0" u="none" strike="noStrike" cap="none">
              <a:solidFill>
                <a:schemeClr val="accent1"/>
              </a:solidFill>
              <a:latin typeface="Trebuchet MS"/>
              <a:ea typeface="Trebuchet MS"/>
              <a:cs typeface="Trebuchet MS"/>
            </a:endParaRPr>
          </a:p>
          <a:p xmlns:a="http://schemas.openxmlformats.org/drawingml/2006/main">
            <a:pPr marL="0" marR="0" lvl="0" indent="0" algn="l">
              <a:lnSpc>
                <a:spcPct val="100000"/>
              </a:lnSpc>
              <a:spcBef>
                <a:spcPts val="0"/>
              </a:spcBef>
              <a:spcAft>
                <a:spcPts val="0"/>
              </a:spcAft>
              <a:buClr>
                <a:srgbClr val="000000"/>
              </a:buClr>
              <a:buSzPts val="2400"/>
              <a:buFont typeface="Arial"/>
              <a:buNone/>
              <a:defRPr sz="2400">
                <a:solidFill>
                  <a:srgbClr val="E48312"/>
                </a:solidFill>
                <a:latin typeface="Trebuchet MS"/>
                <a:ea typeface="Trebuchet MS"/>
                <a:cs typeface="Trebuchet MS"/>
              </a:defRPr>
            </a:pPr>
            <a:r>
              <a:rPr sz="2400" b="0" i="0" u="none" strike="noStrike" cap="none">
                <a:solidFill>
                  <a:srgbClr val="E48312"/>
                </a:solidFill>
                <a:latin typeface="Trebuchet MS"/>
                <a:ea typeface="Trebuchet MS"/>
                <a:cs typeface="Trebuchet MS"/>
              </a:rPr>
              <a:t>Project Guide : [To be added]</a:t>
            </a:r>
            <a:endParaRPr sz="2400" b="0" i="0" u="none" strike="noStrike" cap="none">
              <a:solidFill>
                <a:schemeClr val="accent1"/>
              </a:solidFill>
              <a:latin typeface="Trebuchet MS"/>
              <a:ea typeface="Trebuchet MS"/>
              <a:cs typeface="Trebuchet MS"/>
            </a:endParaRPr>
          </a:p>
          <a:p xmlns:a="http://schemas.openxmlformats.org/drawingml/2006/main">
            <a:pPr marL="0" marR="0" lvl="0" indent="0" algn="l">
              <a:lnSpc>
                <a:spcPct val="100000"/>
              </a:lnSpc>
              <a:spcBef>
                <a:spcPts val="0"/>
              </a:spcBef>
              <a:spcAft>
                <a:spcPts val="0"/>
              </a:spcAft>
              <a:buClr>
                <a:srgbClr val="000000"/>
              </a:buClr>
              <a:buSzPts val="2400"/>
              <a:buFont typeface="Arial"/>
              <a:buNone/>
              <a:defRPr sz="2400">
                <a:solidFill>
                  <a:srgbClr val="E48312"/>
                </a:solidFill>
                <a:latin typeface="Trebuchet MS"/>
                <a:ea typeface="Trebuchet MS"/>
                <a:cs typeface="Trebuchet MS"/>
              </a:defRPr>
            </a:pPr>
            <a:r>
              <a:rPr sz="2400" b="0" i="0" u="none" strike="noStrike" cap="none">
                <a:solidFill>
                  <a:srgbClr val="E48312"/>
                </a:solidFill>
                <a:latin typeface="Trebuchet MS"/>
                <a:ea typeface="Trebuchet MS"/>
                <a:cs typeface="Trebuchet MS"/>
              </a:rPr>
              <a:t>Project Team  : [To be added]</a:t>
            </a:r>
            <a:endParaRPr sz="2000" b="0" i="0" u="none" strike="noStrike" cap="none">
              <a:solidFill>
                <a:schemeClr val="accent1"/>
              </a:solidFill>
              <a:latin typeface="Calibri"/>
              <a:ea typeface="Calibri"/>
              <a:cs typeface="Calibri"/>
            </a:endParaRPr>
          </a:p>
        </p:txBody>
      </p:sp>
      <p:pic>
        <p:nvPicPr>
          <p:cNvPr id="109" name="Google Shape;109;g3785cdd0013_0_0">
            <a:extLst xmlns:a="http://schemas.openxmlformats.org/drawingml/2006/main">
              <a:ext uri="{FF2B5EF4-FFF2-40B4-BE49-F238E27FC236}">
                <a16:creationId xmlns:a16="http://schemas.microsoft.com/office/drawing/2014/main" id="{9E6DAC78-B964-46DF-95B2-C9AAB5B205D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12d830140d44f4a">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7328150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16" name="Google Shape;116;g38215e9470b_0_8">
            <a:extLst xmlns:a="http://schemas.openxmlformats.org/drawingml/2006/main">
              <a:ext uri="{FF2B5EF4-FFF2-40B4-BE49-F238E27FC236}">
                <a16:creationId xmlns:a16="http://schemas.microsoft.com/office/drawing/2014/main" id="{2A5DADA0-2B99-4895-84CD-7E6645A83594}"/>
              </a:ext>
            </a:extLst>
          </p:cNvPr>
          <p:cNvSpPr>
            <a:spLocks xmlns:a="http://schemas.openxmlformats.org/drawingml/2006/main" noGrp="1"/>
          </p:cNvSpPr>
          <p:nvPr/>
        </p:nvSpPr>
        <p:spPr>
          <a:xfrm xmlns:a="http://schemas.openxmlformats.org/drawingml/2006/main">
            <a:off x="1828800" y="90840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891" marR="0" lvl="0" indent="-342891"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Outline</a:t>
            </a:r>
            <a:endParaRPr sz="2400" b="0" i="0" u="none" strike="noStrike" cap="none">
              <a:solidFill>
                <a:srgbClr val="FF0000"/>
              </a:solidFill>
              <a:latin typeface="Trebuchet MS"/>
              <a:ea typeface="Trebuchet MS"/>
              <a:cs typeface="Trebuchet MS"/>
            </a:endParaRPr>
          </a:p>
        </p:txBody>
      </p:sp>
      <p:pic>
        <p:nvPicPr>
          <p:cNvPr id="117" name="Google Shape;117;g38215e9470b_0_8">
            <a:extLst xmlns:a="http://schemas.openxmlformats.org/drawingml/2006/main">
              <a:ext uri="{FF2B5EF4-FFF2-40B4-BE49-F238E27FC236}">
                <a16:creationId xmlns:a16="http://schemas.microsoft.com/office/drawing/2014/main" id="{6D53773D-B38A-4FD8-AA71-66567214494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368ff3385cc420d">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18" name="Google Shape;118;g38215e9470b_0_8">
            <a:extLst xmlns:a="http://schemas.openxmlformats.org/drawingml/2006/main">
              <a:ext uri="{FF2B5EF4-FFF2-40B4-BE49-F238E27FC236}">
                <a16:creationId xmlns:a16="http://schemas.microsoft.com/office/drawing/2014/main" id="{531EAB4A-60A3-49BE-A4AB-1FD197D819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19" name="Google Shape;119;g38215e9470b_0_8">
            <a:extLst xmlns:a="http://schemas.openxmlformats.org/drawingml/2006/main">
              <a:ext uri="{FF2B5EF4-FFF2-40B4-BE49-F238E27FC236}">
                <a16:creationId xmlns:a16="http://schemas.microsoft.com/office/drawing/2014/main" id="{CEF3A7B4-D79A-4B9B-8A19-7904EEF01D9D}"/>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20" name="Body paragraph 1">
            <a:extLst xmlns:a="http://schemas.openxmlformats.org/drawingml/2006/main">
              <a:ext uri="{FF2B5EF4-FFF2-40B4-BE49-F238E27FC236}">
                <a16:creationId xmlns:a16="http://schemas.microsoft.com/office/drawing/2014/main" id="{50FC3EC8-A999-4AC6-BE57-4DC2A046C370}"/>
              </a:ext>
            </a:extLst>
          </p:cNvPr>
          <p:cNvSpPr>
            <a:spLocks xmlns:a="http://schemas.openxmlformats.org/drawingml/2006/main" noGrp="1"/>
          </p:cNvSpPr>
          <p:nvPr/>
        </p:nvSpPr>
        <p:spPr>
          <a:xfrm xmlns:a="http://schemas.openxmlformats.org/drawingml/2006/main">
            <a:off x="1828800" y="1752600"/>
            <a:ext cx="9067800" cy="400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Review 1 feedback and demonstration progress</a:t>
            </a:r>
          </a:p>
        </p:txBody>
      </p:sp>
      <p:sp>
        <p:nvSpPr>
          <p:cNvPr id="121" name="Body paragraph 2">
            <a:extLst xmlns:a="http://schemas.openxmlformats.org/drawingml/2006/main">
              <a:ext uri="{FF2B5EF4-FFF2-40B4-BE49-F238E27FC236}">
                <a16:creationId xmlns:a16="http://schemas.microsoft.com/office/drawing/2014/main" id="{01846F5D-32EA-4414-8CE5-01C8DBC0DAE3}"/>
              </a:ext>
            </a:extLst>
          </p:cNvPr>
          <p:cNvSpPr>
            <a:spLocks xmlns:a="http://schemas.openxmlformats.org/drawingml/2006/main" noGrp="1"/>
          </p:cNvSpPr>
          <p:nvPr/>
        </p:nvSpPr>
        <p:spPr>
          <a:xfrm xmlns:a="http://schemas.openxmlformats.org/drawingml/2006/main">
            <a:off x="1828800" y="2305431"/>
            <a:ext cx="9067800" cy="400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Methodology, technical stages, results, and algorithms</a:t>
            </a:r>
          </a:p>
        </p:txBody>
      </p:sp>
      <p:sp>
        <p:nvSpPr>
          <p:cNvPr id="122" name="Body paragraph 3">
            <a:extLst xmlns:a="http://schemas.openxmlformats.org/drawingml/2006/main">
              <a:ext uri="{FF2B5EF4-FFF2-40B4-BE49-F238E27FC236}">
                <a16:creationId xmlns:a16="http://schemas.microsoft.com/office/drawing/2014/main" id="{5F6C5361-E954-4157-B332-2E05D7FAB6D2}"/>
              </a:ext>
            </a:extLst>
          </p:cNvPr>
          <p:cNvSpPr>
            <a:spLocks xmlns:a="http://schemas.openxmlformats.org/drawingml/2006/main" noGrp="1"/>
          </p:cNvSpPr>
          <p:nvPr/>
        </p:nvSpPr>
        <p:spPr>
          <a:xfrm xmlns:a="http://schemas.openxmlformats.org/drawingml/2006/main">
            <a:off x="1828800" y="2858262"/>
            <a:ext cx="9067800" cy="400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Design choices, module demonstration, and testing</a:t>
            </a:r>
          </a:p>
        </p:txBody>
      </p:sp>
      <p:sp>
        <p:nvSpPr>
          <p:cNvPr id="123" name="Body paragraph 4">
            <a:extLst xmlns:a="http://schemas.openxmlformats.org/drawingml/2006/main">
              <a:ext uri="{FF2B5EF4-FFF2-40B4-BE49-F238E27FC236}">
                <a16:creationId xmlns:a16="http://schemas.microsoft.com/office/drawing/2014/main" id="{D53545C2-B02A-43C0-BCFC-AAB01AB210F6}"/>
              </a:ext>
            </a:extLst>
          </p:cNvPr>
          <p:cNvSpPr>
            <a:spLocks xmlns:a="http://schemas.openxmlformats.org/drawingml/2006/main" noGrp="1"/>
          </p:cNvSpPr>
          <p:nvPr/>
        </p:nvSpPr>
        <p:spPr>
          <a:xfrm xmlns:a="http://schemas.openxmlformats.org/drawingml/2006/main">
            <a:off x="1828800" y="3411093"/>
            <a:ext cx="9067800" cy="400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Other domains, paper and patent progress</a:t>
            </a:r>
          </a:p>
        </p:txBody>
      </p:sp>
      <p:sp>
        <p:nvSpPr>
          <p:cNvPr id="124" name="Body paragraph 5">
            <a:extLst xmlns:a="http://schemas.openxmlformats.org/drawingml/2006/main">
              <a:ext uri="{FF2B5EF4-FFF2-40B4-BE49-F238E27FC236}">
                <a16:creationId xmlns:a16="http://schemas.microsoft.com/office/drawing/2014/main" id="{063BACD5-FC45-443D-8564-6CD5F6874E89}"/>
              </a:ext>
            </a:extLst>
          </p:cNvPr>
          <p:cNvSpPr>
            <a:spLocks xmlns:a="http://schemas.openxmlformats.org/drawingml/2006/main" noGrp="1"/>
          </p:cNvSpPr>
          <p:nvPr/>
        </p:nvSpPr>
        <p:spPr>
          <a:xfrm xmlns:a="http://schemas.openxmlformats.org/drawingml/2006/main">
            <a:off x="1828800" y="3963924"/>
            <a:ext cx="9067800" cy="400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Pending tasks, timeline, conclusion, and references</a:t>
            </a:r>
          </a:p>
        </p:txBody>
      </p:sp>
    </p:spTree>
    <p:extLst>
      <p:ext uri="{BB962C8B-B14F-4D97-AF65-F5344CB8AC3E}">
        <p14:creationId xmlns:p14="http://schemas.microsoft.com/office/powerpoint/2010/main" val="7934602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26" name="Google Shape;126;g38215e9470b_0_18">
            <a:extLst xmlns:a="http://schemas.openxmlformats.org/drawingml/2006/main">
              <a:ext uri="{FF2B5EF4-FFF2-40B4-BE49-F238E27FC236}">
                <a16:creationId xmlns:a16="http://schemas.microsoft.com/office/drawing/2014/main" id="{9645DC92-E1E0-4E12-AA6D-F5E32CA16AEA}"/>
              </a:ext>
            </a:extLst>
          </p:cNvPr>
          <p:cNvSpPr>
            <a:spLocks xmlns:a="http://schemas.openxmlformats.org/drawingml/2006/main" noGrp="1"/>
          </p:cNvSpPr>
          <p:nvPr/>
        </p:nvSpPr>
        <p:spPr>
          <a:xfrm xmlns:a="http://schemas.openxmlformats.org/drawingml/2006/main">
            <a:off x="1828800" y="773825"/>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891" marR="0" lvl="0" indent="-342891"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Suggestions from Review 1</a:t>
            </a:r>
            <a:endParaRPr sz="2400" b="0" i="0" u="none" strike="noStrike" cap="none">
              <a:solidFill>
                <a:srgbClr val="FF0000"/>
              </a:solidFill>
              <a:latin typeface="Trebuchet MS"/>
              <a:ea typeface="Trebuchet MS"/>
              <a:cs typeface="Trebuchet MS"/>
            </a:endParaRPr>
          </a:p>
        </p:txBody>
      </p:sp>
      <p:pic>
        <p:nvPicPr>
          <p:cNvPr id="127" name="Google Shape;127;g38215e9470b_0_18">
            <a:extLst xmlns:a="http://schemas.openxmlformats.org/drawingml/2006/main">
              <a:ext uri="{FF2B5EF4-FFF2-40B4-BE49-F238E27FC236}">
                <a16:creationId xmlns:a16="http://schemas.microsoft.com/office/drawing/2014/main" id="{FE55D669-7757-4335-B7CD-A8E4EB707E6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c14f88d96d84b0d">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28" name="Google Shape;128;g38215e9470b_0_18">
            <a:extLst xmlns:a="http://schemas.openxmlformats.org/drawingml/2006/main">
              <a:ext uri="{FF2B5EF4-FFF2-40B4-BE49-F238E27FC236}">
                <a16:creationId xmlns:a16="http://schemas.microsoft.com/office/drawing/2014/main" id="{91483E81-3940-4396-91EF-703455314B1E}"/>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29" name="Google Shape;129;g38215e9470b_0_18">
            <a:extLst xmlns:a="http://schemas.openxmlformats.org/drawingml/2006/main">
              <a:ext uri="{FF2B5EF4-FFF2-40B4-BE49-F238E27FC236}">
                <a16:creationId xmlns:a16="http://schemas.microsoft.com/office/drawing/2014/main" id="{F5F5F4AE-2AB5-402F-9B7B-D157B0357B52}"/>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0" name="Body paragraph 1">
            <a:extLst xmlns:a="http://schemas.openxmlformats.org/drawingml/2006/main">
              <a:ext uri="{FF2B5EF4-FFF2-40B4-BE49-F238E27FC236}">
                <a16:creationId xmlns:a16="http://schemas.microsoft.com/office/drawing/2014/main" id="{CD99C3C6-2F1E-4B66-B201-8B32E2F2AFE3}"/>
              </a:ext>
            </a:extLst>
          </p:cNvPr>
          <p:cNvSpPr>
            <a:spLocks xmlns:a="http://schemas.openxmlformats.org/drawingml/2006/main" noGrp="1"/>
          </p:cNvSpPr>
          <p:nvPr/>
        </p:nvSpPr>
        <p:spPr>
          <a:xfrm xmlns:a="http://schemas.openxmlformats.org/drawingml/2006/main">
            <a:off x="1828800" y="1752600"/>
            <a:ext cx="9067800" cy="7722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The panel requested one sample that demonstrates every runtime module, with a baseline comparison.</a:t>
            </a:r>
          </a:p>
        </p:txBody>
      </p:sp>
      <p:sp>
        <p:nvSpPr>
          <p:cNvPr id="131" name="Body paragraph 2">
            <a:extLst xmlns:a="http://schemas.openxmlformats.org/drawingml/2006/main">
              <a:ext uri="{FF2B5EF4-FFF2-40B4-BE49-F238E27FC236}">
                <a16:creationId xmlns:a16="http://schemas.microsoft.com/office/drawing/2014/main" id="{5DA810A0-5BF7-4239-95DC-F10750191464}"/>
              </a:ext>
            </a:extLst>
          </p:cNvPr>
          <p:cNvSpPr>
            <a:spLocks xmlns:a="http://schemas.openxmlformats.org/drawingml/2006/main" noGrp="1"/>
          </p:cNvSpPr>
          <p:nvPr/>
        </p:nvSpPr>
        <p:spPr>
          <a:xfrm xmlns:a="http://schemas.openxmlformats.org/drawingml/2006/main">
            <a:off x="1828800" y="2677287"/>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A connected scenario can exercise several task-specific requests. Ingestion, QA, classification and tools intentionally follow different routes.</a:t>
            </a:r>
          </a:p>
        </p:txBody>
      </p:sp>
      <p:sp>
        <p:nvSpPr>
          <p:cNvPr id="132" name="Body paragraph 3">
            <a:extLst xmlns:a="http://schemas.openxmlformats.org/drawingml/2006/main">
              <a:ext uri="{FF2B5EF4-FFF2-40B4-BE49-F238E27FC236}">
                <a16:creationId xmlns:a16="http://schemas.microsoft.com/office/drawing/2014/main" id="{DB75023F-2325-489B-87EE-4485C91871DB}"/>
              </a:ext>
            </a:extLst>
          </p:cNvPr>
          <p:cNvSpPr>
            <a:spLocks xmlns:a="http://schemas.openxmlformats.org/drawingml/2006/main" noGrp="1"/>
          </p:cNvSpPr>
          <p:nvPr/>
        </p:nvSpPr>
        <p:spPr>
          <a:xfrm xmlns:a="http://schemas.openxmlformats.org/drawingml/2006/main">
            <a:off x="1828800" y="397383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The runtime and test scaffolding exist. A unified runnable demo, saved real-model comparison and rehearsal remain pending.</a:t>
            </a:r>
          </a:p>
        </p:txBody>
      </p:sp>
    </p:spTree>
    <p:extLst>
      <p:ext uri="{BB962C8B-B14F-4D97-AF65-F5344CB8AC3E}">
        <p14:creationId xmlns:p14="http://schemas.microsoft.com/office/powerpoint/2010/main" val="96433746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6" name="Google Shape;126;g38215e9470b_0_18">
            <a:extLst xmlns:a="http://schemas.openxmlformats.org/drawingml/2006/main">
              <a:ext uri="{FF2B5EF4-FFF2-40B4-BE49-F238E27FC236}">
                <a16:creationId xmlns:a16="http://schemas.microsoft.com/office/drawing/2014/main" id="{9645DC92-E1E0-4E12-AA6D-F5E32CA16AEA}"/>
              </a:ext>
            </a:extLst>
          </p:cNvPr>
          <p:cNvSpPr>
            <a:spLocks xmlns:a="http://schemas.openxmlformats.org/drawingml/2006/main" noGrp="1"/>
          </p:cNvSpPr>
          <p:nvPr/>
        </p:nvSpPr>
        <p:spPr>
          <a:xfrm xmlns:a="http://schemas.openxmlformats.org/drawingml/2006/main">
            <a:off x="1828800" y="773825"/>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891" marR="0" lvl="0" indent="-342891"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Review feedback and progress</a:t>
            </a:r>
            <a:endParaRPr sz="2400" b="0" i="0" u="none" strike="noStrike" cap="none">
              <a:solidFill>
                <a:srgbClr val="FF0000"/>
              </a:solidFill>
              <a:latin typeface="Trebuchet MS"/>
              <a:ea typeface="Trebuchet MS"/>
              <a:cs typeface="Trebuchet MS"/>
            </a:endParaRPr>
          </a:p>
        </p:txBody>
      </p:sp>
      <p:pic>
        <p:nvPicPr>
          <p:cNvPr id="127" name="Google Shape;127;g38215e9470b_0_18">
            <a:extLst xmlns:a="http://schemas.openxmlformats.org/drawingml/2006/main">
              <a:ext uri="{FF2B5EF4-FFF2-40B4-BE49-F238E27FC236}">
                <a16:creationId xmlns:a16="http://schemas.microsoft.com/office/drawing/2014/main" id="{FE55D669-7757-4335-B7CD-A8E4EB707E6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4c3a1157b9d44a0">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28" name="Google Shape;128;g38215e9470b_0_18">
            <a:extLst xmlns:a="http://schemas.openxmlformats.org/drawingml/2006/main">
              <a:ext uri="{FF2B5EF4-FFF2-40B4-BE49-F238E27FC236}">
                <a16:creationId xmlns:a16="http://schemas.microsoft.com/office/drawing/2014/main" id="{91483E81-3940-4396-91EF-703455314B1E}"/>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29" name="Google Shape;129;g38215e9470b_0_18">
            <a:extLst xmlns:a="http://schemas.openxmlformats.org/drawingml/2006/main">
              <a:ext uri="{FF2B5EF4-FFF2-40B4-BE49-F238E27FC236}">
                <a16:creationId xmlns:a16="http://schemas.microsoft.com/office/drawing/2014/main" id="{F5F5F4AE-2AB5-402F-9B7B-D157B0357B52}"/>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0" name="">
            <a:extLst xmlns:a="http://schemas.openxmlformats.org/drawingml/2006/main">
              <a:ext uri="{FF2B5EF4-FFF2-40B4-BE49-F238E27FC236}">
                <a16:creationId xmlns:a16="http://schemas.microsoft.com/office/drawing/2014/main" id="{685DC4B2-27AA-48DA-9C2E-68DB72821F81}"/>
              </a:ext>
            </a:extLst>
          </p:cNvPr>
          <p:cNvGraphicFramePr/>
          <p:nvPr/>
        </p:nvGraphicFramePr>
        <p:xfrm>
          <a:off xmlns:a="http://schemas.openxmlformats.org/drawingml/2006/main" x="1828800" y="1752600"/>
          <a:ext xmlns:a="http://schemas.openxmlformats.org/drawingml/2006/main" cx="9067800" cy="29146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Request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Available</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Next evidence</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Single-sample demo</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Typed routes and detailed traces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Rehearsed scenario with actual outputs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Comparison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Model-only, simple RAG and full PRIMA profiles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Matched provider/settings and scored outputs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Module testing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25 focused tests passed on 10 October 2026</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Fresh wider-suite evidence</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96433746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Project problem and objectives</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98c66d035a34dd5">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Body paragraph 1">
            <a:extLst xmlns:a="http://schemas.openxmlformats.org/drawingml/2006/main">
              <a:ext uri="{FF2B5EF4-FFF2-40B4-BE49-F238E27FC236}">
                <a16:creationId xmlns:a16="http://schemas.microsoft.com/office/drawing/2014/main" id="{8539711F-58C7-4AC1-91D2-2FB6E235A009}"/>
              </a:ext>
            </a:extLst>
          </p:cNvPr>
          <p:cNvSpPr>
            <a:spLocks xmlns:a="http://schemas.openxmlformats.org/drawingml/2006/main" noGrp="1"/>
          </p:cNvSpPr>
          <p:nvPr/>
        </p:nvSpPr>
        <p:spPr>
          <a:xfrm xmlns:a="http://schemas.openxmlformats.org/drawingml/2006/main">
            <a:off x="1828800" y="1752600"/>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PRIMA-NEXT is a Python research runtime around a language model. It decides what history to retain, which evidence to retrieve, when to correct or abstain, and which operations are allowed.</a:t>
            </a:r>
          </a:p>
        </p:txBody>
      </p:sp>
      <p:sp>
        <p:nvSpPr>
          <p:cNvPr id="140" name="Body paragraph 2">
            <a:extLst xmlns:a="http://schemas.openxmlformats.org/drawingml/2006/main">
              <a:ext uri="{FF2B5EF4-FFF2-40B4-BE49-F238E27FC236}">
                <a16:creationId xmlns:a16="http://schemas.microsoft.com/office/drawing/2014/main" id="{5EAACE05-5E55-4A7F-9CD1-20896DF0883D}"/>
              </a:ext>
            </a:extLst>
          </p:cNvPr>
          <p:cNvSpPr>
            <a:spLocks xmlns:a="http://schemas.openxmlformats.org/drawingml/2006/main" noGrp="1"/>
          </p:cNvSpPr>
          <p:nvPr/>
        </p:nvSpPr>
        <p:spPr>
          <a:xfrm xmlns:a="http://schemas.openxmlformats.org/drawingml/2006/main">
            <a:off x="1828800" y="3420999"/>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The research question is whether these mechanisms improve useful behavior enough to justify latency, model calls and storage compared with the same model alone and simple RAG.</a:t>
            </a:r>
          </a:p>
        </p:txBody>
      </p:sp>
      <p:sp>
        <p:nvSpPr>
          <p:cNvPr id="141" name="Body paragraph 3">
            <a:extLst xmlns:a="http://schemas.openxmlformats.org/drawingml/2006/main">
              <a:ext uri="{FF2B5EF4-FFF2-40B4-BE49-F238E27FC236}">
                <a16:creationId xmlns:a16="http://schemas.microsoft.com/office/drawing/2014/main" id="{1C4D2DA1-1C2D-4C15-A815-85B9632F6E6E}"/>
              </a:ext>
            </a:extLst>
          </p:cNvPr>
          <p:cNvSpPr>
            <a:spLocks xmlns:a="http://schemas.openxmlformats.org/drawingml/2006/main" noGrp="1"/>
          </p:cNvSpPr>
          <p:nvPr/>
        </p:nvSpPr>
        <p:spPr>
          <a:xfrm xmlns:a="http://schemas.openxmlformats.org/drawingml/2006/main">
            <a:off x="1828800" y="5089398"/>
            <a:ext cx="9067800" cy="7722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The project uses existing foundation models. Its contribution is the surrounding memory and control system.</a:t>
            </a:r>
          </a:p>
        </p:txBody>
      </p:sp>
    </p:spTree>
    <p:extLst>
      <p:ext uri="{BB962C8B-B14F-4D97-AF65-F5344CB8AC3E}">
        <p14:creationId xmlns:p14="http://schemas.microsoft.com/office/powerpoint/2010/main" val="77547659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Objectives and acceptance evidence</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330a8b0727745d7">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54B1A34B-B501-4BF3-B226-E18A16F8373F}"/>
              </a:ext>
            </a:extLst>
          </p:cNvPr>
          <p:cNvGraphicFramePr/>
          <p:nvPr/>
        </p:nvGraphicFramePr>
        <p:xfrm>
          <a:off xmlns:a="http://schemas.openxmlformats.org/drawingml/2006/main" x="1828800" y="1752600"/>
          <a:ext xmlns:a="http://schemas.openxmlformats.org/drawingml/2006/main" cx="9067800" cy="3943350"/>
        </p:xfrm>
        <a:graphic xmlns:a="http://schemas.openxmlformats.org/drawingml/2006/main">
          <a:graphicData uri="http://schemas.openxmlformats.org/drawingml/2006/table">
            <a:tbl>
              <a:tblPr firstRow="1" bandRow="0"/>
              <a:tblGrid>
                <a:gridCol w="2476500"/>
                <a:gridCol w="659130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Objective</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Evidence required</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Historical recall</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Admitted source records, provenance, held-out retrieval and QA outcomes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Task-appropriate execution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Valid routes, exclusions, executed-component traces</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Bounded correction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Budgets, stop reasons, helped/harmed outcomes</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Controlled actions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Policy, schema, handler result and blocked-action records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Reproducible evaluation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Fixed identities, native scoring, complete artifacts</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Proposed Approach / Methodology</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879996aeb4e4971">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Body paragraph 1">
            <a:extLst xmlns:a="http://schemas.openxmlformats.org/drawingml/2006/main">
              <a:ext uri="{FF2B5EF4-FFF2-40B4-BE49-F238E27FC236}">
                <a16:creationId xmlns:a16="http://schemas.microsoft.com/office/drawing/2014/main" id="{CAD0187C-524A-44C4-93A3-58452C44C438}"/>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One canonical interface, PrimaRuntime.execute(PrimaRequest), validates a typed request and selects its task/profile route.</a:t>
            </a:r>
          </a:p>
        </p:txBody>
      </p:sp>
      <p:sp>
        <p:nvSpPr>
          <p:cNvPr id="140" name="Body paragraph 2">
            <a:extLst xmlns:a="http://schemas.openxmlformats.org/drawingml/2006/main">
              <a:ext uri="{FF2B5EF4-FFF2-40B4-BE49-F238E27FC236}">
                <a16:creationId xmlns:a16="http://schemas.microsoft.com/office/drawing/2014/main" id="{1D6075CE-CAD9-4F60-A262-4B0575AA8B60}"/>
              </a:ext>
            </a:extLst>
          </p:cNvPr>
          <p:cNvSpPr>
            <a:spLocks xmlns:a="http://schemas.openxmlformats.org/drawingml/2006/main" noGrp="1"/>
          </p:cNvSpPr>
          <p:nvPr/>
        </p:nvSpPr>
        <p:spPr>
          <a:xfrm xmlns:a="http://schemas.openxmlformats.org/drawingml/2006/main">
            <a:off x="1828800" y="3049143"/>
            <a:ext cx="9067800" cy="7722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The workflow owns controller order, bounded corrections, typed results and task-appropriate state/memory effects.</a:t>
            </a:r>
          </a:p>
        </p:txBody>
      </p:sp>
      <p:sp>
        <p:nvSpPr>
          <p:cNvPr id="141" name="Body paragraph 3">
            <a:extLst xmlns:a="http://schemas.openxmlformats.org/drawingml/2006/main">
              <a:ext uri="{FF2B5EF4-FFF2-40B4-BE49-F238E27FC236}">
                <a16:creationId xmlns:a16="http://schemas.microsoft.com/office/drawing/2014/main" id="{DE55E83B-DFB1-417D-BBE2-2570E4040828}"/>
              </a:ext>
            </a:extLst>
          </p:cNvPr>
          <p:cNvSpPr>
            <a:spLocks xmlns:a="http://schemas.openxmlformats.org/drawingml/2006/main" noGrp="1"/>
          </p:cNvSpPr>
          <p:nvPr/>
        </p:nvSpPr>
        <p:spPr>
          <a:xfrm xmlns:a="http://schemas.openxmlformats.org/drawingml/2006/main">
            <a:off x="1828800" y="397383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Content belongs to the configured repository. Graph records derive from stored memory IDs. Background maintenance uses explicit completion barriers.</a:t>
            </a:r>
          </a:p>
        </p:txBody>
      </p:sp>
    </p:spTree>
    <p:extLst>
      <p:ext uri="{BB962C8B-B14F-4D97-AF65-F5344CB8AC3E}">
        <p14:creationId xmlns:p14="http://schemas.microsoft.com/office/powerpoint/2010/main" val="77547659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Runtime workflow</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4db454ff19e4b30">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01492D6D-38EE-4AE5-928A-5F96D572B345}"/>
              </a:ext>
            </a:extLst>
          </p:cNvPr>
          <p:cNvGraphicFramePr/>
          <p:nvPr/>
        </p:nvGraphicFramePr>
        <p:xfrm>
          <a:off xmlns:a="http://schemas.openxmlformats.org/drawingml/2006/main" x="1828800" y="1752600"/>
          <a:ext xmlns:a="http://schemas.openxmlformats.org/drawingml/2006/main" cx="9067800" cy="3943350"/>
        </p:xfrm>
        <a:graphic xmlns:a="http://schemas.openxmlformats.org/drawingml/2006/main">
          <a:graphicData uri="http://schemas.openxmlformats.org/drawingml/2006/table">
            <a:tbl>
              <a:tblPr firstRow="1" bandRow="0"/>
              <a:tblGrid>
                <a:gridCol w="2476500"/>
                <a:gridCol w="659130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Stage</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Responsibility</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Boundary and route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Validate request/control fields, select a supported task/profile pair</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State and controllers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Load versioned state, run the selected components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Result and corrections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Generate, classify, ingest or act, with bounded corrections</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Commit and return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Validate output, commit allowed effects, return diagnostics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Cold path</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Enqueue admitted memory maintenance and reconcile its completion</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Task and profile routes (1/2)</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2d0470d7b8b4687">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059F4DBA-72F9-4061-A3B0-43383C422419}"/>
              </a:ext>
            </a:extLst>
          </p:cNvPr>
          <p:cNvGraphicFramePr/>
          <p:nvPr/>
        </p:nvGraphicFramePr>
        <p:xfrm>
          <a:off xmlns:a="http://schemas.openxmlformats.org/drawingml/2006/main" x="1828800" y="1752600"/>
          <a:ext xmlns:a="http://schemas.openxmlformats.org/drawingml/2006/main" cx="9067800" cy="37147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Task</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Profiles</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Behavior</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Conversation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Model-only / simple RAG / full</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Reply, state and policy-based admission</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Factual QA</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Model-only / simple RAG / full</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Structured answer or abstention</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Historical replay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Full PRIMA</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Affect/state/admission without a reply</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Ingestion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Ingestion-only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Encode and store without generation</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Task and profile routes (2/2)</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55d2d2b7e864ae0">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28B5BAC0-A4FA-47BE-B97B-7570115E2736}"/>
              </a:ext>
            </a:extLst>
          </p:cNvPr>
          <p:cNvGraphicFramePr/>
          <p:nvPr/>
        </p:nvGraphicFramePr>
        <p:xfrm>
          <a:off xmlns:a="http://schemas.openxmlformats.org/drawingml/2006/main" x="1828800" y="1752600"/>
          <a:ext xmlns:a="http://schemas.openxmlformats.org/drawingml/2006/main" cx="9067800" cy="182880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Task</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Profiles</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Behavior</a:t>
                      </a:r>
                    </a:p>
                  </a:txBody>
                  <a:tcPr marL="95250" marR="95250" marT="95250" marB="95250" anchor="t">
                    <a:solidFill>
                      <a:srgbClr val="FFF2E0"/>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Emotion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Affect-only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Classify/update affect</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Tool request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Full PRIMA</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Plan/gate action without generation</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Runtime contracts and diagnostics</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7a28502d2384b26">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Body paragraph 1">
            <a:extLst xmlns:a="http://schemas.openxmlformats.org/drawingml/2006/main">
              <a:ext uri="{FF2B5EF4-FFF2-40B4-BE49-F238E27FC236}">
                <a16:creationId xmlns:a16="http://schemas.microsoft.com/office/drawing/2014/main" id="{A8D48257-4FA3-48DF-A44A-BE50D0E2C178}"/>
              </a:ext>
            </a:extLst>
          </p:cNvPr>
          <p:cNvSpPr>
            <a:spLocks xmlns:a="http://schemas.openxmlformats.org/drawingml/2006/main" noGrp="1"/>
          </p:cNvSpPr>
          <p:nvPr/>
        </p:nvSpPr>
        <p:spPr>
          <a:xfrm xmlns:a="http://schemas.openxmlformats.org/drawingml/2006/main">
            <a:off x="1828800" y="1752600"/>
            <a:ext cx="9067800" cy="7722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Six tasks and five profiles define 30 possible pairs. Ten are supported. Unsupported pairs are rejected.</a:t>
            </a:r>
          </a:p>
        </p:txBody>
      </p:sp>
      <p:sp>
        <p:nvSpPr>
          <p:cNvPr id="140" name="Body paragraph 2">
            <a:extLst xmlns:a="http://schemas.openxmlformats.org/drawingml/2006/main">
              <a:ext uri="{FF2B5EF4-FFF2-40B4-BE49-F238E27FC236}">
                <a16:creationId xmlns:a16="http://schemas.microsoft.com/office/drawing/2014/main" id="{675B56ED-C95B-4CE5-8FD2-7759B8940118}"/>
              </a:ext>
            </a:extLst>
          </p:cNvPr>
          <p:cNvSpPr>
            <a:spLocks xmlns:a="http://schemas.openxmlformats.org/drawingml/2006/main" noGrp="1"/>
          </p:cNvSpPr>
          <p:nvPr/>
        </p:nvSpPr>
        <p:spPr>
          <a:xfrm xmlns:a="http://schemas.openxmlformats.org/drawingml/2006/main">
            <a:off x="1828800" y="2677287"/>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Immutable Pydantic contracts reject extra fields, blank inputs and reserved metadata controls. Caller metadata cannot change the trusted route or budgets.</a:t>
            </a:r>
          </a:p>
        </p:txBody>
      </p:sp>
      <p:sp>
        <p:nvSpPr>
          <p:cNvPr id="141" name="Body paragraph 3">
            <a:extLst xmlns:a="http://schemas.openxmlformats.org/drawingml/2006/main">
              <a:ext uri="{FF2B5EF4-FFF2-40B4-BE49-F238E27FC236}">
                <a16:creationId xmlns:a16="http://schemas.microsoft.com/office/drawing/2014/main" id="{92D0DACA-710F-4AD2-9791-366F82E9404E}"/>
              </a:ext>
            </a:extLst>
          </p:cNvPr>
          <p:cNvSpPr>
            <a:spLocks xmlns:a="http://schemas.openxmlformats.org/drawingml/2006/main" noGrp="1"/>
          </p:cNvSpPr>
          <p:nvPr/>
        </p:nvSpPr>
        <p:spPr>
          <a:xfrm xmlns:a="http://schemas.openxmlformats.org/drawingml/2006/main">
            <a:off x="1828800" y="397383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A response exposes status/outcome, output, evidence, errors, state delta and diagnostics. Planned or enabled components are distinct from components that actually executed.</a:t>
            </a:r>
          </a:p>
        </p:txBody>
      </p:sp>
    </p:spTree>
    <p:extLst>
      <p:ext uri="{BB962C8B-B14F-4D97-AF65-F5344CB8AC3E}">
        <p14:creationId xmlns:p14="http://schemas.microsoft.com/office/powerpoint/2010/main" val="77547659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Input, state and affect</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28bcbc27efa41e8">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A1263983-C5D0-431B-860A-AEE7E55BCD37}"/>
              </a:ext>
            </a:extLst>
          </p:cNvPr>
          <p:cNvGraphicFramePr/>
          <p:nvPr/>
        </p:nvGraphicFramePr>
        <p:xfrm>
          <a:off xmlns:a="http://schemas.openxmlformats.org/drawingml/2006/main" x="1828800" y="1752600"/>
          <a:ext xmlns:a="http://schemas.openxmlformats.org/drawingml/2006/main" cx="9067800" cy="29146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Module</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Operation and output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Boundary</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Input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Validate text, task/profile and controls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Reserved control fields are rejected</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State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Load and commit versioned session state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JSON locks are process-local</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Affect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Classify text, derive PAD, history and momentum</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Legacy/learned backend must be identified</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Memory representation and query analysis</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934722276db45e2">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3C85E0CA-520E-4423-ABFF-4600A0184C40}"/>
              </a:ext>
            </a:extLst>
          </p:cNvPr>
          <p:cNvGraphicFramePr/>
          <p:nvPr/>
        </p:nvGraphicFramePr>
        <p:xfrm>
          <a:off xmlns:a="http://schemas.openxmlformats.org/drawingml/2006/main" x="1828800" y="1752600"/>
          <a:ext xmlns:a="http://schemas.openxmlformats.org/drawingml/2006/main" cx="9067800" cy="320040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Module</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Operation and output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Boundary</a:t>
                      </a:r>
                    </a:p>
                  </a:txBody>
                  <a:tcPr marL="95250" marR="95250" marT="95250" marB="95250" anchor="t">
                    <a:solidFill>
                      <a:srgbClr val="FFF2E0"/>
                    </a:solidFill>
                  </a:tcPr>
                </a:tc>
              </a:tr>
              <a:tr h="1085850">
                <a:tc>
                  <a:txBody>
                    <a:bodyPr wrap="square" lIns="95250" tIns="95250" rIns="95250" bIns="95250">
                      <a:noAutofit/>
                    </a:bodyPr>
                    <a:lstStyle/>
                    <a:p>
                      <a:pPr algn="l"/>
                      <a:r>
                        <a:rPr sz="1800" b="0">
                          <a:solidFill>
                            <a:srgbClr val="E48312"/>
                          </a:solidFill>
                          <a:latin typeface="Trebuchet MS"/>
                          <a:ea typeface="Trebuchet MS"/>
                          <a:cs typeface="Trebuchet MS"/>
                        </a:rPr>
                        <a:t>Memory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Store text, vectors, metadata, time and provenance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Test memory differs from persistent storage</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Index / graph</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Reference memory IDs through derived relationships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Derived relationships can become stale</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Query analysis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Extract entity, lexical and time cues, then rewrite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Engineered rewriting, not a universal learned parser</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Retrieval, fusion and reranking</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d04ced7445849ae">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BD1CF6CB-2EC8-48CB-B7C7-AEEE7E35C93D}"/>
              </a:ext>
            </a:extLst>
          </p:cNvPr>
          <p:cNvGraphicFramePr/>
          <p:nvPr/>
        </p:nvGraphicFramePr>
        <p:xfrm>
          <a:off xmlns:a="http://schemas.openxmlformats.org/drawingml/2006/main" x="1828800" y="1752600"/>
          <a:ext xmlns:a="http://schemas.openxmlformats.org/drawingml/2006/main" cx="9067800" cy="320040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Module</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Operation and output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Boundary</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Candidates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Dense, sparse, temporal and graph strategies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Capabilities and profile control selection</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Fusion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Merge by memory ID and weight normalized scores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Weights require development validation</a:t>
                      </a:r>
                    </a:p>
                  </a:txBody>
                  <a:tcPr marL="95250" marR="95250" marT="95250" marB="95250" anchor="t">
                    <a:solidFill>
                      <a:srgbClr val="FFFFFF"/>
                    </a:solidFill>
                  </a:tcPr>
                </a:tc>
              </a:tr>
              <a:tr h="1085850">
                <a:tc>
                  <a:txBody>
                    <a:bodyPr wrap="square" lIns="95250" tIns="95250" rIns="95250" bIns="95250">
                      <a:noAutofit/>
                    </a:bodyPr>
                    <a:lstStyle/>
                    <a:p>
                      <a:pPr algn="l"/>
                      <a:r>
                        <a:rPr sz="1800" b="0">
                          <a:solidFill>
                            <a:srgbClr val="E48312"/>
                          </a:solidFill>
                          <a:latin typeface="Trebuchet MS"/>
                          <a:ea typeface="Trebuchet MS"/>
                          <a:cs typeface="Trebuchet MS"/>
                        </a:rPr>
                        <a:t>Reranking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Lexical or cross-encoder ordering with backend identity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Learned resources/cost must be explicit</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Evidence reasoning and compression</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797675b319e4299">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79CC9453-3C54-4B8A-A717-1944385A21E6}"/>
              </a:ext>
            </a:extLst>
          </p:cNvPr>
          <p:cNvGraphicFramePr/>
          <p:nvPr/>
        </p:nvGraphicFramePr>
        <p:xfrm>
          <a:off xmlns:a="http://schemas.openxmlformats.org/drawingml/2006/main" x="1828800" y="1752600"/>
          <a:ext xmlns:a="http://schemas.openxmlformats.org/drawingml/2006/main" cx="9067800" cy="29146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Module</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Operation and output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Boundary</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Reasoning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Integrate sources and request bounded follow-up evidence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No benchmark gold in inference</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Sufficiency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Answer, retrieve more or abstain based on evidence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Word coverage does not prove entailment</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Compression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Fit selected evidence into context with source mapping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Approximate tokens can differ from the provider</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Planning, world and uncertainty</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fc6d5428bc948e7">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A4B46ED2-693A-4F07-BF05-FB4FDCF394AB}"/>
              </a:ext>
            </a:extLst>
          </p:cNvPr>
          <p:cNvGraphicFramePr/>
          <p:nvPr/>
        </p:nvGraphicFramePr>
        <p:xfrm>
          <a:off xmlns:a="http://schemas.openxmlformats.org/drawingml/2006/main" x="1828800" y="1752600"/>
          <a:ext xmlns:a="http://schemas.openxmlformats.org/drawingml/2006/main" cx="9067800" cy="34861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Module</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Operation and output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Boundary</a:t>
                      </a:r>
                    </a:p>
                  </a:txBody>
                  <a:tcPr marL="95250" marR="95250" marT="95250" marB="95250" anchor="t">
                    <a:solidFill>
                      <a:srgbClr val="FFF2E0"/>
                    </a:solidFill>
                  </a:tcPr>
                </a:tc>
              </a:tr>
              <a:tr h="1085850">
                <a:tc>
                  <a:txBody>
                    <a:bodyPr wrap="square" lIns="95250" tIns="95250" rIns="95250" bIns="95250">
                      <a:noAutofit/>
                    </a:bodyPr>
                    <a:lstStyle/>
                    <a:p>
                      <a:pPr algn="l"/>
                      <a:r>
                        <a:rPr sz="1800" b="0">
                          <a:solidFill>
                            <a:srgbClr val="E48312"/>
                          </a:solidFill>
                          <a:latin typeface="Trebuchet MS"/>
                          <a:ea typeface="Trebuchet MS"/>
                          <a:cs typeface="Trebuchet MS"/>
                        </a:rPr>
                        <a:t>Planner</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Select goals/actions/constraints and evaluate the plan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Deterministic, not a general learned planner</a:t>
                      </a:r>
                    </a:p>
                  </a:txBody>
                  <a:tcPr marL="95250" marR="95250" marT="95250" marB="95250" anchor="t">
                    <a:solidFill>
                      <a:srgbClr val="FFFFFF"/>
                    </a:solidFill>
                  </a:tcPr>
                </a:tc>
              </a:tr>
              <a:tr h="1085850">
                <a:tc>
                  <a:txBody>
                    <a:bodyPr wrap="square" lIns="95250" tIns="95250" rIns="95250" bIns="95250">
                      <a:noAutofit/>
                    </a:bodyPr>
                    <a:lstStyle/>
                    <a:p>
                      <a:pPr algn="l"/>
                      <a:r>
                        <a:rPr sz="1800" b="0">
                          <a:solidFill>
                            <a:srgbClr val="E48312"/>
                          </a:solidFill>
                          <a:latin typeface="Trebuchet MS"/>
                          <a:ea typeface="Trebuchet MS"/>
                          <a:cs typeface="Trebuchet MS"/>
                        </a:rPr>
                        <a:t>World</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Symbolic transition, constraint and risk predictions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No learned physical world model</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Uncertainty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Aggregate available signals and disagreement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Confidence requires held-out calibration</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Reflection, tools and generation</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7de0a01df3d4670">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779D132E-7D17-44D8-A689-BE8DA172B1D8}"/>
              </a:ext>
            </a:extLst>
          </p:cNvPr>
          <p:cNvGraphicFramePr/>
          <p:nvPr/>
        </p:nvGraphicFramePr>
        <p:xfrm>
          <a:off xmlns:a="http://schemas.openxmlformats.org/drawingml/2006/main" x="1828800" y="1752600"/>
          <a:ext xmlns:a="http://schemas.openxmlformats.org/drawingml/2006/main" cx="9067800" cy="29146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Module</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Operation and output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Boundary</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Reflection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Typed advice, budget check, correction snapshots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Workflow owns application of advice</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Tools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Policy/schema checks, registered handler and audit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Application controls do not create OS isolation</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Generation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Provider-backed language and mapped citations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Valid source IDs alone do not prove claim support</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Validation, commit and maintenance</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45fa2c14cca4a04">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0D382CC6-3E22-4442-AAE8-3B7A32BDA265}"/>
              </a:ext>
            </a:extLst>
          </p:cNvPr>
          <p:cNvGraphicFramePr/>
          <p:nvPr/>
        </p:nvGraphicFramePr>
        <p:xfrm>
          <a:off xmlns:a="http://schemas.openxmlformats.org/drawingml/2006/main" x="1828800" y="1752600"/>
          <a:ext xmlns:a="http://schemas.openxmlformats.org/drawingml/2006/main" cx="9067800" cy="400050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Module</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Operation and output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Boundary</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Output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Validate and shape the existing typed result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Generation failure cannot become an input echo</a:t>
                      </a:r>
                    </a:p>
                  </a:txBody>
                  <a:tcPr marL="95250" marR="95250" marT="95250" marB="95250" anchor="t">
                    <a:solidFill>
                      <a:srgbClr val="FFFFFF"/>
                    </a:solidFill>
                  </a:tcPr>
                </a:tc>
              </a:tr>
              <a:tr h="1085850">
                <a:tc>
                  <a:txBody>
                    <a:bodyPr wrap="square" lIns="95250" tIns="95250" rIns="95250" bIns="95250">
                      <a:noAutofit/>
                    </a:bodyPr>
                    <a:lstStyle/>
                    <a:p>
                      <a:pPr algn="l"/>
                      <a:r>
                        <a:rPr sz="1800" b="0">
                          <a:solidFill>
                            <a:srgbClr val="E48312"/>
                          </a:solidFill>
                          <a:latin typeface="Trebuchet MS"/>
                          <a:ea typeface="Trebuchet MS"/>
                          <a:cs typeface="Trebuchet MS"/>
                        </a:rPr>
                        <a:t>Commit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Versioned state and task/policy-specific memory admission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Separate effects are not proven atomic</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Maintenance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Score, consolidate, evolve, refresh graph and decay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Process-local queue needs crash durability</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Evaluation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Score predictions with evaluator-owned gold</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Complete coverage and matched identities required</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Five logical memory types</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e4210b5e27c4950">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65828E89-89AE-4B49-AD5C-FE21FD7CB67E}"/>
              </a:ext>
            </a:extLst>
          </p:cNvPr>
          <p:cNvGraphicFramePr/>
          <p:nvPr/>
        </p:nvGraphicFramePr>
        <p:xfrm>
          <a:off xmlns:a="http://schemas.openxmlformats.org/drawingml/2006/main" x="1828800" y="1752600"/>
          <a:ext xmlns:a="http://schemas.openxmlformats.org/drawingml/2006/main" cx="9067800" cy="3086100"/>
        </p:xfrm>
        <a:graphic xmlns:a="http://schemas.openxmlformats.org/drawingml/2006/main">
          <a:graphicData uri="http://schemas.openxmlformats.org/drawingml/2006/table">
            <a:tbl>
              <a:tblPr firstRow="1" bandRow="0"/>
              <a:tblGrid>
                <a:gridCol w="2476500"/>
                <a:gridCol w="659130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Type</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Purpose</a:t>
                      </a:r>
                    </a:p>
                  </a:txBody>
                  <a:tcPr marL="95250" marR="95250" marT="95250" marB="95250" anchor="t">
                    <a:solidFill>
                      <a:srgbClr val="FFF2E0"/>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Working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Near-term retained context</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Episodic</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Specific experiences and historical turns</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Semantic</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General information and derived summaries</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Emotional</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Affect-related records</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Procedural</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Verified successful tools or explicit procedure imports</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Saved retrieval experiment scope</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d9823755c784666">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Body paragraph 1">
            <a:extLst xmlns:a="http://schemas.openxmlformats.org/drawingml/2006/main">
              <a:ext uri="{FF2B5EF4-FFF2-40B4-BE49-F238E27FC236}">
                <a16:creationId xmlns:a16="http://schemas.microsoft.com/office/drawing/2014/main" id="{ED1EF06B-4AA6-4BA6-A506-A0E38BA4BB77}"/>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The saved study uses one LoCoMo conversation and 197 queries, seed 13, identity normalization, candidate top-k 30, Python 3.10.11 and a GTX 1650.</a:t>
            </a:r>
          </a:p>
        </p:txBody>
      </p:sp>
      <p:sp>
        <p:nvSpPr>
          <p:cNvPr id="140" name="Body paragraph 2">
            <a:extLst xmlns:a="http://schemas.openxmlformats.org/drawingml/2006/main">
              <a:ext uri="{FF2B5EF4-FFF2-40B4-BE49-F238E27FC236}">
                <a16:creationId xmlns:a16="http://schemas.microsoft.com/office/drawing/2014/main" id="{BF112E69-2AB0-4471-BA14-B3A212134991}"/>
              </a:ext>
            </a:extLst>
          </p:cNvPr>
          <p:cNvSpPr>
            <a:spLocks xmlns:a="http://schemas.openxmlformats.org/drawingml/2006/main" noGrp="1"/>
          </p:cNvSpPr>
          <p:nvPr/>
        </p:nvSpPr>
        <p:spPr>
          <a:xfrm xmlns:a="http://schemas.openxmlformats.org/drawingml/2006/main">
            <a:off x="1828800" y="3049143"/>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Recall@5 is a ranking metric and differs from the candidate-generation top-k setting. These are component subset results, not full-dataset QA accuracy.</a:t>
            </a:r>
          </a:p>
        </p:txBody>
      </p:sp>
      <p:sp>
        <p:nvSpPr>
          <p:cNvPr id="141" name="Body paragraph 3">
            <a:extLst xmlns:a="http://schemas.openxmlformats.org/drawingml/2006/main">
              <a:ext uri="{FF2B5EF4-FFF2-40B4-BE49-F238E27FC236}">
                <a16:creationId xmlns:a16="http://schemas.microsoft.com/office/drawing/2014/main" id="{E14F1A0D-B307-47C6-806D-89D966CD5D7B}"/>
              </a:ext>
            </a:extLst>
          </p:cNvPr>
          <p:cNvSpPr>
            <a:spLocks xmlns:a="http://schemas.openxmlformats.org/drawingml/2006/main" noGrp="1"/>
          </p:cNvSpPr>
          <p:nvPr/>
        </p:nvSpPr>
        <p:spPr>
          <a:xfrm xmlns:a="http://schemas.openxmlformats.org/drawingml/2006/main">
            <a:off x="1828800" y="4345686"/>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JSON and CSV metrics agree, but their backend fingerprints differ. Result lineage needs reconciliation before formal publication.</a:t>
            </a:r>
          </a:p>
        </p:txBody>
      </p:sp>
    </p:spTree>
    <p:extLst>
      <p:ext uri="{BB962C8B-B14F-4D97-AF65-F5344CB8AC3E}">
        <p14:creationId xmlns:p14="http://schemas.microsoft.com/office/powerpoint/2010/main" val="77547659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Embedding backend comparison</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ef05fa2acbd4dd8">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0271E5EE-44D0-4D93-9C23-37203978F873}"/>
              </a:ext>
            </a:extLst>
          </p:cNvPr>
          <p:cNvGraphicFramePr/>
          <p:nvPr/>
        </p:nvGraphicFramePr>
        <p:xfrm>
          <a:off xmlns:a="http://schemas.openxmlformats.org/drawingml/2006/main" x="1828800" y="1752600"/>
          <a:ext xmlns:a="http://schemas.openxmlformats.org/drawingml/2006/main" cx="9067800" cy="2857500"/>
        </p:xfrm>
        <a:graphic xmlns:a="http://schemas.openxmlformats.org/drawingml/2006/main">
          <a:graphicData uri="http://schemas.openxmlformats.org/drawingml/2006/table">
            <a:tbl>
              <a:tblPr firstRow="1" bandRow="0"/>
              <a:tblGrid>
                <a:gridCol w="2476500"/>
                <a:gridCol w="1238250"/>
                <a:gridCol w="1238250"/>
                <a:gridCol w="1238250"/>
                <a:gridCol w="1333500"/>
                <a:gridCol w="1543050"/>
              </a:tblGrid>
              <a:tr h="800100">
                <a:tc>
                  <a:txBody>
                    <a:bodyPr wrap="square" lIns="95250" tIns="95250" rIns="95250" bIns="95250">
                      <a:noAutofit/>
                    </a:bodyPr>
                    <a:lstStyle/>
                    <a:p>
                      <a:pPr algn="l"/>
                      <a:r>
                        <a:rPr sz="1800" b="1">
                          <a:solidFill>
                            <a:srgbClr val="E48312"/>
                          </a:solidFill>
                          <a:latin typeface="Trebuchet MS"/>
                          <a:ea typeface="Trebuchet MS"/>
                          <a:cs typeface="Trebuchet MS"/>
                        </a:rPr>
                        <a:t>Backend</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Recall@5</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MRR</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nDCG@5</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Candidate %</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Total s</a:t>
                      </a:r>
                    </a:p>
                  </a:txBody>
                  <a:tcPr marL="95250" marR="95250" marT="95250" marB="95250" anchor="t">
                    <a:solidFill>
                      <a:srgbClr val="FFF2E0"/>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Stable hash</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1.0152%</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0.010081</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0.007262</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7.1066</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5.740125</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MiniLM</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15.7783%</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0.110655</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0.101168</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44.6701</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22.439328</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BGE small</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15.7360%</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0.138600</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0.122296</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41.6244</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15.200265</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Nomic</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32.9103%</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0.254356</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0.246090</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69.5431</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30.752234</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Memory representation comparison</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41d1a32e7684be5">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3013CF94-4FAB-49B1-A93E-DF20CF1BCC6B}"/>
              </a:ext>
            </a:extLst>
          </p:cNvPr>
          <p:cNvGraphicFramePr/>
          <p:nvPr/>
        </p:nvGraphicFramePr>
        <p:xfrm>
          <a:off xmlns:a="http://schemas.openxmlformats.org/drawingml/2006/main" x="1828800" y="1752600"/>
          <a:ext xmlns:a="http://schemas.openxmlformats.org/drawingml/2006/main" cx="9067800" cy="2057400"/>
        </p:xfrm>
        <a:graphic xmlns:a="http://schemas.openxmlformats.org/drawingml/2006/main">
          <a:graphicData uri="http://schemas.openxmlformats.org/drawingml/2006/table">
            <a:tbl>
              <a:tblPr firstRow="1" bandRow="0"/>
              <a:tblGrid>
                <a:gridCol w="2514600"/>
                <a:gridCol w="1333500"/>
                <a:gridCol w="1428750"/>
                <a:gridCol w="1790700"/>
                <a:gridCol w="200025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Nomic input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Recall@5</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MRR</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Candidate %</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Total s</a:t>
                      </a:r>
                    </a:p>
                  </a:txBody>
                  <a:tcPr marL="95250" marR="95250" marT="95250" marB="95250" anchor="t">
                    <a:solidFill>
                      <a:srgbClr val="FFF2E0"/>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Raw</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40.3130%</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0.323311</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71.5736</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26.766301</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Semantic</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32.9103%</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0.254356</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69.5431</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46.441355</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Event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35.5753%</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0.268545</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65.4822</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31.707180</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Interpretation of subset results</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aae7a44de054f10">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Body paragraph 1">
            <a:extLst xmlns:a="http://schemas.openxmlformats.org/drawingml/2006/main">
              <a:ext uri="{FF2B5EF4-FFF2-40B4-BE49-F238E27FC236}">
                <a16:creationId xmlns:a16="http://schemas.microsoft.com/office/drawing/2014/main" id="{29EAF7B6-89D1-4CF8-B228-CBE83DAE8006}"/>
              </a:ext>
            </a:extLst>
          </p:cNvPr>
          <p:cNvSpPr>
            <a:spLocks xmlns:a="http://schemas.openxmlformats.org/drawingml/2006/main" noGrp="1"/>
          </p:cNvSpPr>
          <p:nvPr/>
        </p:nvSpPr>
        <p:spPr>
          <a:xfrm xmlns:a="http://schemas.openxmlformats.org/drawingml/2006/main">
            <a:off x="1828800" y="1752600"/>
            <a:ext cx="9067800" cy="7722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Nomic exceeds stable hash by 31.8951 percentage points of Recall@5 in the saved subset, with higher execution cost.</a:t>
            </a:r>
          </a:p>
        </p:txBody>
      </p:sp>
      <p:sp>
        <p:nvSpPr>
          <p:cNvPr id="140" name="Body paragraph 2">
            <a:extLst xmlns:a="http://schemas.openxmlformats.org/drawingml/2006/main">
              <a:ext uri="{FF2B5EF4-FFF2-40B4-BE49-F238E27FC236}">
                <a16:creationId xmlns:a16="http://schemas.microsoft.com/office/drawing/2014/main" id="{69176ABE-1FF7-4486-8C15-B44B1D9F4C47}"/>
              </a:ext>
            </a:extLst>
          </p:cNvPr>
          <p:cNvSpPr>
            <a:spLocks xmlns:a="http://schemas.openxmlformats.org/drawingml/2006/main" noGrp="1"/>
          </p:cNvSpPr>
          <p:nvPr/>
        </p:nvSpPr>
        <p:spPr>
          <a:xfrm xmlns:a="http://schemas.openxmlformats.org/drawingml/2006/main">
            <a:off x="1828800" y="2677287"/>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Raw Nomic text exceeds semantic representation by 7.4027 points and event representation by 4.7377 points. More structure did not improve this subset.</a:t>
            </a:r>
          </a:p>
        </p:txBody>
      </p:sp>
      <p:sp>
        <p:nvSpPr>
          <p:cNvPr id="141" name="Body paragraph 3">
            <a:extLst xmlns:a="http://schemas.openxmlformats.org/drawingml/2006/main">
              <a:ext uri="{FF2B5EF4-FFF2-40B4-BE49-F238E27FC236}">
                <a16:creationId xmlns:a16="http://schemas.microsoft.com/office/drawing/2014/main" id="{7FB2AA9C-E587-4548-8336-0C6A05CF4A69}"/>
              </a:ext>
            </a:extLst>
          </p:cNvPr>
          <p:cNvSpPr>
            <a:spLocks xmlns:a="http://schemas.openxmlformats.org/drawingml/2006/main" noGrp="1"/>
          </p:cNvSpPr>
          <p:nvPr/>
        </p:nvSpPr>
        <p:spPr>
          <a:xfrm xmlns:a="http://schemas.openxmlformats.org/drawingml/2006/main">
            <a:off x="1828800" y="397383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These findings motivate development experiments. They do not establish full PRIMA superiority, production latency, or generalization beyond this conversation.</a:t>
            </a:r>
          </a:p>
        </p:txBody>
      </p:sp>
    </p:spTree>
    <p:extLst>
      <p:ext uri="{BB962C8B-B14F-4D97-AF65-F5344CB8AC3E}">
        <p14:creationId xmlns:p14="http://schemas.microsoft.com/office/powerpoint/2010/main" val="77547659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Reported LoCoMo operational pilot (1/2)</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114ea12ff194d7c">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F424FBFB-238D-43E2-9B8C-FD3CA6EF58E1}"/>
              </a:ext>
            </a:extLst>
          </p:cNvPr>
          <p:cNvGraphicFramePr/>
          <p:nvPr/>
        </p:nvGraphicFramePr>
        <p:xfrm>
          <a:off xmlns:a="http://schemas.openxmlformats.org/drawingml/2006/main" x="1828800" y="1752600"/>
          <a:ext xmlns:a="http://schemas.openxmlformats.org/drawingml/2006/main" cx="9067800" cy="3429000"/>
        </p:xfrm>
        <a:graphic xmlns:a="http://schemas.openxmlformats.org/drawingml/2006/main">
          <a:graphicData uri="http://schemas.openxmlformats.org/drawingml/2006/table">
            <a:tbl>
              <a:tblPr firstRow="1" bandRow="0"/>
              <a:tblGrid>
                <a:gridCol w="2476500"/>
                <a:gridCol w="659130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Item</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Repository-reported observation</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Configuration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6 October 2026, commit 8f54b16, pinned Qwen3.8 27B, 8192 context, two T4 GPUs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Paired pilot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Same 30 questions, zero execution failures, complete maintenance</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Concurrency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All 30 predictions/evidence/evaluation decisions equal, two active requests</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Projection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9.2202 campaign hours and 10.1859 total session hours</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Reported LoCoMo operational pilot (2/2)</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cae0b04b4fb4524">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4EBDD697-E7F3-4282-8AE7-B98BAD729391}"/>
              </a:ext>
            </a:extLst>
          </p:cNvPr>
          <p:cNvGraphicFramePr/>
          <p:nvPr/>
        </p:nvGraphicFramePr>
        <p:xfrm>
          <a:off xmlns:a="http://schemas.openxmlformats.org/drawingml/2006/main" x="1828800" y="1752600"/>
          <a:ext xmlns:a="http://schemas.openxmlformats.org/drawingml/2006/main" cx="9067800" cy="1314450"/>
        </p:xfrm>
        <a:graphic xmlns:a="http://schemas.openxmlformats.org/drawingml/2006/main">
          <a:graphicData uri="http://schemas.openxmlformats.org/drawingml/2006/table">
            <a:tbl>
              <a:tblPr firstRow="1" bandRow="0"/>
              <a:tblGrid>
                <a:gridCol w="2476500"/>
                <a:gridCol w="659130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Item</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Repository-reported observation</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Scope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Projection admitted a full run. Full completion is not established here.</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Pilot quality and methodology changes</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72a51a2462945c8">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Body paragraph 1">
            <a:extLst xmlns:a="http://schemas.openxmlformats.org/drawingml/2006/main">
              <a:ext uri="{FF2B5EF4-FFF2-40B4-BE49-F238E27FC236}">
                <a16:creationId xmlns:a16="http://schemas.microsoft.com/office/drawing/2014/main" id="{EC0A7F45-EE92-4863-9CBC-7184A4E2DEC7}"/>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A shared 15-case pilot comparison reported F1 of 14.10% versus 15.18% previously, a decrease of 1.08 percentage points. Evidence recall remained 23.17%.</a:t>
            </a:r>
          </a:p>
        </p:txBody>
      </p:sp>
      <p:sp>
        <p:nvSpPr>
          <p:cNvPr id="140" name="Body paragraph 2">
            <a:extLst xmlns:a="http://schemas.openxmlformats.org/drawingml/2006/main">
              <a:ext uri="{FF2B5EF4-FFF2-40B4-BE49-F238E27FC236}">
                <a16:creationId xmlns:a16="http://schemas.microsoft.com/office/drawing/2014/main" id="{485408EF-2E59-461B-8A8D-A60E4945CF03}"/>
              </a:ext>
            </a:extLst>
          </p:cNvPr>
          <p:cNvSpPr>
            <a:spLocks xmlns:a="http://schemas.openxmlformats.org/drawingml/2006/main" noGrp="1"/>
          </p:cNvSpPr>
          <p:nvPr/>
        </p:nvSpPr>
        <p:spPr>
          <a:xfrm xmlns:a="http://schemas.openxmlformats.org/drawingml/2006/main">
            <a:off x="1828800" y="3049143"/>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This compares pilot versions, not model-only against PRIMA. HotpotQA and GoEmotions were unmeasured on that hardware in the note.</a:t>
            </a:r>
          </a:p>
        </p:txBody>
      </p:sp>
      <p:sp>
        <p:nvSpPr>
          <p:cNvPr id="141" name="Body paragraph 3">
            <a:extLst xmlns:a="http://schemas.openxmlformats.org/drawingml/2006/main">
              <a:ext uri="{FF2B5EF4-FFF2-40B4-BE49-F238E27FC236}">
                <a16:creationId xmlns:a16="http://schemas.microsoft.com/office/drawing/2014/main" id="{1046D802-16E2-4BDC-8367-14EFD7ECEF46}"/>
              </a:ext>
            </a:extLst>
          </p:cNvPr>
          <p:cNvSpPr>
            <a:spLocks xmlns:a="http://schemas.openxmlformats.org/drawingml/2006/main" noGrp="1"/>
          </p:cNvSpPr>
          <p:nvPr/>
        </p:nvSpPr>
        <p:spPr>
          <a:xfrm xmlns:a="http://schemas.openxmlformats.org/drawingml/2006/main">
            <a:off x="1828800" y="4345686"/>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Retain the canonical runtime. Refine retrieval, sufficiency and reliability using measured bottlenecks. Each benchmark needs its own fresh equality/resource/time gate.</a:t>
            </a:r>
          </a:p>
        </p:txBody>
      </p:sp>
    </p:spTree>
    <p:extLst>
      <p:ext uri="{BB962C8B-B14F-4D97-AF65-F5344CB8AC3E}">
        <p14:creationId xmlns:p14="http://schemas.microsoft.com/office/powerpoint/2010/main" val="77547659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43" name="Google Shape;143;g38215e9470b_0_37">
            <a:extLst xmlns:a="http://schemas.openxmlformats.org/drawingml/2006/main">
              <a:ext uri="{FF2B5EF4-FFF2-40B4-BE49-F238E27FC236}">
                <a16:creationId xmlns:a16="http://schemas.microsoft.com/office/drawing/2014/main" id="{209BD0C8-B78B-4451-A062-3C2B71C071CC}"/>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Algorithm &amp; Pseudocode</a:t>
            </a:r>
            <a:endParaRPr sz="2400" b="0" i="0" u="none" strike="noStrike" cap="none">
              <a:solidFill>
                <a:schemeClr val="dk1"/>
              </a:solidFill>
              <a:latin typeface="Calibri"/>
              <a:ea typeface="Calibri"/>
              <a:cs typeface="Calibri"/>
            </a:endParaRPr>
          </a:p>
        </p:txBody>
      </p:sp>
      <p:pic>
        <p:nvPicPr>
          <p:cNvPr id="145" name="Google Shape;145;g38215e9470b_0_37">
            <a:extLst xmlns:a="http://schemas.openxmlformats.org/drawingml/2006/main">
              <a:ext uri="{FF2B5EF4-FFF2-40B4-BE49-F238E27FC236}">
                <a16:creationId xmlns:a16="http://schemas.microsoft.com/office/drawing/2014/main" id="{0D87A96C-A611-492D-9D9F-057E81D2E01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12cd90cc68f4d88">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46" name="Google Shape;146;g38215e9470b_0_37">
            <a:extLst xmlns:a="http://schemas.openxmlformats.org/drawingml/2006/main">
              <a:ext uri="{FF2B5EF4-FFF2-40B4-BE49-F238E27FC236}">
                <a16:creationId xmlns:a16="http://schemas.microsoft.com/office/drawing/2014/main" id="{8A0C833D-0E09-4B28-A329-B592A2D851B6}"/>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47" name="Google Shape;147;g38215e9470b_0_37">
            <a:extLst xmlns:a="http://schemas.openxmlformats.org/drawingml/2006/main">
              <a:ext uri="{FF2B5EF4-FFF2-40B4-BE49-F238E27FC236}">
                <a16:creationId xmlns:a16="http://schemas.microsoft.com/office/drawing/2014/main" id="{82AC7AD2-CE8D-44FC-86A5-482D81F28515}"/>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48" name="Body paragraph 1">
            <a:extLst xmlns:a="http://schemas.openxmlformats.org/drawingml/2006/main">
              <a:ext uri="{FF2B5EF4-FFF2-40B4-BE49-F238E27FC236}">
                <a16:creationId xmlns:a16="http://schemas.microsoft.com/office/drawing/2014/main" id="{E5384B24-22C1-4904-8275-5C222DF43953}"/>
              </a:ext>
            </a:extLst>
          </p:cNvPr>
          <p:cNvSpPr>
            <a:spLocks xmlns:a="http://schemas.openxmlformats.org/drawingml/2006/main" noGrp="1"/>
          </p:cNvSpPr>
          <p:nvPr/>
        </p:nvSpPr>
        <p:spPr>
          <a:xfrm xmlns:a="http://schemas.openxmlformats.org/drawingml/2006/main">
            <a:off x="1828800" y="1752600"/>
            <a:ext cx="9067800" cy="7722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Validate request and route. Load versioned state. Run only selected controllers with recorded start, result and errors.</a:t>
            </a:r>
          </a:p>
        </p:txBody>
      </p:sp>
      <p:sp>
        <p:nvSpPr>
          <p:cNvPr id="149" name="Body paragraph 2">
            <a:extLst xmlns:a="http://schemas.openxmlformats.org/drawingml/2006/main">
              <a:ext uri="{FF2B5EF4-FFF2-40B4-BE49-F238E27FC236}">
                <a16:creationId xmlns:a16="http://schemas.microsoft.com/office/drawing/2014/main" id="{A88CF474-4DD8-404E-8C12-6DF4FF214E20}"/>
              </a:ext>
            </a:extLst>
          </p:cNvPr>
          <p:cNvSpPr>
            <a:spLocks xmlns:a="http://schemas.openxmlformats.org/drawingml/2006/main" noGrp="1"/>
          </p:cNvSpPr>
          <p:nvPr/>
        </p:nvSpPr>
        <p:spPr>
          <a:xfrm xmlns:a="http://schemas.openxmlformats.org/drawingml/2006/main">
            <a:off x="1828800" y="2677287"/>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Review correction advice against its remaining budget. Apply permitted retrieval, replanning, retry or regeneration and retain actual before/after snapshots.</a:t>
            </a:r>
          </a:p>
        </p:txBody>
      </p:sp>
      <p:sp>
        <p:nvSpPr>
          <p:cNvPr id="150" name="Body paragraph 3">
            <a:extLst xmlns:a="http://schemas.openxmlformats.org/drawingml/2006/main">
              <a:ext uri="{FF2B5EF4-FFF2-40B4-BE49-F238E27FC236}">
                <a16:creationId xmlns:a16="http://schemas.microsoft.com/office/drawing/2014/main" id="{43348229-53E0-4617-A67E-F6AA45FD1595}"/>
              </a:ext>
            </a:extLst>
          </p:cNvPr>
          <p:cNvSpPr>
            <a:spLocks xmlns:a="http://schemas.openxmlformats.org/drawingml/2006/main" noGrp="1"/>
          </p:cNvSpPr>
          <p:nvPr/>
        </p:nvSpPr>
        <p:spPr>
          <a:xfrm xmlns:a="http://schemas.openxmlformats.org/drawingml/2006/main">
            <a:off x="1828800" y="397383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Return explicit typed failure/cancellation when needed. Otherwise shape the result, commit permitted effects and enqueue admitted maintenance.</a:t>
            </a:r>
          </a:p>
        </p:txBody>
      </p:sp>
    </p:spTree>
    <p:extLst>
      <p:ext uri="{BB962C8B-B14F-4D97-AF65-F5344CB8AC3E}">
        <p14:creationId xmlns:p14="http://schemas.microsoft.com/office/powerpoint/2010/main" val="163751524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43" name="Google Shape;143;g38215e9470b_0_37">
            <a:extLst xmlns:a="http://schemas.openxmlformats.org/drawingml/2006/main">
              <a:ext uri="{FF2B5EF4-FFF2-40B4-BE49-F238E27FC236}">
                <a16:creationId xmlns:a16="http://schemas.microsoft.com/office/drawing/2014/main" id="{209BD0C8-B78B-4451-A062-3C2B71C071CC}"/>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Canonical execution pseudocode</a:t>
            </a:r>
            <a:endParaRPr sz="2400" b="0" i="0" u="none" strike="noStrike" cap="none">
              <a:solidFill>
                <a:schemeClr val="dk1"/>
              </a:solidFill>
              <a:latin typeface="Calibri"/>
              <a:ea typeface="Calibri"/>
              <a:cs typeface="Calibri"/>
            </a:endParaRPr>
          </a:p>
        </p:txBody>
      </p:sp>
      <p:pic>
        <p:nvPicPr>
          <p:cNvPr id="145" name="Google Shape;145;g38215e9470b_0_37">
            <a:extLst xmlns:a="http://schemas.openxmlformats.org/drawingml/2006/main">
              <a:ext uri="{FF2B5EF4-FFF2-40B4-BE49-F238E27FC236}">
                <a16:creationId xmlns:a16="http://schemas.microsoft.com/office/drawing/2014/main" id="{0D87A96C-A611-492D-9D9F-057E81D2E01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7e27966e0634858">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46" name="Google Shape;146;g38215e9470b_0_37">
            <a:extLst xmlns:a="http://schemas.openxmlformats.org/drawingml/2006/main">
              <a:ext uri="{FF2B5EF4-FFF2-40B4-BE49-F238E27FC236}">
                <a16:creationId xmlns:a16="http://schemas.microsoft.com/office/drawing/2014/main" id="{8A0C833D-0E09-4B28-A329-B592A2D851B6}"/>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47" name="Google Shape;147;g38215e9470b_0_37">
            <a:extLst xmlns:a="http://schemas.openxmlformats.org/drawingml/2006/main">
              <a:ext uri="{FF2B5EF4-FFF2-40B4-BE49-F238E27FC236}">
                <a16:creationId xmlns:a16="http://schemas.microsoft.com/office/drawing/2014/main" id="{82AC7AD2-CE8D-44FC-86A5-482D81F28515}"/>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48" name="Body paragraph 1">
            <a:extLst xmlns:a="http://schemas.openxmlformats.org/drawingml/2006/main">
              <a:ext uri="{FF2B5EF4-FFF2-40B4-BE49-F238E27FC236}">
                <a16:creationId xmlns:a16="http://schemas.microsoft.com/office/drawing/2014/main" id="{CCB35F13-4984-4079-AFF4-562EB5F1425B}"/>
              </a:ext>
            </a:extLst>
          </p:cNvPr>
          <p:cNvSpPr>
            <a:spLocks xmlns:a="http://schemas.openxmlformats.org/drawingml/2006/main" noGrp="1"/>
          </p:cNvSpPr>
          <p:nvPr/>
        </p:nvSpPr>
        <p:spPr>
          <a:xfrm xmlns:a="http://schemas.openxmlformats.org/drawingml/2006/main">
            <a:off x="1828800" y="1752600"/>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EXECUTE(request)</a:t>
            </a:r>
          </a:p>
        </p:txBody>
      </p:sp>
      <p:sp>
        <p:nvSpPr>
          <p:cNvPr id="149" name="Body paragraph 2">
            <a:extLst xmlns:a="http://schemas.openxmlformats.org/drawingml/2006/main">
              <a:ext uri="{FF2B5EF4-FFF2-40B4-BE49-F238E27FC236}">
                <a16:creationId xmlns:a16="http://schemas.microsoft.com/office/drawing/2014/main" id="{38EB8E27-A629-434D-A569-914B5E62027E}"/>
              </a:ext>
            </a:extLst>
          </p:cNvPr>
          <p:cNvSpPr>
            <a:spLocks xmlns:a="http://schemas.openxmlformats.org/drawingml/2006/main" noGrp="1"/>
          </p:cNvSpPr>
          <p:nvPr/>
        </p:nvSpPr>
        <p:spPr>
          <a:xfrm xmlns:a="http://schemas.openxmlformats.org/drawingml/2006/main">
            <a:off x="1828800" y="2116074"/>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  validate request and trusted controls</a:t>
            </a:r>
          </a:p>
        </p:txBody>
      </p:sp>
      <p:sp>
        <p:nvSpPr>
          <p:cNvPr id="150" name="Body paragraph 3">
            <a:extLst xmlns:a="http://schemas.openxmlformats.org/drawingml/2006/main">
              <a:ext uri="{FF2B5EF4-FFF2-40B4-BE49-F238E27FC236}">
                <a16:creationId xmlns:a16="http://schemas.microsoft.com/office/drawing/2014/main" id="{0732CEA2-E64A-4F98-A8BD-26F266E074F5}"/>
              </a:ext>
            </a:extLst>
          </p:cNvPr>
          <p:cNvSpPr>
            <a:spLocks xmlns:a="http://schemas.openxmlformats.org/drawingml/2006/main" noGrp="1"/>
          </p:cNvSpPr>
          <p:nvPr/>
        </p:nvSpPr>
        <p:spPr>
          <a:xfrm xmlns:a="http://schemas.openxmlformats.org/drawingml/2006/main">
            <a:off x="1828800" y="2479548"/>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  select supported route, or reject</a:t>
            </a:r>
          </a:p>
        </p:txBody>
      </p:sp>
      <p:sp>
        <p:nvSpPr>
          <p:cNvPr id="151" name="Body paragraph 4">
            <a:extLst xmlns:a="http://schemas.openxmlformats.org/drawingml/2006/main">
              <a:ext uri="{FF2B5EF4-FFF2-40B4-BE49-F238E27FC236}">
                <a16:creationId xmlns:a16="http://schemas.microsoft.com/office/drawing/2014/main" id="{8D4D2B37-1652-4B10-A25F-969A2F2FA845}"/>
              </a:ext>
            </a:extLst>
          </p:cNvPr>
          <p:cNvSpPr>
            <a:spLocks xmlns:a="http://schemas.openxmlformats.org/drawingml/2006/main" noGrp="1"/>
          </p:cNvSpPr>
          <p:nvPr/>
        </p:nvSpPr>
        <p:spPr>
          <a:xfrm xmlns:a="http://schemas.openxmlformats.org/drawingml/2006/main">
            <a:off x="1828800" y="2843022"/>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  load versioned state</a:t>
            </a:r>
          </a:p>
        </p:txBody>
      </p:sp>
      <p:sp>
        <p:nvSpPr>
          <p:cNvPr id="152" name="Body paragraph 5">
            <a:extLst xmlns:a="http://schemas.openxmlformats.org/drawingml/2006/main">
              <a:ext uri="{FF2B5EF4-FFF2-40B4-BE49-F238E27FC236}">
                <a16:creationId xmlns:a16="http://schemas.microsoft.com/office/drawing/2014/main" id="{99269DC6-A960-4062-835B-582DEC854B2D}"/>
              </a:ext>
            </a:extLst>
          </p:cNvPr>
          <p:cNvSpPr>
            <a:spLocks xmlns:a="http://schemas.openxmlformats.org/drawingml/2006/main" noGrp="1"/>
          </p:cNvSpPr>
          <p:nvPr/>
        </p:nvSpPr>
        <p:spPr>
          <a:xfrm xmlns:a="http://schemas.openxmlformats.org/drawingml/2006/main">
            <a:off x="1828800" y="3206496"/>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  for each selected phase</a:t>
            </a:r>
          </a:p>
        </p:txBody>
      </p:sp>
      <p:sp>
        <p:nvSpPr>
          <p:cNvPr id="153" name="Body paragraph 6">
            <a:extLst xmlns:a="http://schemas.openxmlformats.org/drawingml/2006/main">
              <a:ext uri="{FF2B5EF4-FFF2-40B4-BE49-F238E27FC236}">
                <a16:creationId xmlns:a16="http://schemas.microsoft.com/office/drawing/2014/main" id="{1A86C8EA-48A2-4464-9F52-D4A70052315F}"/>
              </a:ext>
            </a:extLst>
          </p:cNvPr>
          <p:cNvSpPr>
            <a:spLocks xmlns:a="http://schemas.openxmlformats.org/drawingml/2006/main" noGrp="1"/>
          </p:cNvSpPr>
          <p:nvPr/>
        </p:nvSpPr>
        <p:spPr>
          <a:xfrm xmlns:a="http://schemas.openxmlformats.org/drawingml/2006/main">
            <a:off x="1828800" y="3569970"/>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    run controller and record outcome</a:t>
            </a:r>
          </a:p>
        </p:txBody>
      </p:sp>
      <p:sp>
        <p:nvSpPr>
          <p:cNvPr id="154" name="Body paragraph 7">
            <a:extLst xmlns:a="http://schemas.openxmlformats.org/drawingml/2006/main">
              <a:ext uri="{FF2B5EF4-FFF2-40B4-BE49-F238E27FC236}">
                <a16:creationId xmlns:a16="http://schemas.microsoft.com/office/drawing/2014/main" id="{4CA7E67C-9602-4FFD-B304-F2E14AD09238}"/>
              </a:ext>
            </a:extLst>
          </p:cNvPr>
          <p:cNvSpPr>
            <a:spLocks xmlns:a="http://schemas.openxmlformats.org/drawingml/2006/main" noGrp="1"/>
          </p:cNvSpPr>
          <p:nvPr/>
        </p:nvSpPr>
        <p:spPr>
          <a:xfrm xmlns:a="http://schemas.openxmlformats.org/drawingml/2006/main">
            <a:off x="1828800" y="3933444"/>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    apply only permitted, budgeted corrections</a:t>
            </a:r>
          </a:p>
        </p:txBody>
      </p:sp>
      <p:sp>
        <p:nvSpPr>
          <p:cNvPr id="155" name="Body paragraph 8">
            <a:extLst xmlns:a="http://schemas.openxmlformats.org/drawingml/2006/main">
              <a:ext uri="{FF2B5EF4-FFF2-40B4-BE49-F238E27FC236}">
                <a16:creationId xmlns:a16="http://schemas.microsoft.com/office/drawing/2014/main" id="{BCCB773C-538C-4A2A-BAA5-45831AB34B49}"/>
              </a:ext>
            </a:extLst>
          </p:cNvPr>
          <p:cNvSpPr>
            <a:spLocks xmlns:a="http://schemas.openxmlformats.org/drawingml/2006/main" noGrp="1"/>
          </p:cNvSpPr>
          <p:nvPr/>
        </p:nvSpPr>
        <p:spPr>
          <a:xfrm xmlns:a="http://schemas.openxmlformats.org/drawingml/2006/main">
            <a:off x="1828800" y="4296918"/>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    stop on cancellation or failure</a:t>
            </a:r>
          </a:p>
        </p:txBody>
      </p:sp>
      <p:sp>
        <p:nvSpPr>
          <p:cNvPr id="156" name="Body paragraph 9">
            <a:extLst xmlns:a="http://schemas.openxmlformats.org/drawingml/2006/main">
              <a:ext uri="{FF2B5EF4-FFF2-40B4-BE49-F238E27FC236}">
                <a16:creationId xmlns:a16="http://schemas.microsoft.com/office/drawing/2014/main" id="{08902E53-9FC4-49B9-A063-2446799828C1}"/>
              </a:ext>
            </a:extLst>
          </p:cNvPr>
          <p:cNvSpPr>
            <a:spLocks xmlns:a="http://schemas.openxmlformats.org/drawingml/2006/main" noGrp="1"/>
          </p:cNvSpPr>
          <p:nvPr/>
        </p:nvSpPr>
        <p:spPr>
          <a:xfrm xmlns:a="http://schemas.openxmlformats.org/drawingml/2006/main">
            <a:off x="1828800" y="4660392"/>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  validate and shape typed result</a:t>
            </a:r>
          </a:p>
        </p:txBody>
      </p:sp>
      <p:sp>
        <p:nvSpPr>
          <p:cNvPr id="157" name="Body paragraph 10">
            <a:extLst xmlns:a="http://schemas.openxmlformats.org/drawingml/2006/main">
              <a:ext uri="{FF2B5EF4-FFF2-40B4-BE49-F238E27FC236}">
                <a16:creationId xmlns:a16="http://schemas.microsoft.com/office/drawing/2014/main" id="{9D13E05C-718A-49B9-9CAB-DDA50ED1DC27}"/>
              </a:ext>
            </a:extLst>
          </p:cNvPr>
          <p:cNvSpPr>
            <a:spLocks xmlns:a="http://schemas.openxmlformats.org/drawingml/2006/main" noGrp="1"/>
          </p:cNvSpPr>
          <p:nvPr/>
        </p:nvSpPr>
        <p:spPr>
          <a:xfrm xmlns:a="http://schemas.openxmlformats.org/drawingml/2006/main">
            <a:off x="1828800" y="5023866"/>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  commit task-appropriate effects</a:t>
            </a:r>
          </a:p>
        </p:txBody>
      </p:sp>
      <p:sp>
        <p:nvSpPr>
          <p:cNvPr id="158" name="Body paragraph 11">
            <a:extLst xmlns:a="http://schemas.openxmlformats.org/drawingml/2006/main">
              <a:ext uri="{FF2B5EF4-FFF2-40B4-BE49-F238E27FC236}">
                <a16:creationId xmlns:a16="http://schemas.microsoft.com/office/drawing/2014/main" id="{B8146259-EA94-4CB7-AE78-BC64FAB27145}"/>
              </a:ext>
            </a:extLst>
          </p:cNvPr>
          <p:cNvSpPr>
            <a:spLocks xmlns:a="http://schemas.openxmlformats.org/drawingml/2006/main" noGrp="1"/>
          </p:cNvSpPr>
          <p:nvPr/>
        </p:nvSpPr>
        <p:spPr>
          <a:xfrm xmlns:a="http://schemas.openxmlformats.org/drawingml/2006/main">
            <a:off x="1828800" y="5387340"/>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  enqueue admitted maintenance</a:t>
            </a:r>
          </a:p>
        </p:txBody>
      </p:sp>
      <p:sp>
        <p:nvSpPr>
          <p:cNvPr id="159" name="Body paragraph 12">
            <a:extLst xmlns:a="http://schemas.openxmlformats.org/drawingml/2006/main">
              <a:ext uri="{FF2B5EF4-FFF2-40B4-BE49-F238E27FC236}">
                <a16:creationId xmlns:a16="http://schemas.microsoft.com/office/drawing/2014/main" id="{A3C62615-4258-4A48-AB5E-FCE5779D8195}"/>
              </a:ext>
            </a:extLst>
          </p:cNvPr>
          <p:cNvSpPr>
            <a:spLocks xmlns:a="http://schemas.openxmlformats.org/drawingml/2006/main" noGrp="1"/>
          </p:cNvSpPr>
          <p:nvPr/>
        </p:nvSpPr>
        <p:spPr>
          <a:xfrm xmlns:a="http://schemas.openxmlformats.org/drawingml/2006/main">
            <a:off x="1828800" y="5750814"/>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  return response, evidence and diagnostics</a:t>
            </a:r>
          </a:p>
        </p:txBody>
      </p:sp>
    </p:spTree>
    <p:extLst>
      <p:ext uri="{BB962C8B-B14F-4D97-AF65-F5344CB8AC3E}">
        <p14:creationId xmlns:p14="http://schemas.microsoft.com/office/powerpoint/2010/main" val="163751524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43" name="Google Shape;143;g38215e9470b_0_37">
            <a:extLst xmlns:a="http://schemas.openxmlformats.org/drawingml/2006/main">
              <a:ext uri="{FF2B5EF4-FFF2-40B4-BE49-F238E27FC236}">
                <a16:creationId xmlns:a16="http://schemas.microsoft.com/office/drawing/2014/main" id="{209BD0C8-B78B-4451-A062-3C2B71C071CC}"/>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Hybrid fusion algorithm</a:t>
            </a:r>
            <a:endParaRPr sz="2400" b="0" i="0" u="none" strike="noStrike" cap="none">
              <a:solidFill>
                <a:schemeClr val="dk1"/>
              </a:solidFill>
              <a:latin typeface="Calibri"/>
              <a:ea typeface="Calibri"/>
              <a:cs typeface="Calibri"/>
            </a:endParaRPr>
          </a:p>
        </p:txBody>
      </p:sp>
      <p:pic>
        <p:nvPicPr>
          <p:cNvPr id="145" name="Google Shape;145;g38215e9470b_0_37">
            <a:extLst xmlns:a="http://schemas.openxmlformats.org/drawingml/2006/main">
              <a:ext uri="{FF2B5EF4-FFF2-40B4-BE49-F238E27FC236}">
                <a16:creationId xmlns:a16="http://schemas.microsoft.com/office/drawing/2014/main" id="{0D87A96C-A611-492D-9D9F-057E81D2E01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3f967b0c3474499">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46" name="Google Shape;146;g38215e9470b_0_37">
            <a:extLst xmlns:a="http://schemas.openxmlformats.org/drawingml/2006/main">
              <a:ext uri="{FF2B5EF4-FFF2-40B4-BE49-F238E27FC236}">
                <a16:creationId xmlns:a16="http://schemas.microsoft.com/office/drawing/2014/main" id="{8A0C833D-0E09-4B28-A329-B592A2D851B6}"/>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47" name="Google Shape;147;g38215e9470b_0_37">
            <a:extLst xmlns:a="http://schemas.openxmlformats.org/drawingml/2006/main">
              <a:ext uri="{FF2B5EF4-FFF2-40B4-BE49-F238E27FC236}">
                <a16:creationId xmlns:a16="http://schemas.microsoft.com/office/drawing/2014/main" id="{82AC7AD2-CE8D-44FC-86A5-482D81F28515}"/>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48" name="Body paragraph 1">
            <a:extLst xmlns:a="http://schemas.openxmlformats.org/drawingml/2006/main">
              <a:ext uri="{FF2B5EF4-FFF2-40B4-BE49-F238E27FC236}">
                <a16:creationId xmlns:a16="http://schemas.microsoft.com/office/drawing/2014/main" id="{1EC9F0D6-C629-4B30-AA9D-07C2E4A52726}"/>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Merge candidates by memory ID. Keep each strategy's maximum score for the ID. Min-max normalize nonconstant ranges, retaining original equal-score lists.</a:t>
            </a:r>
          </a:p>
        </p:txBody>
      </p:sp>
      <p:sp>
        <p:nvSpPr>
          <p:cNvPr id="149" name="Body paragraph 2">
            <a:extLst xmlns:a="http://schemas.openxmlformats.org/drawingml/2006/main">
              <a:ext uri="{FF2B5EF4-FFF2-40B4-BE49-F238E27FC236}">
                <a16:creationId xmlns:a16="http://schemas.microsoft.com/office/drawing/2014/main" id="{E17A8C61-E6A0-4CF5-A368-28C4FFD609B2}"/>
              </a:ext>
            </a:extLst>
          </p:cNvPr>
          <p:cNvSpPr>
            <a:spLocks xmlns:a="http://schemas.openxmlformats.org/drawingml/2006/main" noGrp="1"/>
          </p:cNvSpPr>
          <p:nvPr/>
        </p:nvSpPr>
        <p:spPr>
          <a:xfrm xmlns:a="http://schemas.openxmlformats.org/drawingml/2006/main">
            <a:off x="1828800" y="3049143"/>
            <a:ext cx="9067800" cy="7722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Fused score = weighted sum of strategy scores / total selected strategy weight. Missing contributions are zero.</a:t>
            </a:r>
          </a:p>
        </p:txBody>
      </p:sp>
      <p:sp>
        <p:nvSpPr>
          <p:cNvPr id="150" name="Body paragraph 3">
            <a:extLst xmlns:a="http://schemas.openxmlformats.org/drawingml/2006/main">
              <a:ext uri="{FF2B5EF4-FFF2-40B4-BE49-F238E27FC236}">
                <a16:creationId xmlns:a16="http://schemas.microsoft.com/office/drawing/2014/main" id="{B54E54FE-D4B0-4029-8CB5-26446FF60B62}"/>
              </a:ext>
            </a:extLst>
          </p:cNvPr>
          <p:cNvSpPr>
            <a:spLocks xmlns:a="http://schemas.openxmlformats.org/drawingml/2006/main" noGrp="1"/>
          </p:cNvSpPr>
          <p:nvPr/>
        </p:nvSpPr>
        <p:spPr>
          <a:xfrm xmlns:a="http://schemas.openxmlformats.org/drawingml/2006/main">
            <a:off x="1828800" y="397383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Full defaults: dense 0.40, sparse 0.30, temporal 0.15, graph 0.15. This is weighted score fusion. Rerank selected candidates, verify sufficiency and compress evidence.</a:t>
            </a:r>
          </a:p>
        </p:txBody>
      </p:sp>
    </p:spTree>
    <p:extLst>
      <p:ext uri="{BB962C8B-B14F-4D97-AF65-F5344CB8AC3E}">
        <p14:creationId xmlns:p14="http://schemas.microsoft.com/office/powerpoint/2010/main" val="163751524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43" name="Google Shape;143;g38215e9470b_0_37">
            <a:extLst xmlns:a="http://schemas.openxmlformats.org/drawingml/2006/main">
              <a:ext uri="{FF2B5EF4-FFF2-40B4-BE49-F238E27FC236}">
                <a16:creationId xmlns:a16="http://schemas.microsoft.com/office/drawing/2014/main" id="{209BD0C8-B78B-4451-A062-3C2B71C071CC}"/>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Memory admission algorithm</a:t>
            </a:r>
            <a:endParaRPr sz="2400" b="0" i="0" u="none" strike="noStrike" cap="none">
              <a:solidFill>
                <a:schemeClr val="dk1"/>
              </a:solidFill>
              <a:latin typeface="Calibri"/>
              <a:ea typeface="Calibri"/>
              <a:cs typeface="Calibri"/>
            </a:endParaRPr>
          </a:p>
        </p:txBody>
      </p:sp>
      <p:pic>
        <p:nvPicPr>
          <p:cNvPr id="145" name="Google Shape;145;g38215e9470b_0_37">
            <a:extLst xmlns:a="http://schemas.openxmlformats.org/drawingml/2006/main">
              <a:ext uri="{FF2B5EF4-FFF2-40B4-BE49-F238E27FC236}">
                <a16:creationId xmlns:a16="http://schemas.microsoft.com/office/drawing/2014/main" id="{0D87A96C-A611-492D-9D9F-057E81D2E01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1d9ae1f47194e15">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46" name="Google Shape;146;g38215e9470b_0_37">
            <a:extLst xmlns:a="http://schemas.openxmlformats.org/drawingml/2006/main">
              <a:ext uri="{FF2B5EF4-FFF2-40B4-BE49-F238E27FC236}">
                <a16:creationId xmlns:a16="http://schemas.microsoft.com/office/drawing/2014/main" id="{8A0C833D-0E09-4B28-A329-B592A2D851B6}"/>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47" name="Google Shape;147;g38215e9470b_0_37">
            <a:extLst xmlns:a="http://schemas.openxmlformats.org/drawingml/2006/main">
              <a:ext uri="{FF2B5EF4-FFF2-40B4-BE49-F238E27FC236}">
                <a16:creationId xmlns:a16="http://schemas.microsoft.com/office/drawing/2014/main" id="{82AC7AD2-CE8D-44FC-86A5-482D81F28515}"/>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48" name="Body paragraph 1">
            <a:extLst xmlns:a="http://schemas.openxmlformats.org/drawingml/2006/main">
              <a:ext uri="{FF2B5EF4-FFF2-40B4-BE49-F238E27FC236}">
                <a16:creationId xmlns:a16="http://schemas.microsoft.com/office/drawing/2014/main" id="{C330C441-57C2-4986-8BD0-A0F5F8EB4469}"/>
              </a:ext>
            </a:extLst>
          </p:cNvPr>
          <p:cNvSpPr>
            <a:spLocks xmlns:a="http://schemas.openxmlformats.org/drawingml/2006/main" noGrp="1"/>
          </p:cNvSpPr>
          <p:nvPr/>
        </p:nvSpPr>
        <p:spPr>
          <a:xfrm xmlns:a="http://schemas.openxmlformats.org/drawingml/2006/main">
            <a:off x="1828800" y="1752600"/>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I = 0.35 * novelty</a:t>
            </a:r>
          </a:p>
        </p:txBody>
      </p:sp>
      <p:sp>
        <p:nvSpPr>
          <p:cNvPr id="149" name="Body paragraph 2">
            <a:extLst xmlns:a="http://schemas.openxmlformats.org/drawingml/2006/main">
              <a:ext uri="{FF2B5EF4-FFF2-40B4-BE49-F238E27FC236}">
                <a16:creationId xmlns:a16="http://schemas.microsoft.com/office/drawing/2014/main" id="{9FDF9C59-2985-4BAF-9508-9B662E42396A}"/>
              </a:ext>
            </a:extLst>
          </p:cNvPr>
          <p:cNvSpPr>
            <a:spLocks xmlns:a="http://schemas.openxmlformats.org/drawingml/2006/main" noGrp="1"/>
          </p:cNvSpPr>
          <p:nvPr/>
        </p:nvSpPr>
        <p:spPr>
          <a:xfrm xmlns:a="http://schemas.openxmlformats.org/drawingml/2006/main">
            <a:off x="1828800" y="2116074"/>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  + 0.25 * emotional_salience</a:t>
            </a:r>
          </a:p>
        </p:txBody>
      </p:sp>
      <p:sp>
        <p:nvSpPr>
          <p:cNvPr id="150" name="Body paragraph 3">
            <a:extLst xmlns:a="http://schemas.openxmlformats.org/drawingml/2006/main">
              <a:ext uri="{FF2B5EF4-FFF2-40B4-BE49-F238E27FC236}">
                <a16:creationId xmlns:a16="http://schemas.microsoft.com/office/drawing/2014/main" id="{6EDEEB73-4D03-4654-8FDE-2132DA823504}"/>
              </a:ext>
            </a:extLst>
          </p:cNvPr>
          <p:cNvSpPr>
            <a:spLocks xmlns:a="http://schemas.openxmlformats.org/drawingml/2006/main" noGrp="1"/>
          </p:cNvSpPr>
          <p:nvPr/>
        </p:nvSpPr>
        <p:spPr>
          <a:xfrm xmlns:a="http://schemas.openxmlformats.org/drawingml/2006/main">
            <a:off x="1828800" y="2479548"/>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  + 0.15 * user_relevance</a:t>
            </a:r>
          </a:p>
        </p:txBody>
      </p:sp>
      <p:sp>
        <p:nvSpPr>
          <p:cNvPr id="151" name="Body paragraph 4">
            <a:extLst xmlns:a="http://schemas.openxmlformats.org/drawingml/2006/main">
              <a:ext uri="{FF2B5EF4-FFF2-40B4-BE49-F238E27FC236}">
                <a16:creationId xmlns:a16="http://schemas.microsoft.com/office/drawing/2014/main" id="{AB525914-BEDA-4180-BC38-EEFE5ED163D1}"/>
              </a:ext>
            </a:extLst>
          </p:cNvPr>
          <p:cNvSpPr>
            <a:spLocks xmlns:a="http://schemas.openxmlformats.org/drawingml/2006/main" noGrp="1"/>
          </p:cNvSpPr>
          <p:nvPr/>
        </p:nvSpPr>
        <p:spPr>
          <a:xfrm xmlns:a="http://schemas.openxmlformats.org/drawingml/2006/main">
            <a:off x="1828800" y="2843022"/>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  + 0.15 * recurrence</a:t>
            </a:r>
          </a:p>
        </p:txBody>
      </p:sp>
      <p:sp>
        <p:nvSpPr>
          <p:cNvPr id="152" name="Body paragraph 5">
            <a:extLst xmlns:a="http://schemas.openxmlformats.org/drawingml/2006/main">
              <a:ext uri="{FF2B5EF4-FFF2-40B4-BE49-F238E27FC236}">
                <a16:creationId xmlns:a16="http://schemas.microsoft.com/office/drawing/2014/main" id="{915B72AF-1EE1-4E9E-94D6-1D06940E4D59}"/>
              </a:ext>
            </a:extLst>
          </p:cNvPr>
          <p:cNvSpPr>
            <a:spLocks xmlns:a="http://schemas.openxmlformats.org/drawingml/2006/main" noGrp="1"/>
          </p:cNvSpPr>
          <p:nvPr/>
        </p:nvSpPr>
        <p:spPr>
          <a:xfrm xmlns:a="http://schemas.openxmlformats.org/drawingml/2006/main">
            <a:off x="1828800" y="3206496"/>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  + 0.10 * reflection</a:t>
            </a:r>
          </a:p>
        </p:txBody>
      </p:sp>
      <p:sp>
        <p:nvSpPr>
          <p:cNvPr id="153" name="Body paragraph 6">
            <a:extLst xmlns:a="http://schemas.openxmlformats.org/drawingml/2006/main">
              <a:ext uri="{FF2B5EF4-FFF2-40B4-BE49-F238E27FC236}">
                <a16:creationId xmlns:a16="http://schemas.microsoft.com/office/drawing/2014/main" id="{A8BA9AAD-DBFF-4541-9082-FCA4B0910F0D}"/>
              </a:ext>
            </a:extLst>
          </p:cNvPr>
          <p:cNvSpPr>
            <a:spLocks xmlns:a="http://schemas.openxmlformats.org/drawingml/2006/main" noGrp="1"/>
          </p:cNvSpPr>
          <p:nvPr/>
        </p:nvSpPr>
        <p:spPr>
          <a:xfrm xmlns:a="http://schemas.openxmlformats.org/drawingml/2006/main">
            <a:off x="1828800" y="3569970"/>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r>
              <a:t/>
            </a:r>
          </a:p>
        </p:txBody>
      </p:sp>
      <p:sp>
        <p:nvSpPr>
          <p:cNvPr id="154" name="Body paragraph 7">
            <a:extLst xmlns:a="http://schemas.openxmlformats.org/drawingml/2006/main">
              <a:ext uri="{FF2B5EF4-FFF2-40B4-BE49-F238E27FC236}">
                <a16:creationId xmlns:a16="http://schemas.microsoft.com/office/drawing/2014/main" id="{F6A71245-B36B-484B-B79C-C812C61FC3C8}"/>
              </a:ext>
            </a:extLst>
          </p:cNvPr>
          <p:cNvSpPr>
            <a:spLocks xmlns:a="http://schemas.openxmlformats.org/drawingml/2006/main" noGrp="1"/>
          </p:cNvSpPr>
          <p:nvPr/>
        </p:nvSpPr>
        <p:spPr>
          <a:xfrm xmlns:a="http://schemas.openxmlformats.org/drawingml/2006/main">
            <a:off x="1828800" y="3933444"/>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Default admission: I &gt;= 0.55</a:t>
            </a:r>
          </a:p>
        </p:txBody>
      </p:sp>
      <p:sp>
        <p:nvSpPr>
          <p:cNvPr id="155" name="Body paragraph 8">
            <a:extLst xmlns:a="http://schemas.openxmlformats.org/drawingml/2006/main">
              <a:ext uri="{FF2B5EF4-FFF2-40B4-BE49-F238E27FC236}">
                <a16:creationId xmlns:a16="http://schemas.microsoft.com/office/drawing/2014/main" id="{3E58EF56-66FB-4425-89BB-E20BFB726924}"/>
              </a:ext>
            </a:extLst>
          </p:cNvPr>
          <p:cNvSpPr>
            <a:spLocks xmlns:a="http://schemas.openxmlformats.org/drawingml/2006/main" noGrp="1"/>
          </p:cNvSpPr>
          <p:nvPr/>
        </p:nvSpPr>
        <p:spPr>
          <a:xfrm xmlns:a="http://schemas.openxmlformats.org/drawingml/2006/main">
            <a:off x="1828800" y="4296918"/>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Novelty: 1 - maximum token Jaccard overlap</a:t>
            </a:r>
          </a:p>
        </p:txBody>
      </p:sp>
      <p:sp>
        <p:nvSpPr>
          <p:cNvPr id="156" name="Body paragraph 9">
            <a:extLst xmlns:a="http://schemas.openxmlformats.org/drawingml/2006/main">
              <a:ext uri="{FF2B5EF4-FFF2-40B4-BE49-F238E27FC236}">
                <a16:creationId xmlns:a16="http://schemas.microsoft.com/office/drawing/2014/main" id="{ECBE5DC0-2211-49AB-9112-478628DE4CE8}"/>
              </a:ext>
            </a:extLst>
          </p:cNvPr>
          <p:cNvSpPr>
            <a:spLocks xmlns:a="http://schemas.openxmlformats.org/drawingml/2006/main" noGrp="1"/>
          </p:cNvSpPr>
          <p:nvPr/>
        </p:nvSpPr>
        <p:spPr>
          <a:xfrm xmlns:a="http://schemas.openxmlformats.org/drawingml/2006/main">
            <a:off x="1828800" y="4660392"/>
            <a:ext cx="9067800" cy="3539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a:solidFill>
                  <a:srgbClr val="E48312"/>
                </a:solidFill>
                <a:latin typeface="Trebuchet MS"/>
                <a:ea typeface="Trebuchet MS"/>
                <a:cs typeface="Trebuchet MS"/>
              </a:defRPr>
            </a:defPPr>
          </a:lstStyle>
          <a:p xmlns:a="http://schemas.openxmlformats.org/drawingml/2006/main">
            <a:pPr algn="l">
              <a:defRPr sz="2100">
                <a:solidFill>
                  <a:srgbClr val="E48312"/>
                </a:solidFill>
                <a:latin typeface="Trebuchet MS"/>
                <a:ea typeface="Trebuchet MS"/>
                <a:cs typeface="Trebuchet MS"/>
              </a:defRPr>
            </a:pPr>
            <a:r>
              <a:rPr sz="2100">
                <a:solidFill>
                  <a:srgbClr val="E48312"/>
                </a:solidFill>
                <a:latin typeface="Trebuchet MS"/>
                <a:ea typeface="Trebuchet MS"/>
                <a:cs typeface="Trebuchet MS"/>
              </a:rPr>
              <a:t>All score components are bounded to [0, 1]</a:t>
            </a:r>
          </a:p>
        </p:txBody>
      </p:sp>
    </p:spTree>
    <p:extLst>
      <p:ext uri="{BB962C8B-B14F-4D97-AF65-F5344CB8AC3E}">
        <p14:creationId xmlns:p14="http://schemas.microsoft.com/office/powerpoint/2010/main" val="163751524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43" name="Google Shape;143;g38215e9470b_0_37">
            <a:extLst xmlns:a="http://schemas.openxmlformats.org/drawingml/2006/main">
              <a:ext uri="{FF2B5EF4-FFF2-40B4-BE49-F238E27FC236}">
                <a16:creationId xmlns:a16="http://schemas.microsoft.com/office/drawing/2014/main" id="{209BD0C8-B78B-4451-A062-3C2B71C071CC}"/>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Affect evolution algorithm</a:t>
            </a:r>
            <a:endParaRPr sz="2400" b="0" i="0" u="none" strike="noStrike" cap="none">
              <a:solidFill>
                <a:schemeClr val="dk1"/>
              </a:solidFill>
              <a:latin typeface="Calibri"/>
              <a:ea typeface="Calibri"/>
              <a:cs typeface="Calibri"/>
            </a:endParaRPr>
          </a:p>
        </p:txBody>
      </p:sp>
      <p:pic>
        <p:nvPicPr>
          <p:cNvPr id="145" name="Google Shape;145;g38215e9470b_0_37">
            <a:extLst xmlns:a="http://schemas.openxmlformats.org/drawingml/2006/main">
              <a:ext uri="{FF2B5EF4-FFF2-40B4-BE49-F238E27FC236}">
                <a16:creationId xmlns:a16="http://schemas.microsoft.com/office/drawing/2014/main" id="{0D87A96C-A611-492D-9D9F-057E81D2E01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066e42e39c6414b">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46" name="Google Shape;146;g38215e9470b_0_37">
            <a:extLst xmlns:a="http://schemas.openxmlformats.org/drawingml/2006/main">
              <a:ext uri="{FF2B5EF4-FFF2-40B4-BE49-F238E27FC236}">
                <a16:creationId xmlns:a16="http://schemas.microsoft.com/office/drawing/2014/main" id="{8A0C833D-0E09-4B28-A329-B592A2D851B6}"/>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47" name="Google Shape;147;g38215e9470b_0_37">
            <a:extLst xmlns:a="http://schemas.openxmlformats.org/drawingml/2006/main">
              <a:ext uri="{FF2B5EF4-FFF2-40B4-BE49-F238E27FC236}">
                <a16:creationId xmlns:a16="http://schemas.microsoft.com/office/drawing/2014/main" id="{82AC7AD2-CE8D-44FC-86A5-482D81F28515}"/>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48" name="Body paragraph 1">
            <a:extLst xmlns:a="http://schemas.openxmlformats.org/drawingml/2006/main">
              <a:ext uri="{FF2B5EF4-FFF2-40B4-BE49-F238E27FC236}">
                <a16:creationId xmlns:a16="http://schemas.microsoft.com/office/drawing/2014/main" id="{B8ADA95D-3C4C-4CF6-BAA9-EAD836D421A9}"/>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PAD represents pleasure, arousal and dominance. Text classification feeds the profile, rolling history, salience and retrieval priors.</a:t>
            </a:r>
          </a:p>
        </p:txBody>
      </p:sp>
      <p:sp>
        <p:nvSpPr>
          <p:cNvPr id="149" name="Body paragraph 2">
            <a:extLst xmlns:a="http://schemas.openxmlformats.org/drawingml/2006/main">
              <a:ext uri="{FF2B5EF4-FFF2-40B4-BE49-F238E27FC236}">
                <a16:creationId xmlns:a16="http://schemas.microsoft.com/office/drawing/2014/main" id="{85D12C4E-A680-4D42-8BC9-36566C1D7707}"/>
              </a:ext>
            </a:extLst>
          </p:cNvPr>
          <p:cNvSpPr>
            <a:spLocks xmlns:a="http://schemas.openxmlformats.org/drawingml/2006/main" noGrp="1"/>
          </p:cNvSpPr>
          <p:nvPr/>
        </p:nvSpPr>
        <p:spPr>
          <a:xfrm xmlns:a="http://schemas.openxmlformats.org/drawingml/2006/main">
            <a:off x="1828800" y="3049143"/>
            <a:ext cx="9067800" cy="7722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Momentum decays prior scores with default factor 0.82, drops small values and adds current dominant-emotion confidence.</a:t>
            </a:r>
          </a:p>
        </p:txBody>
      </p:sp>
      <p:sp>
        <p:nvSpPr>
          <p:cNvPr id="150" name="Body paragraph 3">
            <a:extLst xmlns:a="http://schemas.openxmlformats.org/drawingml/2006/main">
              <a:ext uri="{FF2B5EF4-FFF2-40B4-BE49-F238E27FC236}">
                <a16:creationId xmlns:a16="http://schemas.microsoft.com/office/drawing/2014/main" id="{497FEAF8-2946-4250-8EFE-EE1C4668B32F}"/>
              </a:ext>
            </a:extLst>
          </p:cNvPr>
          <p:cNvSpPr>
            <a:spLocks xmlns:a="http://schemas.openxmlformats.org/drawingml/2006/main" noGrp="1"/>
          </p:cNvSpPr>
          <p:nvPr/>
        </p:nvSpPr>
        <p:spPr>
          <a:xfrm xmlns:a="http://schemas.openxmlformats.org/drawingml/2006/main">
            <a:off x="1828800" y="397383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Volatility uses recent PAD distances. Stability combines low volatility with confidence. Dissonance uses history, valence flips and low confidence. These are engineered text signals.</a:t>
            </a:r>
          </a:p>
        </p:txBody>
      </p:sp>
    </p:spTree>
    <p:extLst>
      <p:ext uri="{BB962C8B-B14F-4D97-AF65-F5344CB8AC3E}">
        <p14:creationId xmlns:p14="http://schemas.microsoft.com/office/powerpoint/2010/main" val="1637515244"/>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43" name="Google Shape;143;g38215e9470b_0_37">
            <a:extLst xmlns:a="http://schemas.openxmlformats.org/drawingml/2006/main">
              <a:ext uri="{FF2B5EF4-FFF2-40B4-BE49-F238E27FC236}">
                <a16:creationId xmlns:a16="http://schemas.microsoft.com/office/drawing/2014/main" id="{209BD0C8-B78B-4451-A062-3C2B71C071CC}"/>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Sufficiency and reasoning budgets</a:t>
            </a:r>
            <a:endParaRPr sz="2400" b="0" i="0" u="none" strike="noStrike" cap="none">
              <a:solidFill>
                <a:schemeClr val="dk1"/>
              </a:solidFill>
              <a:latin typeface="Calibri"/>
              <a:ea typeface="Calibri"/>
              <a:cs typeface="Calibri"/>
            </a:endParaRPr>
          </a:p>
        </p:txBody>
      </p:sp>
      <p:pic>
        <p:nvPicPr>
          <p:cNvPr id="145" name="Google Shape;145;g38215e9470b_0_37">
            <a:extLst xmlns:a="http://schemas.openxmlformats.org/drawingml/2006/main">
              <a:ext uri="{FF2B5EF4-FFF2-40B4-BE49-F238E27FC236}">
                <a16:creationId xmlns:a16="http://schemas.microsoft.com/office/drawing/2014/main" id="{0D87A96C-A611-492D-9D9F-057E81D2E01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b827d6ca3924034">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46" name="Google Shape;146;g38215e9470b_0_37">
            <a:extLst xmlns:a="http://schemas.openxmlformats.org/drawingml/2006/main">
              <a:ext uri="{FF2B5EF4-FFF2-40B4-BE49-F238E27FC236}">
                <a16:creationId xmlns:a16="http://schemas.microsoft.com/office/drawing/2014/main" id="{8A0C833D-0E09-4B28-A329-B592A2D851B6}"/>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47" name="Google Shape;147;g38215e9470b_0_37">
            <a:extLst xmlns:a="http://schemas.openxmlformats.org/drawingml/2006/main">
              <a:ext uri="{FF2B5EF4-FFF2-40B4-BE49-F238E27FC236}">
                <a16:creationId xmlns:a16="http://schemas.microsoft.com/office/drawing/2014/main" id="{82AC7AD2-CE8D-44FC-86A5-482D81F28515}"/>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48" name="">
            <a:extLst xmlns:a="http://schemas.openxmlformats.org/drawingml/2006/main">
              <a:ext uri="{FF2B5EF4-FFF2-40B4-BE49-F238E27FC236}">
                <a16:creationId xmlns:a16="http://schemas.microsoft.com/office/drawing/2014/main" id="{5C551E7F-661A-477F-B020-C57ACA075FEB}"/>
              </a:ext>
            </a:extLst>
          </p:cNvPr>
          <p:cNvGraphicFramePr/>
          <p:nvPr/>
        </p:nvGraphicFramePr>
        <p:xfrm>
          <a:off xmlns:a="http://schemas.openxmlformats.org/drawingml/2006/main" x="1828800" y="1752600"/>
          <a:ext xmlns:a="http://schemas.openxmlformats.org/drawingml/2006/main" cx="9067800" cy="3657600"/>
        </p:xfrm>
        <a:graphic xmlns:a="http://schemas.openxmlformats.org/drawingml/2006/main">
          <a:graphicData uri="http://schemas.openxmlformats.org/drawingml/2006/table">
            <a:tbl>
              <a:tblPr firstRow="1" bandRow="0"/>
              <a:tblGrid>
                <a:gridCol w="2476500"/>
                <a:gridCol w="659130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Control</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Current behavior</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Sufficiency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Question/evidence term coverage &gt;= 0.60, unless a narrow contradiction check fires</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No evidence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Unanswerable result</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Public defaults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Top-k 5, hops 3, retrieval calls 3, context 1600 tokens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Additional limits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Configured document, model-call, time, no-progress and reflection limits</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Limit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Lexical overlap can miss paraphrases or accept distractors</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163751524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43" name="Google Shape;143;g38215e9470b_0_37">
            <a:extLst xmlns:a="http://schemas.openxmlformats.org/drawingml/2006/main">
              <a:ext uri="{FF2B5EF4-FFF2-40B4-BE49-F238E27FC236}">
                <a16:creationId xmlns:a16="http://schemas.microsoft.com/office/drawing/2014/main" id="{209BD0C8-B78B-4451-A062-3C2B71C071CC}"/>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Confidence, tools and corrections</a:t>
            </a:r>
            <a:endParaRPr sz="2400" b="0" i="0" u="none" strike="noStrike" cap="none">
              <a:solidFill>
                <a:schemeClr val="dk1"/>
              </a:solidFill>
              <a:latin typeface="Calibri"/>
              <a:ea typeface="Calibri"/>
              <a:cs typeface="Calibri"/>
            </a:endParaRPr>
          </a:p>
        </p:txBody>
      </p:sp>
      <p:pic>
        <p:nvPicPr>
          <p:cNvPr id="145" name="Google Shape;145;g38215e9470b_0_37">
            <a:extLst xmlns:a="http://schemas.openxmlformats.org/drawingml/2006/main">
              <a:ext uri="{FF2B5EF4-FFF2-40B4-BE49-F238E27FC236}">
                <a16:creationId xmlns:a16="http://schemas.microsoft.com/office/drawing/2014/main" id="{0D87A96C-A611-492D-9D9F-057E81D2E01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248d9221c7942fb">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46" name="Google Shape;146;g38215e9470b_0_37">
            <a:extLst xmlns:a="http://schemas.openxmlformats.org/drawingml/2006/main">
              <a:ext uri="{FF2B5EF4-FFF2-40B4-BE49-F238E27FC236}">
                <a16:creationId xmlns:a16="http://schemas.microsoft.com/office/drawing/2014/main" id="{8A0C833D-0E09-4B28-A329-B592A2D851B6}"/>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47" name="Google Shape;147;g38215e9470b_0_37">
            <a:extLst xmlns:a="http://schemas.openxmlformats.org/drawingml/2006/main">
              <a:ext uri="{FF2B5EF4-FFF2-40B4-BE49-F238E27FC236}">
                <a16:creationId xmlns:a16="http://schemas.microsoft.com/office/drawing/2014/main" id="{82AC7AD2-CE8D-44FC-86A5-482D81F28515}"/>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48" name="Body paragraph 1">
            <a:extLst xmlns:a="http://schemas.openxmlformats.org/drawingml/2006/main">
              <a:ext uri="{FF2B5EF4-FFF2-40B4-BE49-F238E27FC236}">
                <a16:creationId xmlns:a16="http://schemas.microsoft.com/office/drawing/2014/main" id="{5F9027E9-DF3E-4A4D-9EB8-F6D7AFA16339}"/>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Confidence aggregates calibrated available signals and disagreement. Default source weights include retrieval 1.25, planner 1.15, affect 0.70, state 0.85, reflection/policy 1.0.</a:t>
            </a:r>
          </a:p>
        </p:txBody>
      </p:sp>
      <p:sp>
        <p:nvSpPr>
          <p:cNvPr id="149" name="Body paragraph 2">
            <a:extLst xmlns:a="http://schemas.openxmlformats.org/drawingml/2006/main">
              <a:ext uri="{FF2B5EF4-FFF2-40B4-BE49-F238E27FC236}">
                <a16:creationId xmlns:a16="http://schemas.microsoft.com/office/drawing/2014/main" id="{CF97F568-8AB4-405E-872F-125BBF525E4E}"/>
              </a:ext>
            </a:extLst>
          </p:cNvPr>
          <p:cNvSpPr>
            <a:spLocks xmlns:a="http://schemas.openxmlformats.org/drawingml/2006/main" noGrp="1"/>
          </p:cNvSpPr>
          <p:nvPr/>
        </p:nvSpPr>
        <p:spPr>
          <a:xfrm xmlns:a="http://schemas.openxmlformats.org/drawingml/2006/main">
            <a:off x="1828800" y="3049143"/>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Tools require explicit external-action permission, allowlisting, schema validation and typed results. Defaults: three invocations and a five-second awaitable timeout.</a:t>
            </a:r>
          </a:p>
        </p:txBody>
      </p:sp>
      <p:sp>
        <p:nvSpPr>
          <p:cNvPr id="150" name="Body paragraph 3">
            <a:extLst xmlns:a="http://schemas.openxmlformats.org/drawingml/2006/main">
              <a:ext uri="{FF2B5EF4-FFF2-40B4-BE49-F238E27FC236}">
                <a16:creationId xmlns:a16="http://schemas.microsoft.com/office/drawing/2014/main" id="{DB0C26DA-D195-4698-A20C-3F7A6C3D726A}"/>
              </a:ext>
            </a:extLst>
          </p:cNvPr>
          <p:cNvSpPr>
            <a:spLocks xmlns:a="http://schemas.openxmlformats.org/drawingml/2006/main" noGrp="1"/>
          </p:cNvSpPr>
          <p:nvPr/>
        </p:nvSpPr>
        <p:spPr>
          <a:xfrm xmlns:a="http://schemas.openxmlformats.org/drawingml/2006/main">
            <a:off x="1828800" y="4345686"/>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Reflection proposes advice. Workflow checks trigger, confidence and budget, applies permitted correction, and records before/after outcomes. Synchronous blocking handlers need stronger timeout handling.</a:t>
            </a:r>
          </a:p>
        </p:txBody>
      </p:sp>
    </p:spTree>
    <p:extLst>
      <p:ext uri="{BB962C8B-B14F-4D97-AF65-F5344CB8AC3E}">
        <p14:creationId xmlns:p14="http://schemas.microsoft.com/office/powerpoint/2010/main" val="1637515244"/>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52" name="Google Shape;152;g38215e9470b_0_46">
            <a:extLst xmlns:a="http://schemas.openxmlformats.org/drawingml/2006/main">
              <a:ext uri="{FF2B5EF4-FFF2-40B4-BE49-F238E27FC236}">
                <a16:creationId xmlns:a16="http://schemas.microsoft.com/office/drawing/2014/main" id="{8109882F-1ECA-494B-A0ED-840055165DB3}"/>
              </a:ext>
            </a:extLst>
          </p:cNvPr>
          <p:cNvSpPr>
            <a:spLocks xmlns:a="http://schemas.openxmlformats.org/drawingml/2006/main" noGrp="1"/>
          </p:cNvSpPr>
          <p:nvPr/>
        </p:nvSpPr>
        <p:spPr>
          <a:xfrm xmlns:a="http://schemas.openxmlformats.org/drawingml/2006/main">
            <a:off x="1828800" y="89000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Design Approach</a:t>
            </a:r>
            <a:endParaRPr sz="2400" b="0" i="0" u="none" strike="noStrike" cap="none">
              <a:solidFill>
                <a:schemeClr val="dk1"/>
              </a:solidFill>
              <a:latin typeface="Calibri"/>
              <a:ea typeface="Calibri"/>
              <a:cs typeface="Calibri"/>
            </a:endParaRPr>
          </a:p>
        </p:txBody>
      </p:sp>
      <p:pic>
        <p:nvPicPr>
          <p:cNvPr id="154" name="Google Shape;154;g38215e9470b_0_46">
            <a:extLst xmlns:a="http://schemas.openxmlformats.org/drawingml/2006/main">
              <a:ext uri="{FF2B5EF4-FFF2-40B4-BE49-F238E27FC236}">
                <a16:creationId xmlns:a16="http://schemas.microsoft.com/office/drawing/2014/main" id="{CD6C393E-DC1B-4714-8F42-C41AEE09328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e67c0146b1a4837">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55" name="Google Shape;155;g38215e9470b_0_46">
            <a:extLst xmlns:a="http://schemas.openxmlformats.org/drawingml/2006/main">
              <a:ext uri="{FF2B5EF4-FFF2-40B4-BE49-F238E27FC236}">
                <a16:creationId xmlns:a16="http://schemas.microsoft.com/office/drawing/2014/main" id="{49A71121-A0D6-4122-AFA0-7E8A23425EE1}"/>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56" name="Google Shape;156;g38215e9470b_0_46">
            <a:extLst xmlns:a="http://schemas.openxmlformats.org/drawingml/2006/main">
              <a:ext uri="{FF2B5EF4-FFF2-40B4-BE49-F238E27FC236}">
                <a16:creationId xmlns:a16="http://schemas.microsoft.com/office/drawing/2014/main" id="{275321DD-47F4-47D0-9BFB-A763AA2EC345}"/>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57" name="Body paragraph 1">
            <a:extLst xmlns:a="http://schemas.openxmlformats.org/drawingml/2006/main">
              <a:ext uri="{FF2B5EF4-FFF2-40B4-BE49-F238E27FC236}">
                <a16:creationId xmlns:a16="http://schemas.microsoft.com/office/drawing/2014/main" id="{3CB63C0F-B2D8-40B9-8120-B8C67FE3DD53}"/>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PRIMA follows a modular, typed, workflow-controlled design. Subsystems own specific responsibilities. The workflow owns sequence and correction decisions.</a:t>
            </a:r>
          </a:p>
        </p:txBody>
      </p:sp>
      <p:sp>
        <p:nvSpPr>
          <p:cNvPr id="158" name="Body paragraph 2">
            <a:extLst xmlns:a="http://schemas.openxmlformats.org/drawingml/2006/main">
              <a:ext uri="{FF2B5EF4-FFF2-40B4-BE49-F238E27FC236}">
                <a16:creationId xmlns:a16="http://schemas.microsoft.com/office/drawing/2014/main" id="{B366300F-B3FC-4735-85BF-34BC1CF6018B}"/>
              </a:ext>
            </a:extLst>
          </p:cNvPr>
          <p:cNvSpPr>
            <a:spLocks xmlns:a="http://schemas.openxmlformats.org/drawingml/2006/main" noGrp="1"/>
          </p:cNvSpPr>
          <p:nvPr/>
        </p:nvSpPr>
        <p:spPr>
          <a:xfrm xmlns:a="http://schemas.openxmlformats.org/drawingml/2006/main">
            <a:off x="1828800" y="3049143"/>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Routes select needed components. Authoritative content storage, derived graph data, provider transport and evaluator scoring have distinct boundaries.</a:t>
            </a:r>
          </a:p>
        </p:txBody>
      </p:sp>
      <p:sp>
        <p:nvSpPr>
          <p:cNvPr id="159" name="Body paragraph 3">
            <a:extLst xmlns:a="http://schemas.openxmlformats.org/drawingml/2006/main">
              <a:ext uri="{FF2B5EF4-FFF2-40B4-BE49-F238E27FC236}">
                <a16:creationId xmlns:a16="http://schemas.microsoft.com/office/drawing/2014/main" id="{1C69B8F4-B96F-469C-A918-99310E231FDF}"/>
              </a:ext>
            </a:extLst>
          </p:cNvPr>
          <p:cNvSpPr>
            <a:spLocks xmlns:a="http://schemas.openxmlformats.org/drawingml/2006/main" noGrp="1"/>
          </p:cNvSpPr>
          <p:nvPr/>
        </p:nvSpPr>
        <p:spPr>
          <a:xfrm xmlns:a="http://schemas.openxmlformats.org/drawingml/2006/main">
            <a:off x="1828800" y="4345686"/>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This supports traceable behavior and controlled cost. Integration complexity, heuristic calibration and maintenance durability remain tradeoffs.</a:t>
            </a:r>
          </a:p>
        </p:txBody>
      </p:sp>
    </p:spTree>
    <p:extLst>
      <p:ext uri="{BB962C8B-B14F-4D97-AF65-F5344CB8AC3E}">
        <p14:creationId xmlns:p14="http://schemas.microsoft.com/office/powerpoint/2010/main" val="22304413"/>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52" name="Google Shape;152;g38215e9470b_0_46">
            <a:extLst xmlns:a="http://schemas.openxmlformats.org/drawingml/2006/main">
              <a:ext uri="{FF2B5EF4-FFF2-40B4-BE49-F238E27FC236}">
                <a16:creationId xmlns:a16="http://schemas.microsoft.com/office/drawing/2014/main" id="{8109882F-1ECA-494B-A0ED-840055165DB3}"/>
              </a:ext>
            </a:extLst>
          </p:cNvPr>
          <p:cNvSpPr>
            <a:spLocks xmlns:a="http://schemas.openxmlformats.org/drawingml/2006/main" noGrp="1"/>
          </p:cNvSpPr>
          <p:nvPr/>
        </p:nvSpPr>
        <p:spPr>
          <a:xfrm xmlns:a="http://schemas.openxmlformats.org/drawingml/2006/main">
            <a:off x="1828800" y="89000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Design benefits and drawbacks (1/2)</a:t>
            </a:r>
            <a:endParaRPr sz="2400" b="0" i="0" u="none" strike="noStrike" cap="none">
              <a:solidFill>
                <a:schemeClr val="dk1"/>
              </a:solidFill>
              <a:latin typeface="Calibri"/>
              <a:ea typeface="Calibri"/>
              <a:cs typeface="Calibri"/>
            </a:endParaRPr>
          </a:p>
        </p:txBody>
      </p:sp>
      <p:pic>
        <p:nvPicPr>
          <p:cNvPr id="154" name="Google Shape;154;g38215e9470b_0_46">
            <a:extLst xmlns:a="http://schemas.openxmlformats.org/drawingml/2006/main">
              <a:ext uri="{FF2B5EF4-FFF2-40B4-BE49-F238E27FC236}">
                <a16:creationId xmlns:a16="http://schemas.microsoft.com/office/drawing/2014/main" id="{CD6C393E-DC1B-4714-8F42-C41AEE09328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19f32e4573541ed">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55" name="Google Shape;155;g38215e9470b_0_46">
            <a:extLst xmlns:a="http://schemas.openxmlformats.org/drawingml/2006/main">
              <a:ext uri="{FF2B5EF4-FFF2-40B4-BE49-F238E27FC236}">
                <a16:creationId xmlns:a16="http://schemas.microsoft.com/office/drawing/2014/main" id="{49A71121-A0D6-4122-AFA0-7E8A23425EE1}"/>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56" name="Google Shape;156;g38215e9470b_0_46">
            <a:extLst xmlns:a="http://schemas.openxmlformats.org/drawingml/2006/main">
              <a:ext uri="{FF2B5EF4-FFF2-40B4-BE49-F238E27FC236}">
                <a16:creationId xmlns:a16="http://schemas.microsoft.com/office/drawing/2014/main" id="{275321DD-47F4-47D0-9BFB-A763AA2EC345}"/>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57" name="">
            <a:extLst xmlns:a="http://schemas.openxmlformats.org/drawingml/2006/main">
              <a:ext uri="{FF2B5EF4-FFF2-40B4-BE49-F238E27FC236}">
                <a16:creationId xmlns:a16="http://schemas.microsoft.com/office/drawing/2014/main" id="{66FC14F9-9079-43DB-8618-FE6E40F83F95}"/>
              </a:ext>
            </a:extLst>
          </p:cNvPr>
          <p:cNvGraphicFramePr/>
          <p:nvPr/>
        </p:nvGraphicFramePr>
        <p:xfrm>
          <a:off xmlns:a="http://schemas.openxmlformats.org/drawingml/2006/main" x="1828800" y="1752600"/>
          <a:ext xmlns:a="http://schemas.openxmlformats.org/drawingml/2006/main" cx="9067800" cy="37147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Decision</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Benefit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Tradeoff</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Typed boundary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Shared validation and result semantics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Substantial runtime assembly</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Explicit routes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Skip irrelevant work</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Keep routes/diagnostics synchronized</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Workflow corrections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Bound work and avoid mutation loops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Conditional integration logic</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Hybrid evidence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Multiple retrieval cues with provenance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Tune scores and measure cost</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2230441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52" name="Google Shape;152;g38215e9470b_0_46">
            <a:extLst xmlns:a="http://schemas.openxmlformats.org/drawingml/2006/main">
              <a:ext uri="{FF2B5EF4-FFF2-40B4-BE49-F238E27FC236}">
                <a16:creationId xmlns:a16="http://schemas.microsoft.com/office/drawing/2014/main" id="{8109882F-1ECA-494B-A0ED-840055165DB3}"/>
              </a:ext>
            </a:extLst>
          </p:cNvPr>
          <p:cNvSpPr>
            <a:spLocks xmlns:a="http://schemas.openxmlformats.org/drawingml/2006/main" noGrp="1"/>
          </p:cNvSpPr>
          <p:nvPr/>
        </p:nvSpPr>
        <p:spPr>
          <a:xfrm xmlns:a="http://schemas.openxmlformats.org/drawingml/2006/main">
            <a:off x="1828800" y="89000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Design benefits and drawbacks (2/2)</a:t>
            </a:r>
            <a:endParaRPr sz="2400" b="0" i="0" u="none" strike="noStrike" cap="none">
              <a:solidFill>
                <a:schemeClr val="dk1"/>
              </a:solidFill>
              <a:latin typeface="Calibri"/>
              <a:ea typeface="Calibri"/>
              <a:cs typeface="Calibri"/>
            </a:endParaRPr>
          </a:p>
        </p:txBody>
      </p:sp>
      <p:pic>
        <p:nvPicPr>
          <p:cNvPr id="154" name="Google Shape;154;g38215e9470b_0_46">
            <a:extLst xmlns:a="http://schemas.openxmlformats.org/drawingml/2006/main">
              <a:ext uri="{FF2B5EF4-FFF2-40B4-BE49-F238E27FC236}">
                <a16:creationId xmlns:a16="http://schemas.microsoft.com/office/drawing/2014/main" id="{CD6C393E-DC1B-4714-8F42-C41AEE09328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3e022be5bfb4fc6">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55" name="Google Shape;155;g38215e9470b_0_46">
            <a:extLst xmlns:a="http://schemas.openxmlformats.org/drawingml/2006/main">
              <a:ext uri="{FF2B5EF4-FFF2-40B4-BE49-F238E27FC236}">
                <a16:creationId xmlns:a16="http://schemas.microsoft.com/office/drawing/2014/main" id="{49A71121-A0D6-4122-AFA0-7E8A23425EE1}"/>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56" name="Google Shape;156;g38215e9470b_0_46">
            <a:extLst xmlns:a="http://schemas.openxmlformats.org/drawingml/2006/main">
              <a:ext uri="{FF2B5EF4-FFF2-40B4-BE49-F238E27FC236}">
                <a16:creationId xmlns:a16="http://schemas.microsoft.com/office/drawing/2014/main" id="{275321DD-47F4-47D0-9BFB-A763AA2EC345}"/>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57" name="">
            <a:extLst xmlns:a="http://schemas.openxmlformats.org/drawingml/2006/main">
              <a:ext uri="{FF2B5EF4-FFF2-40B4-BE49-F238E27FC236}">
                <a16:creationId xmlns:a16="http://schemas.microsoft.com/office/drawing/2014/main" id="{1ABB86AA-F7EA-48AB-A71D-CC1E1BDA800B}"/>
              </a:ext>
            </a:extLst>
          </p:cNvPr>
          <p:cNvGraphicFramePr/>
          <p:nvPr/>
        </p:nvGraphicFramePr>
        <p:xfrm>
          <a:off xmlns:a="http://schemas.openxmlformats.org/drawingml/2006/main" x="1828800" y="1752600"/>
          <a:ext xmlns:a="http://schemas.openxmlformats.org/drawingml/2006/main" cx="9067800" cy="13144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Decision</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Benefit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Tradeoff</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Background work</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Separate expensive maintenance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Backpressure, recovery and barriers</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22304413"/>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52" name="Google Shape;152;g38215e9470b_0_46">
            <a:extLst xmlns:a="http://schemas.openxmlformats.org/drawingml/2006/main">
              <a:ext uri="{FF2B5EF4-FFF2-40B4-BE49-F238E27FC236}">
                <a16:creationId xmlns:a16="http://schemas.microsoft.com/office/drawing/2014/main" id="{8109882F-1ECA-494B-A0ED-840055165DB3}"/>
              </a:ext>
            </a:extLst>
          </p:cNvPr>
          <p:cNvSpPr>
            <a:spLocks xmlns:a="http://schemas.openxmlformats.org/drawingml/2006/main" noGrp="1"/>
          </p:cNvSpPr>
          <p:nvPr/>
        </p:nvSpPr>
        <p:spPr>
          <a:xfrm xmlns:a="http://schemas.openxmlformats.org/drawingml/2006/main">
            <a:off x="1828800" y="89000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Alternative design approaches (1/2)</a:t>
            </a:r>
            <a:endParaRPr sz="2400" b="0" i="0" u="none" strike="noStrike" cap="none">
              <a:solidFill>
                <a:schemeClr val="dk1"/>
              </a:solidFill>
              <a:latin typeface="Calibri"/>
              <a:ea typeface="Calibri"/>
              <a:cs typeface="Calibri"/>
            </a:endParaRPr>
          </a:p>
        </p:txBody>
      </p:sp>
      <p:pic>
        <p:nvPicPr>
          <p:cNvPr id="154" name="Google Shape;154;g38215e9470b_0_46">
            <a:extLst xmlns:a="http://schemas.openxmlformats.org/drawingml/2006/main">
              <a:ext uri="{FF2B5EF4-FFF2-40B4-BE49-F238E27FC236}">
                <a16:creationId xmlns:a16="http://schemas.microsoft.com/office/drawing/2014/main" id="{CD6C393E-DC1B-4714-8F42-C41AEE09328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66a25ee458c454a">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55" name="Google Shape;155;g38215e9470b_0_46">
            <a:extLst xmlns:a="http://schemas.openxmlformats.org/drawingml/2006/main">
              <a:ext uri="{FF2B5EF4-FFF2-40B4-BE49-F238E27FC236}">
                <a16:creationId xmlns:a16="http://schemas.microsoft.com/office/drawing/2014/main" id="{49A71121-A0D6-4122-AFA0-7E8A23425EE1}"/>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56" name="Google Shape;156;g38215e9470b_0_46">
            <a:extLst xmlns:a="http://schemas.openxmlformats.org/drawingml/2006/main">
              <a:ext uri="{FF2B5EF4-FFF2-40B4-BE49-F238E27FC236}">
                <a16:creationId xmlns:a16="http://schemas.microsoft.com/office/drawing/2014/main" id="{275321DD-47F4-47D0-9BFB-A763AA2EC345}"/>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57" name="">
            <a:extLst xmlns:a="http://schemas.openxmlformats.org/drawingml/2006/main">
              <a:ext uri="{FF2B5EF4-FFF2-40B4-BE49-F238E27FC236}">
                <a16:creationId xmlns:a16="http://schemas.microsoft.com/office/drawing/2014/main" id="{67A7A34A-A4E5-429A-AF31-E9A2F54885F7}"/>
              </a:ext>
            </a:extLst>
          </p:cNvPr>
          <p:cNvGraphicFramePr/>
          <p:nvPr/>
        </p:nvGraphicFramePr>
        <p:xfrm>
          <a:off xmlns:a="http://schemas.openxmlformats.org/drawingml/2006/main" x="1828800" y="1752600"/>
          <a:ext xmlns:a="http://schemas.openxmlformats.org/drawingml/2006/main" cx="9067800" cy="342900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Alternative</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Strength</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Comparison need</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Model only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Lowest surrounding complexity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No private-memory access unless supplied</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Long-context history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Simple direct evidence access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Context fit, quality and cost</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Simple RAG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Smaller retrieval system</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Full PRIMA must justify added cost</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Always run modules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One fixed sequence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Unnecessary work on short tasks</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22304413"/>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152" name="Google Shape;152;g38215e9470b_0_46">
            <a:extLst xmlns:a="http://schemas.openxmlformats.org/drawingml/2006/main">
              <a:ext uri="{FF2B5EF4-FFF2-40B4-BE49-F238E27FC236}">
                <a16:creationId xmlns:a16="http://schemas.microsoft.com/office/drawing/2014/main" id="{8109882F-1ECA-494B-A0ED-840055165DB3}"/>
              </a:ext>
            </a:extLst>
          </p:cNvPr>
          <p:cNvSpPr>
            <a:spLocks xmlns:a="http://schemas.openxmlformats.org/drawingml/2006/main" noGrp="1"/>
          </p:cNvSpPr>
          <p:nvPr/>
        </p:nvSpPr>
        <p:spPr>
          <a:xfrm xmlns:a="http://schemas.openxmlformats.org/drawingml/2006/main">
            <a:off x="1828800" y="89000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Alternative design approaches (2/2)</a:t>
            </a:r>
            <a:endParaRPr sz="2400" b="0" i="0" u="none" strike="noStrike" cap="none">
              <a:solidFill>
                <a:schemeClr val="dk1"/>
              </a:solidFill>
              <a:latin typeface="Calibri"/>
              <a:ea typeface="Calibri"/>
              <a:cs typeface="Calibri"/>
            </a:endParaRPr>
          </a:p>
        </p:txBody>
      </p:sp>
      <p:pic>
        <p:nvPicPr>
          <p:cNvPr id="154" name="Google Shape;154;g38215e9470b_0_46">
            <a:extLst xmlns:a="http://schemas.openxmlformats.org/drawingml/2006/main">
              <a:ext uri="{FF2B5EF4-FFF2-40B4-BE49-F238E27FC236}">
                <a16:creationId xmlns:a16="http://schemas.microsoft.com/office/drawing/2014/main" id="{CD6C393E-DC1B-4714-8F42-C41AEE09328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ec215422358428f">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55" name="Google Shape;155;g38215e9470b_0_46">
            <a:extLst xmlns:a="http://schemas.openxmlformats.org/drawingml/2006/main">
              <a:ext uri="{FF2B5EF4-FFF2-40B4-BE49-F238E27FC236}">
                <a16:creationId xmlns:a16="http://schemas.microsoft.com/office/drawing/2014/main" id="{49A71121-A0D6-4122-AFA0-7E8A23425EE1}"/>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56" name="Google Shape;156;g38215e9470b_0_46">
            <a:extLst xmlns:a="http://schemas.openxmlformats.org/drawingml/2006/main">
              <a:ext uri="{FF2B5EF4-FFF2-40B4-BE49-F238E27FC236}">
                <a16:creationId xmlns:a16="http://schemas.microsoft.com/office/drawing/2014/main" id="{275321DD-47F4-47D0-9BFB-A763AA2EC345}"/>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57" name="">
            <a:extLst xmlns:a="http://schemas.openxmlformats.org/drawingml/2006/main">
              <a:ext uri="{FF2B5EF4-FFF2-40B4-BE49-F238E27FC236}">
                <a16:creationId xmlns:a16="http://schemas.microsoft.com/office/drawing/2014/main" id="{80A6A1AE-D6D9-4F13-8DCD-278521F8509A}"/>
              </a:ext>
            </a:extLst>
          </p:cNvPr>
          <p:cNvGraphicFramePr/>
          <p:nvPr/>
        </p:nvGraphicFramePr>
        <p:xfrm>
          <a:off xmlns:a="http://schemas.openxmlformats.org/drawingml/2006/main" x="1828800" y="1752600"/>
          <a:ext xmlns:a="http://schemas.openxmlformats.org/drawingml/2006/main" cx="9067800" cy="13144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Alternative</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Strength</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Comparison need</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Fine-tuned model</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Task specialization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Training resources and generalization evidence</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22304413"/>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52" name="Google Shape;152;g38215e9470b_0_46">
            <a:extLst xmlns:a="http://schemas.openxmlformats.org/drawingml/2006/main">
              <a:ext uri="{FF2B5EF4-FFF2-40B4-BE49-F238E27FC236}">
                <a16:creationId xmlns:a16="http://schemas.microsoft.com/office/drawing/2014/main" id="{8109882F-1ECA-494B-A0ED-840055165DB3}"/>
              </a:ext>
            </a:extLst>
          </p:cNvPr>
          <p:cNvSpPr>
            <a:spLocks xmlns:a="http://schemas.openxmlformats.org/drawingml/2006/main" noGrp="1"/>
          </p:cNvSpPr>
          <p:nvPr/>
        </p:nvSpPr>
        <p:spPr>
          <a:xfrm xmlns:a="http://schemas.openxmlformats.org/drawingml/2006/main">
            <a:off x="1828800" y="89000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Technology stack and active backends</a:t>
            </a:r>
            <a:endParaRPr sz="2400" b="0" i="0" u="none" strike="noStrike" cap="none">
              <a:solidFill>
                <a:schemeClr val="dk1"/>
              </a:solidFill>
              <a:latin typeface="Calibri"/>
              <a:ea typeface="Calibri"/>
              <a:cs typeface="Calibri"/>
            </a:endParaRPr>
          </a:p>
        </p:txBody>
      </p:sp>
      <p:pic>
        <p:nvPicPr>
          <p:cNvPr id="154" name="Google Shape;154;g38215e9470b_0_46">
            <a:extLst xmlns:a="http://schemas.openxmlformats.org/drawingml/2006/main">
              <a:ext uri="{FF2B5EF4-FFF2-40B4-BE49-F238E27FC236}">
                <a16:creationId xmlns:a16="http://schemas.microsoft.com/office/drawing/2014/main" id="{CD6C393E-DC1B-4714-8F42-C41AEE09328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cd4fd6607b64cd7">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55" name="Google Shape;155;g38215e9470b_0_46">
            <a:extLst xmlns:a="http://schemas.openxmlformats.org/drawingml/2006/main">
              <a:ext uri="{FF2B5EF4-FFF2-40B4-BE49-F238E27FC236}">
                <a16:creationId xmlns:a16="http://schemas.microsoft.com/office/drawing/2014/main" id="{49A71121-A0D6-4122-AFA0-7E8A23425EE1}"/>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56" name="Google Shape;156;g38215e9470b_0_46">
            <a:extLst xmlns:a="http://schemas.openxmlformats.org/drawingml/2006/main">
              <a:ext uri="{FF2B5EF4-FFF2-40B4-BE49-F238E27FC236}">
                <a16:creationId xmlns:a16="http://schemas.microsoft.com/office/drawing/2014/main" id="{275321DD-47F4-47D0-9BFB-A763AA2EC345}"/>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57" name="">
            <a:extLst xmlns:a="http://schemas.openxmlformats.org/drawingml/2006/main">
              <a:ext uri="{FF2B5EF4-FFF2-40B4-BE49-F238E27FC236}">
                <a16:creationId xmlns:a16="http://schemas.microsoft.com/office/drawing/2014/main" id="{78FC648E-C4A1-45ED-87F7-93C3EA435C2C}"/>
              </a:ext>
            </a:extLst>
          </p:cNvPr>
          <p:cNvGraphicFramePr/>
          <p:nvPr/>
        </p:nvGraphicFramePr>
        <p:xfrm>
          <a:off xmlns:a="http://schemas.openxmlformats.org/drawingml/2006/main" x="1828800" y="1752600"/>
          <a:ext xmlns:a="http://schemas.openxmlformats.org/drawingml/2006/main" cx="9067800" cy="3086100"/>
        </p:xfrm>
        <a:graphic xmlns:a="http://schemas.openxmlformats.org/drawingml/2006/main">
          <a:graphicData uri="http://schemas.openxmlformats.org/drawingml/2006/table">
            <a:tbl>
              <a:tblPr firstRow="1" bandRow="0"/>
              <a:tblGrid>
                <a:gridCol w="2476500"/>
                <a:gridCol w="659130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Area</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Technology</a:t>
                      </a:r>
                    </a:p>
                  </a:txBody>
                  <a:tcPr marL="95250" marR="95250" marT="95250" marB="95250" anchor="t">
                    <a:solidFill>
                      <a:srgbClr val="FFF2E0"/>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Contracts/runtime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Python 3.14, Pydantic, NumPy</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Storage/graph</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ChromaDB or explicit test memory, NetworkX</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Models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Sentence Transformers, PyTorch/Transformers, scikit-learn</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Provider boundary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Transport, rate limits, prompts and structured parsing in llm/</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Validation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Pytest, Ruff, Mypy, Xenon, Bandit</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22304413"/>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52" name="Google Shape;152;g38215e9470b_0_46">
            <a:extLst xmlns:a="http://schemas.openxmlformats.org/drawingml/2006/main">
              <a:ext uri="{FF2B5EF4-FFF2-40B4-BE49-F238E27FC236}">
                <a16:creationId xmlns:a16="http://schemas.microsoft.com/office/drawing/2014/main" id="{8109882F-1ECA-494B-A0ED-840055165DB3}"/>
              </a:ext>
            </a:extLst>
          </p:cNvPr>
          <p:cNvSpPr>
            <a:spLocks xmlns:a="http://schemas.openxmlformats.org/drawingml/2006/main" noGrp="1"/>
          </p:cNvSpPr>
          <p:nvPr/>
        </p:nvSpPr>
        <p:spPr>
          <a:xfrm xmlns:a="http://schemas.openxmlformats.org/drawingml/2006/main">
            <a:off x="1828800" y="89000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Current technical limits</a:t>
            </a:r>
            <a:endParaRPr sz="2400" b="0" i="0" u="none" strike="noStrike" cap="none">
              <a:solidFill>
                <a:schemeClr val="dk1"/>
              </a:solidFill>
              <a:latin typeface="Calibri"/>
              <a:ea typeface="Calibri"/>
              <a:cs typeface="Calibri"/>
            </a:endParaRPr>
          </a:p>
        </p:txBody>
      </p:sp>
      <p:pic>
        <p:nvPicPr>
          <p:cNvPr id="154" name="Google Shape;154;g38215e9470b_0_46">
            <a:extLst xmlns:a="http://schemas.openxmlformats.org/drawingml/2006/main">
              <a:ext uri="{FF2B5EF4-FFF2-40B4-BE49-F238E27FC236}">
                <a16:creationId xmlns:a16="http://schemas.microsoft.com/office/drawing/2014/main" id="{CD6C393E-DC1B-4714-8F42-C41AEE09328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586acf1bceb414b">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55" name="Google Shape;155;g38215e9470b_0_46">
            <a:extLst xmlns:a="http://schemas.openxmlformats.org/drawingml/2006/main">
              <a:ext uri="{FF2B5EF4-FFF2-40B4-BE49-F238E27FC236}">
                <a16:creationId xmlns:a16="http://schemas.microsoft.com/office/drawing/2014/main" id="{49A71121-A0D6-4122-AFA0-7E8A23425EE1}"/>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56" name="Google Shape;156;g38215e9470b_0_46">
            <a:extLst xmlns:a="http://schemas.openxmlformats.org/drawingml/2006/main">
              <a:ext uri="{FF2B5EF4-FFF2-40B4-BE49-F238E27FC236}">
                <a16:creationId xmlns:a16="http://schemas.microsoft.com/office/drawing/2014/main" id="{275321DD-47F4-47D0-9BFB-A763AA2EC345}"/>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57" name="Body paragraph 1">
            <a:extLst xmlns:a="http://schemas.openxmlformats.org/drawingml/2006/main">
              <a:ext uri="{FF2B5EF4-FFF2-40B4-BE49-F238E27FC236}">
                <a16:creationId xmlns:a16="http://schemas.microsoft.com/office/drawing/2014/main" id="{4A8EDC8E-EE27-4DB5-ADE4-EBF83B6FF5BC}"/>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Full QA gains and isolated affect/graph/reflection benefits are unproven. Package installation does not prove a backend or model was selected.</a:t>
            </a:r>
          </a:p>
        </p:txBody>
      </p:sp>
      <p:sp>
        <p:nvSpPr>
          <p:cNvPr id="158" name="Body paragraph 2">
            <a:extLst xmlns:a="http://schemas.openxmlformats.org/drawingml/2006/main">
              <a:ext uri="{FF2B5EF4-FFF2-40B4-BE49-F238E27FC236}">
                <a16:creationId xmlns:a16="http://schemas.microsoft.com/office/drawing/2014/main" id="{1AD66FDE-7BAD-4CC4-9D8A-3BCD0969B04E}"/>
              </a:ext>
            </a:extLst>
          </p:cNvPr>
          <p:cNvSpPr>
            <a:spLocks xmlns:a="http://schemas.openxmlformats.org/drawingml/2006/main" noGrp="1"/>
          </p:cNvSpPr>
          <p:nvPr/>
        </p:nvSpPr>
        <p:spPr>
          <a:xfrm xmlns:a="http://schemas.openxmlformats.org/drawingml/2006/main">
            <a:off x="1828800" y="3049143"/>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The dated audit reproduced repeated abstractions, stale graph edges and engine history shared across fresh states. Service deployment needs explicit user/store isolation.</a:t>
            </a:r>
          </a:p>
        </p:txBody>
      </p:sp>
      <p:sp>
        <p:nvSpPr>
          <p:cNvPr id="159" name="Body paragraph 3">
            <a:extLst xmlns:a="http://schemas.openxmlformats.org/drawingml/2006/main">
              <a:ext uri="{FF2B5EF4-FFF2-40B4-BE49-F238E27FC236}">
                <a16:creationId xmlns:a16="http://schemas.microsoft.com/office/drawing/2014/main" id="{BE7E0F97-702D-42F4-A979-0E26A89D88B0}"/>
              </a:ext>
            </a:extLst>
          </p:cNvPr>
          <p:cNvSpPr>
            <a:spLocks xmlns:a="http://schemas.openxmlformats.org/drawingml/2006/main" noGrp="1"/>
          </p:cNvSpPr>
          <p:nvPr/>
        </p:nvSpPr>
        <p:spPr>
          <a:xfrm xmlns:a="http://schemas.openxmlformats.org/drawingml/2006/main">
            <a:off x="1828800" y="4345686"/>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Pending work includes crash durability, commit boundaries, held-out calibration, reliable tool timeouts and side-effect idempotency. This remains research software.</a:t>
            </a:r>
          </a:p>
        </p:txBody>
      </p:sp>
    </p:spTree>
    <p:extLst>
      <p:ext uri="{BB962C8B-B14F-4D97-AF65-F5344CB8AC3E}">
        <p14:creationId xmlns:p14="http://schemas.microsoft.com/office/powerpoint/2010/main" val="22304413"/>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C7E2651F-9376-46A6-BD14-10277A61EF86}"/>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Demonstration and comparison</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9C8C06C-C5E2-4FE1-B80D-4F36C0ACF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6e94eb6561e4323">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541EECC9-7108-4B18-9502-981B320D41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B9C86CC9-3339-4AF6-A4B4-1338174DED8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66" name="Body paragraph 1">
            <a:extLst xmlns:a="http://schemas.openxmlformats.org/drawingml/2006/main">
              <a:ext uri="{FF2B5EF4-FFF2-40B4-BE49-F238E27FC236}">
                <a16:creationId xmlns:a16="http://schemas.microsoft.com/office/drawing/2014/main" id="{34FB74C9-D8C6-4AED-9AF5-EC6BB6D54F82}"/>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One synthetic Project Atlas story exercises ingestion, historical replay, affect, admission, retrieval, planning, uncertainty, reflection, generation, tools and maintenance.</a:t>
            </a:r>
          </a:p>
        </p:txBody>
      </p:sp>
      <p:sp>
        <p:nvSpPr>
          <p:cNvPr id="167" name="Body paragraph 2">
            <a:extLst xmlns:a="http://schemas.openxmlformats.org/drawingml/2006/main">
              <a:ext uri="{FF2B5EF4-FFF2-40B4-BE49-F238E27FC236}">
                <a16:creationId xmlns:a16="http://schemas.microsoft.com/office/drawing/2014/main" id="{AA70495B-36D5-4111-8EA6-DB5D6F280A55}"/>
              </a:ext>
            </a:extLst>
          </p:cNvPr>
          <p:cNvSpPr>
            <a:spLocks xmlns:a="http://schemas.openxmlformats.org/drawingml/2006/main" noGrp="1"/>
          </p:cNvSpPr>
          <p:nvPr/>
        </p:nvSpPr>
        <p:spPr>
          <a:xfrm xmlns:a="http://schemas.openxmlformats.org/drawingml/2006/main">
            <a:off x="1828800" y="3049143"/>
            <a:ext cx="9067800" cy="7722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The unified demo is a proposed specification. A single QA request cannot demonstrate all task routes.</a:t>
            </a:r>
          </a:p>
        </p:txBody>
      </p:sp>
      <p:sp>
        <p:nvSpPr>
          <p:cNvPr id="168" name="Body paragraph 3">
            <a:extLst xmlns:a="http://schemas.openxmlformats.org/drawingml/2006/main">
              <a:ext uri="{FF2B5EF4-FFF2-40B4-BE49-F238E27FC236}">
                <a16:creationId xmlns:a16="http://schemas.microsoft.com/office/drawing/2014/main" id="{F6FFFC91-DEF9-42C9-9B56-033DC4037F96}"/>
              </a:ext>
            </a:extLst>
          </p:cNvPr>
          <p:cNvSpPr>
            <a:spLocks xmlns:a="http://schemas.openxmlformats.org/drawingml/2006/main" noGrp="1"/>
          </p:cNvSpPr>
          <p:nvPr/>
        </p:nvSpPr>
        <p:spPr>
          <a:xfrm xmlns:a="http://schemas.openxmlformats.org/drawingml/2006/main">
            <a:off x="1828800" y="397383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Use a deterministic functional track for mechanism/fault branches and a separate real-model quality track. Keep scripted answers out of quality comparisons.</a:t>
            </a:r>
          </a:p>
        </p:txBody>
      </p:sp>
    </p:spTree>
    <p:extLst>
      <p:ext uri="{BB962C8B-B14F-4D97-AF65-F5344CB8AC3E}">
        <p14:creationId xmlns:p14="http://schemas.microsoft.com/office/powerpoint/2010/main" val="21779395"/>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C7E2651F-9376-46A6-BD14-10277A61EF86}"/>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Single-sample history</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9C8C06C-C5E2-4FE1-B80D-4F36C0ACF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29f9b2c911346fe">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541EECC9-7108-4B18-9502-981B320D41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B9C86CC9-3339-4AF6-A4B4-1338174DED8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66" name="">
            <a:extLst xmlns:a="http://schemas.openxmlformats.org/drawingml/2006/main">
              <a:ext uri="{FF2B5EF4-FFF2-40B4-BE49-F238E27FC236}">
                <a16:creationId xmlns:a16="http://schemas.microsoft.com/office/drawing/2014/main" id="{7564EE6E-1C2C-4565-A01A-7B2C2259C5E4}"/>
              </a:ext>
            </a:extLst>
          </p:cNvPr>
          <p:cNvGraphicFramePr/>
          <p:nvPr/>
        </p:nvGraphicFramePr>
        <p:xfrm>
          <a:off xmlns:a="http://schemas.openxmlformats.org/drawingml/2006/main" x="1828800" y="1752600"/>
          <a:ext xmlns:a="http://schemas.openxmlformats.org/drawingml/2006/main" cx="9067800" cy="3657600"/>
        </p:xfrm>
        <a:graphic xmlns:a="http://schemas.openxmlformats.org/drawingml/2006/main">
          <a:graphicData uri="http://schemas.openxmlformats.org/drawingml/2006/table">
            <a:tbl>
              <a:tblPr firstRow="1" bandRow="0"/>
              <a:tblGrid>
                <a:gridCol w="2476500"/>
                <a:gridCol w="659130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ID</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Synthetic source</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S1</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1 Sep: Alex works on Project Atlas. Mira is Alex's mentor. Remember the prototype goal.</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S2</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3 Sep: Mira's office is in Pune. She reviews Atlas every Friday.</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S3</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5 Sep: Alex now prefers concise summaries rather than long explanations.</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S4</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6 Sep: Alex feels anxious because the prototype is unfinished.</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S5</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7 Sep: Local checks passed. Alex feels excited and relieved.</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21779395"/>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C7E2651F-9376-46A6-BD14-10277A61EF86}"/>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Demo question and distractors</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9C8C06C-C5E2-4FE1-B80D-4F36C0ACF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2d7e29efac64fe1">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541EECC9-7108-4B18-9502-981B320D41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B9C86CC9-3339-4AF6-A4B4-1338174DED8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66" name="Body paragraph 1">
            <a:extLst xmlns:a="http://schemas.openxmlformats.org/drawingml/2006/main">
              <a:ext uri="{FF2B5EF4-FFF2-40B4-BE49-F238E27FC236}">
                <a16:creationId xmlns:a16="http://schemas.microsoft.com/office/drawing/2014/main" id="{E107F362-444A-41D8-8098-CE3478B5D5B4}"/>
              </a:ext>
            </a:extLst>
          </p:cNvPr>
          <p:cNvSpPr>
            <a:spLocks xmlns:a="http://schemas.openxmlformats.org/drawingml/2006/main" noGrp="1"/>
          </p:cNvSpPr>
          <p:nvPr/>
        </p:nvSpPr>
        <p:spPr>
          <a:xfrm xmlns:a="http://schemas.openxmlformats.org/drawingml/2006/main">
            <a:off x="1828800" y="1752600"/>
            <a:ext cx="9067800" cy="400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Question: "Which city is Alex's Project Atlas mentor based in?"</a:t>
            </a:r>
          </a:p>
        </p:txBody>
      </p:sp>
      <p:sp>
        <p:nvSpPr>
          <p:cNvPr id="167" name="Body paragraph 2">
            <a:extLst xmlns:a="http://schemas.openxmlformats.org/drawingml/2006/main">
              <a:ext uri="{FF2B5EF4-FFF2-40B4-BE49-F238E27FC236}">
                <a16:creationId xmlns:a16="http://schemas.microsoft.com/office/drawing/2014/main" id="{CB0CEF8D-2B60-4941-8075-AA25633DC810}"/>
              </a:ext>
            </a:extLst>
          </p:cNvPr>
          <p:cNvSpPr>
            <a:spLocks xmlns:a="http://schemas.openxmlformats.org/drawingml/2006/main" noGrp="1"/>
          </p:cNvSpPr>
          <p:nvPr/>
        </p:nvSpPr>
        <p:spPr>
          <a:xfrm xmlns:a="http://schemas.openxmlformats.org/drawingml/2006/main">
            <a:off x="1828800" y="2305431"/>
            <a:ext cx="9067800" cy="7722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Evaluator-owned answer: Pune. Supporting relation chain: Alex has mentor Mira (S1), and Mira is based in Pune (S2).</a:t>
            </a:r>
          </a:p>
        </p:txBody>
      </p:sp>
      <p:sp>
        <p:nvSpPr>
          <p:cNvPr id="168" name="Body paragraph 3">
            <a:extLst xmlns:a="http://schemas.openxmlformats.org/drawingml/2006/main">
              <a:ext uri="{FF2B5EF4-FFF2-40B4-BE49-F238E27FC236}">
                <a16:creationId xmlns:a16="http://schemas.microsoft.com/office/drawing/2014/main" id="{7878113F-CE68-4010-9E6B-F75C084DBF9B}"/>
              </a:ext>
            </a:extLst>
          </p:cNvPr>
          <p:cNvSpPr>
            <a:spLocks xmlns:a="http://schemas.openxmlformats.org/drawingml/2006/main" noGrp="1"/>
          </p:cNvSpPr>
          <p:nvPr/>
        </p:nvSpPr>
        <p:spPr>
          <a:xfrm xmlns:a="http://schemas.openxmlformats.org/drawingml/2006/main">
            <a:off x="1828800" y="3230118"/>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Distractors mention Dev/Project Beacon in Mumbai and an unrelated Atlas travel brochure. The current lexical verifier may reject the multi-hop wording. Record that failure rather than altering only one profile's question.</a:t>
            </a:r>
          </a:p>
        </p:txBody>
      </p:sp>
    </p:spTree>
    <p:extLst>
      <p:ext uri="{BB962C8B-B14F-4D97-AF65-F5344CB8AC3E}">
        <p14:creationId xmlns:p14="http://schemas.microsoft.com/office/powerpoint/2010/main" val="21779395"/>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C7E2651F-9376-46A6-BD14-10277A61EF86}"/>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Demo sequence: preparation and memory (1/2)</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9C8C06C-C5E2-4FE1-B80D-4F36C0ACF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2ce7198b3cb40d1">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541EECC9-7108-4B18-9502-981B320D41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B9C86CC9-3339-4AF6-A4B4-1338174DED8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66" name="">
            <a:extLst xmlns:a="http://schemas.openxmlformats.org/drawingml/2006/main">
              <a:ext uri="{FF2B5EF4-FFF2-40B4-BE49-F238E27FC236}">
                <a16:creationId xmlns:a16="http://schemas.microsoft.com/office/drawing/2014/main" id="{6F712390-50E7-4A34-A7BC-40BE70975859}"/>
              </a:ext>
            </a:extLst>
          </p:cNvPr>
          <p:cNvGraphicFramePr/>
          <p:nvPr/>
        </p:nvGraphicFramePr>
        <p:xfrm>
          <a:off xmlns:a="http://schemas.openxmlformats.org/drawingml/2006/main" x="1828800" y="1752600"/>
          <a:ext xmlns:a="http://schemas.openxmlformats.org/drawingml/2006/main" cx="9067800" cy="342900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Step</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Request / operation</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Visible evidence</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0. Setup</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Freeze commit, sample, seed, backends/model</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Identity manifest and isolated stores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1. Rejection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Invalid route / reserved control field</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Rejection before unintended work</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2. History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Ingest fixed store, replay separately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IDs/provenance, no generated reply</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3. Affect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Process S4 then S5</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Labels, PAD, momentum/history</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21779395"/>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C7E2651F-9376-46A6-BD14-10277A61EF86}"/>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Demo sequence: preparation and memory (2/2)</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9C8C06C-C5E2-4FE1-B80D-4F36C0ACF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ac9b60e218b4049">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541EECC9-7108-4B18-9502-981B320D41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B9C86CC9-3339-4AF6-A4B4-1338174DED8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66" name="">
            <a:extLst xmlns:a="http://schemas.openxmlformats.org/drawingml/2006/main">
              <a:ext uri="{FF2B5EF4-FFF2-40B4-BE49-F238E27FC236}">
                <a16:creationId xmlns:a16="http://schemas.microsoft.com/office/drawing/2014/main" id="{81C58B95-68D9-4284-A3A1-F692F7600A62}"/>
              </a:ext>
            </a:extLst>
          </p:cNvPr>
          <p:cNvGraphicFramePr/>
          <p:nvPr/>
        </p:nvGraphicFramePr>
        <p:xfrm>
          <a:off xmlns:a="http://schemas.openxmlformats.org/drawingml/2006/main" x="1828800" y="1752600"/>
          <a:ext xmlns:a="http://schemas.openxmlformats.org/drawingml/2006/main" cx="9067800" cy="13144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Step</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Request / operation</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Visible evidence</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4. Admission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Inspect important and low-value turns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Score, threshold and store decision</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21779395"/>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C7E2651F-9376-46A6-BD14-10277A61EF86}"/>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Demo sequence: reasoning and actions (1/2)</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9C8C06C-C5E2-4FE1-B80D-4F36C0ACF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6521415941742ce">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541EECC9-7108-4B18-9502-981B320D41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B9C86CC9-3339-4AF6-A4B4-1338174DED8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66" name="">
            <a:extLst xmlns:a="http://schemas.openxmlformats.org/drawingml/2006/main">
              <a:ext uri="{FF2B5EF4-FFF2-40B4-BE49-F238E27FC236}">
                <a16:creationId xmlns:a16="http://schemas.microsoft.com/office/drawing/2014/main" id="{7D819127-9B92-478F-AAB1-340B5C4476A2}"/>
              </a:ext>
            </a:extLst>
          </p:cNvPr>
          <p:cNvGraphicFramePr/>
          <p:nvPr/>
        </p:nvGraphicFramePr>
        <p:xfrm>
          <a:off xmlns:a="http://schemas.openxmlformats.org/drawingml/2006/main" x="1828800" y="1752600"/>
          <a:ext xmlns:a="http://schemas.openxmlformats.org/drawingml/2006/main" cx="9067800" cy="37147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Step</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Request / operation</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Visible evidence</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5. Paired QA</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Same question in fresh profile instances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Answer/abstention, evidence, calls/cost</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6. Retrieval</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Expand full-route trace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Candidates, fusion, rerank, context loss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7. Cognitive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Inspect full conversation/tool route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Plan, symbolic prediction, decision</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8. Reflection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Natural trigger, then labeled injection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Advice, budget and before/after state</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21779395"/>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C7E2651F-9376-46A6-BD14-10277A61EF86}"/>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Demo sequence: reasoning and actions (2/2)</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9C8C06C-C5E2-4FE1-B80D-4F36C0ACF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786d8f049a24e5f">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541EECC9-7108-4B18-9502-981B320D41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B9C86CC9-3339-4AF6-A4B4-1338174DED8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66" name="">
            <a:extLst xmlns:a="http://schemas.openxmlformats.org/drawingml/2006/main">
              <a:ext uri="{FF2B5EF4-FFF2-40B4-BE49-F238E27FC236}">
                <a16:creationId xmlns:a16="http://schemas.microsoft.com/office/drawing/2014/main" id="{D8131874-B006-43C9-A822-C990364FF044}"/>
              </a:ext>
            </a:extLst>
          </p:cNvPr>
          <p:cNvGraphicFramePr/>
          <p:nvPr/>
        </p:nvGraphicFramePr>
        <p:xfrm>
          <a:off xmlns:a="http://schemas.openxmlformats.org/drawingml/2006/main" x="1828800" y="1752600"/>
          <a:ext xmlns:a="http://schemas.openxmlformats.org/drawingml/2006/main" cx="9067800" cy="13144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Step</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Request / operation</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Visible evidence</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9. Tool</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Harmless local handler, valid/blocked cases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Schema, policy, typed result/audit</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21779395"/>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C7E2651F-9376-46A6-BD14-10277A61EF86}"/>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Demo sequence: output and completion</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9C8C06C-C5E2-4FE1-B80D-4F36C0ACF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60bf2f031574cb3">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541EECC9-7108-4B18-9502-981B320D41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B9C86CC9-3339-4AF6-A4B4-1338174DED8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66" name="">
            <a:extLst xmlns:a="http://schemas.openxmlformats.org/drawingml/2006/main">
              <a:ext uri="{FF2B5EF4-FFF2-40B4-BE49-F238E27FC236}">
                <a16:creationId xmlns:a16="http://schemas.microsoft.com/office/drawing/2014/main" id="{2B5EBCFA-A02E-45B2-AA49-3BB72F2EE2EF}"/>
              </a:ext>
            </a:extLst>
          </p:cNvPr>
          <p:cNvGraphicFramePr/>
          <p:nvPr/>
        </p:nvGraphicFramePr>
        <p:xfrm>
          <a:off xmlns:a="http://schemas.openxmlformats.org/drawingml/2006/main" x="1828800" y="1752600"/>
          <a:ext xmlns:a="http://schemas.openxmlformats.org/drawingml/2006/main" cx="9067800" cy="29146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Step</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Request / operation</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Visible evidence</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10. Generation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Parse answer/citations, force malformed output separately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Actual answer or explicit failure</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11. Maintenance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Inspect state version and await barrier</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Admitted/completed/failed work</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12. Export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Save manifest, responses, traces and scoring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One credential-free reproducible bundle</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21779395"/>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C7E2651F-9376-46A6-BD14-10277A61EF86}"/>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Fair comparison protocols</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9C8C06C-C5E2-4FE1-B80D-4F36C0ACF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ff2be0adacc4705">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541EECC9-7108-4B18-9502-981B320D41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B9C86CC9-3339-4AF6-A4B4-1338174DED8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66" name="">
            <a:extLst xmlns:a="http://schemas.openxmlformats.org/drawingml/2006/main">
              <a:ext uri="{FF2B5EF4-FFF2-40B4-BE49-F238E27FC236}">
                <a16:creationId xmlns:a16="http://schemas.microsoft.com/office/drawing/2014/main" id="{59DAF54A-AAF6-449A-BCB0-9EA6CFEF7A07}"/>
              </a:ext>
            </a:extLst>
          </p:cNvPr>
          <p:cNvGraphicFramePr/>
          <p:nvPr/>
        </p:nvGraphicFramePr>
        <p:xfrm>
          <a:off xmlns:a="http://schemas.openxmlformats.org/drawingml/2006/main" x="1828800" y="1752600"/>
          <a:ext xmlns:a="http://schemas.openxmlformats.org/drawingml/2006/main" cx="9067800" cy="320040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Protocol</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What changes</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What it measures</a:t>
                      </a:r>
                    </a:p>
                  </a:txBody>
                  <a:tcPr marL="95250" marR="95250" marT="95250" marB="95250" anchor="t">
                    <a:solidFill>
                      <a:srgbClr val="FFF2E0"/>
                    </a:solidFill>
                  </a:tcPr>
                </a:tc>
              </a:tr>
              <a:tr h="1085850">
                <a:tc>
                  <a:txBody>
                    <a:bodyPr wrap="square" lIns="95250" tIns="95250" rIns="95250" bIns="95250">
                      <a:noAutofit/>
                    </a:bodyPr>
                    <a:lstStyle/>
                    <a:p>
                      <a:pPr algn="l"/>
                      <a:r>
                        <a:rPr sz="1800" b="0">
                          <a:solidFill>
                            <a:srgbClr val="E48312"/>
                          </a:solidFill>
                          <a:latin typeface="Trebuchet MS"/>
                          <a:ea typeface="Trebuchet MS"/>
                          <a:cs typeface="Trebuchet MS"/>
                        </a:rPr>
                        <a:t>Fixed-store comparison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Model-only / simple RAG / full, same declared source opportunity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Route-level retrieval/control differences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Memory formation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Identical replay, declared admission policies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Combined formation and later QA</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Component ablation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Disable one feature, hold the rest fixed</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Contribution of affect, graph or reflection</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21779395"/>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C7E2651F-9376-46A6-BD14-10277A61EF86}"/>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Paired comparison controls</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9C8C06C-C5E2-4FE1-B80D-4F36C0ACF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b1266cef18e4253">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541EECC9-7108-4B18-9502-981B320D41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B9C86CC9-3339-4AF6-A4B4-1338174DED8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66" name="Body paragraph 1">
            <a:extLst xmlns:a="http://schemas.openxmlformats.org/drawingml/2006/main">
              <a:ext uri="{FF2B5EF4-FFF2-40B4-BE49-F238E27FC236}">
                <a16:creationId xmlns:a16="http://schemas.microsoft.com/office/drawing/2014/main" id="{9E47F2B0-56BF-44E9-A02B-00B8D466E0F6}"/>
              </a:ext>
            </a:extLst>
          </p:cNvPr>
          <p:cNvSpPr>
            <a:spLocks xmlns:a="http://schemas.openxmlformats.org/drawingml/2006/main" noGrp="1"/>
          </p:cNvSpPr>
          <p:nvPr/>
        </p:nvSpPr>
        <p:spPr>
          <a:xfrm xmlns:a="http://schemas.openxmlformats.org/drawingml/2006/main">
            <a:off x="1828800" y="1752600"/>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Fix model/revision, source IDs/order, seed, generation settings, context, retries, scorer and environment. Reset stores/state between variants and record warm/cold model state.</a:t>
            </a:r>
          </a:p>
        </p:txBody>
      </p:sp>
      <p:sp>
        <p:nvSpPr>
          <p:cNvPr id="167" name="Body paragraph 2">
            <a:extLst xmlns:a="http://schemas.openxmlformats.org/drawingml/2006/main">
              <a:ext uri="{FF2B5EF4-FFF2-40B4-BE49-F238E27FC236}">
                <a16:creationId xmlns:a16="http://schemas.microsoft.com/office/drawing/2014/main" id="{DB002E16-D2CA-4155-9669-A873515AA11C}"/>
              </a:ext>
            </a:extLst>
          </p:cNvPr>
          <p:cNvSpPr>
            <a:spLocks xmlns:a="http://schemas.openxmlformats.org/drawingml/2006/main" noGrp="1"/>
          </p:cNvSpPr>
          <p:nvPr/>
        </p:nvSpPr>
        <p:spPr>
          <a:xfrm xmlns:a="http://schemas.openxmlformats.org/drawingml/2006/main">
            <a:off x="1828800" y="3420999"/>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Model-only is a declared no-retrieval baseline. A separately labeled long-context baseline can receive the same history explicitly.</a:t>
            </a:r>
          </a:p>
        </p:txBody>
      </p:sp>
      <p:sp>
        <p:nvSpPr>
          <p:cNvPr id="168" name="Body paragraph 3">
            <a:extLst xmlns:a="http://schemas.openxmlformats.org/drawingml/2006/main">
              <a:ext uri="{FF2B5EF4-FFF2-40B4-BE49-F238E27FC236}">
                <a16:creationId xmlns:a16="http://schemas.microsoft.com/office/drawing/2014/main" id="{7C33BDEE-2B76-495F-8755-13AB184D8999}"/>
              </a:ext>
            </a:extLst>
          </p:cNvPr>
          <p:cNvSpPr>
            <a:spLocks xmlns:a="http://schemas.openxmlformats.org/drawingml/2006/main" noGrp="1"/>
          </p:cNvSpPr>
          <p:nvPr/>
        </p:nvSpPr>
        <p:spPr>
          <a:xfrm xmlns:a="http://schemas.openxmlformats.org/drawingml/2006/main">
            <a:off x="1828800" y="4717542"/>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Profiles are not automatically single-component ablations. Tune on development cases and freeze settings before held-out evaluation.</a:t>
            </a:r>
          </a:p>
        </p:txBody>
      </p:sp>
    </p:spTree>
    <p:extLst>
      <p:ext uri="{BB962C8B-B14F-4D97-AF65-F5344CB8AC3E}">
        <p14:creationId xmlns:p14="http://schemas.microsoft.com/office/powerpoint/2010/main" val="21779395"/>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C7E2651F-9376-46A6-BD14-10277A61EF86}"/>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Demonstration comparison status</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9C8C06C-C5E2-4FE1-B80D-4F36C0ACF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eddbd9eac954f7f">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541EECC9-7108-4B18-9502-981B320D41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B9C86CC9-3339-4AF6-A4B4-1338174DED8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66" name="">
            <a:extLst xmlns:a="http://schemas.openxmlformats.org/drawingml/2006/main">
              <a:ext uri="{FF2B5EF4-FFF2-40B4-BE49-F238E27FC236}">
                <a16:creationId xmlns:a16="http://schemas.microsoft.com/office/drawing/2014/main" id="{873EEEAB-DD00-486A-AAB5-B5E1F6A2CACE}"/>
              </a:ext>
            </a:extLst>
          </p:cNvPr>
          <p:cNvGraphicFramePr/>
          <p:nvPr/>
        </p:nvGraphicFramePr>
        <p:xfrm>
          <a:off xmlns:a="http://schemas.openxmlformats.org/drawingml/2006/main" x="1828800" y="1752600"/>
          <a:ext xmlns:a="http://schemas.openxmlformats.org/drawingml/2006/main" cx="9067800" cy="4171950"/>
        </p:xfrm>
        <a:graphic xmlns:a="http://schemas.openxmlformats.org/drawingml/2006/main">
          <a:graphicData uri="http://schemas.openxmlformats.org/drawingml/2006/table">
            <a:tbl>
              <a:tblPr firstRow="1" bandRow="0"/>
              <a:tblGrid>
                <a:gridCol w="2381250"/>
                <a:gridCol w="2228850"/>
                <a:gridCol w="2228850"/>
                <a:gridCol w="222885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Measure</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Model only</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Simple RAG</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Full PRIMA</a:t>
                      </a:r>
                    </a:p>
                  </a:txBody>
                  <a:tcPr marL="95250" marR="95250" marT="95250" marB="95250" anchor="t">
                    <a:solidFill>
                      <a:srgbClr val="FFF2E0"/>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Answer / EM / F1</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Pending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Pending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Pending</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Outcome / citations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Pending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Pending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Pending</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Source recall</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No retrieval</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Pending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Pending</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Retrieval calls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Expected zero</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Pending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Pending</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Model calls / tokens / latency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Pending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Pending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Pending</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Maintenance / correction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Task dependent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Task dependent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Pending</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21779395"/>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C7E2651F-9376-46A6-BD14-10277A61EF86}"/>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Demo orchestration and assertions</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9C8C06C-C5E2-4FE1-B80D-4F36C0ACF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0fbfb6e2c464e9f">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541EECC9-7108-4B18-9502-981B320D41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B9C86CC9-3339-4AF6-A4B4-1338174DED8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66" name="Body paragraph 1">
            <a:extLst xmlns:a="http://schemas.openxmlformats.org/drawingml/2006/main">
              <a:ext uri="{FF2B5EF4-FFF2-40B4-BE49-F238E27FC236}">
                <a16:creationId xmlns:a16="http://schemas.microsoft.com/office/drawing/2014/main" id="{26045973-C36D-4813-880E-E6A2604A1AC0}"/>
              </a:ext>
            </a:extLst>
          </p:cNvPr>
          <p:cNvSpPr>
            <a:spLocks xmlns:a="http://schemas.openxmlformats.org/drawingml/2006/main" noGrp="1"/>
          </p:cNvSpPr>
          <p:nvPr/>
        </p:nvSpPr>
        <p:spPr>
          <a:xfrm xmlns:a="http://schemas.openxmlformats.org/drawingml/2006/main">
            <a:off x="1828800" y="1752600"/>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Create fresh runtimes/stores for each profile, seed the declared protocol, execute identical QA, await the observation boundary, save typed outputs, and score after inference.</a:t>
            </a:r>
          </a:p>
        </p:txBody>
      </p:sp>
      <p:sp>
        <p:nvSpPr>
          <p:cNvPr id="167" name="Body paragraph 2">
            <a:extLst xmlns:a="http://schemas.openxmlformats.org/drawingml/2006/main">
              <a:ext uri="{FF2B5EF4-FFF2-40B4-BE49-F238E27FC236}">
                <a16:creationId xmlns:a16="http://schemas.microsoft.com/office/drawing/2014/main" id="{4B66A88D-60B2-4C8F-9609-271EB45257D4}"/>
              </a:ext>
            </a:extLst>
          </p:cNvPr>
          <p:cNvSpPr>
            <a:spLocks xmlns:a="http://schemas.openxmlformats.org/drawingml/2006/main" noGrp="1"/>
          </p:cNvSpPr>
          <p:nvPr/>
        </p:nvSpPr>
        <p:spPr>
          <a:xfrm xmlns:a="http://schemas.openxmlformats.org/drawingml/2006/main">
            <a:off x="1828800" y="3420999"/>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Assert route exclusions, source mapping, bounded corrections, tool validation, state versions and complete maintenance accounting.</a:t>
            </a:r>
          </a:p>
        </p:txBody>
      </p:sp>
      <p:sp>
        <p:nvSpPr>
          <p:cNvPr id="168" name="Body paragraph 3">
            <a:extLst xmlns:a="http://schemas.openxmlformats.org/drawingml/2006/main">
              <a:ext uri="{FF2B5EF4-FFF2-40B4-BE49-F238E27FC236}">
                <a16:creationId xmlns:a16="http://schemas.microsoft.com/office/drawing/2014/main" id="{32B9E581-CE24-43BF-A587-D3C6FEC56DE4}"/>
              </a:ext>
            </a:extLst>
          </p:cNvPr>
          <p:cNvSpPr>
            <a:spLocks xmlns:a="http://schemas.openxmlformats.org/drawingml/2006/main" noGrp="1"/>
          </p:cNvSpPr>
          <p:nvPr/>
        </p:nvSpPr>
        <p:spPr>
          <a:xfrm xmlns:a="http://schemas.openxmlformats.org/drawingml/2006/main">
            <a:off x="1828800" y="4717542"/>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Faults must remain explicit failures. Gold expectations must stay outside inference. The demo proves executed responsibilities rather than every utility file.</a:t>
            </a:r>
          </a:p>
        </p:txBody>
      </p:sp>
    </p:spTree>
    <p:extLst>
      <p:ext uri="{BB962C8B-B14F-4D97-AF65-F5344CB8AC3E}">
        <p14:creationId xmlns:p14="http://schemas.microsoft.com/office/powerpoint/2010/main" val="21779395"/>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C7E2651F-9376-46A6-BD14-10277A61EF86}"/>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Completed modules: runtime and memory</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9C8C06C-C5E2-4FE1-B80D-4F36C0ACF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f8eecae3e674941">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541EECC9-7108-4B18-9502-981B320D41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B9C86CC9-3339-4AF6-A4B4-1338174DED8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66" name="">
            <a:extLst xmlns:a="http://schemas.openxmlformats.org/drawingml/2006/main">
              <a:ext uri="{FF2B5EF4-FFF2-40B4-BE49-F238E27FC236}">
                <a16:creationId xmlns:a16="http://schemas.microsoft.com/office/drawing/2014/main" id="{02492204-B667-4FF9-96B6-E3CFCD16419F}"/>
              </a:ext>
            </a:extLst>
          </p:cNvPr>
          <p:cNvGraphicFramePr/>
          <p:nvPr/>
        </p:nvGraphicFramePr>
        <p:xfrm>
          <a:off xmlns:a="http://schemas.openxmlformats.org/drawingml/2006/main" x="1828800" y="1752600"/>
          <a:ext xmlns:a="http://schemas.openxmlformats.org/drawingml/2006/main" cx="9067800" cy="37147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Module group</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Current evidence</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Still needed</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Runtime / state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Contracts, routes and ownership tests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Fresh route sweep and persistence boundary</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Affect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Source and fresh focused tests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Learned quality / downstream value</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Memory / admission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Formation, importance and admission tests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Real useful retention and isolation</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Retrieval / graph</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Source, tests and saved subset metrics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Fresh held-out QA and graph/idempotency checks</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21779395"/>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C7E2651F-9376-46A6-BD14-10277A61EF86}"/>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Completed modules: cognition and execution</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9C8C06C-C5E2-4FE1-B80D-4F36C0ACF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9b323bbd4e74f1a">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541EECC9-7108-4B18-9502-981B320D41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B9C86CC9-3339-4AF6-A4B4-1338174DED8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66" name="">
            <a:extLst xmlns:a="http://schemas.openxmlformats.org/drawingml/2006/main">
              <a:ext uri="{FF2B5EF4-FFF2-40B4-BE49-F238E27FC236}">
                <a16:creationId xmlns:a16="http://schemas.microsoft.com/office/drawing/2014/main" id="{091DC3BA-B1ED-4702-873C-CE59DE5ADC03}"/>
              </a:ext>
            </a:extLst>
          </p:cNvPr>
          <p:cNvGraphicFramePr/>
          <p:nvPr/>
        </p:nvGraphicFramePr>
        <p:xfrm>
          <a:off xmlns:a="http://schemas.openxmlformats.org/drawingml/2006/main" x="1828800" y="1752600"/>
          <a:ext xmlns:a="http://schemas.openxmlformats.org/drawingml/2006/main" cx="9067800" cy="37147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Module group</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Current evidence</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Still needed</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Reasoning / planning / world</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Bounded heuristic and symbolic paths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Sufficiency/prediction usefulness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Uncertainty / reflection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Branch and correction assertions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Calibration and actual help/harm</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Tools / generation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Policy, schema and fault tests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Real endpoint/handler guarantees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Maintenance / campaigns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Queue, barrier, resume and comparison tests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Crash recovery and complete real runs</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21779395"/>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C7E2651F-9376-46A6-BD14-10277A61EF86}"/>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Testing evidence and completion status</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9C8C06C-C5E2-4FE1-B80D-4F36C0ACF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0d816a2d6004b8b">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541EECC9-7108-4B18-9502-981B320D41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B9C86CC9-3339-4AF6-A4B4-1338174DED8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66" name="Body paragraph 1">
            <a:extLst xmlns:a="http://schemas.openxmlformats.org/drawingml/2006/main">
              <a:ext uri="{FF2B5EF4-FFF2-40B4-BE49-F238E27FC236}">
                <a16:creationId xmlns:a16="http://schemas.microsoft.com/office/drawing/2014/main" id="{A47DA542-80FE-4A84-965F-1AB0385CFAFB}"/>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On 10 October 2026, affect, GoEmotions data/metrics and Recall/MRR/nDCG checks completed: 25 passed in 1.87 seconds.</a:t>
            </a:r>
          </a:p>
        </p:txBody>
      </p:sp>
      <p:sp>
        <p:nvSpPr>
          <p:cNvPr id="167" name="Body paragraph 2">
            <a:extLst xmlns:a="http://schemas.openxmlformats.org/drawingml/2006/main">
              <a:ext uri="{FF2B5EF4-FFF2-40B4-BE49-F238E27FC236}">
                <a16:creationId xmlns:a16="http://schemas.microsoft.com/office/drawing/2014/main" id="{9F5F41AC-495C-4552-A451-AAC8E8820713}"/>
              </a:ext>
            </a:extLst>
          </p:cNvPr>
          <p:cNvSpPr>
            <a:spLocks xmlns:a="http://schemas.openxmlformats.org/drawingml/2006/main" noGrp="1"/>
          </p:cNvSpPr>
          <p:nvPr/>
        </p:nvSpPr>
        <p:spPr>
          <a:xfrm xmlns:a="http://schemas.openxmlformats.org/drawingml/2006/main">
            <a:off x="1828800" y="3049143"/>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A broader selected run did not finish. Five progress dots appeared without a final summary before interruption. No new whole-suite pass is claimed.</a:t>
            </a:r>
          </a:p>
        </p:txBody>
      </p:sp>
      <p:sp>
        <p:nvSpPr>
          <p:cNvPr id="168" name="Body paragraph 3">
            <a:extLst xmlns:a="http://schemas.openxmlformats.org/drawingml/2006/main">
              <a:ext uri="{FF2B5EF4-FFF2-40B4-BE49-F238E27FC236}">
                <a16:creationId xmlns:a16="http://schemas.microsoft.com/office/drawing/2014/main" id="{AB33F951-2514-4BEC-9DB2-0739256B0645}"/>
              </a:ext>
            </a:extLst>
          </p:cNvPr>
          <p:cNvSpPr>
            <a:spLocks xmlns:a="http://schemas.openxmlformats.org/drawingml/2006/main" noGrp="1"/>
          </p:cNvSpPr>
          <p:nvPr/>
        </p:nvSpPr>
        <p:spPr>
          <a:xfrm xmlns:a="http://schemas.openxmlformats.org/drawingml/2006/main">
            <a:off x="1828800" y="4345686"/>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Earlier audits report Windows asyncio socket-pair stalls. This run did not capture a fresh stack trace. Historical CI/lint/type/security evidence remains dated.</a:t>
            </a:r>
          </a:p>
        </p:txBody>
      </p:sp>
    </p:spTree>
    <p:extLst>
      <p:ext uri="{BB962C8B-B14F-4D97-AF65-F5344CB8AC3E}">
        <p14:creationId xmlns:p14="http://schemas.microsoft.com/office/powerpoint/2010/main" val="21779395"/>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C7E2651F-9376-46A6-BD14-10277A61EF86}"/>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Evaluation metrics (1/2)</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9C8C06C-C5E2-4FE1-B80D-4F36C0ACF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16d165f508d4e25">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541EECC9-7108-4B18-9502-981B320D41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B9C86CC9-3339-4AF6-A4B4-1338174DED8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66" name="">
            <a:extLst xmlns:a="http://schemas.openxmlformats.org/drawingml/2006/main">
              <a:ext uri="{FF2B5EF4-FFF2-40B4-BE49-F238E27FC236}">
                <a16:creationId xmlns:a16="http://schemas.microsoft.com/office/drawing/2014/main" id="{9FEBCBD6-5AC0-432C-A30F-C07C29102753}"/>
              </a:ext>
            </a:extLst>
          </p:cNvPr>
          <p:cNvGraphicFramePr/>
          <p:nvPr/>
        </p:nvGraphicFramePr>
        <p:xfrm>
          <a:off xmlns:a="http://schemas.openxmlformats.org/drawingml/2006/main" x="1828800" y="1752600"/>
          <a:ext xmlns:a="http://schemas.openxmlformats.org/drawingml/2006/main" cx="9067800" cy="3943350"/>
        </p:xfrm>
        <a:graphic xmlns:a="http://schemas.openxmlformats.org/drawingml/2006/main">
          <a:graphicData uri="http://schemas.openxmlformats.org/drawingml/2006/table">
            <a:tbl>
              <a:tblPr firstRow="1" bandRow="0"/>
              <a:tblGrid>
                <a:gridCol w="2476500"/>
                <a:gridCol w="659130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Metric</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Meaning</a:t>
                      </a:r>
                    </a:p>
                  </a:txBody>
                  <a:tcPr marL="95250" marR="95250" marT="95250" marB="95250" anchor="t">
                    <a:solidFill>
                      <a:srgbClr val="FFF2E0"/>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EM / token F1</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Reference-answer equality / token precision-recall balance</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Recall@k / MRR / nDCG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Evidence coverage / first relevant rank / ranking quality</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Candidate success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Relevant evidence reached the candidate pool</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Emotion micro/macro F1</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Aggregate / per-label multilabel performance</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Coverage and calibration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Answer rate with error / confidence-correctness alignment</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21779395"/>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C7E2651F-9376-46A6-BD14-10277A61EF86}"/>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Evaluation metrics (2/2)</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9C8C06C-C5E2-4FE1-B80D-4F36C0ACF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f937c34357d44a2">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541EECC9-7108-4B18-9502-981B320D41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B9C86CC9-3339-4AF6-A4B4-1338174DED8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66" name="">
            <a:extLst xmlns:a="http://schemas.openxmlformats.org/drawingml/2006/main">
              <a:ext uri="{FF2B5EF4-FFF2-40B4-BE49-F238E27FC236}">
                <a16:creationId xmlns:a16="http://schemas.microsoft.com/office/drawing/2014/main" id="{0BACAAEC-AE63-4137-88F7-7B0F618F6D4A}"/>
              </a:ext>
            </a:extLst>
          </p:cNvPr>
          <p:cNvGraphicFramePr/>
          <p:nvPr/>
        </p:nvGraphicFramePr>
        <p:xfrm>
          <a:off xmlns:a="http://schemas.openxmlformats.org/drawingml/2006/main" x="1828800" y="1752600"/>
          <a:ext xmlns:a="http://schemas.openxmlformats.org/drawingml/2006/main" cx="9067800" cy="1028700"/>
        </p:xfrm>
        <a:graphic xmlns:a="http://schemas.openxmlformats.org/drawingml/2006/main">
          <a:graphicData uri="http://schemas.openxmlformats.org/drawingml/2006/table">
            <a:tbl>
              <a:tblPr firstRow="1" bandRow="0"/>
              <a:tblGrid>
                <a:gridCol w="2476500"/>
                <a:gridCol w="659130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Metric</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Meaning</a:t>
                      </a:r>
                    </a:p>
                  </a:txBody>
                  <a:tcPr marL="95250" marR="95250" marT="95250" marB="95250" anchor="t">
                    <a:solidFill>
                      <a:srgbClr val="FFF2E0"/>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Help/harm and cost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Actual correction transitions, calls/tokens/time/storage</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21779395"/>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C7E2651F-9376-46A6-BD14-10277A61EF86}"/>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Benchmark attribution and demonstration coverage (1/2)</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9C8C06C-C5E2-4FE1-B80D-4F36C0ACF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6f1de5ccdc84629">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541EECC9-7108-4B18-9502-981B320D41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B9C86CC9-3339-4AF6-A4B4-1338174DED8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66" name="Body paragraph 1">
            <a:extLst xmlns:a="http://schemas.openxmlformats.org/drawingml/2006/main">
              <a:ext uri="{FF2B5EF4-FFF2-40B4-BE49-F238E27FC236}">
                <a16:creationId xmlns:a16="http://schemas.microsoft.com/office/drawing/2014/main" id="{1C4FB133-0B9B-4321-85A3-C33100D95A8D}"/>
              </a:ext>
            </a:extLst>
          </p:cNvPr>
          <p:cNvSpPr>
            <a:spLocks xmlns:a="http://schemas.openxmlformats.org/drawingml/2006/main" noGrp="1"/>
          </p:cNvSpPr>
          <p:nvPr/>
        </p:nvSpPr>
        <p:spPr>
          <a:xfrm xmlns:a="http://schemas.openxmlformats.org/drawingml/2006/main">
            <a:off x="1828800" y="1752600"/>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HotpotQA uses native answer/supporting-fact metrics with declared supplied-context mode. LoCoMo uses category/answer/evidence accounting. GoEmotions measures classification.</a:t>
            </a:r>
          </a:p>
        </p:txBody>
      </p:sp>
      <p:sp>
        <p:nvSpPr>
          <p:cNvPr id="167" name="Body paragraph 2">
            <a:extLst xmlns:a="http://schemas.openxmlformats.org/drawingml/2006/main">
              <a:ext uri="{FF2B5EF4-FFF2-40B4-BE49-F238E27FC236}">
                <a16:creationId xmlns:a16="http://schemas.microsoft.com/office/drawing/2014/main" id="{B1150B90-0F8D-464E-B6E2-FB8EA7163DAB}"/>
              </a:ext>
            </a:extLst>
          </p:cNvPr>
          <p:cNvSpPr>
            <a:spLocks xmlns:a="http://schemas.openxmlformats.org/drawingml/2006/main" noGrp="1"/>
          </p:cNvSpPr>
          <p:nvPr/>
        </p:nvSpPr>
        <p:spPr>
          <a:xfrm xmlns:a="http://schemas.openxmlformats.org/drawingml/2006/main">
            <a:off x="1828800" y="3420999"/>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A saved zero-query memory-quality report establishes no retrieval gain. A two-interaction admission report is only a narrow example. Smoke success proves wiring, not final quality.</a:t>
            </a:r>
          </a:p>
        </p:txBody>
      </p:sp>
    </p:spTree>
    <p:extLst>
      <p:ext uri="{BB962C8B-B14F-4D97-AF65-F5344CB8AC3E}">
        <p14:creationId xmlns:p14="http://schemas.microsoft.com/office/powerpoint/2010/main" val="21779395"/>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C7E2651F-9376-46A6-BD14-10277A61EF86}"/>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Benchmark attribution and demonstration coverage (2/2)</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9C8C06C-C5E2-4FE1-B80D-4F36C0ACF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5f3f8efd96f4cb4">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541EECC9-7108-4B18-9502-981B320D41CD}"/>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B9C86CC9-3339-4AF6-A4B4-1338174DED8A}"/>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66" name="Body paragraph 1">
            <a:extLst xmlns:a="http://schemas.openxmlformats.org/drawingml/2006/main">
              <a:ext uri="{FF2B5EF4-FFF2-40B4-BE49-F238E27FC236}">
                <a16:creationId xmlns:a16="http://schemas.microsoft.com/office/drawing/2014/main" id="{AE6E1523-CFA4-46F2-B4ED-3635B770B3D1}"/>
              </a:ext>
            </a:extLst>
          </p:cNvPr>
          <p:cNvSpPr>
            <a:spLocks xmlns:a="http://schemas.openxmlformats.org/drawingml/2006/main" noGrp="1"/>
          </p:cNvSpPr>
          <p:nvPr/>
        </p:nvSpPr>
        <p:spPr>
          <a:xfrm xmlns:a="http://schemas.openxmlformats.org/drawingml/2006/main">
            <a:off x="1828800" y="1752600"/>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For the college's 50% demonstration criterion, define a module checklist and count rehearsed artifacts. Implementation presence alone does not establish demonstrated coverage.</a:t>
            </a:r>
          </a:p>
        </p:txBody>
      </p:sp>
    </p:spTree>
    <p:extLst>
      <p:ext uri="{BB962C8B-B14F-4D97-AF65-F5344CB8AC3E}">
        <p14:creationId xmlns:p14="http://schemas.microsoft.com/office/powerpoint/2010/main" val="21779395"/>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9044CFEC-B445-4192-BE43-D9526F73F9C3}"/>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Applicability in other domains</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C581870-2694-446C-998E-938A8C066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bf8f5a2ed7647a2">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129CF169-2A08-43EF-9969-509B5C91CB2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001A0349-5BC1-4DF9-83AC-D77335E329EE}"/>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66" name="Body paragraph 1">
            <a:extLst xmlns:a="http://schemas.openxmlformats.org/drawingml/2006/main">
              <a:ext uri="{FF2B5EF4-FFF2-40B4-BE49-F238E27FC236}">
                <a16:creationId xmlns:a16="http://schemas.microsoft.com/office/drawing/2014/main" id="{33CCE8B1-286C-434C-AB88-90E56FF8091B}"/>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The transferable problem is a continuing agent that retrieves traceable history, budgets evidence/correction work and performs explicitly allowed operations.</a:t>
            </a:r>
          </a:p>
        </p:txBody>
      </p:sp>
      <p:sp>
        <p:nvSpPr>
          <p:cNvPr id="167" name="Body paragraph 2">
            <a:extLst xmlns:a="http://schemas.openxmlformats.org/drawingml/2006/main">
              <a:ext uri="{FF2B5EF4-FFF2-40B4-BE49-F238E27FC236}">
                <a16:creationId xmlns:a16="http://schemas.microsoft.com/office/drawing/2014/main" id="{F9614C46-4932-41D2-AC5D-189CFB4C25D4}"/>
              </a:ext>
            </a:extLst>
          </p:cNvPr>
          <p:cNvSpPr>
            <a:spLocks xmlns:a="http://schemas.openxmlformats.org/drawingml/2006/main" noGrp="1"/>
          </p:cNvSpPr>
          <p:nvPr/>
        </p:nvSpPr>
        <p:spPr>
          <a:xfrm xmlns:a="http://schemas.openxmlformats.org/drawingml/2006/main">
            <a:off x="1828800" y="3049143"/>
            <a:ext cx="9067800" cy="7722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The following domains are proposed, with no deployment benefit already validated by PRIMA.</a:t>
            </a:r>
          </a:p>
        </p:txBody>
      </p:sp>
      <p:sp>
        <p:nvSpPr>
          <p:cNvPr id="168" name="Body paragraph 3">
            <a:extLst xmlns:a="http://schemas.openxmlformats.org/drawingml/2006/main">
              <a:ext uri="{FF2B5EF4-FFF2-40B4-BE49-F238E27FC236}">
                <a16:creationId xmlns:a16="http://schemas.microsoft.com/office/drawing/2014/main" id="{E0531C36-EFD2-4A94-81E5-BA9C32470326}"/>
              </a:ext>
            </a:extLst>
          </p:cNvPr>
          <p:cNvSpPr>
            <a:spLocks xmlns:a="http://schemas.openxmlformats.org/drawingml/2006/main" noGrp="1"/>
          </p:cNvSpPr>
          <p:nvPr/>
        </p:nvSpPr>
        <p:spPr>
          <a:xfrm xmlns:a="http://schemas.openxmlformats.org/drawingml/2006/main">
            <a:off x="1828800" y="397383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Choose one domain, define acceptance metrics, evaluate held-out cases against simpler alternatives and retain only components with measured value.</a:t>
            </a:r>
          </a:p>
        </p:txBody>
      </p:sp>
    </p:spTree>
    <p:extLst>
      <p:ext uri="{BB962C8B-B14F-4D97-AF65-F5344CB8AC3E}">
        <p14:creationId xmlns:p14="http://schemas.microsoft.com/office/powerpoint/2010/main" val="534026019"/>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9044CFEC-B445-4192-BE43-D9526F73F9C3}"/>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Student and customer-support domains</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C581870-2694-446C-998E-938A8C066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3594fc24a694925">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129CF169-2A08-43EF-9969-509B5C91CB2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001A0349-5BC1-4DF9-83AC-D77335E329EE}"/>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66" name="">
            <a:extLst xmlns:a="http://schemas.openxmlformats.org/drawingml/2006/main">
              <a:ext uri="{FF2B5EF4-FFF2-40B4-BE49-F238E27FC236}">
                <a16:creationId xmlns:a16="http://schemas.microsoft.com/office/drawing/2014/main" id="{989D2049-D73D-4D64-80AE-7FABD4A4E3A4}"/>
              </a:ext>
            </a:extLst>
          </p:cNvPr>
          <p:cNvGraphicFramePr/>
          <p:nvPr/>
        </p:nvGraphicFramePr>
        <p:xfrm>
          <a:off xmlns:a="http://schemas.openxmlformats.org/drawingml/2006/main" x="1828800" y="1752600"/>
          <a:ext xmlns:a="http://schemas.openxmlformats.org/drawingml/2006/main" cx="9067800" cy="37147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Aspect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Student/project assistant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Customer support</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Problem</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Changing commitments/preferences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Prior tickets and attempted fixes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Mapping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Episodic/temporal memory, QA/plans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Episodic/procedural memory, KB retrieval</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Data / changes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Project histories, source/time fields, student isolation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Deidentified tickets, versioned KB, escalation</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Baseline / limit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History prompting or RAG, measured recall/cost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KB search/RAG, privacy and policy freshness</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534026019"/>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9044CFEC-B445-4192-BE43-D9526F73F9C3}"/>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Enterprise and research domains</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C581870-2694-446C-998E-938A8C066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4dad947d8d74ce2">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129CF169-2A08-43EF-9969-509B5C91CB2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001A0349-5BC1-4DF9-83AC-D77335E329EE}"/>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66" name="">
            <a:extLst xmlns:a="http://schemas.openxmlformats.org/drawingml/2006/main">
              <a:ext uri="{FF2B5EF4-FFF2-40B4-BE49-F238E27FC236}">
                <a16:creationId xmlns:a16="http://schemas.microsoft.com/office/drawing/2014/main" id="{D64B2EB9-C219-4ADC-B1BC-0BDE13E14461}"/>
              </a:ext>
            </a:extLst>
          </p:cNvPr>
          <p:cNvGraphicFramePr/>
          <p:nvPr/>
        </p:nvGraphicFramePr>
        <p:xfrm>
          <a:off xmlns:a="http://schemas.openxmlformats.org/drawingml/2006/main" x="1828800" y="1752600"/>
          <a:ext xmlns:a="http://schemas.openxmlformats.org/drawingml/2006/main" cx="9067800" cy="37147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Aspect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Enterprise knowledge</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Research literature</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Problem</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Evidence spans projects/people/dates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Claims span papers and project history</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Mapping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Hybrid graph retrieval and provenance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Semantic memory, citations, bounded retrieval</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Data / changes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Approved documents, enforced access and versions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Open papers, PDF/bibliographic identity</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Baseline / limit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Hybrid search/RAG, isolation remains pending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Literature RAG, claim verification unproven</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534026019"/>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9044CFEC-B445-4192-BE43-D9526F73F9C3}"/>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Productivity, datasets and future scope (1/2)</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C581870-2694-446C-998E-938A8C066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20687751334416c">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129CF169-2A08-43EF-9969-509B5C91CB2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001A0349-5BC1-4DF9-83AC-D77335E329EE}"/>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66" name="Body paragraph 1">
            <a:extLst xmlns:a="http://schemas.openxmlformats.org/drawingml/2006/main">
              <a:ext uri="{FF2B5EF4-FFF2-40B4-BE49-F238E27FC236}">
                <a16:creationId xmlns:a16="http://schemas.microsoft.com/office/drawing/2014/main" id="{A4363170-2A7F-40C1-8357-0658DF2CC186}"/>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Personal productivity maps tasks and preferences to temporal memory, planning and constrained tools. Begin with synthetic histories, then consented data and minimal permissions.</a:t>
            </a:r>
          </a:p>
        </p:txBody>
      </p:sp>
      <p:sp>
        <p:nvSpPr>
          <p:cNvPr id="167" name="Body paragraph 2">
            <a:extLst xmlns:a="http://schemas.openxmlformats.org/drawingml/2006/main">
              <a:ext uri="{FF2B5EF4-FFF2-40B4-BE49-F238E27FC236}">
                <a16:creationId xmlns:a16="http://schemas.microsoft.com/office/drawing/2014/main" id="{6CDECFD6-81CF-4292-B220-4FC16469FA9B}"/>
              </a:ext>
            </a:extLst>
          </p:cNvPr>
          <p:cNvSpPr>
            <a:spLocks xmlns:a="http://schemas.openxmlformats.org/drawingml/2006/main" noGrp="1"/>
          </p:cNvSpPr>
          <p:nvPr/>
        </p:nvSpPr>
        <p:spPr>
          <a:xfrm xmlns:a="http://schemas.openxmlformats.org/drawingml/2006/main">
            <a:off x="1828800" y="3049143"/>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LoCoMo supports conversational-memory evaluation, HotpotQA multi-document evidence, and GoEmotions text-affect labels. None alone validates domain ROI or enterprise privacy.</a:t>
            </a:r>
          </a:p>
        </p:txBody>
      </p:sp>
    </p:spTree>
    <p:extLst>
      <p:ext uri="{BB962C8B-B14F-4D97-AF65-F5344CB8AC3E}">
        <p14:creationId xmlns:p14="http://schemas.microsoft.com/office/powerpoint/2010/main" val="534026019"/>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161" name="Google Shape;161;g38215e9470b_0_64">
            <a:extLst xmlns:a="http://schemas.openxmlformats.org/drawingml/2006/main">
              <a:ext uri="{FF2B5EF4-FFF2-40B4-BE49-F238E27FC236}">
                <a16:creationId xmlns:a16="http://schemas.microsoft.com/office/drawing/2014/main" id="{9044CFEC-B445-4192-BE43-D9526F73F9C3}"/>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Productivity, datasets and future scope (2/2)</a:t>
            </a:r>
            <a:endParaRPr sz="2400" b="0" i="0" u="none" strike="noStrike" cap="none">
              <a:solidFill>
                <a:schemeClr val="dk1"/>
              </a:solidFill>
              <a:latin typeface="Calibri"/>
              <a:ea typeface="Calibri"/>
              <a:cs typeface="Calibri"/>
            </a:endParaRPr>
          </a:p>
        </p:txBody>
      </p:sp>
      <p:pic>
        <p:nvPicPr>
          <p:cNvPr id="163" name="Google Shape;163;g38215e9470b_0_64">
            <a:extLst xmlns:a="http://schemas.openxmlformats.org/drawingml/2006/main">
              <a:ext uri="{FF2B5EF4-FFF2-40B4-BE49-F238E27FC236}">
                <a16:creationId xmlns:a16="http://schemas.microsoft.com/office/drawing/2014/main" id="{6C581870-2694-446C-998E-938A8C066A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b2e919156524ff9">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64" name="Google Shape;164;g38215e9470b_0_64">
            <a:extLst xmlns:a="http://schemas.openxmlformats.org/drawingml/2006/main">
              <a:ext uri="{FF2B5EF4-FFF2-40B4-BE49-F238E27FC236}">
                <a16:creationId xmlns:a16="http://schemas.microsoft.com/office/drawing/2014/main" id="{129CF169-2A08-43EF-9969-509B5C91CB2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65" name="Google Shape;165;g38215e9470b_0_64">
            <a:extLst xmlns:a="http://schemas.openxmlformats.org/drawingml/2006/main">
              <a:ext uri="{FF2B5EF4-FFF2-40B4-BE49-F238E27FC236}">
                <a16:creationId xmlns:a16="http://schemas.microsoft.com/office/drawing/2014/main" id="{001A0349-5BC1-4DF9-83AC-D77335E329EE}"/>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66" name="Body paragraph 1">
            <a:extLst xmlns:a="http://schemas.openxmlformats.org/drawingml/2006/main">
              <a:ext uri="{FF2B5EF4-FFF2-40B4-BE49-F238E27FC236}">
                <a16:creationId xmlns:a16="http://schemas.microsoft.com/office/drawing/2014/main" id="{D07DC65E-917E-43EF-A604-E7D563B8AE53}"/>
              </a:ext>
            </a:extLst>
          </p:cNvPr>
          <p:cNvSpPr>
            <a:spLocks xmlns:a="http://schemas.openxmlformats.org/drawingml/2006/main" noGrp="1"/>
          </p:cNvSpPr>
          <p:nvPr/>
        </p:nvSpPr>
        <p:spPr>
          <a:xfrm xmlns:a="http://schemas.openxmlformats.org/drawingml/2006/main">
            <a:off x="1828800" y="1752600"/>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Compare conventional task search/reminders. Side-effect reliability, recovery and deletion require additional work. Clinical/high-stakes deployment remains outside the demonstrated boundary.</a:t>
            </a:r>
          </a:p>
        </p:txBody>
      </p:sp>
    </p:spTree>
    <p:extLst>
      <p:ext uri="{BB962C8B-B14F-4D97-AF65-F5344CB8AC3E}">
        <p14:creationId xmlns:p14="http://schemas.microsoft.com/office/powerpoint/2010/main" val="534026019"/>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Paper and patent progress (1/2)</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a0d676c96ae4e52">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C62F2DF5-0424-4FA8-BCBD-1C320D23C342}"/>
              </a:ext>
            </a:extLst>
          </p:cNvPr>
          <p:cNvGraphicFramePr/>
          <p:nvPr/>
        </p:nvGraphicFramePr>
        <p:xfrm>
          <a:off xmlns:a="http://schemas.openxmlformats.org/drawingml/2006/main" x="1828800" y="1752600"/>
          <a:ext xmlns:a="http://schemas.openxmlformats.org/drawingml/2006/main" cx="9067800" cy="3429000"/>
        </p:xfrm>
        <a:graphic xmlns:a="http://schemas.openxmlformats.org/drawingml/2006/main">
          <a:graphicData uri="http://schemas.openxmlformats.org/drawingml/2006/table">
            <a:tbl>
              <a:tblPr firstRow="1" bandRow="0"/>
              <a:tblGrid>
                <a:gridCol w="2476500"/>
                <a:gridCol w="659130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Milestone</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Evidence-based status</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Implementation / documentation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Research prototype and technical material available</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Component experiments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Saved subset results, provenance reconciliation pending</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Operational pilot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Repository-reported LoCoMo measurements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Complete final comparison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Pending verification/execution</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Paper and patent progress (2/2)</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c2f93fb2c0945fd">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27A8A11A-393E-478A-A12A-7B435BC9FF01}"/>
              </a:ext>
            </a:extLst>
          </p:cNvPr>
          <p:cNvGraphicFramePr/>
          <p:nvPr/>
        </p:nvGraphicFramePr>
        <p:xfrm>
          <a:off xmlns:a="http://schemas.openxmlformats.org/drawingml/2006/main" x="1828800" y="1752600"/>
          <a:ext xmlns:a="http://schemas.openxmlformats.org/drawingml/2006/main" cx="9067800" cy="2114550"/>
        </p:xfrm>
        <a:graphic xmlns:a="http://schemas.openxmlformats.org/drawingml/2006/main">
          <a:graphicData uri="http://schemas.openxmlformats.org/drawingml/2006/table">
            <a:tbl>
              <a:tblPr firstRow="1" bandRow="0"/>
              <a:tblGrid>
                <a:gridCol w="2476500"/>
                <a:gridCol w="659130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Milestone</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Evidence-based status</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Manuscript / submission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Team to add draft, venue and submission records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Patent disclosure / filing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Team to add institutional and official records</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Research question and contributions</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797f2f817394d56">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Body paragraph 1">
            <a:extLst xmlns:a="http://schemas.openxmlformats.org/drawingml/2006/main">
              <a:ext uri="{FF2B5EF4-FFF2-40B4-BE49-F238E27FC236}">
                <a16:creationId xmlns:a16="http://schemas.microsoft.com/office/drawing/2014/main" id="{A83C4E6F-0D2A-481C-93D9-550FDE6F0F71}"/>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Proposed title: "PRIMA-NEXT: A Typed Agent Runtime for Evidence-Based Memory, Bounded Correction, and Controlled Execution."</a:t>
            </a:r>
          </a:p>
        </p:txBody>
      </p:sp>
      <p:sp>
        <p:nvSpPr>
          <p:cNvPr id="140" name="Body paragraph 2">
            <a:extLst xmlns:a="http://schemas.openxmlformats.org/drawingml/2006/main">
              <a:ext uri="{FF2B5EF4-FFF2-40B4-BE49-F238E27FC236}">
                <a16:creationId xmlns:a16="http://schemas.microsoft.com/office/drawing/2014/main" id="{26A61CB3-A281-427D-81A5-EEA2306DA0A0}"/>
              </a:ext>
            </a:extLst>
          </p:cNvPr>
          <p:cNvSpPr>
            <a:spLocks xmlns:a="http://schemas.openxmlformats.org/drawingml/2006/main" noGrp="1"/>
          </p:cNvSpPr>
          <p:nvPr/>
        </p:nvSpPr>
        <p:spPr>
          <a:xfrm xmlns:a="http://schemas.openxmlformats.org/drawingml/2006/main">
            <a:off x="1828800" y="3049143"/>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Evaluate a unified typed boundary, integrated memory lifecycle, bounded uncertainty/reflection, and reproducible functional/quality evaluation.</a:t>
            </a:r>
          </a:p>
        </p:txBody>
      </p:sp>
      <p:sp>
        <p:nvSpPr>
          <p:cNvPr id="141" name="Body paragraph 3">
            <a:extLst xmlns:a="http://schemas.openxmlformats.org/drawingml/2006/main">
              <a:ext uri="{FF2B5EF4-FFF2-40B4-BE49-F238E27FC236}">
                <a16:creationId xmlns:a16="http://schemas.microsoft.com/office/drawing/2014/main" id="{D42EEDE6-6EE0-4A39-B5C2-13BF16B66DEA}"/>
              </a:ext>
            </a:extLst>
          </p:cNvPr>
          <p:cNvSpPr>
            <a:spLocks xmlns:a="http://schemas.openxmlformats.org/drawingml/2006/main" noGrp="1"/>
          </p:cNvSpPr>
          <p:nvPr/>
        </p:nvSpPr>
        <p:spPr>
          <a:xfrm xmlns:a="http://schemas.openxmlformats.org/drawingml/2006/main">
            <a:off x="1828800" y="4345686"/>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These are candidate engineering/research contributions. Novelty and benefit remain to establish against RAG, Generative Agents, Reflexion and strong simple baselines. No verified acceptance or filing record was supplied.</a:t>
            </a:r>
          </a:p>
        </p:txBody>
      </p:sp>
    </p:spTree>
    <p:extLst>
      <p:ext uri="{BB962C8B-B14F-4D97-AF65-F5344CB8AC3E}">
        <p14:creationId xmlns:p14="http://schemas.microsoft.com/office/powerpoint/2010/main" val="775476591"/>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Manuscript structure and evidence gaps (1/2)</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18932cca60947dc">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C92AC1FD-831A-45E3-8B28-9B1C397C842C}"/>
              </a:ext>
            </a:extLst>
          </p:cNvPr>
          <p:cNvGraphicFramePr/>
          <p:nvPr/>
        </p:nvGraphicFramePr>
        <p:xfrm>
          <a:off xmlns:a="http://schemas.openxmlformats.org/drawingml/2006/main" x="1828800" y="1752600"/>
          <a:ext xmlns:a="http://schemas.openxmlformats.org/drawingml/2006/main" cx="9067800" cy="37147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Paper part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Ready material</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Missing evidence</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Introduction / related work</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Problem and foundational sources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Target audience and mechanism novelty</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Method / setup</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Contracts, routes, formulas, adapters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Frozen identities and protocol</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Results / ablations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Exploratory subsets and pilot note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Complete matched held-out outcomes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Discussion / limitations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Retrieval/representation tradeoffs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Generalization, calibration and cost</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Manuscript structure and evidence gaps (2/2)</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2fdfcb8f6944f87">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55656340-3DD0-46F4-B396-23C71E9BC5CD}"/>
              </a:ext>
            </a:extLst>
          </p:cNvPr>
          <p:cNvGraphicFramePr/>
          <p:nvPr/>
        </p:nvGraphicFramePr>
        <p:xfrm>
          <a:off xmlns:a="http://schemas.openxmlformats.org/drawingml/2006/main" x="1828800" y="1752600"/>
          <a:ext xmlns:a="http://schemas.openxmlformats.org/drawingml/2006/main" cx="9067800" cy="13144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Paper part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Ready material</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Missing evidence</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Reproducibility</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Source, tests and runbooks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Validated secret-free artifact package</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Draft abstract (1/2)</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74bfb6679904adb">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Body paragraph 1">
            <a:extLst xmlns:a="http://schemas.openxmlformats.org/drawingml/2006/main">
              <a:ext uri="{FF2B5EF4-FFF2-40B4-BE49-F238E27FC236}">
                <a16:creationId xmlns:a16="http://schemas.microsoft.com/office/drawing/2014/main" id="{8CF09D9E-7D73-4260-A85D-84EC8231D9B1}"/>
              </a:ext>
            </a:extLst>
          </p:cNvPr>
          <p:cNvSpPr>
            <a:spLocks xmlns:a="http://schemas.openxmlformats.org/drawingml/2006/main" noGrp="1"/>
          </p:cNvSpPr>
          <p:nvPr/>
        </p:nvSpPr>
        <p:spPr>
          <a:xfrm xmlns:a="http://schemas.openxmlformats.org/drawingml/2006/main">
            <a:off x="1828800" y="1752600"/>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PRIMA-NEXT coordinates memory, evidence retrieval, affect-related signals, planning, symbolic simulation, uncertainty, reflection and controlled tools through typed task-specific routes.</a:t>
            </a:r>
          </a:p>
        </p:txBody>
      </p:sp>
      <p:sp>
        <p:nvSpPr>
          <p:cNvPr id="140" name="Body paragraph 2">
            <a:extLst xmlns:a="http://schemas.openxmlformats.org/drawingml/2006/main">
              <a:ext uri="{FF2B5EF4-FFF2-40B4-BE49-F238E27FC236}">
                <a16:creationId xmlns:a16="http://schemas.microsoft.com/office/drawing/2014/main" id="{0F9734BB-C81A-490A-B573-AFCF1102C01F}"/>
              </a:ext>
            </a:extLst>
          </p:cNvPr>
          <p:cNvSpPr>
            <a:spLocks xmlns:a="http://schemas.openxmlformats.org/drawingml/2006/main" noGrp="1"/>
          </p:cNvSpPr>
          <p:nvPr/>
        </p:nvSpPr>
        <p:spPr>
          <a:xfrm xmlns:a="http://schemas.openxmlformats.org/drawingml/2006/main">
            <a:off x="1828800" y="3420999"/>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The design records execution/failure diagnostics and bounds correction and maintenance work. A matched evaluation compares model-only and simple-RAG configurations across memory, QA and emotion tasks.</a:t>
            </a:r>
          </a:p>
        </p:txBody>
      </p:sp>
    </p:spTree>
    <p:extLst>
      <p:ext uri="{BB962C8B-B14F-4D97-AF65-F5344CB8AC3E}">
        <p14:creationId xmlns:p14="http://schemas.microsoft.com/office/powerpoint/2010/main" val="775476591"/>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Draft abstract (2/2)</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7d0bd957a4c4788">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Body paragraph 1">
            <a:extLst xmlns:a="http://schemas.openxmlformats.org/drawingml/2006/main">
              <a:ext uri="{FF2B5EF4-FFF2-40B4-BE49-F238E27FC236}">
                <a16:creationId xmlns:a16="http://schemas.microsoft.com/office/drawing/2014/main" id="{2BC143CA-CC66-4ED2-97CC-949811C9F19B}"/>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Exploratory retrieval subsets motivate learned embeddings and representation selection. Complete held-out comparisons must establish whether benefits justify the added cost.</a:t>
            </a:r>
          </a:p>
        </p:txBody>
      </p:sp>
    </p:spTree>
    <p:extLst>
      <p:ext uri="{BB962C8B-B14F-4D97-AF65-F5344CB8AC3E}">
        <p14:creationId xmlns:p14="http://schemas.microsoft.com/office/powerpoint/2010/main" val="775476591"/>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Experiment plan for publication</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d31c24e709740e0">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Body paragraph 1">
            <a:extLst xmlns:a="http://schemas.openxmlformats.org/drawingml/2006/main">
              <a:ext uri="{FF2B5EF4-FFF2-40B4-BE49-F238E27FC236}">
                <a16:creationId xmlns:a16="http://schemas.microsoft.com/office/drawing/2014/main" id="{7061D8FA-4FFC-4933-B218-6D2DF91393FF}"/>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Freeze split/version/hash, selected IDs/order, histories, model/revision, dependencies, seed, generation/context settings and retry rules. Keep gold evaluator-owned.</a:t>
            </a:r>
          </a:p>
        </p:txBody>
      </p:sp>
      <p:sp>
        <p:nvSpPr>
          <p:cNvPr id="140" name="Body paragraph 2">
            <a:extLst xmlns:a="http://schemas.openxmlformats.org/drawingml/2006/main">
              <a:ext uri="{FF2B5EF4-FFF2-40B4-BE49-F238E27FC236}">
                <a16:creationId xmlns:a16="http://schemas.microsoft.com/office/drawing/2014/main" id="{F18875CC-D1B1-4DA9-A367-FAA151D7BD11}"/>
              </a:ext>
            </a:extLst>
          </p:cNvPr>
          <p:cNvSpPr>
            <a:spLocks xmlns:a="http://schemas.openxmlformats.org/drawingml/2006/main" noGrp="1"/>
          </p:cNvSpPr>
          <p:nvPr/>
        </p:nvSpPr>
        <p:spPr>
          <a:xfrm xmlns:a="http://schemas.openxmlformats.org/drawingml/2006/main">
            <a:off x="1828800" y="3049143"/>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Separate fixed-store retrieval from memory formation. Measure native QA, recall/ranking, failure/abstention, correction help/harm, tokens, latency and memory growth.</a:t>
            </a:r>
          </a:p>
        </p:txBody>
      </p:sp>
      <p:sp>
        <p:nvSpPr>
          <p:cNvPr id="141" name="Body paragraph 3">
            <a:extLst xmlns:a="http://schemas.openxmlformats.org/drawingml/2006/main">
              <a:ext uri="{FF2B5EF4-FFF2-40B4-BE49-F238E27FC236}">
                <a16:creationId xmlns:a16="http://schemas.microsoft.com/office/drawing/2014/main" id="{AD05C058-0C67-4162-814D-327C9847B20D}"/>
              </a:ext>
            </a:extLst>
          </p:cNvPr>
          <p:cNvSpPr>
            <a:spLocks xmlns:a="http://schemas.openxmlformats.org/drawingml/2006/main" noGrp="1"/>
          </p:cNvSpPr>
          <p:nvPr/>
        </p:nvSpPr>
        <p:spPr>
          <a:xfrm xmlns:a="http://schemas.openxmlformats.org/drawingml/2006/main">
            <a:off x="1828800" y="4345686"/>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Run targeted ablations after development tuning. Account for question clustering by conversation, report uncertainty and negative results, reconcile fingerprints, and validate complete coverage.</a:t>
            </a:r>
          </a:p>
        </p:txBody>
      </p:sp>
    </p:spTree>
    <p:extLst>
      <p:ext uri="{BB962C8B-B14F-4D97-AF65-F5344CB8AC3E}">
        <p14:creationId xmlns:p14="http://schemas.microsoft.com/office/powerpoint/2010/main" val="775476591"/>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Patent-oriented technical preparation (1/2)</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56f03e4aa0a42d4">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A7461AD3-0437-4A86-933E-C78480949D69}"/>
              </a:ext>
            </a:extLst>
          </p:cNvPr>
          <p:cNvGraphicFramePr/>
          <p:nvPr/>
        </p:nvGraphicFramePr>
        <p:xfrm>
          <a:off xmlns:a="http://schemas.openxmlformats.org/drawingml/2006/main" x="1828800" y="1752600"/>
          <a:ext xmlns:a="http://schemas.openxmlformats.org/drawingml/2006/main" cx="9067800" cy="3429000"/>
        </p:xfrm>
        <a:graphic xmlns:a="http://schemas.openxmlformats.org/drawingml/2006/main">
          <a:graphicData uri="http://schemas.openxmlformats.org/drawingml/2006/table">
            <a:tbl>
              <a:tblPr firstRow="1" bandRow="0"/>
              <a:tblGrid>
                <a:gridCol w="2476500"/>
                <a:gridCol w="659130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Preparation</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Required record</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Mechanism</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Precise technical problem, implementation and observable effect</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Contributors / prior art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Contribution record and mechanism comparison with papers/patents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Disclosure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Architecture, state transitions, alternatives and measured example</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Institutional review</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Guide/IP-office decision and documented next step</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Patent-oriented technical preparation (2/2)</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e2a77803ce04004">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27920153-CB58-48BE-ADE0-F7AF6A7300C9}"/>
              </a:ext>
            </a:extLst>
          </p:cNvPr>
          <p:cNvGraphicFramePr/>
          <p:nvPr/>
        </p:nvGraphicFramePr>
        <p:xfrm>
          <a:off xmlns:a="http://schemas.openxmlformats.org/drawingml/2006/main" x="1828800" y="1752600"/>
          <a:ext xmlns:a="http://schemas.openxmlformats.org/drawingml/2006/main" cx="9067800" cy="1314450"/>
        </p:xfrm>
        <a:graphic xmlns:a="http://schemas.openxmlformats.org/drawingml/2006/main">
          <a:graphicData uri="http://schemas.openxmlformats.org/drawingml/2006/table">
            <a:tbl>
              <a:tblPr firstRow="1" bandRow="0"/>
              <a:tblGrid>
                <a:gridCol w="2476500"/>
                <a:gridCol w="659130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Preparation</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Required record</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Filing / later stages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Official application receipt, publication or grant record if achieved</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Publication and filing evidence (1/2)</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0d80d9e98e245df">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Body paragraph 1">
            <a:extLst xmlns:a="http://schemas.openxmlformats.org/drawingml/2006/main">
              <a:ext uri="{FF2B5EF4-FFF2-40B4-BE49-F238E27FC236}">
                <a16:creationId xmlns:a16="http://schemas.microsoft.com/office/drawing/2014/main" id="{341B13FA-F7F9-46D4-9B7B-3FCC51B6E7D7}"/>
              </a:ext>
            </a:extLst>
          </p:cNvPr>
          <p:cNvSpPr>
            <a:spLocks xmlns:a="http://schemas.openxmlformats.org/drawingml/2006/main" noGrp="1"/>
          </p:cNvSpPr>
          <p:nvPr/>
        </p:nvSpPr>
        <p:spPr>
          <a:xfrm xmlns:a="http://schemas.openxmlformats.org/drawingml/2006/main">
            <a:off x="1828800" y="1752600"/>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Paper milestones: drafted, submitted, accepted and published. Add the actual manuscript version, author order, guide feedback, venue, receipt/ID and acceptance or DOI record.</a:t>
            </a:r>
          </a:p>
        </p:txBody>
      </p:sp>
      <p:sp>
        <p:nvSpPr>
          <p:cNvPr id="140" name="Body paragraph 2">
            <a:extLst xmlns:a="http://schemas.openxmlformats.org/drawingml/2006/main">
              <a:ext uri="{FF2B5EF4-FFF2-40B4-BE49-F238E27FC236}">
                <a16:creationId xmlns:a16="http://schemas.microsoft.com/office/drawing/2014/main" id="{AEE12893-99D0-40B6-8B9F-27B3DF1DF392}"/>
              </a:ext>
            </a:extLst>
          </p:cNvPr>
          <p:cNvSpPr>
            <a:spLocks xmlns:a="http://schemas.openxmlformats.org/drawingml/2006/main" noGrp="1"/>
          </p:cNvSpPr>
          <p:nvPr/>
        </p:nvSpPr>
        <p:spPr>
          <a:xfrm xmlns:a="http://schemas.openxmlformats.org/drawingml/2006/main">
            <a:off x="1828800" y="3420999"/>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Patent milestones: disclosure prepared, application filed, application published and granted. Add specification, institutional review and official application/status records.</a:t>
            </a:r>
          </a:p>
        </p:txBody>
      </p:sp>
    </p:spTree>
    <p:extLst>
      <p:ext uri="{BB962C8B-B14F-4D97-AF65-F5344CB8AC3E}">
        <p14:creationId xmlns:p14="http://schemas.microsoft.com/office/powerpoint/2010/main" val="775476591"/>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Publication and filing evidence (2/2)</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949a671198549b1">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Body paragraph 1">
            <a:extLst xmlns:a="http://schemas.openxmlformats.org/drawingml/2006/main">
              <a:ext uri="{FF2B5EF4-FFF2-40B4-BE49-F238E27FC236}">
                <a16:creationId xmlns:a16="http://schemas.microsoft.com/office/drawing/2014/main" id="{E6E4B483-5222-49FD-970E-22C2DC492C69}"/>
              </a:ext>
            </a:extLst>
          </p:cNvPr>
          <p:cNvSpPr>
            <a:spLocks xmlns:a="http://schemas.openxmlformats.org/drawingml/2006/main" noGrp="1"/>
          </p:cNvSpPr>
          <p:nvPr/>
        </p:nvSpPr>
        <p:spPr>
          <a:xfrm xmlns:a="http://schemas.openxmlformats.org/drawingml/2006/main">
            <a:off x="1828800" y="1752600"/>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The technical disclosure candidate concerns task/profile control, memory lifecycle and budgeted corrections with traceable transitions. Patentability and filing status remain unverified.</a:t>
            </a:r>
          </a:p>
        </p:txBody>
      </p:sp>
    </p:spTree>
    <p:extLst>
      <p:ext uri="{BB962C8B-B14F-4D97-AF65-F5344CB8AC3E}">
        <p14:creationId xmlns:p14="http://schemas.microsoft.com/office/powerpoint/2010/main" val="775476591"/>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170" name="Google Shape;170;g38215e9470b_0_73">
            <a:extLst xmlns:a="http://schemas.openxmlformats.org/drawingml/2006/main">
              <a:ext uri="{FF2B5EF4-FFF2-40B4-BE49-F238E27FC236}">
                <a16:creationId xmlns:a16="http://schemas.microsoft.com/office/drawing/2014/main" id="{9B7EA29D-252A-4F9A-908F-079CF423D84E}"/>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Timeline - Update on Pending Tasks</a:t>
            </a:r>
            <a:endParaRPr sz="2400" b="0" i="0" u="none" strike="noStrike" cap="none">
              <a:solidFill>
                <a:schemeClr val="dk1"/>
              </a:solidFill>
              <a:latin typeface="Calibri"/>
              <a:ea typeface="Calibri"/>
              <a:cs typeface="Calibri"/>
            </a:endParaRPr>
          </a:p>
        </p:txBody>
      </p:sp>
      <p:pic>
        <p:nvPicPr>
          <p:cNvPr id="172" name="Google Shape;172;g38215e9470b_0_73">
            <a:extLst xmlns:a="http://schemas.openxmlformats.org/drawingml/2006/main">
              <a:ext uri="{FF2B5EF4-FFF2-40B4-BE49-F238E27FC236}">
                <a16:creationId xmlns:a16="http://schemas.microsoft.com/office/drawing/2014/main" id="{A264BE6A-B63E-4E90-8507-8F1545297FC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fac720b061548a9">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73" name="Google Shape;173;g38215e9470b_0_73">
            <a:extLst xmlns:a="http://schemas.openxmlformats.org/drawingml/2006/main">
              <a:ext uri="{FF2B5EF4-FFF2-40B4-BE49-F238E27FC236}">
                <a16:creationId xmlns:a16="http://schemas.microsoft.com/office/drawing/2014/main" id="{1BE63057-332D-4378-8E00-98640B295AD8}"/>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74" name="Google Shape;174;g38215e9470b_0_73">
            <a:extLst xmlns:a="http://schemas.openxmlformats.org/drawingml/2006/main">
              <a:ext uri="{FF2B5EF4-FFF2-40B4-BE49-F238E27FC236}">
                <a16:creationId xmlns:a16="http://schemas.microsoft.com/office/drawing/2014/main" id="{DAEEB695-7D71-453E-B406-331DACF6514D}"/>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75" name="Body paragraph 1">
            <a:extLst xmlns:a="http://schemas.openxmlformats.org/drawingml/2006/main">
              <a:ext uri="{FF2B5EF4-FFF2-40B4-BE49-F238E27FC236}">
                <a16:creationId xmlns:a16="http://schemas.microsoft.com/office/drawing/2014/main" id="{ECBAFF66-D85A-4FD0-BFC0-1928806ED4E4}"/>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Proposed work starts 12 October 2026. Dates depend on the review deadline, team availability, hardware admission and guide decisions.</a:t>
            </a:r>
          </a:p>
        </p:txBody>
      </p:sp>
      <p:sp>
        <p:nvSpPr>
          <p:cNvPr id="176" name="Body paragraph 2">
            <a:extLst xmlns:a="http://schemas.openxmlformats.org/drawingml/2006/main">
              <a:ext uri="{FF2B5EF4-FFF2-40B4-BE49-F238E27FC236}">
                <a16:creationId xmlns:a16="http://schemas.microsoft.com/office/drawing/2014/main" id="{E6A4EDD4-2671-4E35-8DFA-D27755784398}"/>
              </a:ext>
            </a:extLst>
          </p:cNvPr>
          <p:cNvSpPr>
            <a:spLocks xmlns:a="http://schemas.openxmlformats.org/drawingml/2006/main" noGrp="1"/>
          </p:cNvSpPr>
          <p:nvPr/>
        </p:nvSpPr>
        <p:spPr>
          <a:xfrm xmlns:a="http://schemas.openxmlformats.org/drawingml/2006/main">
            <a:off x="1828800" y="3049143"/>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Finish the unified demo and reproducible evidence first, then correctness/retrieval validation, real pilots, full comparisons and research artifacts.</a:t>
            </a:r>
          </a:p>
        </p:txBody>
      </p:sp>
      <p:sp>
        <p:nvSpPr>
          <p:cNvPr id="177" name="Body paragraph 3">
            <a:extLst xmlns:a="http://schemas.openxmlformats.org/drawingml/2006/main">
              <a:ext uri="{FF2B5EF4-FFF2-40B4-BE49-F238E27FC236}">
                <a16:creationId xmlns:a16="http://schemas.microsoft.com/office/drawing/2014/main" id="{812E72CA-99B3-478E-BC20-5C40219D5E21}"/>
              </a:ext>
            </a:extLst>
          </p:cNvPr>
          <p:cNvSpPr>
            <a:spLocks xmlns:a="http://schemas.openxmlformats.org/drawingml/2006/main" noGrp="1"/>
          </p:cNvSpPr>
          <p:nvPr/>
        </p:nvSpPr>
        <p:spPr>
          <a:xfrm xmlns:a="http://schemas.openxmlformats.org/drawingml/2006/main">
            <a:off x="1828800" y="4345686"/>
            <a:ext cx="9067800" cy="7722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The schedule describes work targets. It does not predict paper acceptance or patent grant.</a:t>
            </a:r>
          </a:p>
        </p:txBody>
      </p:sp>
    </p:spTree>
    <p:extLst>
      <p:ext uri="{BB962C8B-B14F-4D97-AF65-F5344CB8AC3E}">
        <p14:creationId xmlns:p14="http://schemas.microsoft.com/office/powerpoint/2010/main" val="1288702616"/>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170" name="Google Shape;170;g38215e9470b_0_73">
            <a:extLst xmlns:a="http://schemas.openxmlformats.org/drawingml/2006/main">
              <a:ext uri="{FF2B5EF4-FFF2-40B4-BE49-F238E27FC236}">
                <a16:creationId xmlns:a16="http://schemas.microsoft.com/office/drawing/2014/main" id="{9B7EA29D-252A-4F9A-908F-079CF423D84E}"/>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Pending technical tasks (1/2)</a:t>
            </a:r>
            <a:endParaRPr sz="2400" b="0" i="0" u="none" strike="noStrike" cap="none">
              <a:solidFill>
                <a:schemeClr val="dk1"/>
              </a:solidFill>
              <a:latin typeface="Calibri"/>
              <a:ea typeface="Calibri"/>
              <a:cs typeface="Calibri"/>
            </a:endParaRPr>
          </a:p>
        </p:txBody>
      </p:sp>
      <p:pic>
        <p:nvPicPr>
          <p:cNvPr id="172" name="Google Shape;172;g38215e9470b_0_73">
            <a:extLst xmlns:a="http://schemas.openxmlformats.org/drawingml/2006/main">
              <a:ext uri="{FF2B5EF4-FFF2-40B4-BE49-F238E27FC236}">
                <a16:creationId xmlns:a16="http://schemas.microsoft.com/office/drawing/2014/main" id="{A264BE6A-B63E-4E90-8507-8F1545297FC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20e72d117b7460f">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73" name="Google Shape;173;g38215e9470b_0_73">
            <a:extLst xmlns:a="http://schemas.openxmlformats.org/drawingml/2006/main">
              <a:ext uri="{FF2B5EF4-FFF2-40B4-BE49-F238E27FC236}">
                <a16:creationId xmlns:a16="http://schemas.microsoft.com/office/drawing/2014/main" id="{1BE63057-332D-4378-8E00-98640B295AD8}"/>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74" name="Google Shape;174;g38215e9470b_0_73">
            <a:extLst xmlns:a="http://schemas.openxmlformats.org/drawingml/2006/main">
              <a:ext uri="{FF2B5EF4-FFF2-40B4-BE49-F238E27FC236}">
                <a16:creationId xmlns:a16="http://schemas.microsoft.com/office/drawing/2014/main" id="{DAEEB695-7D71-453E-B406-331DACF6514D}"/>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75" name="">
            <a:extLst xmlns:a="http://schemas.openxmlformats.org/drawingml/2006/main">
              <a:ext uri="{FF2B5EF4-FFF2-40B4-BE49-F238E27FC236}">
                <a16:creationId xmlns:a16="http://schemas.microsoft.com/office/drawing/2014/main" id="{F3B1EECE-0DB2-4CCF-BE32-3B79B530019D}"/>
              </a:ext>
            </a:extLst>
          </p:cNvPr>
          <p:cNvGraphicFramePr/>
          <p:nvPr/>
        </p:nvGraphicFramePr>
        <p:xfrm>
          <a:off xmlns:a="http://schemas.openxmlformats.org/drawingml/2006/main" x="1828800" y="1752600"/>
          <a:ext xmlns:a="http://schemas.openxmlformats.org/drawingml/2006/main" cx="9067800" cy="37147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Task</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Target dates</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Completion evidence</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Admin facts / demo</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12-16 Oct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Confirmed fields and rehearsed actual outputs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Environment / provenance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12-16 Oct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Wider-suite result and reconciled artifacts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Correctness boundaries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14-23 Oct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Scope-appropriate regression evidence</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Development retrieval</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19-23 Oct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Diagnosed failures and frozen settings</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1288702616"/>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170" name="Google Shape;170;g38215e9470b_0_73">
            <a:extLst xmlns:a="http://schemas.openxmlformats.org/drawingml/2006/main">
              <a:ext uri="{FF2B5EF4-FFF2-40B4-BE49-F238E27FC236}">
                <a16:creationId xmlns:a16="http://schemas.microsoft.com/office/drawing/2014/main" id="{9B7EA29D-252A-4F9A-908F-079CF423D84E}"/>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Pending technical tasks (2/2)</a:t>
            </a:r>
            <a:endParaRPr sz="2400" b="0" i="0" u="none" strike="noStrike" cap="none">
              <a:solidFill>
                <a:schemeClr val="dk1"/>
              </a:solidFill>
              <a:latin typeface="Calibri"/>
              <a:ea typeface="Calibri"/>
              <a:cs typeface="Calibri"/>
            </a:endParaRPr>
          </a:p>
        </p:txBody>
      </p:sp>
      <p:pic>
        <p:nvPicPr>
          <p:cNvPr id="172" name="Google Shape;172;g38215e9470b_0_73">
            <a:extLst xmlns:a="http://schemas.openxmlformats.org/drawingml/2006/main">
              <a:ext uri="{FF2B5EF4-FFF2-40B4-BE49-F238E27FC236}">
                <a16:creationId xmlns:a16="http://schemas.microsoft.com/office/drawing/2014/main" id="{A264BE6A-B63E-4E90-8507-8F1545297FC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eb526487e6245ed">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73" name="Google Shape;173;g38215e9470b_0_73">
            <a:extLst xmlns:a="http://schemas.openxmlformats.org/drawingml/2006/main">
              <a:ext uri="{FF2B5EF4-FFF2-40B4-BE49-F238E27FC236}">
                <a16:creationId xmlns:a16="http://schemas.microsoft.com/office/drawing/2014/main" id="{1BE63057-332D-4378-8E00-98640B295AD8}"/>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74" name="Google Shape;174;g38215e9470b_0_73">
            <a:extLst xmlns:a="http://schemas.openxmlformats.org/drawingml/2006/main">
              <a:ext uri="{FF2B5EF4-FFF2-40B4-BE49-F238E27FC236}">
                <a16:creationId xmlns:a16="http://schemas.microsoft.com/office/drawing/2014/main" id="{DAEEB695-7D71-453E-B406-331DACF6514D}"/>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75" name="">
            <a:extLst xmlns:a="http://schemas.openxmlformats.org/drawingml/2006/main">
              <a:ext uri="{FF2B5EF4-FFF2-40B4-BE49-F238E27FC236}">
                <a16:creationId xmlns:a16="http://schemas.microsoft.com/office/drawing/2014/main" id="{30BEF871-2E03-4B32-B5F7-24CD9F6F866B}"/>
              </a:ext>
            </a:extLst>
          </p:cNvPr>
          <p:cNvGraphicFramePr/>
          <p:nvPr/>
        </p:nvGraphicFramePr>
        <p:xfrm>
          <a:off xmlns:a="http://schemas.openxmlformats.org/drawingml/2006/main" x="1828800" y="1752600"/>
          <a:ext xmlns:a="http://schemas.openxmlformats.org/drawingml/2006/main" cx="9067800" cy="21145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Task</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Target dates</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Completion evidence</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Real pilots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24-30 Oct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Benchmark-specific equality/resource/time gates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Matched campaigns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2-6 Nov</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Complete native scores and validated archives</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1288702616"/>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sp>
        <p:nvSpPr>
          <p:cNvPr id="170" name="Google Shape;170;g38215e9470b_0_73">
            <a:extLst xmlns:a="http://schemas.openxmlformats.org/drawingml/2006/main">
              <a:ext uri="{FF2B5EF4-FFF2-40B4-BE49-F238E27FC236}">
                <a16:creationId xmlns:a16="http://schemas.microsoft.com/office/drawing/2014/main" id="{9B7EA29D-252A-4F9A-908F-079CF423D84E}"/>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Pending research tasks</a:t>
            </a:r>
            <a:endParaRPr sz="2400" b="0" i="0" u="none" strike="noStrike" cap="none">
              <a:solidFill>
                <a:schemeClr val="dk1"/>
              </a:solidFill>
              <a:latin typeface="Calibri"/>
              <a:ea typeface="Calibri"/>
              <a:cs typeface="Calibri"/>
            </a:endParaRPr>
          </a:p>
        </p:txBody>
      </p:sp>
      <p:pic>
        <p:nvPicPr>
          <p:cNvPr id="172" name="Google Shape;172;g38215e9470b_0_73">
            <a:extLst xmlns:a="http://schemas.openxmlformats.org/drawingml/2006/main">
              <a:ext uri="{FF2B5EF4-FFF2-40B4-BE49-F238E27FC236}">
                <a16:creationId xmlns:a16="http://schemas.microsoft.com/office/drawing/2014/main" id="{A264BE6A-B63E-4E90-8507-8F1545297FC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a6ace1407294cb3">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73" name="Google Shape;173;g38215e9470b_0_73">
            <a:extLst xmlns:a="http://schemas.openxmlformats.org/drawingml/2006/main">
              <a:ext uri="{FF2B5EF4-FFF2-40B4-BE49-F238E27FC236}">
                <a16:creationId xmlns:a16="http://schemas.microsoft.com/office/drawing/2014/main" id="{1BE63057-332D-4378-8E00-98640B295AD8}"/>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74" name="Google Shape;174;g38215e9470b_0_73">
            <a:extLst xmlns:a="http://schemas.openxmlformats.org/drawingml/2006/main">
              <a:ext uri="{FF2B5EF4-FFF2-40B4-BE49-F238E27FC236}">
                <a16:creationId xmlns:a16="http://schemas.microsoft.com/office/drawing/2014/main" id="{DAEEB695-7D71-453E-B406-331DACF6514D}"/>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75" name="">
            <a:extLst xmlns:a="http://schemas.openxmlformats.org/drawingml/2006/main">
              <a:ext uri="{FF2B5EF4-FFF2-40B4-BE49-F238E27FC236}">
                <a16:creationId xmlns:a16="http://schemas.microsoft.com/office/drawing/2014/main" id="{4248FE95-DF3D-49D2-BB23-B1120AA28E4B}"/>
              </a:ext>
            </a:extLst>
          </p:cNvPr>
          <p:cNvGraphicFramePr/>
          <p:nvPr/>
        </p:nvGraphicFramePr>
        <p:xfrm>
          <a:off xmlns:a="http://schemas.openxmlformats.org/drawingml/2006/main" x="1828800" y="1752600"/>
          <a:ext xmlns:a="http://schemas.openxmlformats.org/drawingml/2006/main" cx="9067800" cy="37147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Task</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Target dates</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Completion evidence</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Method / related work</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19-30 Oct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Versioned sourced manuscript</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Disclosure / prior art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19 Oct-6 Nov</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Institutional mechanism review</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Results / guide revision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9-13 Nov</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Reconciled tables, cost and limitations</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Final review package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16-20 Nov</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Consistent slides, rehearsed demo, approved package</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1288702616"/>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170" name="Google Shape;170;g38215e9470b_0_73">
            <a:extLst xmlns:a="http://schemas.openxmlformats.org/drawingml/2006/main">
              <a:ext uri="{FF2B5EF4-FFF2-40B4-BE49-F238E27FC236}">
                <a16:creationId xmlns:a16="http://schemas.microsoft.com/office/drawing/2014/main" id="{9B7EA29D-252A-4F9A-908F-079CF423D84E}"/>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Proposed Gantt schedule (1/2)</a:t>
            </a:r>
            <a:endParaRPr sz="2400" b="0" i="0" u="none" strike="noStrike" cap="none">
              <a:solidFill>
                <a:schemeClr val="dk1"/>
              </a:solidFill>
              <a:latin typeface="Calibri"/>
              <a:ea typeface="Calibri"/>
              <a:cs typeface="Calibri"/>
            </a:endParaRPr>
          </a:p>
        </p:txBody>
      </p:sp>
      <p:pic>
        <p:nvPicPr>
          <p:cNvPr id="172" name="Google Shape;172;g38215e9470b_0_73">
            <a:extLst xmlns:a="http://schemas.openxmlformats.org/drawingml/2006/main">
              <a:ext uri="{FF2B5EF4-FFF2-40B4-BE49-F238E27FC236}">
                <a16:creationId xmlns:a16="http://schemas.microsoft.com/office/drawing/2014/main" id="{A264BE6A-B63E-4E90-8507-8F1545297FC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0146553012e4542">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73" name="Google Shape;173;g38215e9470b_0_73">
            <a:extLst xmlns:a="http://schemas.openxmlformats.org/drawingml/2006/main">
              <a:ext uri="{FF2B5EF4-FFF2-40B4-BE49-F238E27FC236}">
                <a16:creationId xmlns:a16="http://schemas.microsoft.com/office/drawing/2014/main" id="{1BE63057-332D-4378-8E00-98640B295AD8}"/>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74" name="Google Shape;174;g38215e9470b_0_73">
            <a:extLst xmlns:a="http://schemas.openxmlformats.org/drawingml/2006/main">
              <a:ext uri="{FF2B5EF4-FFF2-40B4-BE49-F238E27FC236}">
                <a16:creationId xmlns:a16="http://schemas.microsoft.com/office/drawing/2014/main" id="{DAEEB695-7D71-453E-B406-331DACF6514D}"/>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75" name="">
            <a:extLst xmlns:a="http://schemas.openxmlformats.org/drawingml/2006/main">
              <a:ext uri="{FF2B5EF4-FFF2-40B4-BE49-F238E27FC236}">
                <a16:creationId xmlns:a16="http://schemas.microsoft.com/office/drawing/2014/main" id="{DF989D04-8A0B-4967-9F82-115A0E438D0B}"/>
              </a:ext>
            </a:extLst>
          </p:cNvPr>
          <p:cNvGraphicFramePr/>
          <p:nvPr/>
        </p:nvGraphicFramePr>
        <p:xfrm>
          <a:off xmlns:a="http://schemas.openxmlformats.org/drawingml/2006/main" x="1828800" y="1752600"/>
          <a:ext xmlns:a="http://schemas.openxmlformats.org/drawingml/2006/main" cx="9067800" cy="3600450"/>
        </p:xfrm>
        <a:graphic xmlns:a="http://schemas.openxmlformats.org/drawingml/2006/main">
          <a:graphicData uri="http://schemas.openxmlformats.org/drawingml/2006/table">
            <a:tbl>
              <a:tblPr firstRow="1" bandRow="0"/>
              <a:tblGrid>
                <a:gridCol w="2781300"/>
                <a:gridCol w="1047750"/>
                <a:gridCol w="1047750"/>
                <a:gridCol w="1047750"/>
                <a:gridCol w="1047750"/>
                <a:gridCol w="1047750"/>
                <a:gridCol w="104775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Task</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12 Oct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19 Oct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26 Oct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2 Nov</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9 Nov</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16 Nov</a:t>
                      </a:r>
                    </a:p>
                  </a:txBody>
                  <a:tcPr marL="95250" marR="95250" marT="95250" marB="95250" anchor="t">
                    <a:solidFill>
                      <a:srgbClr val="FFF2E0"/>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Confirm facts</a:t>
                      </a:r>
                    </a:p>
                  </a:txBody>
                  <a:tcPr marL="95250" marR="95250" marT="95250" marB="95250" anchor="t">
                    <a:solidFill>
                      <a:srgbClr val="FFFFFF"/>
                    </a:solidFill>
                  </a:tcPr>
                </a:tc>
                <a:tc>
                  <a:txBody>
                    <a:bodyPr wrap="square" lIns="95250" tIns="95250" rIns="95250" bIns="95250">
                      <a:noAutofit/>
                    </a:bodyPr>
                    <a:lstStyle/>
                    <a:p>
                      <a:pPr algn="ctr"/>
                      <a:r>
                        <a:rPr sz="1800" b="1">
                          <a:solidFill>
                            <a:srgbClr val="FFFFFF"/>
                          </a:solidFill>
                          <a:latin typeface="Trebuchet MS"/>
                          <a:ea typeface="Trebuchet MS"/>
                          <a:cs typeface="Trebuchet MS"/>
                        </a:rPr>
                        <a:t>Work</a:t>
                      </a:r>
                    </a:p>
                  </a:txBody>
                  <a:tcPr marL="95250" marR="95250" marT="95250" marB="95250" anchor="t">
                    <a:solidFill>
                      <a:srgbClr val="E48312"/>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Demo / rehearsal</a:t>
                      </a:r>
                    </a:p>
                  </a:txBody>
                  <a:tcPr marL="95250" marR="95250" marT="95250" marB="95250" anchor="t">
                    <a:solidFill>
                      <a:srgbClr val="FFFFFF"/>
                    </a:solidFill>
                  </a:tcPr>
                </a:tc>
                <a:tc>
                  <a:txBody>
                    <a:bodyPr wrap="square" lIns="95250" tIns="95250" rIns="95250" bIns="95250">
                      <a:noAutofit/>
                    </a:bodyPr>
                    <a:lstStyle/>
                    <a:p>
                      <a:pPr algn="ctr"/>
                      <a:r>
                        <a:rPr sz="1800" b="1">
                          <a:solidFill>
                            <a:srgbClr val="FFFFFF"/>
                          </a:solidFill>
                          <a:latin typeface="Trebuchet MS"/>
                          <a:ea typeface="Trebuchet MS"/>
                          <a:cs typeface="Trebuchet MS"/>
                        </a:rPr>
                        <a:t>Work</a:t>
                      </a:r>
                    </a:p>
                  </a:txBody>
                  <a:tcPr marL="95250" marR="95250" marT="95250" marB="95250" anchor="t">
                    <a:solidFill>
                      <a:srgbClr val="E48312"/>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Environment / provenance</a:t>
                      </a:r>
                    </a:p>
                  </a:txBody>
                  <a:tcPr marL="95250" marR="95250" marT="95250" marB="95250" anchor="t">
                    <a:solidFill>
                      <a:srgbClr val="FFFFFF"/>
                    </a:solidFill>
                  </a:tcPr>
                </a:tc>
                <a:tc>
                  <a:txBody>
                    <a:bodyPr wrap="square" lIns="95250" tIns="95250" rIns="95250" bIns="95250">
                      <a:noAutofit/>
                    </a:bodyPr>
                    <a:lstStyle/>
                    <a:p>
                      <a:pPr algn="ctr"/>
                      <a:r>
                        <a:rPr sz="1800" b="1">
                          <a:solidFill>
                            <a:srgbClr val="FFFFFF"/>
                          </a:solidFill>
                          <a:latin typeface="Trebuchet MS"/>
                          <a:ea typeface="Trebuchet MS"/>
                          <a:cs typeface="Trebuchet MS"/>
                        </a:rPr>
                        <a:t>Work</a:t>
                      </a:r>
                    </a:p>
                  </a:txBody>
                  <a:tcPr marL="95250" marR="95250" marT="95250" marB="95250" anchor="t">
                    <a:solidFill>
                      <a:srgbClr val="E48312"/>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Correctness boundaries</a:t>
                      </a:r>
                    </a:p>
                  </a:txBody>
                  <a:tcPr marL="95250" marR="95250" marT="95250" marB="95250" anchor="t">
                    <a:solidFill>
                      <a:srgbClr val="FFFFFF"/>
                    </a:solidFill>
                  </a:tcPr>
                </a:tc>
                <a:tc>
                  <a:txBody>
                    <a:bodyPr wrap="square" lIns="95250" tIns="95250" rIns="95250" bIns="95250">
                      <a:noAutofit/>
                    </a:bodyPr>
                    <a:lstStyle/>
                    <a:p>
                      <a:pPr algn="ctr"/>
                      <a:r>
                        <a:rPr sz="1800" b="1">
                          <a:solidFill>
                            <a:srgbClr val="FFFFFF"/>
                          </a:solidFill>
                          <a:latin typeface="Trebuchet MS"/>
                          <a:ea typeface="Trebuchet MS"/>
                          <a:cs typeface="Trebuchet MS"/>
                        </a:rPr>
                        <a:t>Work</a:t>
                      </a:r>
                    </a:p>
                  </a:txBody>
                  <a:tcPr marL="95250" marR="95250" marT="95250" marB="95250" anchor="t">
                    <a:solidFill>
                      <a:srgbClr val="E48312"/>
                    </a:solidFill>
                  </a:tcPr>
                </a:tc>
                <a:tc>
                  <a:txBody>
                    <a:bodyPr wrap="square" lIns="95250" tIns="95250" rIns="95250" bIns="95250">
                      <a:noAutofit/>
                    </a:bodyPr>
                    <a:lstStyle/>
                    <a:p>
                      <a:pPr algn="ctr"/>
                      <a:r>
                        <a:rPr sz="1800" b="1">
                          <a:solidFill>
                            <a:srgbClr val="FFFFFF"/>
                          </a:solidFill>
                          <a:latin typeface="Trebuchet MS"/>
                          <a:ea typeface="Trebuchet MS"/>
                          <a:cs typeface="Trebuchet MS"/>
                        </a:rPr>
                        <a:t>Work</a:t>
                      </a:r>
                    </a:p>
                  </a:txBody>
                  <a:tcPr marL="95250" marR="95250" marT="95250" marB="95250" anchor="t">
                    <a:solidFill>
                      <a:srgbClr val="E48312"/>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Development retrieval</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pPr algn="ctr"/>
                      <a:r>
                        <a:rPr sz="1800" b="1">
                          <a:solidFill>
                            <a:srgbClr val="FFFFFF"/>
                          </a:solidFill>
                          <a:latin typeface="Trebuchet MS"/>
                          <a:ea typeface="Trebuchet MS"/>
                          <a:cs typeface="Trebuchet MS"/>
                        </a:rPr>
                        <a:t>Work</a:t>
                      </a:r>
                    </a:p>
                  </a:txBody>
                  <a:tcPr marL="95250" marR="95250" marT="95250" marB="95250" anchor="t">
                    <a:solidFill>
                      <a:srgbClr val="E48312"/>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Real pilots</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pPr algn="ctr"/>
                      <a:r>
                        <a:rPr sz="1800" b="1">
                          <a:solidFill>
                            <a:srgbClr val="FFFFFF"/>
                          </a:solidFill>
                          <a:latin typeface="Trebuchet MS"/>
                          <a:ea typeface="Trebuchet MS"/>
                          <a:cs typeface="Trebuchet MS"/>
                        </a:rPr>
                        <a:t>Work</a:t>
                      </a:r>
                    </a:p>
                  </a:txBody>
                  <a:tcPr marL="95250" marR="95250" marT="95250" marB="95250" anchor="t">
                    <a:solidFill>
                      <a:srgbClr val="E48312"/>
                    </a:solidFill>
                  </a:tcPr>
                </a:tc>
                <a:tc>
                  <a:txBody>
                    <a:bodyPr wrap="square" lIns="95250" tIns="95250" rIns="95250" bIns="95250">
                      <a:noAutofit/>
                    </a:bodyPr>
                    <a:lstStyle/>
                    <a:p>
                      <a:pPr algn="ctr"/>
                      <a:r>
                        <a:rPr sz="1800" b="1">
                          <a:solidFill>
                            <a:srgbClr val="FFFFFF"/>
                          </a:solidFill>
                          <a:latin typeface="Trebuchet MS"/>
                          <a:ea typeface="Trebuchet MS"/>
                          <a:cs typeface="Trebuchet MS"/>
                        </a:rPr>
                        <a:t>Work</a:t>
                      </a:r>
                    </a:p>
                  </a:txBody>
                  <a:tcPr marL="95250" marR="95250" marT="95250" marB="95250" anchor="t">
                    <a:solidFill>
                      <a:srgbClr val="E48312"/>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1288702616"/>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170" name="Google Shape;170;g38215e9470b_0_73">
            <a:extLst xmlns:a="http://schemas.openxmlformats.org/drawingml/2006/main">
              <a:ext uri="{FF2B5EF4-FFF2-40B4-BE49-F238E27FC236}">
                <a16:creationId xmlns:a16="http://schemas.microsoft.com/office/drawing/2014/main" id="{9B7EA29D-252A-4F9A-908F-079CF423D84E}"/>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Proposed Gantt schedule (2/2)</a:t>
            </a:r>
            <a:endParaRPr sz="2400" b="0" i="0" u="none" strike="noStrike" cap="none">
              <a:solidFill>
                <a:schemeClr val="dk1"/>
              </a:solidFill>
              <a:latin typeface="Calibri"/>
              <a:ea typeface="Calibri"/>
              <a:cs typeface="Calibri"/>
            </a:endParaRPr>
          </a:p>
        </p:txBody>
      </p:sp>
      <p:pic>
        <p:nvPicPr>
          <p:cNvPr id="172" name="Google Shape;172;g38215e9470b_0_73">
            <a:extLst xmlns:a="http://schemas.openxmlformats.org/drawingml/2006/main">
              <a:ext uri="{FF2B5EF4-FFF2-40B4-BE49-F238E27FC236}">
                <a16:creationId xmlns:a16="http://schemas.microsoft.com/office/drawing/2014/main" id="{A264BE6A-B63E-4E90-8507-8F1545297FC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f2b7c10fec64e41">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73" name="Google Shape;173;g38215e9470b_0_73">
            <a:extLst xmlns:a="http://schemas.openxmlformats.org/drawingml/2006/main">
              <a:ext uri="{FF2B5EF4-FFF2-40B4-BE49-F238E27FC236}">
                <a16:creationId xmlns:a16="http://schemas.microsoft.com/office/drawing/2014/main" id="{1BE63057-332D-4378-8E00-98640B295AD8}"/>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74" name="Google Shape;174;g38215e9470b_0_73">
            <a:extLst xmlns:a="http://schemas.openxmlformats.org/drawingml/2006/main">
              <a:ext uri="{FF2B5EF4-FFF2-40B4-BE49-F238E27FC236}">
                <a16:creationId xmlns:a16="http://schemas.microsoft.com/office/drawing/2014/main" id="{DAEEB695-7D71-453E-B406-331DACF6514D}"/>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75" name="">
            <a:extLst xmlns:a="http://schemas.openxmlformats.org/drawingml/2006/main">
              <a:ext uri="{FF2B5EF4-FFF2-40B4-BE49-F238E27FC236}">
                <a16:creationId xmlns:a16="http://schemas.microsoft.com/office/drawing/2014/main" id="{CC471C05-51E5-498D-B608-6CC7C5E32426}"/>
              </a:ext>
            </a:extLst>
          </p:cNvPr>
          <p:cNvGraphicFramePr/>
          <p:nvPr/>
        </p:nvGraphicFramePr>
        <p:xfrm>
          <a:off xmlns:a="http://schemas.openxmlformats.org/drawingml/2006/main" x="1828800" y="1752600"/>
          <a:ext xmlns:a="http://schemas.openxmlformats.org/drawingml/2006/main" cx="9067800" cy="3086100"/>
        </p:xfrm>
        <a:graphic xmlns:a="http://schemas.openxmlformats.org/drawingml/2006/main">
          <a:graphicData uri="http://schemas.openxmlformats.org/drawingml/2006/table">
            <a:tbl>
              <a:tblPr firstRow="1" bandRow="0"/>
              <a:tblGrid>
                <a:gridCol w="2781300"/>
                <a:gridCol w="1047750"/>
                <a:gridCol w="1047750"/>
                <a:gridCol w="1047750"/>
                <a:gridCol w="1047750"/>
                <a:gridCol w="1047750"/>
                <a:gridCol w="104775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Task</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12 Oct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19 Oct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26 Oct</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2 Nov</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9 Nov</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16 Nov</a:t>
                      </a:r>
                    </a:p>
                  </a:txBody>
                  <a:tcPr marL="95250" marR="95250" marT="95250" marB="95250" anchor="t">
                    <a:solidFill>
                      <a:srgbClr val="FFF2E0"/>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Matched campaigns</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pPr algn="ctr"/>
                      <a:r>
                        <a:rPr sz="1800" b="1">
                          <a:solidFill>
                            <a:srgbClr val="FFFFFF"/>
                          </a:solidFill>
                          <a:latin typeface="Trebuchet MS"/>
                          <a:ea typeface="Trebuchet MS"/>
                          <a:cs typeface="Trebuchet MS"/>
                        </a:rPr>
                        <a:t>Work</a:t>
                      </a:r>
                    </a:p>
                  </a:txBody>
                  <a:tcPr marL="95250" marR="95250" marT="95250" marB="95250" anchor="t">
                    <a:solidFill>
                      <a:srgbClr val="E48312"/>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Method / related work</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pPr algn="ctr"/>
                      <a:r>
                        <a:rPr sz="1800" b="1">
                          <a:solidFill>
                            <a:srgbClr val="FFFFFF"/>
                          </a:solidFill>
                          <a:latin typeface="Trebuchet MS"/>
                          <a:ea typeface="Trebuchet MS"/>
                          <a:cs typeface="Trebuchet MS"/>
                        </a:rPr>
                        <a:t>Work</a:t>
                      </a:r>
                    </a:p>
                  </a:txBody>
                  <a:tcPr marL="95250" marR="95250" marT="95250" marB="95250" anchor="t">
                    <a:solidFill>
                      <a:srgbClr val="E48312"/>
                    </a:solidFill>
                  </a:tcPr>
                </a:tc>
                <a:tc>
                  <a:txBody>
                    <a:bodyPr wrap="square" lIns="95250" tIns="95250" rIns="95250" bIns="95250">
                      <a:noAutofit/>
                    </a:bodyPr>
                    <a:lstStyle/>
                    <a:p>
                      <a:pPr algn="ctr"/>
                      <a:r>
                        <a:rPr sz="1800" b="1">
                          <a:solidFill>
                            <a:srgbClr val="FFFFFF"/>
                          </a:solidFill>
                          <a:latin typeface="Trebuchet MS"/>
                          <a:ea typeface="Trebuchet MS"/>
                          <a:cs typeface="Trebuchet MS"/>
                        </a:rPr>
                        <a:t>Work</a:t>
                      </a:r>
                    </a:p>
                  </a:txBody>
                  <a:tcPr marL="95250" marR="95250" marT="95250" marB="95250" anchor="t">
                    <a:solidFill>
                      <a:srgbClr val="E48312"/>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Disclosure / prior art</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pPr algn="ctr"/>
                      <a:r>
                        <a:rPr sz="1800" b="1">
                          <a:solidFill>
                            <a:srgbClr val="FFFFFF"/>
                          </a:solidFill>
                          <a:latin typeface="Trebuchet MS"/>
                          <a:ea typeface="Trebuchet MS"/>
                          <a:cs typeface="Trebuchet MS"/>
                        </a:rPr>
                        <a:t>Work</a:t>
                      </a:r>
                    </a:p>
                  </a:txBody>
                  <a:tcPr marL="95250" marR="95250" marT="95250" marB="95250" anchor="t">
                    <a:solidFill>
                      <a:srgbClr val="E48312"/>
                    </a:solidFill>
                  </a:tcPr>
                </a:tc>
                <a:tc>
                  <a:txBody>
                    <a:bodyPr wrap="square" lIns="95250" tIns="95250" rIns="95250" bIns="95250">
                      <a:noAutofit/>
                    </a:bodyPr>
                    <a:lstStyle/>
                    <a:p>
                      <a:pPr algn="ctr"/>
                      <a:r>
                        <a:rPr sz="1800" b="1">
                          <a:solidFill>
                            <a:srgbClr val="FFFFFF"/>
                          </a:solidFill>
                          <a:latin typeface="Trebuchet MS"/>
                          <a:ea typeface="Trebuchet MS"/>
                          <a:cs typeface="Trebuchet MS"/>
                        </a:rPr>
                        <a:t>Work</a:t>
                      </a:r>
                    </a:p>
                  </a:txBody>
                  <a:tcPr marL="95250" marR="95250" marT="95250" marB="95250" anchor="t">
                    <a:solidFill>
                      <a:srgbClr val="E48312"/>
                    </a:solidFill>
                  </a:tcPr>
                </a:tc>
                <a:tc>
                  <a:txBody>
                    <a:bodyPr wrap="square" lIns="95250" tIns="95250" rIns="95250" bIns="95250">
                      <a:noAutofit/>
                    </a:bodyPr>
                    <a:lstStyle/>
                    <a:p>
                      <a:pPr algn="ctr"/>
                      <a:r>
                        <a:rPr sz="1800" b="1">
                          <a:solidFill>
                            <a:srgbClr val="FFFFFF"/>
                          </a:solidFill>
                          <a:latin typeface="Trebuchet MS"/>
                          <a:ea typeface="Trebuchet MS"/>
                          <a:cs typeface="Trebuchet MS"/>
                        </a:rPr>
                        <a:t>Work</a:t>
                      </a:r>
                    </a:p>
                  </a:txBody>
                  <a:tcPr marL="95250" marR="95250" marT="95250" marB="95250" anchor="t">
                    <a:solidFill>
                      <a:srgbClr val="E48312"/>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Results / guide revision</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pPr algn="ctr"/>
                      <a:r>
                        <a:rPr sz="1800" b="1">
                          <a:solidFill>
                            <a:srgbClr val="FFFFFF"/>
                          </a:solidFill>
                          <a:latin typeface="Trebuchet MS"/>
                          <a:ea typeface="Trebuchet MS"/>
                          <a:cs typeface="Trebuchet MS"/>
                        </a:rPr>
                        <a:t>Work</a:t>
                      </a:r>
                    </a:p>
                  </a:txBody>
                  <a:tcPr marL="95250" marR="95250" marT="95250" marB="95250" anchor="t">
                    <a:solidFill>
                      <a:srgbClr val="E48312"/>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Final package</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r>
                        <a:rPr sz="1800" b="0">
                          <a:solidFill>
                            <a:srgbClr val="E48312"/>
                          </a:solidFill>
                          <a:latin typeface="Trebuchet MS"/>
                          <a:ea typeface="Trebuchet MS"/>
                          <a:cs typeface="Trebuchet MS"/>
                        </a:rPr>
                        <a:t/>
                      </a:r>
                    </a:p>
                  </a:txBody>
                  <a:tcPr marL="95250" marR="95250" marT="95250" marB="95250" anchor="t">
                    <a:solidFill>
                      <a:srgbClr val="FFFFFF"/>
                    </a:solidFill>
                  </a:tcPr>
                </a:tc>
                <a:tc>
                  <a:txBody>
                    <a:bodyPr wrap="square" lIns="95250" tIns="95250" rIns="95250" bIns="95250">
                      <a:noAutofit/>
                    </a:bodyPr>
                    <a:lstStyle/>
                    <a:p>
                      <a:pPr algn="ctr"/>
                      <a:r>
                        <a:rPr sz="1800" b="1">
                          <a:solidFill>
                            <a:srgbClr val="FFFFFF"/>
                          </a:solidFill>
                          <a:latin typeface="Trebuchet MS"/>
                          <a:ea typeface="Trebuchet MS"/>
                          <a:cs typeface="Trebuchet MS"/>
                        </a:rPr>
                        <a:t>Work</a:t>
                      </a:r>
                    </a:p>
                  </a:txBody>
                  <a:tcPr marL="95250" marR="95250" marT="95250" marB="95250" anchor="t">
                    <a:solidFill>
                      <a:srgbClr val="E48312"/>
                    </a:solidFill>
                  </a:tcPr>
                </a:tc>
              </a:tr>
            </a:tbl>
          </a:graphicData>
        </a:graphic>
      </p:graphicFrame>
    </p:spTree>
    <p:extLst>
      <p:ext uri="{BB962C8B-B14F-4D97-AF65-F5344CB8AC3E}">
        <p14:creationId xmlns:p14="http://schemas.microsoft.com/office/powerpoint/2010/main" val="1288702616"/>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sp>
        <p:nvSpPr>
          <p:cNvPr id="170" name="Google Shape;170;g38215e9470b_0_73">
            <a:extLst xmlns:a="http://schemas.openxmlformats.org/drawingml/2006/main">
              <a:ext uri="{FF2B5EF4-FFF2-40B4-BE49-F238E27FC236}">
                <a16:creationId xmlns:a16="http://schemas.microsoft.com/office/drawing/2014/main" id="{9B7EA29D-252A-4F9A-908F-079CF423D84E}"/>
              </a:ext>
            </a:extLst>
          </p:cNvPr>
          <p:cNvSpPr>
            <a:spLocks xmlns:a="http://schemas.openxmlformats.org/drawingml/2006/main" noGrp="1"/>
          </p:cNvSpPr>
          <p:nvPr/>
        </p:nvSpPr>
        <p:spPr>
          <a:xfrm xmlns:a="http://schemas.openxmlformats.org/drawingml/2006/main">
            <a:off x="1828800" y="85955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Owners and dependency gates</a:t>
            </a:r>
            <a:endParaRPr sz="2400" b="0" i="0" u="none" strike="noStrike" cap="none">
              <a:solidFill>
                <a:schemeClr val="dk1"/>
              </a:solidFill>
              <a:latin typeface="Calibri"/>
              <a:ea typeface="Calibri"/>
              <a:cs typeface="Calibri"/>
            </a:endParaRPr>
          </a:p>
        </p:txBody>
      </p:sp>
      <p:pic>
        <p:nvPicPr>
          <p:cNvPr id="172" name="Google Shape;172;g38215e9470b_0_73">
            <a:extLst xmlns:a="http://schemas.openxmlformats.org/drawingml/2006/main">
              <a:ext uri="{FF2B5EF4-FFF2-40B4-BE49-F238E27FC236}">
                <a16:creationId xmlns:a16="http://schemas.microsoft.com/office/drawing/2014/main" id="{A264BE6A-B63E-4E90-8507-8F1545297FC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4abd5eb6e114973">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73" name="Google Shape;173;g38215e9470b_0_73">
            <a:extLst xmlns:a="http://schemas.openxmlformats.org/drawingml/2006/main">
              <a:ext uri="{FF2B5EF4-FFF2-40B4-BE49-F238E27FC236}">
                <a16:creationId xmlns:a16="http://schemas.microsoft.com/office/drawing/2014/main" id="{1BE63057-332D-4378-8E00-98640B295AD8}"/>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74" name="Google Shape;174;g38215e9470b_0_73">
            <a:extLst xmlns:a="http://schemas.openxmlformats.org/drawingml/2006/main">
              <a:ext uri="{FF2B5EF4-FFF2-40B4-BE49-F238E27FC236}">
                <a16:creationId xmlns:a16="http://schemas.microsoft.com/office/drawing/2014/main" id="{DAEEB695-7D71-453E-B406-331DACF6514D}"/>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75" name="Body paragraph 1">
            <a:extLst xmlns:a="http://schemas.openxmlformats.org/drawingml/2006/main">
              <a:ext uri="{FF2B5EF4-FFF2-40B4-BE49-F238E27FC236}">
                <a16:creationId xmlns:a16="http://schemas.microsoft.com/office/drawing/2014/main" id="{330E49EA-EB4A-4A7E-AD9F-08F99D2425F8}"/>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Confirm named owners for runtime/demo, evaluation, manuscript and guide/IP coordination. Git contributor names alone do not establish these assignments.</a:t>
            </a:r>
          </a:p>
        </p:txBody>
      </p:sp>
      <p:sp>
        <p:nvSpPr>
          <p:cNvPr id="176" name="Body paragraph 2">
            <a:extLst xmlns:a="http://schemas.openxmlformats.org/drawingml/2006/main">
              <a:ext uri="{FF2B5EF4-FFF2-40B4-BE49-F238E27FC236}">
                <a16:creationId xmlns:a16="http://schemas.microsoft.com/office/drawing/2014/main" id="{77DB15DF-EFD6-4C39-9F6E-A060E71E69F7}"/>
              </a:ext>
            </a:extLst>
          </p:cNvPr>
          <p:cNvSpPr>
            <a:spLocks xmlns:a="http://schemas.openxmlformats.org/drawingml/2006/main" noGrp="1"/>
          </p:cNvSpPr>
          <p:nvPr/>
        </p:nvSpPr>
        <p:spPr>
          <a:xfrm xmlns:a="http://schemas.openxmlformats.org/drawingml/2006/main">
            <a:off x="1828800" y="3049143"/>
            <a:ext cx="9067800" cy="7722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A failed pilot blocks the dependent full campaign. Preserve partial artifacts, fix the measured bottleneck and remeasure.</a:t>
            </a:r>
          </a:p>
        </p:txBody>
      </p:sp>
      <p:sp>
        <p:nvSpPr>
          <p:cNvPr id="177" name="Body paragraph 3">
            <a:extLst xmlns:a="http://schemas.openxmlformats.org/drawingml/2006/main">
              <a:ext uri="{FF2B5EF4-FFF2-40B4-BE49-F238E27FC236}">
                <a16:creationId xmlns:a16="http://schemas.microsoft.com/office/drawing/2014/main" id="{B7391058-9F9B-4F0F-BD3E-2911E002FBFE}"/>
              </a:ext>
            </a:extLst>
          </p:cNvPr>
          <p:cNvSpPr>
            <a:spLocks xmlns:a="http://schemas.openxmlformats.org/drawingml/2006/main" noGrp="1"/>
          </p:cNvSpPr>
          <p:nvPr/>
        </p:nvSpPr>
        <p:spPr>
          <a:xfrm xmlns:a="http://schemas.openxmlformats.org/drawingml/2006/main">
            <a:off x="1828800" y="397383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Complete source coverage, native scoring, maintenance accounting and artifact validation remain required even when time or hardware limits are difficult.</a:t>
            </a:r>
          </a:p>
        </p:txBody>
      </p:sp>
    </p:spTree>
    <p:extLst>
      <p:ext uri="{BB962C8B-B14F-4D97-AF65-F5344CB8AC3E}">
        <p14:creationId xmlns:p14="http://schemas.microsoft.com/office/powerpoint/2010/main" val="1288702616"/>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179" name="Google Shape;179;g38215e9470b_0_82">
            <a:extLst xmlns:a="http://schemas.openxmlformats.org/drawingml/2006/main">
              <a:ext uri="{FF2B5EF4-FFF2-40B4-BE49-F238E27FC236}">
                <a16:creationId xmlns:a16="http://schemas.microsoft.com/office/drawing/2014/main" id="{AAB69175-AFEF-4D28-9529-D64F455EEB59}"/>
              </a:ext>
            </a:extLst>
          </p:cNvPr>
          <p:cNvSpPr>
            <a:spLocks xmlns:a="http://schemas.openxmlformats.org/drawingml/2006/main" noGrp="1"/>
          </p:cNvSpPr>
          <p:nvPr/>
        </p:nvSpPr>
        <p:spPr>
          <a:xfrm xmlns:a="http://schemas.openxmlformats.org/drawingml/2006/main">
            <a:off x="1828800" y="773827"/>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Conclusion</a:t>
            </a:r>
            <a:endParaRPr sz="2400" b="0" i="0" u="none" strike="noStrike" cap="none">
              <a:solidFill>
                <a:schemeClr val="dk1"/>
              </a:solidFill>
              <a:latin typeface="Calibri"/>
              <a:ea typeface="Calibri"/>
              <a:cs typeface="Calibri"/>
            </a:endParaRPr>
          </a:p>
        </p:txBody>
      </p:sp>
      <p:pic>
        <p:nvPicPr>
          <p:cNvPr id="181" name="Google Shape;181;g38215e9470b_0_82">
            <a:extLst xmlns:a="http://schemas.openxmlformats.org/drawingml/2006/main">
              <a:ext uri="{FF2B5EF4-FFF2-40B4-BE49-F238E27FC236}">
                <a16:creationId xmlns:a16="http://schemas.microsoft.com/office/drawing/2014/main" id="{339684E2-C8B8-4CB5-9412-196625E2A22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2d4d78e0af94f9e">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82" name="Google Shape;182;g38215e9470b_0_82">
            <a:extLst xmlns:a="http://schemas.openxmlformats.org/drawingml/2006/main">
              <a:ext uri="{FF2B5EF4-FFF2-40B4-BE49-F238E27FC236}">
                <a16:creationId xmlns:a16="http://schemas.microsoft.com/office/drawing/2014/main" id="{4D1FCBDF-A2C4-474C-9B02-16C87E00DAE9}"/>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83" name="Google Shape;183;g38215e9470b_0_82">
            <a:extLst xmlns:a="http://schemas.openxmlformats.org/drawingml/2006/main">
              <a:ext uri="{FF2B5EF4-FFF2-40B4-BE49-F238E27FC236}">
                <a16:creationId xmlns:a16="http://schemas.microsoft.com/office/drawing/2014/main" id="{F190DE0A-69BE-4850-B323-AE22F23DD969}"/>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84" name="Body paragraph 1">
            <a:extLst xmlns:a="http://schemas.openxmlformats.org/drawingml/2006/main">
              <a:ext uri="{FF2B5EF4-FFF2-40B4-BE49-F238E27FC236}">
                <a16:creationId xmlns:a16="http://schemas.microsoft.com/office/drawing/2014/main" id="{188589A7-B8AF-44A6-9155-199396519BFE}"/>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PRIMA-NEXT implements a typed agent runtime integrating memory, retrieval, cognitive decisions and controlled tools. A focused 25-test set passed during preparation.</a:t>
            </a:r>
          </a:p>
        </p:txBody>
      </p:sp>
      <p:sp>
        <p:nvSpPr>
          <p:cNvPr id="185" name="Body paragraph 2">
            <a:extLst xmlns:a="http://schemas.openxmlformats.org/drawingml/2006/main">
              <a:ext uri="{FF2B5EF4-FFF2-40B4-BE49-F238E27FC236}">
                <a16:creationId xmlns:a16="http://schemas.microsoft.com/office/drawing/2014/main" id="{9B347838-D086-42A4-A3D8-D5CAEE02E779}"/>
              </a:ext>
            </a:extLst>
          </p:cNvPr>
          <p:cNvSpPr>
            <a:spLocks xmlns:a="http://schemas.openxmlformats.org/drawingml/2006/main" noGrp="1"/>
          </p:cNvSpPr>
          <p:nvPr/>
        </p:nvSpPr>
        <p:spPr>
          <a:xfrm xmlns:a="http://schemas.openxmlformats.org/drawingml/2006/main">
            <a:off x="1828800" y="3049143"/>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Saved 197-query experiments favor learned embeddings and raw text within their subset scope. The reported LoCoMo pilot supports only its measured operational configuration.</a:t>
            </a:r>
          </a:p>
        </p:txBody>
      </p:sp>
      <p:sp>
        <p:nvSpPr>
          <p:cNvPr id="186" name="Body paragraph 3">
            <a:extLst xmlns:a="http://schemas.openxmlformats.org/drawingml/2006/main">
              <a:ext uri="{FF2B5EF4-FFF2-40B4-BE49-F238E27FC236}">
                <a16:creationId xmlns:a16="http://schemas.microsoft.com/office/drawing/2014/main" id="{7387CD04-7503-4045-B7B3-D17683C931F4}"/>
              </a:ext>
            </a:extLst>
          </p:cNvPr>
          <p:cNvSpPr>
            <a:spLocks xmlns:a="http://schemas.openxmlformats.org/drawingml/2006/main" noGrp="1"/>
          </p:cNvSpPr>
          <p:nvPr/>
        </p:nvSpPr>
        <p:spPr>
          <a:xfrm xmlns:a="http://schemas.openxmlformats.org/drawingml/2006/main">
            <a:off x="1828800" y="4345686"/>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Next deliverables are the unified demo, fresh wider validation, matched complete campaigns and verifiable paper/patent progress records. Full quality gains remain to establish.</a:t>
            </a:r>
          </a:p>
        </p:txBody>
      </p:sp>
    </p:spTree>
    <p:extLst>
      <p:ext uri="{BB962C8B-B14F-4D97-AF65-F5344CB8AC3E}">
        <p14:creationId xmlns:p14="http://schemas.microsoft.com/office/powerpoint/2010/main" val="1538759211"/>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sp>
        <p:nvSpPr>
          <p:cNvPr id="188" name="Google Shape;188;g3785cdd0013_0_74">
            <a:extLst xmlns:a="http://schemas.openxmlformats.org/drawingml/2006/main">
              <a:ext uri="{FF2B5EF4-FFF2-40B4-BE49-F238E27FC236}">
                <a16:creationId xmlns:a16="http://schemas.microsoft.com/office/drawing/2014/main" id="{87A41CF3-C45A-4BC2-9EB3-4ED0975A53F9}"/>
              </a:ext>
            </a:extLst>
          </p:cNvPr>
          <p:cNvSpPr>
            <a:spLocks xmlns:a="http://schemas.openxmlformats.org/drawingml/2006/main" noGrp="1"/>
          </p:cNvSpPr>
          <p:nvPr/>
        </p:nvSpPr>
        <p:spPr>
          <a:xfrm xmlns:a="http://schemas.openxmlformats.org/drawingml/2006/main">
            <a:off x="1828800" y="102510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00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000000"/>
                </a:solidFill>
                <a:latin typeface="Trebuchet MS"/>
                <a:ea typeface="Trebuchet MS"/>
                <a:cs typeface="Trebuchet MS"/>
              </a:defRPr>
            </a:pPr>
            <a:r>
              <a:rPr sz="2400" b="0" i="0" u="none" strike="noStrike" cap="none">
                <a:solidFill>
                  <a:srgbClr val="000000"/>
                </a:solidFill>
                <a:latin typeface="Trebuchet MS"/>
                <a:ea typeface="Trebuchet MS"/>
                <a:cs typeface="Trebuchet MS"/>
              </a:rPr>
              <a:t>References: agent architectures</a:t>
            </a:r>
            <a:endParaRPr sz="2400" b="0" i="0" u="none" strike="noStrike" cap="none">
              <a:solidFill>
                <a:schemeClr val="dk1"/>
              </a:solidFill>
              <a:latin typeface="Calibri"/>
              <a:ea typeface="Calibri"/>
              <a:cs typeface="Calibri"/>
            </a:endParaRPr>
          </a:p>
        </p:txBody>
      </p:sp>
      <p:pic>
        <p:nvPicPr>
          <p:cNvPr id="190" name="Google Shape;190;g3785cdd0013_0_74">
            <a:extLst xmlns:a="http://schemas.openxmlformats.org/drawingml/2006/main">
              <a:ext uri="{FF2B5EF4-FFF2-40B4-BE49-F238E27FC236}">
                <a16:creationId xmlns:a16="http://schemas.microsoft.com/office/drawing/2014/main" id="{E869EAD2-880F-4014-8A9C-D5D3847FAC9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2b572e606b54c55">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91" name="Google Shape;191;g3785cdd0013_0_74">
            <a:extLst xmlns:a="http://schemas.openxmlformats.org/drawingml/2006/main">
              <a:ext uri="{FF2B5EF4-FFF2-40B4-BE49-F238E27FC236}">
                <a16:creationId xmlns:a16="http://schemas.microsoft.com/office/drawing/2014/main" id="{72F96E7B-CE41-4155-9C55-A90A97A3731C}"/>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92" name="Google Shape;192;g3785cdd0013_0_74">
            <a:extLst xmlns:a="http://schemas.openxmlformats.org/drawingml/2006/main">
              <a:ext uri="{FF2B5EF4-FFF2-40B4-BE49-F238E27FC236}">
                <a16:creationId xmlns:a16="http://schemas.microsoft.com/office/drawing/2014/main" id="{5FBC37D4-1C20-4002-9FEF-55634C6242E1}"/>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93" name="Body paragraph 1">
            <a:extLst xmlns:a="http://schemas.openxmlformats.org/drawingml/2006/main">
              <a:ext uri="{FF2B5EF4-FFF2-40B4-BE49-F238E27FC236}">
                <a16:creationId xmlns:a16="http://schemas.microsoft.com/office/drawing/2014/main" id="{3CE56D54-4F79-4A8F-95F9-FF531EF05ADA}"/>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[1] P. Lewis et al., "Retrieval-Augmented Generation for Knowledge-Intensive NLP Tasks," arXiv:2005.11401, 2020, doi: 10.48550/arXiv.2005.11401.</a:t>
            </a:r>
          </a:p>
        </p:txBody>
      </p:sp>
      <p:sp>
        <p:nvSpPr>
          <p:cNvPr id="194" name="Body paragraph 2">
            <a:extLst xmlns:a="http://schemas.openxmlformats.org/drawingml/2006/main">
              <a:ext uri="{FF2B5EF4-FFF2-40B4-BE49-F238E27FC236}">
                <a16:creationId xmlns:a16="http://schemas.microsoft.com/office/drawing/2014/main" id="{8C90070D-5C4D-4BB7-A5EF-3D262A22483D}"/>
              </a:ext>
            </a:extLst>
          </p:cNvPr>
          <p:cNvSpPr>
            <a:spLocks xmlns:a="http://schemas.openxmlformats.org/drawingml/2006/main" noGrp="1"/>
          </p:cNvSpPr>
          <p:nvPr/>
        </p:nvSpPr>
        <p:spPr>
          <a:xfrm xmlns:a="http://schemas.openxmlformats.org/drawingml/2006/main">
            <a:off x="1828800" y="3049143"/>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[2] J. S. Park et al., "Generative Agents: Interactive Simulacra of Human Behavior," arXiv:2304.03442, 2023, doi: 10.48550/arXiv.2304.03442.</a:t>
            </a:r>
          </a:p>
        </p:txBody>
      </p:sp>
      <p:sp>
        <p:nvSpPr>
          <p:cNvPr id="195" name="Body paragraph 3">
            <a:extLst xmlns:a="http://schemas.openxmlformats.org/drawingml/2006/main">
              <a:ext uri="{FF2B5EF4-FFF2-40B4-BE49-F238E27FC236}">
                <a16:creationId xmlns:a16="http://schemas.microsoft.com/office/drawing/2014/main" id="{55475A90-823C-4E2D-8516-8EB8627BD3D9}"/>
              </a:ext>
            </a:extLst>
          </p:cNvPr>
          <p:cNvSpPr>
            <a:spLocks xmlns:a="http://schemas.openxmlformats.org/drawingml/2006/main" noGrp="1"/>
          </p:cNvSpPr>
          <p:nvPr/>
        </p:nvSpPr>
        <p:spPr>
          <a:xfrm xmlns:a="http://schemas.openxmlformats.org/drawingml/2006/main">
            <a:off x="1828800" y="4345686"/>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[3] N. Shinn et al., "Reflexion: Language Agents with Verbal Reinforcement Learning," arXiv:2303.11366, 2023, doi: 10.48550/arXiv.2303.11366.</a:t>
            </a:r>
          </a:p>
        </p:txBody>
      </p:sp>
    </p:spTree>
    <p:extLst>
      <p:ext uri="{BB962C8B-B14F-4D97-AF65-F5344CB8AC3E}">
        <p14:creationId xmlns:p14="http://schemas.microsoft.com/office/powerpoint/2010/main" val="290874892"/>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sp>
        <p:nvSpPr>
          <p:cNvPr id="188" name="Google Shape;188;g3785cdd0013_0_74">
            <a:extLst xmlns:a="http://schemas.openxmlformats.org/drawingml/2006/main">
              <a:ext uri="{FF2B5EF4-FFF2-40B4-BE49-F238E27FC236}">
                <a16:creationId xmlns:a16="http://schemas.microsoft.com/office/drawing/2014/main" id="{87A41CF3-C45A-4BC2-9EB3-4ED0975A53F9}"/>
              </a:ext>
            </a:extLst>
          </p:cNvPr>
          <p:cNvSpPr>
            <a:spLocks xmlns:a="http://schemas.openxmlformats.org/drawingml/2006/main" noGrp="1"/>
          </p:cNvSpPr>
          <p:nvPr/>
        </p:nvSpPr>
        <p:spPr>
          <a:xfrm xmlns:a="http://schemas.openxmlformats.org/drawingml/2006/main">
            <a:off x="1828800" y="102510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00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000000"/>
                </a:solidFill>
                <a:latin typeface="Trebuchet MS"/>
                <a:ea typeface="Trebuchet MS"/>
                <a:cs typeface="Trebuchet MS"/>
              </a:defRPr>
            </a:pPr>
            <a:r>
              <a:rPr sz="2400" b="0" i="0" u="none" strike="noStrike" cap="none">
                <a:solidFill>
                  <a:srgbClr val="000000"/>
                </a:solidFill>
                <a:latin typeface="Trebuchet MS"/>
                <a:ea typeface="Trebuchet MS"/>
                <a:cs typeface="Trebuchet MS"/>
              </a:rPr>
              <a:t>References: evaluation datasets</a:t>
            </a:r>
            <a:endParaRPr sz="2400" b="0" i="0" u="none" strike="noStrike" cap="none">
              <a:solidFill>
                <a:schemeClr val="dk1"/>
              </a:solidFill>
              <a:latin typeface="Calibri"/>
              <a:ea typeface="Calibri"/>
              <a:cs typeface="Calibri"/>
            </a:endParaRPr>
          </a:p>
        </p:txBody>
      </p:sp>
      <p:pic>
        <p:nvPicPr>
          <p:cNvPr id="190" name="Google Shape;190;g3785cdd0013_0_74">
            <a:extLst xmlns:a="http://schemas.openxmlformats.org/drawingml/2006/main">
              <a:ext uri="{FF2B5EF4-FFF2-40B4-BE49-F238E27FC236}">
                <a16:creationId xmlns:a16="http://schemas.microsoft.com/office/drawing/2014/main" id="{E869EAD2-880F-4014-8A9C-D5D3847FAC9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e13460c52e2449e">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91" name="Google Shape;191;g3785cdd0013_0_74">
            <a:extLst xmlns:a="http://schemas.openxmlformats.org/drawingml/2006/main">
              <a:ext uri="{FF2B5EF4-FFF2-40B4-BE49-F238E27FC236}">
                <a16:creationId xmlns:a16="http://schemas.microsoft.com/office/drawing/2014/main" id="{72F96E7B-CE41-4155-9C55-A90A97A3731C}"/>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92" name="Google Shape;192;g3785cdd0013_0_74">
            <a:extLst xmlns:a="http://schemas.openxmlformats.org/drawingml/2006/main">
              <a:ext uri="{FF2B5EF4-FFF2-40B4-BE49-F238E27FC236}">
                <a16:creationId xmlns:a16="http://schemas.microsoft.com/office/drawing/2014/main" id="{5FBC37D4-1C20-4002-9FEF-55634C6242E1}"/>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93" name="Body paragraph 1">
            <a:extLst xmlns:a="http://schemas.openxmlformats.org/drawingml/2006/main">
              <a:ext uri="{FF2B5EF4-FFF2-40B4-BE49-F238E27FC236}">
                <a16:creationId xmlns:a16="http://schemas.microsoft.com/office/drawing/2014/main" id="{FBACDAA1-76EF-4E21-87E9-A809B94F49DF}"/>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[4] A. Maharana et al., "Evaluating Very Long-Term Conversational Memory of LLM Agents," Proc. ACL, vol. 1, 2024, pp. 13851-13870, doi: 10.18653/v1/2024.acl-long.747.</a:t>
            </a:r>
          </a:p>
        </p:txBody>
      </p:sp>
      <p:sp>
        <p:nvSpPr>
          <p:cNvPr id="194" name="Body paragraph 2">
            <a:extLst xmlns:a="http://schemas.openxmlformats.org/drawingml/2006/main">
              <a:ext uri="{FF2B5EF4-FFF2-40B4-BE49-F238E27FC236}">
                <a16:creationId xmlns:a16="http://schemas.microsoft.com/office/drawing/2014/main" id="{8B0CE8BC-7814-4844-BF15-F8A2B35D2E8B}"/>
              </a:ext>
            </a:extLst>
          </p:cNvPr>
          <p:cNvSpPr>
            <a:spLocks xmlns:a="http://schemas.openxmlformats.org/drawingml/2006/main" noGrp="1"/>
          </p:cNvSpPr>
          <p:nvPr/>
        </p:nvSpPr>
        <p:spPr>
          <a:xfrm xmlns:a="http://schemas.openxmlformats.org/drawingml/2006/main">
            <a:off x="1828800" y="3049143"/>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[5] Z. Yang et al., "HotpotQA: A Dataset for Diverse, Explainable Multi-hop Question Answering," Proc. EMNLP, 2018, pp. 2369-2380, doi: 10.18653/v1/D18-1259.</a:t>
            </a:r>
          </a:p>
        </p:txBody>
      </p:sp>
      <p:sp>
        <p:nvSpPr>
          <p:cNvPr id="195" name="Body paragraph 3">
            <a:extLst xmlns:a="http://schemas.openxmlformats.org/drawingml/2006/main">
              <a:ext uri="{FF2B5EF4-FFF2-40B4-BE49-F238E27FC236}">
                <a16:creationId xmlns:a16="http://schemas.microsoft.com/office/drawing/2014/main" id="{8B5979E7-D2B8-43EC-B647-E6DDAEAD4DB0}"/>
              </a:ext>
            </a:extLst>
          </p:cNvPr>
          <p:cNvSpPr>
            <a:spLocks xmlns:a="http://schemas.openxmlformats.org/drawingml/2006/main" noGrp="1"/>
          </p:cNvSpPr>
          <p:nvPr/>
        </p:nvSpPr>
        <p:spPr>
          <a:xfrm xmlns:a="http://schemas.openxmlformats.org/drawingml/2006/main">
            <a:off x="1828800" y="4345686"/>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[6] D. Demszky et al., "GoEmotions: A Dataset of Fine-Grained Emotions," Proc. ACL, 2020, pp. 4040-4054, doi: 10.18653/v1/2020.acl-main.372.</a:t>
            </a:r>
          </a:p>
        </p:txBody>
      </p:sp>
    </p:spTree>
    <p:extLst>
      <p:ext uri="{BB962C8B-B14F-4D97-AF65-F5344CB8AC3E}">
        <p14:creationId xmlns:p14="http://schemas.microsoft.com/office/powerpoint/2010/main" val="290874892"/>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sp>
        <p:nvSpPr>
          <p:cNvPr id="188" name="Google Shape;188;g3785cdd0013_0_74">
            <a:extLst xmlns:a="http://schemas.openxmlformats.org/drawingml/2006/main">
              <a:ext uri="{FF2B5EF4-FFF2-40B4-BE49-F238E27FC236}">
                <a16:creationId xmlns:a16="http://schemas.microsoft.com/office/drawing/2014/main" id="{87A41CF3-C45A-4BC2-9EB3-4ED0975A53F9}"/>
              </a:ext>
            </a:extLst>
          </p:cNvPr>
          <p:cNvSpPr>
            <a:spLocks xmlns:a="http://schemas.openxmlformats.org/drawingml/2006/main" noGrp="1"/>
          </p:cNvSpPr>
          <p:nvPr/>
        </p:nvSpPr>
        <p:spPr>
          <a:xfrm xmlns:a="http://schemas.openxmlformats.org/drawingml/2006/main">
            <a:off x="1828800" y="1025102"/>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00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000000"/>
                </a:solidFill>
                <a:latin typeface="Trebuchet MS"/>
                <a:ea typeface="Trebuchet MS"/>
                <a:cs typeface="Trebuchet MS"/>
              </a:defRPr>
            </a:pPr>
            <a:r>
              <a:rPr sz="2400" b="0" i="0" u="none" strike="noStrike" cap="none">
                <a:solidFill>
                  <a:srgbClr val="000000"/>
                </a:solidFill>
                <a:latin typeface="Trebuchet MS"/>
                <a:ea typeface="Trebuchet MS"/>
                <a:cs typeface="Trebuchet MS"/>
              </a:rPr>
              <a:t>Related-work positioning</a:t>
            </a:r>
            <a:endParaRPr sz="2400" b="0" i="0" u="none" strike="noStrike" cap="none">
              <a:solidFill>
                <a:schemeClr val="dk1"/>
              </a:solidFill>
              <a:latin typeface="Calibri"/>
              <a:ea typeface="Calibri"/>
              <a:cs typeface="Calibri"/>
            </a:endParaRPr>
          </a:p>
        </p:txBody>
      </p:sp>
      <p:pic>
        <p:nvPicPr>
          <p:cNvPr id="190" name="Google Shape;190;g3785cdd0013_0_74">
            <a:extLst xmlns:a="http://schemas.openxmlformats.org/drawingml/2006/main">
              <a:ext uri="{FF2B5EF4-FFF2-40B4-BE49-F238E27FC236}">
                <a16:creationId xmlns:a16="http://schemas.microsoft.com/office/drawing/2014/main" id="{E869EAD2-880F-4014-8A9C-D5D3847FAC9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cf893cbfd314bc5">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91" name="Google Shape;191;g3785cdd0013_0_74">
            <a:extLst xmlns:a="http://schemas.openxmlformats.org/drawingml/2006/main">
              <a:ext uri="{FF2B5EF4-FFF2-40B4-BE49-F238E27FC236}">
                <a16:creationId xmlns:a16="http://schemas.microsoft.com/office/drawing/2014/main" id="{72F96E7B-CE41-4155-9C55-A90A97A3731C}"/>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92" name="Google Shape;192;g3785cdd0013_0_74">
            <a:extLst xmlns:a="http://schemas.openxmlformats.org/drawingml/2006/main">
              <a:ext uri="{FF2B5EF4-FFF2-40B4-BE49-F238E27FC236}">
                <a16:creationId xmlns:a16="http://schemas.microsoft.com/office/drawing/2014/main" id="{5FBC37D4-1C20-4002-9FEF-55634C6242E1}"/>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graphicFrame>
        <p:nvGraphicFramePr>
          <p:cNvPr id="193" name="">
            <a:extLst xmlns:a="http://schemas.openxmlformats.org/drawingml/2006/main">
              <a:ext uri="{FF2B5EF4-FFF2-40B4-BE49-F238E27FC236}">
                <a16:creationId xmlns:a16="http://schemas.microsoft.com/office/drawing/2014/main" id="{28A345DC-06A9-494B-BD6E-B8E1174FFFF7}"/>
              </a:ext>
            </a:extLst>
          </p:cNvPr>
          <p:cNvGraphicFramePr/>
          <p:nvPr/>
        </p:nvGraphicFramePr>
        <p:xfrm>
          <a:off xmlns:a="http://schemas.openxmlformats.org/drawingml/2006/main" x="1828800" y="1752600"/>
          <a:ext xmlns:a="http://schemas.openxmlformats.org/drawingml/2006/main" cx="9067800" cy="3714750"/>
        </p:xfrm>
        <a:graphic xmlns:a="http://schemas.openxmlformats.org/drawingml/2006/main">
          <a:graphicData uri="http://schemas.openxmlformats.org/drawingml/2006/table">
            <a:tbl>
              <a:tblPr firstRow="1" bandRow="0"/>
              <a:tblGrid>
                <a:gridCol w="1952625"/>
                <a:gridCol w="3333750"/>
                <a:gridCol w="3781425"/>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Prior work</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Established idea</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PRIMA evaluation question</a:t>
                      </a:r>
                    </a:p>
                  </a:txBody>
                  <a:tcPr marL="95250" marR="95250" marT="95250" marB="95250" anchor="t">
                    <a:solidFill>
                      <a:srgbClr val="FFF2E0"/>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RAG</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Generation with retrieved evidence</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Do extra layers beat simple retrieval?</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Generative Agents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Experience memory, planning, reflection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What reliability and cost are measured?</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Reflexion</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Language feedback across trials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How often do bounded interventions help/harm?</a:t>
                      </a:r>
                    </a:p>
                  </a:txBody>
                  <a:tcPr marL="95250" marR="95250" marT="95250" marB="95250" anchor="t">
                    <a:solidFill>
                      <a:srgbClr val="FFFFFF"/>
                    </a:solidFill>
                  </a:tcPr>
                </a:tc>
              </a:tr>
              <a:tr h="800100">
                <a:tc>
                  <a:txBody>
                    <a:bodyPr wrap="square" lIns="95250" tIns="95250" rIns="95250" bIns="95250">
                      <a:noAutofit/>
                    </a:bodyPr>
                    <a:lstStyle/>
                    <a:p>
                      <a:pPr algn="l"/>
                      <a:r>
                        <a:rPr sz="1800" b="0">
                          <a:solidFill>
                            <a:srgbClr val="E48312"/>
                          </a:solidFill>
                          <a:latin typeface="Trebuchet MS"/>
                          <a:ea typeface="Trebuchet MS"/>
                          <a:cs typeface="Trebuchet MS"/>
                        </a:rPr>
                        <a:t>Task benchmarks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Memory, evidence and affect tasks</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What does each component actually improve?</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290874892"/>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Backup: evidence definitions</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f018136f7144e3f">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5CAD95CF-C526-4A2A-88AD-42C3B109277C}"/>
              </a:ext>
            </a:extLst>
          </p:cNvPr>
          <p:cNvGraphicFramePr/>
          <p:nvPr/>
        </p:nvGraphicFramePr>
        <p:xfrm>
          <a:off xmlns:a="http://schemas.openxmlformats.org/drawingml/2006/main" x="1828800" y="1752600"/>
          <a:ext xmlns:a="http://schemas.openxmlformats.org/drawingml/2006/main" cx="9067800" cy="3086100"/>
        </p:xfrm>
        <a:graphic xmlns:a="http://schemas.openxmlformats.org/drawingml/2006/main">
          <a:graphicData uri="http://schemas.openxmlformats.org/drawingml/2006/table">
            <a:tbl>
              <a:tblPr firstRow="1" bandRow="0"/>
              <a:tblGrid>
                <a:gridCol w="2476500"/>
                <a:gridCol w="659130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Label</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What it establishes</a:t>
                      </a:r>
                    </a:p>
                  </a:txBody>
                  <a:tcPr marL="95250" marR="95250" marT="95250" marB="95250" anchor="t">
                    <a:solidFill>
                      <a:srgbClr val="FFF2E0"/>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Source verified</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Code or assertion inspected, without a fresh-pass claim</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Fresh test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Named command completed on 10 October 2026</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Saved artifact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Existing result inspected, experiment not rerun</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Reported pilot</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Repository note, original archive not revalidated here</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Proposed / unverified</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Pending work or team evidence still required</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89.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Backup: evidence register</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5dcee8951544215">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graphicFrame>
        <p:nvGraphicFramePr>
          <p:cNvPr id="139" name="">
            <a:extLst xmlns:a="http://schemas.openxmlformats.org/drawingml/2006/main">
              <a:ext uri="{FF2B5EF4-FFF2-40B4-BE49-F238E27FC236}">
                <a16:creationId xmlns:a16="http://schemas.microsoft.com/office/drawing/2014/main" id="{7EF791D1-5FC0-4BA9-BA7C-2C9456394159}"/>
              </a:ext>
            </a:extLst>
          </p:cNvPr>
          <p:cNvGraphicFramePr/>
          <p:nvPr/>
        </p:nvGraphicFramePr>
        <p:xfrm>
          <a:off xmlns:a="http://schemas.openxmlformats.org/drawingml/2006/main" x="1828800" y="1752600"/>
          <a:ext xmlns:a="http://schemas.openxmlformats.org/drawingml/2006/main" cx="9067800" cy="3086100"/>
        </p:xfrm>
        <a:graphic xmlns:a="http://schemas.openxmlformats.org/drawingml/2006/main">
          <a:graphicData uri="http://schemas.openxmlformats.org/drawingml/2006/table">
            <a:tbl>
              <a:tblPr firstRow="1" bandRow="0"/>
              <a:tblGrid>
                <a:gridCol w="2476500"/>
                <a:gridCol w="6591300"/>
              </a:tblGrid>
              <a:tr h="514350">
                <a:tc>
                  <a:txBody>
                    <a:bodyPr wrap="square" lIns="95250" tIns="95250" rIns="95250" bIns="95250">
                      <a:noAutofit/>
                    </a:bodyPr>
                    <a:lstStyle/>
                    <a:p>
                      <a:pPr algn="l"/>
                      <a:r>
                        <a:rPr sz="1800" b="1">
                          <a:solidFill>
                            <a:srgbClr val="E48312"/>
                          </a:solidFill>
                          <a:latin typeface="Trebuchet MS"/>
                          <a:ea typeface="Trebuchet MS"/>
                          <a:cs typeface="Trebuchet MS"/>
                        </a:rPr>
                        <a:t>ID</a:t>
                      </a:r>
                    </a:p>
                  </a:txBody>
                  <a:tcPr marL="95250" marR="95250" marT="95250" marB="95250" anchor="t">
                    <a:solidFill>
                      <a:srgbClr val="FFF2E0"/>
                    </a:solidFill>
                  </a:tcPr>
                </a:tc>
                <a:tc>
                  <a:txBody>
                    <a:bodyPr wrap="square" lIns="95250" tIns="95250" rIns="95250" bIns="95250">
                      <a:noAutofit/>
                    </a:bodyPr>
                    <a:lstStyle/>
                    <a:p>
                      <a:pPr algn="l"/>
                      <a:r>
                        <a:rPr sz="1800" b="1">
                          <a:solidFill>
                            <a:srgbClr val="E48312"/>
                          </a:solidFill>
                          <a:latin typeface="Trebuchet MS"/>
                          <a:ea typeface="Trebuchet MS"/>
                          <a:cs typeface="Trebuchet MS"/>
                        </a:rPr>
                        <a:t>Evidence</a:t>
                      </a:r>
                    </a:p>
                  </a:txBody>
                  <a:tcPr marL="95250" marR="95250" marT="95250" marB="95250" anchor="t">
                    <a:solidFill>
                      <a:srgbClr val="FFF2E0"/>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E01-E03</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README, runtime contracts/routes and workflow</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E04-E06</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Project/file explanations, result-claim policy, Kaggle plan</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E07-E08</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Saved embedding and representation JSON/CSV</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E09-E10</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Historical release note and current CI configuration</a:t>
                      </a:r>
                    </a:p>
                  </a:txBody>
                  <a:tcPr marL="95250" marR="95250" marT="95250" marB="95250" anchor="t">
                    <a:solidFill>
                      <a:srgbClr val="FFFFFF"/>
                    </a:solidFill>
                  </a:tcPr>
                </a:tc>
              </a:tr>
              <a:tr h="514350">
                <a:tc>
                  <a:txBody>
                    <a:bodyPr wrap="square" lIns="95250" tIns="95250" rIns="95250" bIns="95250">
                      <a:noAutofit/>
                    </a:bodyPr>
                    <a:lstStyle/>
                    <a:p>
                      <a:pPr algn="l"/>
                      <a:r>
                        <a:rPr sz="1800" b="0">
                          <a:solidFill>
                            <a:srgbClr val="E48312"/>
                          </a:solidFill>
                          <a:latin typeface="Trebuchet MS"/>
                          <a:ea typeface="Trebuchet MS"/>
                          <a:cs typeface="Trebuchet MS"/>
                        </a:rPr>
                        <a:t>E11-E12</a:t>
                      </a:r>
                    </a:p>
                  </a:txBody>
                  <a:tcPr marL="95250" marR="95250" marT="95250" marB="95250" anchor="t">
                    <a:solidFill>
                      <a:srgbClr val="FFFFFF"/>
                    </a:solidFill>
                  </a:tcPr>
                </a:tc>
                <a:tc>
                  <a:txBody>
                    <a:bodyPr wrap="square" lIns="95250" tIns="95250" rIns="95250" bIns="95250">
                      <a:noAutofit/>
                    </a:bodyPr>
                    <a:lstStyle/>
                    <a:p>
                      <a:pPr algn="l"/>
                      <a:r>
                        <a:rPr sz="1800" b="0">
                          <a:solidFill>
                            <a:srgbClr val="E48312"/>
                          </a:solidFill>
                          <a:latin typeface="Trebuchet MS"/>
                          <a:ea typeface="Trebuchet MS"/>
                          <a:cs typeface="Trebuchet MS"/>
                        </a:rPr>
                        <a:t>Contributor record, benchmark runbook and smoke guide</a:t>
                      </a:r>
                    </a:p>
                  </a:txBody>
                  <a:tcPr marL="95250" marR="95250" marT="95250" marB="95250" anchor="t">
                    <a:solidFill>
                      <a:srgbClr val="FFFFFF"/>
                    </a:solidFill>
                  </a:tcPr>
                </a:tc>
              </a:tr>
            </a:tbl>
          </a:graphicData>
        </a:graphic>
      </p:graphicFrame>
    </p:spTree>
    <p:extLst>
      <p:ext uri="{BB962C8B-B14F-4D97-AF65-F5344CB8AC3E}">
        <p14:creationId xmlns:p14="http://schemas.microsoft.com/office/powerpoint/2010/main" val="775476591"/>
      </p:ext>
    </p:extLst>
  </p:cSld>
</p:sld>
</file>

<file path=ppt/slides/slide90.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g38215e9470b_0_28">
            <a:extLst xmlns:a="http://schemas.openxmlformats.org/drawingml/2006/main">
              <a:ext uri="{FF2B5EF4-FFF2-40B4-BE49-F238E27FC236}">
                <a16:creationId xmlns:a16="http://schemas.microsoft.com/office/drawing/2014/main" id="{E4461FCF-B858-4C74-BB78-26C792AEB64D}"/>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Backup: evidence conflicts and scope</a:t>
            </a:r>
            <a:endParaRPr sz="2400" b="0" i="0" u="none" strike="noStrike" cap="none">
              <a:solidFill>
                <a:schemeClr val="dk1"/>
              </a:solidFill>
              <a:latin typeface="Calibri"/>
              <a:ea typeface="Calibri"/>
              <a:cs typeface="Calibri"/>
            </a:endParaRPr>
          </a:p>
        </p:txBody>
      </p:sp>
      <p:pic>
        <p:nvPicPr>
          <p:cNvPr id="136" name="Google Shape;136;g38215e9470b_0_28">
            <a:extLst xmlns:a="http://schemas.openxmlformats.org/drawingml/2006/main">
              <a:ext uri="{FF2B5EF4-FFF2-40B4-BE49-F238E27FC236}">
                <a16:creationId xmlns:a16="http://schemas.microsoft.com/office/drawing/2014/main" id="{F2307F62-3A8A-40BB-9B84-74093A0794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4547fcf628b4c90">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37" name="Google Shape;137;g38215e9470b_0_28">
            <a:extLst xmlns:a="http://schemas.openxmlformats.org/drawingml/2006/main">
              <a:ext uri="{FF2B5EF4-FFF2-40B4-BE49-F238E27FC236}">
                <a16:creationId xmlns:a16="http://schemas.microsoft.com/office/drawing/2014/main" id="{B24C92A8-6CFE-4C9D-9CF0-CF0D5C0DD975}"/>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38" name="Google Shape;138;g38215e9470b_0_28">
            <a:extLst xmlns:a="http://schemas.openxmlformats.org/drawingml/2006/main">
              <a:ext uri="{FF2B5EF4-FFF2-40B4-BE49-F238E27FC236}">
                <a16:creationId xmlns:a16="http://schemas.microsoft.com/office/drawing/2014/main" id="{CC332A86-9F8F-4DA5-89EC-2BCC993E4ACB}"/>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39" name="Body paragraph 1">
            <a:extLst xmlns:a="http://schemas.openxmlformats.org/drawingml/2006/main">
              <a:ext uri="{FF2B5EF4-FFF2-40B4-BE49-F238E27FC236}">
                <a16:creationId xmlns:a16="http://schemas.microsoft.com/office/drawing/2014/main" id="{5D26B85E-E98E-48D9-A0FE-186F0370A9CC}"/>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Current contracts define six tasks, five profiles and ten valid pairs. Historical architecture notes describing 25 pairs and nine routes predate historical replay.</a:t>
            </a:r>
          </a:p>
        </p:txBody>
      </p:sp>
      <p:sp>
        <p:nvSpPr>
          <p:cNvPr id="140" name="Body paragraph 2">
            <a:extLst xmlns:a="http://schemas.openxmlformats.org/drawingml/2006/main">
              <a:ext uri="{FF2B5EF4-FFF2-40B4-BE49-F238E27FC236}">
                <a16:creationId xmlns:a16="http://schemas.microsoft.com/office/drawing/2014/main" id="{0CA3D67C-9402-458A-95CE-FDAD8933C4FA}"/>
              </a:ext>
            </a:extLst>
          </p:cNvPr>
          <p:cNvSpPr>
            <a:spLocks xmlns:a="http://schemas.openxmlformats.org/drawingml/2006/main" noGrp="1"/>
          </p:cNvSpPr>
          <p:nvPr/>
        </p:nvSpPr>
        <p:spPr>
          <a:xfrm xmlns:a="http://schemas.openxmlformats.org/drawingml/2006/main">
            <a:off x="1828800" y="3049143"/>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Saved subset experiments used Python 3.10. Current setup/CI target 3.14. Earlier summaries marked learned backends unavailable, while separate final subset artifacts record completed runs.</a:t>
            </a:r>
          </a:p>
        </p:txBody>
      </p:sp>
      <p:sp>
        <p:nvSpPr>
          <p:cNvPr id="141" name="Body paragraph 3">
            <a:extLst xmlns:a="http://schemas.openxmlformats.org/drawingml/2006/main">
              <a:ext uri="{FF2B5EF4-FFF2-40B4-BE49-F238E27FC236}">
                <a16:creationId xmlns:a16="http://schemas.microsoft.com/office/drawing/2014/main" id="{FB7CF253-D48B-43FF-B876-CE297A8B0D14}"/>
              </a:ext>
            </a:extLst>
          </p:cNvPr>
          <p:cNvSpPr>
            <a:spLocks xmlns:a="http://schemas.openxmlformats.org/drawingml/2006/main" noGrp="1"/>
          </p:cNvSpPr>
          <p:nvPr/>
        </p:nvSpPr>
        <p:spPr>
          <a:xfrm xmlns:a="http://schemas.openxmlformats.org/drawingml/2006/main">
            <a:off x="1828800" y="4717542"/>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Keep experiment scopes separate. Reconcile differing backend fingerprints and preserve model/dataset/configuration identities before formal claims.</a:t>
            </a:r>
          </a:p>
        </p:txBody>
      </p:sp>
    </p:spTree>
    <p:extLst>
      <p:ext uri="{BB962C8B-B14F-4D97-AF65-F5344CB8AC3E}">
        <p14:creationId xmlns:p14="http://schemas.microsoft.com/office/powerpoint/2010/main" val="775476591"/>
      </p:ext>
    </p:extLst>
  </p:cSld>
</p:sld>
</file>

<file path=ppt/slides/slide91.xml><?xml version="1.0" encoding="utf-8"?>
<p:sld xmlns:p="http://schemas.openxmlformats.org/presentationml/2006/main">
  <p:cSld>
    <p:spTree>
      <p:nvGrpSpPr>
        <p:cNvPr id="1" name=""/>
        <p:cNvGrpSpPr/>
        <p:nvPr/>
      </p:nvGrpSpPr>
      <p:grpSpPr>
        <a:xfrm xmlns:a="http://schemas.openxmlformats.org/drawingml/2006/main"/>
      </p:grpSpPr>
      <p:sp>
        <p:nvSpPr>
          <p:cNvPr id="143" name="Google Shape;143;g38215e9470b_0_37">
            <a:extLst xmlns:a="http://schemas.openxmlformats.org/drawingml/2006/main">
              <a:ext uri="{FF2B5EF4-FFF2-40B4-BE49-F238E27FC236}">
                <a16:creationId xmlns:a16="http://schemas.microsoft.com/office/drawing/2014/main" id="{209BD0C8-B78B-4451-A062-3C2B71C071CC}"/>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Backup: novelty, affect and baselines</a:t>
            </a:r>
            <a:endParaRPr sz="2400" b="0" i="0" u="none" strike="noStrike" cap="none">
              <a:solidFill>
                <a:schemeClr val="dk1"/>
              </a:solidFill>
              <a:latin typeface="Calibri"/>
              <a:ea typeface="Calibri"/>
              <a:cs typeface="Calibri"/>
            </a:endParaRPr>
          </a:p>
        </p:txBody>
      </p:sp>
      <p:pic>
        <p:nvPicPr>
          <p:cNvPr id="145" name="Google Shape;145;g38215e9470b_0_37">
            <a:extLst xmlns:a="http://schemas.openxmlformats.org/drawingml/2006/main">
              <a:ext uri="{FF2B5EF4-FFF2-40B4-BE49-F238E27FC236}">
                <a16:creationId xmlns:a16="http://schemas.microsoft.com/office/drawing/2014/main" id="{0D87A96C-A611-492D-9D9F-057E81D2E01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3b75312f1ec4ff3">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46" name="Google Shape;146;g38215e9470b_0_37">
            <a:extLst xmlns:a="http://schemas.openxmlformats.org/drawingml/2006/main">
              <a:ext uri="{FF2B5EF4-FFF2-40B4-BE49-F238E27FC236}">
                <a16:creationId xmlns:a16="http://schemas.microsoft.com/office/drawing/2014/main" id="{8A0C833D-0E09-4B28-A329-B592A2D851B6}"/>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47" name="Google Shape;147;g38215e9470b_0_37">
            <a:extLst xmlns:a="http://schemas.openxmlformats.org/drawingml/2006/main">
              <a:ext uri="{FF2B5EF4-FFF2-40B4-BE49-F238E27FC236}">
                <a16:creationId xmlns:a16="http://schemas.microsoft.com/office/drawing/2014/main" id="{82AC7AD2-CE8D-44FC-86A5-482D81F28515}"/>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48" name="Body paragraph 1">
            <a:extLst xmlns:a="http://schemas.openxmlformats.org/drawingml/2006/main">
              <a:ext uri="{FF2B5EF4-FFF2-40B4-BE49-F238E27FC236}">
                <a16:creationId xmlns:a16="http://schemas.microsoft.com/office/drawing/2014/main" id="{2DE2D0C0-BC61-4C18-A25C-69CA1C37890E}"/>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Novelty: the candidate contribution is the integrated control design. Memory, RAG, graph retrieval and reflection already have prior work.</a:t>
            </a:r>
          </a:p>
        </p:txBody>
      </p:sp>
      <p:sp>
        <p:nvSpPr>
          <p:cNvPr id="149" name="Body paragraph 2">
            <a:extLst xmlns:a="http://schemas.openxmlformats.org/drawingml/2006/main">
              <a:ext uri="{FF2B5EF4-FFF2-40B4-BE49-F238E27FC236}">
                <a16:creationId xmlns:a16="http://schemas.microsoft.com/office/drawing/2014/main" id="{A31A6F3D-58DA-4F31-A365-695A92E9E865}"/>
              </a:ext>
            </a:extLst>
          </p:cNvPr>
          <p:cNvSpPr>
            <a:spLocks xmlns:a="http://schemas.openxmlformats.org/drawingml/2006/main" noGrp="1"/>
          </p:cNvSpPr>
          <p:nvPr/>
        </p:nvSpPr>
        <p:spPr>
          <a:xfrm xmlns:a="http://schemas.openxmlformats.org/drawingml/2006/main">
            <a:off x="1828800" y="3049143"/>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Affect: classification quality does not prove factual QA gains. Test affect-off ablations and identify tasks where affect should remain excluded.</a:t>
            </a:r>
          </a:p>
        </p:txBody>
      </p:sp>
      <p:sp>
        <p:nvSpPr>
          <p:cNvPr id="150" name="Body paragraph 3">
            <a:extLst xmlns:a="http://schemas.openxmlformats.org/drawingml/2006/main">
              <a:ext uri="{FF2B5EF4-FFF2-40B4-BE49-F238E27FC236}">
                <a16:creationId xmlns:a16="http://schemas.microsoft.com/office/drawing/2014/main" id="{9175821A-F2CD-4B62-8730-14A48624BBA0}"/>
              </a:ext>
            </a:extLst>
          </p:cNvPr>
          <p:cNvSpPr>
            <a:spLocks xmlns:a="http://schemas.openxmlformats.org/drawingml/2006/main" noGrp="1"/>
          </p:cNvSpPr>
          <p:nvPr/>
        </p:nvSpPr>
        <p:spPr>
          <a:xfrm xmlns:a="http://schemas.openxmlformats.org/drawingml/2006/main">
            <a:off x="1828800" y="4345686"/>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Baselines: state information access explicitly. Compare the no-retrieval model, simple RAG with the same store and a separate full-history baseline where feasible.</a:t>
            </a:r>
          </a:p>
        </p:txBody>
      </p:sp>
    </p:spTree>
    <p:extLst>
      <p:ext uri="{BB962C8B-B14F-4D97-AF65-F5344CB8AC3E}">
        <p14:creationId xmlns:p14="http://schemas.microsoft.com/office/powerpoint/2010/main" val="1637515244"/>
      </p:ext>
    </p:extLst>
  </p:cSld>
</p:sld>
</file>

<file path=ppt/slides/slide92.xml><?xml version="1.0" encoding="utf-8"?>
<p:sld xmlns:p="http://schemas.openxmlformats.org/presentationml/2006/main">
  <p:cSld>
    <p:spTree>
      <p:nvGrpSpPr>
        <p:cNvPr id="1" name=""/>
        <p:cNvGrpSpPr/>
        <p:nvPr/>
      </p:nvGrpSpPr>
      <p:grpSpPr>
        <a:xfrm xmlns:a="http://schemas.openxmlformats.org/drawingml/2006/main"/>
      </p:grpSpPr>
      <p:sp>
        <p:nvSpPr>
          <p:cNvPr id="143" name="Google Shape;143;g38215e9470b_0_37">
            <a:extLst xmlns:a="http://schemas.openxmlformats.org/drawingml/2006/main">
              <a:ext uri="{FF2B5EF4-FFF2-40B4-BE49-F238E27FC236}">
                <a16:creationId xmlns:a16="http://schemas.microsoft.com/office/drawing/2014/main" id="{209BD0C8-B78B-4451-A062-3C2B71C071CC}"/>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Backup: world model, memory and pilot</a:t>
            </a:r>
            <a:endParaRPr sz="2400" b="0" i="0" u="none" strike="noStrike" cap="none">
              <a:solidFill>
                <a:schemeClr val="dk1"/>
              </a:solidFill>
              <a:latin typeface="Calibri"/>
              <a:ea typeface="Calibri"/>
              <a:cs typeface="Calibri"/>
            </a:endParaRPr>
          </a:p>
        </p:txBody>
      </p:sp>
      <p:pic>
        <p:nvPicPr>
          <p:cNvPr id="145" name="Google Shape;145;g38215e9470b_0_37">
            <a:extLst xmlns:a="http://schemas.openxmlformats.org/drawingml/2006/main">
              <a:ext uri="{FF2B5EF4-FFF2-40B4-BE49-F238E27FC236}">
                <a16:creationId xmlns:a16="http://schemas.microsoft.com/office/drawing/2014/main" id="{0D87A96C-A611-492D-9D9F-057E81D2E01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e71892b38284fde">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46" name="Google Shape;146;g38215e9470b_0_37">
            <a:extLst xmlns:a="http://schemas.openxmlformats.org/drawingml/2006/main">
              <a:ext uri="{FF2B5EF4-FFF2-40B4-BE49-F238E27FC236}">
                <a16:creationId xmlns:a16="http://schemas.microsoft.com/office/drawing/2014/main" id="{8A0C833D-0E09-4B28-A329-B592A2D851B6}"/>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47" name="Google Shape;147;g38215e9470b_0_37">
            <a:extLst xmlns:a="http://schemas.openxmlformats.org/drawingml/2006/main">
              <a:ext uri="{FF2B5EF4-FFF2-40B4-BE49-F238E27FC236}">
                <a16:creationId xmlns:a16="http://schemas.microsoft.com/office/drawing/2014/main" id="{82AC7AD2-CE8D-44FC-86A5-482D81F28515}"/>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48" name="Body paragraph 1">
            <a:extLst xmlns:a="http://schemas.openxmlformats.org/drawingml/2006/main">
              <a:ext uri="{FF2B5EF4-FFF2-40B4-BE49-F238E27FC236}">
                <a16:creationId xmlns:a16="http://schemas.microsoft.com/office/drawing/2014/main" id="{B642D723-5924-4B17-A14B-2E0363A34F19}"/>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The world model applies symbolic rules, rather than learned physical prediction. Validate risk estimates against actual outcomes.</a:t>
            </a:r>
          </a:p>
        </p:txBody>
      </p:sp>
      <p:sp>
        <p:nvSpPr>
          <p:cNvPr id="149" name="Body paragraph 2">
            <a:extLst xmlns:a="http://schemas.openxmlformats.org/drawingml/2006/main">
              <a:ext uri="{FF2B5EF4-FFF2-40B4-BE49-F238E27FC236}">
                <a16:creationId xmlns:a16="http://schemas.microsoft.com/office/drawing/2014/main" id="{F3CD648A-1270-40AB-8406-C5C8D8AC0813}"/>
              </a:ext>
            </a:extLst>
          </p:cNvPr>
          <p:cNvSpPr>
            <a:spLocks xmlns:a="http://schemas.openxmlformats.org/drawingml/2006/main" noGrp="1"/>
          </p:cNvSpPr>
          <p:nvPr/>
        </p:nvSpPr>
        <p:spPr>
          <a:xfrm xmlns:a="http://schemas.openxmlformats.org/drawingml/2006/main">
            <a:off x="1828800" y="3049143"/>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Saved retrieval subsets do not establish complete memory-assisted QA benefits. Selective admission needs an all-history comparison. Soft forgetting is not complete physical deletion.</a:t>
            </a:r>
          </a:p>
        </p:txBody>
      </p:sp>
      <p:sp>
        <p:nvSpPr>
          <p:cNvPr id="150" name="Body paragraph 3">
            <a:extLst xmlns:a="http://schemas.openxmlformats.org/drawingml/2006/main">
              <a:ext uri="{FF2B5EF4-FFF2-40B4-BE49-F238E27FC236}">
                <a16:creationId xmlns:a16="http://schemas.microsoft.com/office/drawing/2014/main" id="{B91F6832-1A7F-49AC-98D4-91DF9A86649A}"/>
              </a:ext>
            </a:extLst>
          </p:cNvPr>
          <p:cNvSpPr>
            <a:spLocks xmlns:a="http://schemas.openxmlformats.org/drawingml/2006/main" noGrp="1"/>
          </p:cNvSpPr>
          <p:nvPr/>
        </p:nvSpPr>
        <p:spPr>
          <a:xfrm xmlns:a="http://schemas.openxmlformats.org/drawingml/2006/main">
            <a:off x="1828800" y="4717542"/>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The reported pilot supports 30-case equality and operational projection, not full completion or improved QA. F1 decreased on its shared 15-case version comparison.</a:t>
            </a:r>
          </a:p>
        </p:txBody>
      </p:sp>
    </p:spTree>
    <p:extLst>
      <p:ext uri="{BB962C8B-B14F-4D97-AF65-F5344CB8AC3E}">
        <p14:creationId xmlns:p14="http://schemas.microsoft.com/office/powerpoint/2010/main" val="1637515244"/>
      </p:ext>
    </p:extLst>
  </p:cSld>
</p:sld>
</file>

<file path=ppt/slides/slide93.xml><?xml version="1.0" encoding="utf-8"?>
<p:sld xmlns:p="http://schemas.openxmlformats.org/presentationml/2006/main">
  <p:cSld>
    <p:spTree>
      <p:nvGrpSpPr>
        <p:cNvPr id="1" name=""/>
        <p:cNvGrpSpPr/>
        <p:nvPr/>
      </p:nvGrpSpPr>
      <p:grpSpPr>
        <a:xfrm xmlns:a="http://schemas.openxmlformats.org/drawingml/2006/main"/>
      </p:grpSpPr>
      <p:sp>
        <p:nvSpPr>
          <p:cNvPr id="143" name="Google Shape;143;g38215e9470b_0_37">
            <a:extLst xmlns:a="http://schemas.openxmlformats.org/drawingml/2006/main">
              <a:ext uri="{FF2B5EF4-FFF2-40B4-BE49-F238E27FC236}">
                <a16:creationId xmlns:a16="http://schemas.microsoft.com/office/drawing/2014/main" id="{209BD0C8-B78B-4451-A062-3C2B71C071CC}"/>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Backup: confidence, leakage and traces</a:t>
            </a:r>
            <a:endParaRPr sz="2400" b="0" i="0" u="none" strike="noStrike" cap="none">
              <a:solidFill>
                <a:schemeClr val="dk1"/>
              </a:solidFill>
              <a:latin typeface="Calibri"/>
              <a:ea typeface="Calibri"/>
              <a:cs typeface="Calibri"/>
            </a:endParaRPr>
          </a:p>
        </p:txBody>
      </p:sp>
      <p:pic>
        <p:nvPicPr>
          <p:cNvPr id="145" name="Google Shape;145;g38215e9470b_0_37">
            <a:extLst xmlns:a="http://schemas.openxmlformats.org/drawingml/2006/main">
              <a:ext uri="{FF2B5EF4-FFF2-40B4-BE49-F238E27FC236}">
                <a16:creationId xmlns:a16="http://schemas.microsoft.com/office/drawing/2014/main" id="{0D87A96C-A611-492D-9D9F-057E81D2E01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e570cd1d7e94b11">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46" name="Google Shape;146;g38215e9470b_0_37">
            <a:extLst xmlns:a="http://schemas.openxmlformats.org/drawingml/2006/main">
              <a:ext uri="{FF2B5EF4-FFF2-40B4-BE49-F238E27FC236}">
                <a16:creationId xmlns:a16="http://schemas.microsoft.com/office/drawing/2014/main" id="{8A0C833D-0E09-4B28-A329-B592A2D851B6}"/>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47" name="Google Shape;147;g38215e9470b_0_37">
            <a:extLst xmlns:a="http://schemas.openxmlformats.org/drawingml/2006/main">
              <a:ext uri="{FF2B5EF4-FFF2-40B4-BE49-F238E27FC236}">
                <a16:creationId xmlns:a16="http://schemas.microsoft.com/office/drawing/2014/main" id="{82AC7AD2-CE8D-44FC-86A5-482D81F28515}"/>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48" name="Body paragraph 1">
            <a:extLst xmlns:a="http://schemas.openxmlformats.org/drawingml/2006/main">
              <a:ext uri="{FF2B5EF4-FFF2-40B4-BE49-F238E27FC236}">
                <a16:creationId xmlns:a16="http://schemas.microsoft.com/office/drawing/2014/main" id="{3EC62916-6802-4795-B6DB-E5EC3D94883D}"/>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Confidence is an engineered signal. Correctness is independently scored. Calibrate on held-out outcomes and measure reflection help/harm.</a:t>
            </a:r>
          </a:p>
        </p:txBody>
      </p:sp>
      <p:sp>
        <p:nvSpPr>
          <p:cNvPr id="149" name="Body paragraph 2">
            <a:extLst xmlns:a="http://schemas.openxmlformats.org/drawingml/2006/main">
              <a:ext uri="{FF2B5EF4-FFF2-40B4-BE49-F238E27FC236}">
                <a16:creationId xmlns:a16="http://schemas.microsoft.com/office/drawing/2014/main" id="{48AA0E7F-0644-4B4E-B0D1-6D8F23C071F2}"/>
              </a:ext>
            </a:extLst>
          </p:cNvPr>
          <p:cNvSpPr>
            <a:spLocks xmlns:a="http://schemas.openxmlformats.org/drawingml/2006/main" noGrp="1"/>
          </p:cNvSpPr>
          <p:nvPr/>
        </p:nvSpPr>
        <p:spPr>
          <a:xfrm xmlns:a="http://schemas.openxmlformats.org/drawingml/2006/main">
            <a:off x="1828800" y="3049143"/>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Gold labels, answers and supporting facts must stay evaluator-owned. Production reflection uses runtime signals, excluding truth-aware legacy evaluators.</a:t>
            </a:r>
          </a:p>
        </p:txBody>
      </p:sp>
      <p:sp>
        <p:nvSpPr>
          <p:cNvPr id="150" name="Body paragraph 3">
            <a:extLst xmlns:a="http://schemas.openxmlformats.org/drawingml/2006/main">
              <a:ext uri="{FF2B5EF4-FFF2-40B4-BE49-F238E27FC236}">
                <a16:creationId xmlns:a16="http://schemas.microsoft.com/office/drawing/2014/main" id="{CE9308AD-9BB3-41AB-BAC9-BF57A456576A}"/>
              </a:ext>
            </a:extLst>
          </p:cNvPr>
          <p:cNvSpPr>
            <a:spLocks xmlns:a="http://schemas.openxmlformats.org/drawingml/2006/main" noGrp="1"/>
          </p:cNvSpPr>
          <p:nvPr/>
        </p:nvSpPr>
        <p:spPr>
          <a:xfrm xmlns:a="http://schemas.openxmlformats.org/drawingml/2006/main">
            <a:off x="1828800" y="4345686"/>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Proof of execution needs controller outputs, trace events and downstream consumption. Planned/enabled components and a successful answer are insufficient.</a:t>
            </a:r>
          </a:p>
        </p:txBody>
      </p:sp>
    </p:spTree>
    <p:extLst>
      <p:ext uri="{BB962C8B-B14F-4D97-AF65-F5344CB8AC3E}">
        <p14:creationId xmlns:p14="http://schemas.microsoft.com/office/powerpoint/2010/main" val="1637515244"/>
      </p:ext>
    </p:extLst>
  </p:cSld>
</p:sld>
</file>

<file path=ppt/slides/slide94.xml><?xml version="1.0" encoding="utf-8"?>
<p:sld xmlns:p="http://schemas.openxmlformats.org/presentationml/2006/main">
  <p:cSld>
    <p:spTree>
      <p:nvGrpSpPr>
        <p:cNvPr id="1" name=""/>
        <p:cNvGrpSpPr/>
        <p:nvPr/>
      </p:nvGrpSpPr>
      <p:grpSpPr>
        <a:xfrm xmlns:a="http://schemas.openxmlformats.org/drawingml/2006/main"/>
      </p:grpSpPr>
      <p:sp>
        <p:nvSpPr>
          <p:cNvPr id="143" name="Google Shape;143;g38215e9470b_0_37">
            <a:extLst xmlns:a="http://schemas.openxmlformats.org/drawingml/2006/main">
              <a:ext uri="{FF2B5EF4-FFF2-40B4-BE49-F238E27FC236}">
                <a16:creationId xmlns:a16="http://schemas.microsoft.com/office/drawing/2014/main" id="{209BD0C8-B78B-4451-A062-3C2B71C071CC}"/>
              </a:ext>
            </a:extLst>
          </p:cNvPr>
          <p:cNvSpPr>
            <a:spLocks xmlns:a="http://schemas.openxmlformats.org/drawingml/2006/main" noGrp="1"/>
          </p:cNvSpPr>
          <p:nvPr/>
        </p:nvSpPr>
        <p:spPr>
          <a:xfrm xmlns:a="http://schemas.openxmlformats.org/drawingml/2006/main">
            <a:off x="1828800" y="707150"/>
            <a:ext cx="90678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t">
            <a:noAutofit/>
          </a:bodyPr>
          <a:lstStyle xmlns:a="http://schemas.openxmlformats.org/drawingml/2006/main">
            <a:defPPr algn="r">
              <a:defRPr sz="2400">
                <a:solidFill>
                  <a:srgbClr val="FF0000"/>
                </a:solidFill>
                <a:latin typeface="Trebuchet MS"/>
                <a:ea typeface="Trebuchet MS"/>
                <a:cs typeface="Trebuchet MS"/>
              </a:defRPr>
            </a:defPPr>
          </a:lstStyle>
          <a:p xmlns:a="http://schemas.openxmlformats.org/drawingml/2006/main">
            <a:pPr marL="342900" marR="0" lvl="0" indent="-342900" algn="r">
              <a:lnSpc>
                <a:spcPct val="100000"/>
              </a:lnSpc>
              <a:spcBef>
                <a:spcPts val="0"/>
              </a:spcBef>
              <a:spcAft>
                <a:spcPts val="0"/>
              </a:spcAft>
              <a:buClr>
                <a:srgbClr val="000000"/>
              </a:buClr>
              <a:buSzPts val="2400"/>
              <a:buFont typeface="Arial"/>
              <a:buNone/>
              <a:defRPr sz="2400">
                <a:solidFill>
                  <a:srgbClr val="FF0000"/>
                </a:solidFill>
                <a:latin typeface="Trebuchet MS"/>
                <a:ea typeface="Trebuchet MS"/>
                <a:cs typeface="Trebuchet MS"/>
              </a:defRPr>
            </a:pPr>
            <a:r>
              <a:rPr sz="2400" b="0" i="0" u="none" strike="noStrike" cap="none">
                <a:solidFill>
                  <a:srgbClr val="FF0000"/>
                </a:solidFill>
                <a:latin typeface="Trebuchet MS"/>
                <a:ea typeface="Trebuchet MS"/>
                <a:cs typeface="Trebuchet MS"/>
              </a:rPr>
              <a:t>Backup: tool failures and readiness</a:t>
            </a:r>
            <a:endParaRPr sz="2400" b="0" i="0" u="none" strike="noStrike" cap="none">
              <a:solidFill>
                <a:schemeClr val="dk1"/>
              </a:solidFill>
              <a:latin typeface="Calibri"/>
              <a:ea typeface="Calibri"/>
              <a:cs typeface="Calibri"/>
            </a:endParaRPr>
          </a:p>
        </p:txBody>
      </p:sp>
      <p:pic>
        <p:nvPicPr>
          <p:cNvPr id="145" name="Google Shape;145;g38215e9470b_0_37">
            <a:extLst xmlns:a="http://schemas.openxmlformats.org/drawingml/2006/main">
              <a:ext uri="{FF2B5EF4-FFF2-40B4-BE49-F238E27FC236}">
                <a16:creationId xmlns:a16="http://schemas.microsoft.com/office/drawing/2014/main" id="{0D87A96C-A611-492D-9D9F-057E81D2E01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37f1492c7714975">
            <a:alphaModFix/>
          </a:blip>
          <a:srcRect xmlns:a="http://schemas.openxmlformats.org/drawingml/2006/main" l="0" t="0" r="0" b="0"/>
          <a:stretch xmlns:a="http://schemas.openxmlformats.org/drawingml/2006/main"/>
        </p:blipFill>
        <p:spPr>
          <a:xfrm xmlns:a="http://schemas.openxmlformats.org/drawingml/2006/main">
            <a:off x="10896601" y="0"/>
            <a:ext cx="1295399" cy="1025106"/>
          </a:xfrm>
          <a:prstGeom xmlns:a="http://schemas.openxmlformats.org/drawingml/2006/main" prst="rect">
            <a:avLst/>
          </a:prstGeom>
          <a:ln xmlns:a="http://schemas.openxmlformats.org/drawingml/2006/main">
            <a:noFill/>
          </a:ln>
        </p:spPr>
      </p:pic>
      <p:sp>
        <p:nvSpPr>
          <p:cNvPr id="146" name="Google Shape;146;g38215e9470b_0_37">
            <a:extLst xmlns:a="http://schemas.openxmlformats.org/drawingml/2006/main">
              <a:ext uri="{FF2B5EF4-FFF2-40B4-BE49-F238E27FC236}">
                <a16:creationId xmlns:a16="http://schemas.microsoft.com/office/drawing/2014/main" id="{8A0C833D-0E09-4B28-A329-B592A2D851B6}"/>
              </a:ext>
            </a:extLst>
          </p:cNvPr>
          <p:cNvSpPr>
            <a:spLocks xmlns:a="http://schemas.openxmlformats.org/drawingml/2006/main" noGrp="1"/>
          </p:cNvSpPr>
          <p:nvPr>
            <p:ph type="ftr" idx="11"/>
          </p:nvPr>
        </p:nvSpPr>
        <p:spPr>
          <a:xfrm xmlns:a="http://schemas.openxmlformats.org/drawingml/2006/main">
            <a:off x="3686185" y="6459785"/>
            <a:ext cx="4822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t>[Team member names to be added]</a:t>
            </a:r>
            <a:endParaRPr/>
          </a:p>
        </p:txBody>
      </p:sp>
      <p:sp>
        <p:nvSpPr>
          <p:cNvPr id="147" name="Google Shape;147;g38215e9470b_0_37">
            <a:extLst xmlns:a="http://schemas.openxmlformats.org/drawingml/2006/main">
              <a:ext uri="{FF2B5EF4-FFF2-40B4-BE49-F238E27FC236}">
                <a16:creationId xmlns:a16="http://schemas.microsoft.com/office/drawing/2014/main" id="{82AC7AD2-CE8D-44FC-86A5-482D81F28515}"/>
              </a:ext>
            </a:extLst>
          </p:cNvPr>
          <p:cNvSpPr>
            <a:spLocks xmlns:a="http://schemas.openxmlformats.org/drawingml/2006/main" noGrp="1"/>
          </p:cNvSpPr>
          <p:nvPr/>
        </p:nvSpPr>
        <p:spPr>
          <a:xfrm xmlns:a="http://schemas.openxmlformats.org/drawingml/2006/main">
            <a:off x="76201" y="63110"/>
            <a:ext cx="41148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888888"/>
                </a:solidFill>
                <a:latin typeface="Arial"/>
                <a:ea typeface="Arial"/>
                <a:cs typeface="Arial"/>
              </a:rPr>
              <a:t>PRIMA-NEXT</a:t>
            </a:r>
            <a:endParaRPr sz="1200" b="0" i="0" u="none" strike="noStrike" cap="none">
              <a:solidFill>
                <a:srgbClr val="888888"/>
              </a:solidFill>
              <a:latin typeface="Arial"/>
              <a:ea typeface="Arial"/>
              <a:cs typeface="Arial"/>
            </a:endParaRPr>
          </a:p>
        </p:txBody>
      </p:sp>
      <p:sp>
        <p:nvSpPr>
          <p:cNvPr id="148" name="Body paragraph 1">
            <a:extLst xmlns:a="http://schemas.openxmlformats.org/drawingml/2006/main">
              <a:ext uri="{FF2B5EF4-FFF2-40B4-BE49-F238E27FC236}">
                <a16:creationId xmlns:a16="http://schemas.microsoft.com/office/drawing/2014/main" id="{40812633-75DD-4B27-8685-75D743E827F9}"/>
              </a:ext>
            </a:extLst>
          </p:cNvPr>
          <p:cNvSpPr>
            <a:spLocks xmlns:a="http://schemas.openxmlformats.org/drawingml/2006/main" noGrp="1"/>
          </p:cNvSpPr>
          <p:nvPr/>
        </p:nvSpPr>
        <p:spPr>
          <a:xfrm xmlns:a="http://schemas.openxmlformats.org/drawingml/2006/main">
            <a:off x="1828800" y="1752600"/>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The executor applies schema, allowlist, policy and audit checks. It does not establish OS isolation. Awaitable timeouts do not stop synchronous blocking code.</a:t>
            </a:r>
          </a:p>
        </p:txBody>
      </p:sp>
      <p:sp>
        <p:nvSpPr>
          <p:cNvPr id="149" name="Body paragraph 2">
            <a:extLst xmlns:a="http://schemas.openxmlformats.org/drawingml/2006/main">
              <a:ext uri="{FF2B5EF4-FFF2-40B4-BE49-F238E27FC236}">
                <a16:creationId xmlns:a16="http://schemas.microsoft.com/office/drawing/2014/main" id="{786B608F-7BCA-4480-93AC-9C5DC08F045B}"/>
              </a:ext>
            </a:extLst>
          </p:cNvPr>
          <p:cNvSpPr>
            <a:spLocks xmlns:a="http://schemas.openxmlformats.org/drawingml/2006/main" noGrp="1"/>
          </p:cNvSpPr>
          <p:nvPr/>
        </p:nvSpPr>
        <p:spPr>
          <a:xfrm xmlns:a="http://schemas.openxmlformats.org/drawingml/2006/main">
            <a:off x="1828800" y="3049143"/>
            <a:ext cx="9067800" cy="11441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Provider/schema/store faults should return explicit typed failure. Source tests cover these cases, but a fresh complete pass remains pending.</a:t>
            </a:r>
          </a:p>
        </p:txBody>
      </p:sp>
      <p:sp>
        <p:nvSpPr>
          <p:cNvPr id="150" name="Body paragraph 3">
            <a:extLst xmlns:a="http://schemas.openxmlformats.org/drawingml/2006/main">
              <a:ext uri="{FF2B5EF4-FFF2-40B4-BE49-F238E27FC236}">
                <a16:creationId xmlns:a16="http://schemas.microsoft.com/office/drawing/2014/main" id="{D8267D36-885B-4EF8-8E4F-53DADA5D73DA}"/>
              </a:ext>
            </a:extLst>
          </p:cNvPr>
          <p:cNvSpPr>
            <a:spLocks xmlns:a="http://schemas.openxmlformats.org/drawingml/2006/main" noGrp="1"/>
          </p:cNvSpPr>
          <p:nvPr/>
        </p:nvSpPr>
        <p:spPr>
          <a:xfrm xmlns:a="http://schemas.openxmlformats.org/drawingml/2006/main">
            <a:off x="1828800" y="4345686"/>
            <a:ext cx="9067800" cy="151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a:solidFill>
                  <a:srgbClr val="E48312"/>
                </a:solidFill>
                <a:latin typeface="Trebuchet MS"/>
                <a:ea typeface="Trebuchet MS"/>
                <a:cs typeface="Trebuchet MS"/>
              </a:defRPr>
            </a:defPPr>
          </a:lstStyle>
          <a:p xmlns:a="http://schemas.openxmlformats.org/drawingml/2006/main">
            <a:pPr algn="l">
              <a:defRPr sz="2400">
                <a:solidFill>
                  <a:srgbClr val="E48312"/>
                </a:solidFill>
                <a:latin typeface="Trebuchet MS"/>
                <a:ea typeface="Trebuchet MS"/>
                <a:cs typeface="Trebuchet MS"/>
              </a:defRPr>
            </a:pPr>
            <a:r>
              <a:rPr sz="2400">
                <a:solidFill>
                  <a:srgbClr val="E48312"/>
                </a:solidFill>
                <a:latin typeface="Trebuchet MS"/>
                <a:ea typeface="Trebuchet MS"/>
                <a:cs typeface="Trebuchet MS"/>
              </a:rPr>
              <a:t>Production readiness requires a chosen scope, complete validation, user isolation, recovery, durable promised work and reliable side effects. Publication/filing status requires actual records.</a:t>
            </a:r>
          </a:p>
        </p:txBody>
      </p:sp>
    </p:spTree>
    <p:extLst>
      <p:ext uri="{BB962C8B-B14F-4D97-AF65-F5344CB8AC3E}">
        <p14:creationId xmlns:p14="http://schemas.microsoft.com/office/powerpoint/2010/main" val="1637515244"/>
      </p:ext>
    </p:extLst>
  </p:cSld>
</p:sld>
</file>

<file path=ppt/slides/slide95.xml><?xml version="1.0" encoding="utf-8"?>
<p:sld xmlns:p="http://schemas.openxmlformats.org/presentationml/2006/main">
  <p:cSld>
    <p:spTree>
      <p:nvGrpSpPr>
        <p:cNvPr id="1" name=""/>
        <p:cNvGrpSpPr/>
        <p:nvPr/>
      </p:nvGrpSpPr>
      <p:grpSpPr>
        <a:xfrm xmlns:a="http://schemas.openxmlformats.org/drawingml/2006/main"/>
      </p:grpSpPr>
      <p:sp>
        <p:nvSpPr>
          <p:cNvPr id="197" name="Google Shape;197;g3785cdd0013_0_83">
            <a:extLst xmlns:a="http://schemas.openxmlformats.org/drawingml/2006/main">
              <a:ext uri="{FF2B5EF4-FFF2-40B4-BE49-F238E27FC236}">
                <a16:creationId xmlns:a16="http://schemas.microsoft.com/office/drawing/2014/main" id="{8E502E40-B464-4BCA-938C-C72AD4A48B70}"/>
              </a:ext>
            </a:extLst>
          </p:cNvPr>
          <p:cNvSpPr>
            <a:spLocks xmlns:a="http://schemas.openxmlformats.org/drawingml/2006/main" noGrp="1"/>
          </p:cNvSpPr>
          <p:nvPr/>
        </p:nvSpPr>
        <p:spPr>
          <a:xfrm xmlns:a="http://schemas.openxmlformats.org/drawingml/2006/main">
            <a:off x="4842759" y="2812475"/>
            <a:ext cx="4924695" cy="70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4000"/>
              <a:buFont typeface="Arial"/>
              <a:buNone/>
            </a:pPr>
            <a:r>
              <a:rPr sz="4000" b="0" i="0" u="none" strike="noStrike" cap="none">
                <a:solidFill>
                  <a:schemeClr val="accent1"/>
                </a:solidFill>
                <a:latin typeface="Trebuchet MS"/>
                <a:ea typeface="Trebuchet MS"/>
                <a:cs typeface="Trebuchet MS"/>
              </a:rPr>
              <a:t>Thank You</a:t>
            </a:r>
            <a:endParaRPr sz="1400" b="0" i="0" u="none" strike="noStrike" cap="none">
              <a:solidFill>
                <a:schemeClr val="accent1"/>
              </a:solidFill>
              <a:latin typeface="Arial"/>
              <a:ea typeface="Arial"/>
              <a:cs typeface="Arial"/>
            </a:endParaRPr>
          </a:p>
        </p:txBody>
      </p:sp>
    </p:spTree>
    <p:extLst>
      <p:ext uri="{BB962C8B-B14F-4D97-AF65-F5344CB8AC3E}">
        <p14:creationId xmlns:p14="http://schemas.microsoft.com/office/powerpoint/2010/main" val="1248286720"/>
      </p:ext>
    </p:extLst>
  </p:cSld>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2026-10-10T11:46:30.4010000Z</dcterms:created>
  <dcterms:modified xsi:type="dcterms:W3CDTF">2026-10-10T11:46:30.4020000Z</dcterms:modified>
</coreProperties>
</file>